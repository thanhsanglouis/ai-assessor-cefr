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6d5c1476945fc" /><Relationship Type="http://schemas.openxmlformats.org/officeDocument/2006/relationships/extended-properties" Target="/docProps/app.xml" Id="R3282858b60e1487d" /><Relationship Type="http://schemas.openxmlformats.org/officeDocument/2006/relationships/officeDocument" Target="/ppt/presentation.xml" Id="R583974a1acab48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b1650963a34bb5"/>
  </p:sldMasterIdLst>
  <p:notesMasterIdLst>
    <p:notesMasterId xmlns:r="http://schemas.openxmlformats.org/officeDocument/2006/relationships" r:id="R2d7600d903a546b3"/>
  </p:notesMasterIdLst>
  <p:sldIdLst>
    <p:sldId xmlns:r="http://schemas.openxmlformats.org/officeDocument/2006/relationships" id="256" r:id="Rded3ffaa858e48e0"/>
    <p:sldId xmlns:r="http://schemas.openxmlformats.org/officeDocument/2006/relationships" id="257" r:id="R678d78fac4e34bc0"/>
    <p:sldId xmlns:r="http://schemas.openxmlformats.org/officeDocument/2006/relationships" id="258" r:id="R18bffb366d6046f5"/>
    <p:sldId xmlns:r="http://schemas.openxmlformats.org/officeDocument/2006/relationships" id="259" r:id="Rc0352b71de704a3f"/>
    <p:sldId xmlns:r="http://schemas.openxmlformats.org/officeDocument/2006/relationships" id="260" r:id="Rc62dbcd6acb24261"/>
    <p:sldId xmlns:r="http://schemas.openxmlformats.org/officeDocument/2006/relationships" id="261" r:id="Rdff6d648e30b4956"/>
    <p:sldId xmlns:r="http://schemas.openxmlformats.org/officeDocument/2006/relationships" id="262" r:id="R37cb5942d5e242a1"/>
    <p:sldId xmlns:r="http://schemas.openxmlformats.org/officeDocument/2006/relationships" id="263" r:id="R87ae3024baf44770"/>
    <p:sldId xmlns:r="http://schemas.openxmlformats.org/officeDocument/2006/relationships" id="264" r:id="R2812e17718234b42"/>
    <p:sldId xmlns:r="http://schemas.openxmlformats.org/officeDocument/2006/relationships" id="265" r:id="R04bdbdeca5164da4"/>
    <p:sldId xmlns:r="http://schemas.openxmlformats.org/officeDocument/2006/relationships" id="266" r:id="R9b0761fd325b4931"/>
    <p:sldId xmlns:r="http://schemas.openxmlformats.org/officeDocument/2006/relationships" id="267" r:id="Rd921c1adb80c4d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ce4a80c9394ab8" /><Relationship Type="http://schemas.openxmlformats.org/officeDocument/2006/relationships/slideMaster" Target="/ppt/slideMasters/slideMaster1.xml" Id="R92b1650963a34bb5" /><Relationship Type="http://schemas.openxmlformats.org/officeDocument/2006/relationships/notesMaster" Target="/ppt/notesMasters/notesMaster1.xml" Id="R2d7600d903a546b3" /><Relationship Type="http://schemas.openxmlformats.org/officeDocument/2006/relationships/presProps" Target="/ppt/presProps.xml" Id="R13353b108aa446cb" /><Relationship Type="http://schemas.openxmlformats.org/officeDocument/2006/relationships/tableStyles" Target="/ppt/tableStyles.xml" Id="Rce526872ee0945de" /><Relationship Type="http://schemas.openxmlformats.org/officeDocument/2006/relationships/slide" Target="/ppt/slides/slide1.xml" Id="Rded3ffaa858e48e0" /><Relationship Type="http://schemas.openxmlformats.org/officeDocument/2006/relationships/slide" Target="/ppt/slides/slide2.xml" Id="R678d78fac4e34bc0" /><Relationship Type="http://schemas.openxmlformats.org/officeDocument/2006/relationships/slide" Target="/ppt/slides/slide3.xml" Id="R18bffb366d6046f5" /><Relationship Type="http://schemas.openxmlformats.org/officeDocument/2006/relationships/slide" Target="/ppt/slides/slide4.xml" Id="Rc0352b71de704a3f" /><Relationship Type="http://schemas.openxmlformats.org/officeDocument/2006/relationships/slide" Target="/ppt/slides/slide5.xml" Id="Rc62dbcd6acb24261" /><Relationship Type="http://schemas.openxmlformats.org/officeDocument/2006/relationships/slide" Target="/ppt/slides/slide6.xml" Id="Rdff6d648e30b4956" /><Relationship Type="http://schemas.openxmlformats.org/officeDocument/2006/relationships/slide" Target="/ppt/slides/slide7.xml" Id="R37cb5942d5e242a1" /><Relationship Type="http://schemas.openxmlformats.org/officeDocument/2006/relationships/slide" Target="/ppt/slides/slide8.xml" Id="R87ae3024baf44770" /><Relationship Type="http://schemas.openxmlformats.org/officeDocument/2006/relationships/slide" Target="/ppt/slides/slide9.xml" Id="R2812e17718234b42" /><Relationship Type="http://schemas.openxmlformats.org/officeDocument/2006/relationships/slide" Target="/ppt/slides/slide10.xml" Id="R04bdbdeca5164da4" /><Relationship Type="http://schemas.openxmlformats.org/officeDocument/2006/relationships/slide" Target="/ppt/slides/slide11.xml" Id="R9b0761fd325b4931" /><Relationship Type="http://schemas.openxmlformats.org/officeDocument/2006/relationships/slide" Target="/ppt/slides/slide12.xml" Id="Rd921c1adb80c4d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711ace7e32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08b2b5e6b4315" /><Relationship Type="http://schemas.openxmlformats.org/officeDocument/2006/relationships/notesMaster" Target="/ppt/notesMasters/notesMaster1.xml" Id="R8c883862623f41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09b1b65f74406" /><Relationship Type="http://schemas.openxmlformats.org/officeDocument/2006/relationships/notesMaster" Target="/ppt/notesMasters/notesMaster1.xml" Id="R5bc8671ddf3c46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a7a04e57f64258" /><Relationship Type="http://schemas.openxmlformats.org/officeDocument/2006/relationships/notesMaster" Target="/ppt/notesMasters/notesMaster1.xml" Id="Rb7870984c3644c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d83370d6bd4bb3" /><Relationship Type="http://schemas.openxmlformats.org/officeDocument/2006/relationships/notesMaster" Target="/ppt/notesMasters/notesMaster1.xml" Id="R9c5fa080157b4d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48867f9e834cd1" /><Relationship Type="http://schemas.openxmlformats.org/officeDocument/2006/relationships/notesMaster" Target="/ppt/notesMasters/notesMaster1.xml" Id="Re5f62ee1a67147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d00410bc3472b" /><Relationship Type="http://schemas.openxmlformats.org/officeDocument/2006/relationships/notesMaster" Target="/ppt/notesMasters/notesMaster1.xml" Id="R75ad853e2ff145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635bb2db9424d" /><Relationship Type="http://schemas.openxmlformats.org/officeDocument/2006/relationships/notesMaster" Target="/ppt/notesMasters/notesMaster1.xml" Id="R84d14031af2d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391d2d2234264" /><Relationship Type="http://schemas.openxmlformats.org/officeDocument/2006/relationships/notesMaster" Target="/ppt/notesMasters/notesMaster1.xml" Id="R0b2300a351fd4c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c93681fb6c4d1d" /><Relationship Type="http://schemas.openxmlformats.org/officeDocument/2006/relationships/notesMaster" Target="/ppt/notesMasters/notesMaster1.xml" Id="Rbfe750845f034e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1dc90420e84600" /><Relationship Type="http://schemas.openxmlformats.org/officeDocument/2006/relationships/notesMaster" Target="/ppt/notesMasters/notesMaster1.xml" Id="R0d6af0444a9f43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f7a35877f94dd8" /><Relationship Type="http://schemas.openxmlformats.org/officeDocument/2006/relationships/notesMaster" Target="/ppt/notesMasters/notesMaster1.xml" Id="R09f259408f6948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239b277b434ab7" /><Relationship Type="http://schemas.openxmlformats.org/officeDocument/2006/relationships/notesMaster" Target="/ppt/notesMasters/notesMaster1.xml" Id="R6daebff1d71241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C:/Users/PC/Downloads/2026 Định hướng xác định đề tài khóa luận.docx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https://rm.coe.int/cefr-companion-volume-with-new-descriptors-2020/16809ea0d4</a:t>
            </a:r>
          </a:p>
          <a:p xmlns:a="http://schemas.openxmlformats.org/drawingml/2006/main">
            <a:r>
              <a:t>- https://psi.engr.tamu.edu/l2-arctic-corpus/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10-week figure is the project constraint, not an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https://github.com/batinium/Speaklify</a:t>
            </a:r>
          </a:p>
          <a:p xmlns:a="http://schemas.openxmlformats.org/drawingml/2006/main">
            <a:r>
              <a:t>- https://github.com/Talking-Yak/EvalYaks</a:t>
            </a:r>
          </a:p>
          <a:p xmlns:a="http://schemas.openxmlformats.org/drawingml/2006/main">
            <a:r>
              <a:t>- https://github.com/YuanGongND/gopt</a:t>
            </a:r>
          </a:p>
          <a:p xmlns:a="http://schemas.openxmlformats.org/drawingml/2006/main">
            <a:r>
              <a:t>- https://github.com/jimbozhang/speechocean762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C:/Users/PC/Downloads/2026 Định hướng xác định đề tài khóa luận.docx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https://rm.coe.int/cefr-companion-volume-with-new-descriptors-2020/16809ea0d4</a:t>
            </a:r>
          </a:p>
          <a:p xmlns:a="http://schemas.openxmlformats.org/drawingml/2006/main">
            <a:r>
              <a:t>- https://www.coe.int/en/web/common-european-framework-reference-languages/level-descriptions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https://rm.coe.int/cefr-companion-volume-with-new-descriptors-2020/16809ea0d4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https://psi.engr.tamu.edu/l2-arctic-corpus/</a:t>
            </a:r>
          </a:p>
          <a:p xmlns:a="http://schemas.openxmlformats.org/drawingml/2006/main">
            <a:r>
              <a:t>- https://www.kaggle.com/datasets/rtatman/speech-accent-archive</a:t>
            </a:r>
          </a:p>
          <a:p xmlns:a="http://schemas.openxmlformats.org/drawingml/2006/main">
            <a:r>
              <a:t>- https://catalog.ldc.upenn.edu/LDC2007S08</a:t>
            </a:r>
          </a:p>
          <a:p xmlns:a="http://schemas.openxmlformats.org/drawingml/2006/main">
            <a:r>
              <a:t>- https://researchdatasets.cambridge.org/datasets/speak-and-improve-corpus-2025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https://www.ets.org/research/policy_research_reports/publications/report/2008/hukv.html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https://www.ets.org/research/policy_research_reports/publications/report/2008/hukv.html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QWK ≥ 0.60 is a project management target, not a Council of Europe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https://www.ets.org/research/policy_research_reports/publications/report/2008/hukv.html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C:/Users/PC/Downloads/2026 Định hướng xác định đề tài khóa luận.docx</a:t>
            </a:r>
          </a:p>
          <a:p xmlns:a="http://schemas.openxmlformats.org/drawingml/2006/main">
            <a:r>
              <a:t>- C:/Users/PC/OneDrive - Nhagiao.vn/Documents/ChatGPT/AI Assessor đánh giá Speaking theo CEFR/Dinh_huong_chi_tiet_10_tuan_AI_Assessor_CEFR.docx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013607c284b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fcf1d37104ff9" /><Relationship Type="http://schemas.openxmlformats.org/officeDocument/2006/relationships/slideLayout" Target="/ppt/slideLayouts/slideLayout1.xml" Id="Rcbdc6dc3c975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c6dc3c975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953921eff483a" /><Relationship Type="http://schemas.openxmlformats.org/officeDocument/2006/relationships/notesSlide" Target="/ppt/notesSlides/notesSlide1.xml" Id="R3a041dff82c64d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e1a62b9564476" /><Relationship Type="http://schemas.openxmlformats.org/officeDocument/2006/relationships/notesSlide" Target="/ppt/notesSlides/notesSlide2.xml" Id="Rc2bf58c925944b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f3746a8384bbb" /><Relationship Type="http://schemas.openxmlformats.org/officeDocument/2006/relationships/notesSlide" Target="/ppt/notesSlides/notesSlide3.xml" Id="R6e5301d2bc8d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f9480c36c4a7f" /><Relationship Type="http://schemas.openxmlformats.org/officeDocument/2006/relationships/notesSlide" Target="/ppt/notesSlides/notesSlide4.xml" Id="R0b5f2fe1b993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70177b39942fc" /><Relationship Type="http://schemas.openxmlformats.org/officeDocument/2006/relationships/notesSlide" Target="/ppt/notesSlides/notesSlide5.xml" Id="R21dc1062ce0d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c3bb2b5b1483f" /><Relationship Type="http://schemas.openxmlformats.org/officeDocument/2006/relationships/notesSlide" Target="/ppt/notesSlides/notesSlide6.xml" Id="R93d76d602b7740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6187e4b3a444f" /><Relationship Type="http://schemas.openxmlformats.org/officeDocument/2006/relationships/notesSlide" Target="/ppt/notesSlides/notesSlide7.xml" Id="R03ed252728964b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1190c8c2040e1" /><Relationship Type="http://schemas.openxmlformats.org/officeDocument/2006/relationships/notesSlide" Target="/ppt/notesSlides/notesSlide8.xml" Id="R55ebe011bf3f45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cbcb851e545e8" /><Relationship Type="http://schemas.openxmlformats.org/officeDocument/2006/relationships/notesSlide" Target="/ppt/notesSlides/notesSlide9.xml" Id="R755e4f5e145347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6782ada85422e" /><Relationship Type="http://schemas.openxmlformats.org/officeDocument/2006/relationships/notesSlide" Target="/ppt/notesSlides/notesSlide10.xml" Id="Rcc26c8be168e47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b06d6ef9d40a8" /><Relationship Type="http://schemas.openxmlformats.org/officeDocument/2006/relationships/notesSlide" Target="/ppt/notesSlides/notesSlide11.xml" Id="R5c8de8bae41745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42ad79e564092" /><Relationship Type="http://schemas.openxmlformats.org/officeDocument/2006/relationships/notesSlide" Target="/ppt/notesSlides/notesSlide12.xml" Id="R46baf27878b641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68A8440-779D-437D-B02A-6AFD043B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78F1E99-2305-43F1-87CB-6D72557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BÁO CÁO ĐỊNH HƯỚNG KHÓA LUẬN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74676A5-4EC0-4DF2-BA6C-0BA4A77E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Assessor đánh giá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Speaking theo CEFR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0087026-9D62-4D75-8494-35DE42E0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Thiết kế đánh giá • Dữ liệu người Việt • Lộ trình triển khai 10 tuần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BA3F7AF7-E305-4F78-8A70-C47E665C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081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cover-scope">
            <a:extLst xmlns:a="http://schemas.openxmlformats.org/drawingml/2006/main">
              <a:ext uri="{FF2B5EF4-FFF2-40B4-BE49-F238E27FC236}">
                <a16:creationId xmlns:a16="http://schemas.microsoft.com/office/drawing/2014/main" id="{1AA87E97-B0BD-45D8-8B88-EDF3D8B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ALDM-L: Speaking × Assess × AI Assessor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Phạm vi kiểm chứng đề xuất: sinh viên Việt Nam, A2–B2, formative assessment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33FCA1B-5459-418B-A8AE-3D3FE4BE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20.08.2026</a:t>
            </a:r>
          </a:p>
        </p:txBody>
      </p:sp>
    </p:spTree>
    <p:extLst>
      <p:ext uri="{BB962C8B-B14F-4D97-AF65-F5344CB8AC3E}">
        <p14:creationId xmlns:p14="http://schemas.microsoft.com/office/powerpoint/2010/main" val="2113283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2">
            <a:extLst xmlns:a="http://schemas.openxmlformats.org/drawingml/2006/main">
              <a:ext uri="{FF2B5EF4-FFF2-40B4-BE49-F238E27FC236}">
                <a16:creationId xmlns:a16="http://schemas.microsoft.com/office/drawing/2014/main" id="{07704AB0-F391-49C8-9824-D3C02E2E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94AC409-FCE5-407D-9ED6-4B6EE0A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Đề tài đáng làm, nhưng phải chứng minh độ tin cậy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155AC817-71BA-4AA7-8C61-645604C1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2-lead">
            <a:extLst xmlns:a="http://schemas.openxmlformats.org/drawingml/2006/main">
              <a:ext uri="{FF2B5EF4-FFF2-40B4-BE49-F238E27FC236}">
                <a16:creationId xmlns:a16="http://schemas.microsoft.com/office/drawing/2014/main" id="{A7049D7A-424A-490D-BEAB-47EFC25A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Giá trị nghiên cứu không nằm ở việc gọi một mô hình AI, mà ở cách đo đúng construct và kiểm định với giảng viên.</a:t>
            </a:r>
          </a:p>
        </p:txBody>
      </p:sp>
      <p:sp>
        <p:nvSpPr>
          <p:cNvPr id="5" name="s2-m1-bg">
            <a:extLst xmlns:a="http://schemas.openxmlformats.org/drawingml/2006/main">
              <a:ext uri="{FF2B5EF4-FFF2-40B4-BE49-F238E27FC236}">
                <a16:creationId xmlns:a16="http://schemas.microsoft.com/office/drawing/2014/main" id="{5205BFF6-207B-4D48-AB79-4367082E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3606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2-m1-value">
            <a:extLst xmlns:a="http://schemas.openxmlformats.org/drawingml/2006/main">
              <a:ext uri="{FF2B5EF4-FFF2-40B4-BE49-F238E27FC236}">
                <a16:creationId xmlns:a16="http://schemas.microsoft.com/office/drawing/2014/main" id="{D479BD37-631D-420F-8F49-B6635DBB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22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s2-m1-label">
            <a:extLst xmlns:a="http://schemas.openxmlformats.org/drawingml/2006/main">
              <a:ext uri="{FF2B5EF4-FFF2-40B4-BE49-F238E27FC236}">
                <a16:creationId xmlns:a16="http://schemas.microsoft.com/office/drawing/2014/main" id="{F3731FA2-C706-4A19-86B3-725626E8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322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mặt của Speaking cần được đánh giá theo CEFR</a:t>
            </a:r>
          </a:p>
        </p:txBody>
      </p:sp>
      <p:sp>
        <p:nvSpPr>
          <p:cNvPr id="8" name="s2-m2-bg">
            <a:extLst xmlns:a="http://schemas.openxmlformats.org/drawingml/2006/main">
              <a:ext uri="{FF2B5EF4-FFF2-40B4-BE49-F238E27FC236}">
                <a16:creationId xmlns:a16="http://schemas.microsoft.com/office/drawing/2014/main" id="{CC5F3361-6292-46C3-94A9-C5FE5E1E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476500"/>
            <a:ext cx="3606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2-m2-value">
            <a:extLst xmlns:a="http://schemas.openxmlformats.org/drawingml/2006/main">
              <a:ext uri="{FF2B5EF4-FFF2-40B4-BE49-F238E27FC236}">
                <a16:creationId xmlns:a16="http://schemas.microsoft.com/office/drawing/2014/main" id="{0868EFF5-03D8-4CAF-B40F-70650879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647950"/>
            <a:ext cx="322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s2-m2-label">
            <a:extLst xmlns:a="http://schemas.openxmlformats.org/drawingml/2006/main">
              <a:ext uri="{FF2B5EF4-FFF2-40B4-BE49-F238E27FC236}">
                <a16:creationId xmlns:a16="http://schemas.microsoft.com/office/drawing/2014/main" id="{39925A2B-5BD6-4F6B-BEEF-9823D5CA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543300"/>
            <a:ext cx="322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người Việt trong L2-ARCTIC — hữu ích nhưng quá nhỏ và không có CEFR</a:t>
            </a:r>
          </a:p>
        </p:txBody>
      </p:sp>
      <p:sp>
        <p:nvSpPr>
          <p:cNvPr id="11" name="s2-m3-bg">
            <a:extLst xmlns:a="http://schemas.openxmlformats.org/drawingml/2006/main">
              <a:ext uri="{FF2B5EF4-FFF2-40B4-BE49-F238E27FC236}">
                <a16:creationId xmlns:a16="http://schemas.microsoft.com/office/drawing/2014/main" id="{B718DBA7-1A4A-4D17-AB25-1727A548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476500"/>
            <a:ext cx="36068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2-m3-value">
            <a:extLst xmlns:a="http://schemas.openxmlformats.org/drawingml/2006/main">
              <a:ext uri="{FF2B5EF4-FFF2-40B4-BE49-F238E27FC236}">
                <a16:creationId xmlns:a16="http://schemas.microsoft.com/office/drawing/2014/main" id="{ED73F406-C742-46A5-8262-7EEE1696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647950"/>
            <a:ext cx="3225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s2-m3-label">
            <a:extLst xmlns:a="http://schemas.openxmlformats.org/drawingml/2006/main">
              <a:ext uri="{FF2B5EF4-FFF2-40B4-BE49-F238E27FC236}">
                <a16:creationId xmlns:a16="http://schemas.microsoft.com/office/drawing/2014/main" id="{A9455009-7DF6-4ECD-ADB0-95F4B060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543300"/>
            <a:ext cx="322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tuần để xây, thu dữ liệu và kiểm định một proof-of-concept</a:t>
            </a:r>
          </a:p>
        </p:txBody>
      </p:sp>
      <p:sp>
        <p:nvSpPr>
          <p:cNvPr id="14" name="s2-bottom">
            <a:extLst xmlns:a="http://schemas.openxmlformats.org/drawingml/2006/main">
              <a:ext uri="{FF2B5EF4-FFF2-40B4-BE49-F238E27FC236}">
                <a16:creationId xmlns:a16="http://schemas.microsoft.com/office/drawing/2014/main" id="{31347C2C-9623-4BE3-8ACB-E74523DF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Kết luận: phạm vi phải là A2–B2, low-stakes và có human review.</a:t>
            </a:r>
          </a:p>
        </p:txBody>
      </p:sp>
      <p:sp>
        <p:nvSpPr>
          <p:cNvPr id="1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F0CAEA7-A753-4375-AE56-DE0F89C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16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C817B853-B17F-45A6-AE67-B649A85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5246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3">
            <a:extLst xmlns:a="http://schemas.openxmlformats.org/drawingml/2006/main">
              <a:ext uri="{FF2B5EF4-FFF2-40B4-BE49-F238E27FC236}">
                <a16:creationId xmlns:a16="http://schemas.microsoft.com/office/drawing/2014/main" id="{35DC2CCD-997E-4FE1-B606-6BC9117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BEDBB7C-65F3-48AF-BF36-53CAF079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Khoảng trống không nằm ở việc “dùng AI”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B15AD21-E9F7-4D4A-A240-BAB48271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3-left-bar">
            <a:extLst xmlns:a="http://schemas.openxmlformats.org/drawingml/2006/main">
              <a:ext uri="{FF2B5EF4-FFF2-40B4-BE49-F238E27FC236}">
                <a16:creationId xmlns:a16="http://schemas.microsoft.com/office/drawing/2014/main" id="{812B9E0B-A660-4C4A-A62F-9FCD9770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3-left-label">
            <a:extLst xmlns:a="http://schemas.openxmlformats.org/drawingml/2006/main">
              <a:ext uri="{FF2B5EF4-FFF2-40B4-BE49-F238E27FC236}">
                <a16:creationId xmlns:a16="http://schemas.microsoft.com/office/drawing/2014/main" id="{A80707CF-572F-4AE6-8C80-F13B057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Đã có hệ thống công khai</a:t>
            </a:r>
          </a:p>
        </p:txBody>
      </p:sp>
      <p:sp>
        <p:nvSpPr>
          <p:cNvPr id="6" name="s3-left-panel">
            <a:extLst xmlns:a="http://schemas.openxmlformats.org/drawingml/2006/main">
              <a:ext uri="{FF2B5EF4-FFF2-40B4-BE49-F238E27FC236}">
                <a16:creationId xmlns:a16="http://schemas.microsoft.com/office/drawing/2014/main" id="{21775584-121E-452E-A58F-9BF8CD29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53149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3-left-text">
            <a:extLst xmlns:a="http://schemas.openxmlformats.org/drawingml/2006/main">
              <a:ext uri="{FF2B5EF4-FFF2-40B4-BE49-F238E27FC236}">
                <a16:creationId xmlns:a16="http://schemas.microsoft.com/office/drawing/2014/main" id="{04266D74-5925-49FC-9E0E-B594B3B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8196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Speaklify: pipeline CEFR end-to-end, gần trùng ý tưởng sản phẩm.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EvalYaks: chấm transcript Cambridge B2, không có pronunciation audio.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GOPT/SpeechOcean: mạnh ở pronunciation, không phải CEFR holistic.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Các demo ứng dụng thường thiếu kiểm định với rater và accent Việt.</a:t>
            </a:r>
          </a:p>
        </p:txBody>
      </p:sp>
      <p:sp>
        <p:nvSpPr>
          <p:cNvPr id="8" name="s3-right-bar">
            <a:extLst xmlns:a="http://schemas.openxmlformats.org/drawingml/2006/main">
              <a:ext uri="{FF2B5EF4-FFF2-40B4-BE49-F238E27FC236}">
                <a16:creationId xmlns:a16="http://schemas.microsoft.com/office/drawing/2014/main" id="{AAE2C37D-042C-4F56-932F-5E216957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s3-right-label">
            <a:extLst xmlns:a="http://schemas.openxmlformats.org/drawingml/2006/main">
              <a:ext uri="{FF2B5EF4-FFF2-40B4-BE49-F238E27FC236}">
                <a16:creationId xmlns:a16="http://schemas.microsoft.com/office/drawing/2014/main" id="{E32A2C38-2DBA-4CA0-B418-D4C34ABE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95425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Đóng góp có thể bảo vệ</a:t>
            </a:r>
          </a:p>
        </p:txBody>
      </p:sp>
      <p:sp>
        <p:nvSpPr>
          <p:cNvPr id="10" name="s3-right-panel">
            <a:extLst xmlns:a="http://schemas.openxmlformats.org/drawingml/2006/main">
              <a:ext uri="{FF2B5EF4-FFF2-40B4-BE49-F238E27FC236}">
                <a16:creationId xmlns:a16="http://schemas.microsoft.com/office/drawing/2014/main" id="{93C5B876-7C67-4705-94A0-09A3F855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53149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3-right-text">
            <a:extLst xmlns:a="http://schemas.openxmlformats.org/drawingml/2006/main">
              <a:ext uri="{FF2B5EF4-FFF2-40B4-BE49-F238E27FC236}">
                <a16:creationId xmlns:a16="http://schemas.microsoft.com/office/drawing/2014/main" id="{4CFEA176-23A2-4FA5-B58D-725002D4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8196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Rubric CEFR A2–B2 được vận hành hóa và có anchor.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sinh viên Việt Nam được hai giảng viên chấm.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Speaker-level split, AI–human agreement và calibration.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00000"/>
                </a:solidFill>
                <a:latin typeface="Arial"/>
                <a:ea typeface="Arial"/>
                <a:cs typeface="Arial"/>
              </a:rPr>
              <a:t>Phân tích lỗi ASR giọng Việt, uncertainty và human review.</a:t>
            </a:r>
          </a:p>
        </p:txBody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41D0ACF0-BB95-4200-BC72-98A39684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Không fork một đồ án có sẵn; dùng chúng làm related work và baseline kiến trúc.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EACAC04-B091-4068-B0B6-813B700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9A1165C0-0561-4668-A427-52CAECF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9811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4">
            <a:extLst xmlns:a="http://schemas.openxmlformats.org/drawingml/2006/main">
              <a:ext uri="{FF2B5EF4-FFF2-40B4-BE49-F238E27FC236}">
                <a16:creationId xmlns:a16="http://schemas.microsoft.com/office/drawing/2014/main" id="{657DC0D9-EF1C-4658-BCC2-A5C6D031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F82D02F-EA5B-4AD6-A27C-EB77A6A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Phương án tốt nhất: Nhóm 1 + phần cần thiết của Nhóm 2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275E2AB7-93D8-458B-A986-AC30D8EA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4-lead">
            <a:extLst xmlns:a="http://schemas.openxmlformats.org/drawingml/2006/main">
              <a:ext uri="{FF2B5EF4-FFF2-40B4-BE49-F238E27FC236}">
                <a16:creationId xmlns:a16="http://schemas.microsoft.com/office/drawing/2014/main" id="{FE93B1C4-A4EC-4FDD-A423-C79078FD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Một chu trình duy nhất giúp giữ phạm vi và làm rõ vai trò sư phạm của từng AI.</a:t>
            </a:r>
          </a:p>
        </p:txBody>
      </p:sp>
      <p:sp>
        <p:nvSpPr>
          <p:cNvPr id="5" name="s4-arrow-1">
            <a:extLst xmlns:a="http://schemas.openxmlformats.org/drawingml/2006/main">
              <a:ext uri="{FF2B5EF4-FFF2-40B4-BE49-F238E27FC236}">
                <a16:creationId xmlns:a16="http://schemas.microsoft.com/office/drawing/2014/main" id="{C4A32DBD-91C8-4EBF-9B5B-AEE6B87A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400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s4-arrow-2">
            <a:extLst xmlns:a="http://schemas.openxmlformats.org/drawingml/2006/main">
              <a:ext uri="{FF2B5EF4-FFF2-40B4-BE49-F238E27FC236}">
                <a16:creationId xmlns:a16="http://schemas.microsoft.com/office/drawing/2014/main" id="{30E5CF32-4535-453E-89A1-820005C5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400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s4-arrow-3">
            <a:extLst xmlns:a="http://schemas.openxmlformats.org/drawingml/2006/main">
              <a:ext uri="{FF2B5EF4-FFF2-40B4-BE49-F238E27FC236}">
                <a16:creationId xmlns:a16="http://schemas.microsoft.com/office/drawing/2014/main" id="{C685FFCB-CE04-423B-818B-AFAC35CA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4000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s4-box-01">
            <a:extLst xmlns:a="http://schemas.openxmlformats.org/drawingml/2006/main">
              <a:ext uri="{FF2B5EF4-FFF2-40B4-BE49-F238E27FC236}">
                <a16:creationId xmlns:a16="http://schemas.microsoft.com/office/drawing/2014/main" id="{87C3E7D2-9CCC-44B1-BF29-7492B302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s4-num-01">
            <a:extLst xmlns:a="http://schemas.openxmlformats.org/drawingml/2006/main">
              <a:ext uri="{FF2B5EF4-FFF2-40B4-BE49-F238E27FC236}">
                <a16:creationId xmlns:a16="http://schemas.microsoft.com/office/drawing/2014/main" id="{1ACA37F8-A431-4839-B1BD-D278FF48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4-title-01">
            <a:extLst xmlns:a="http://schemas.openxmlformats.org/drawingml/2006/main">
              <a:ext uri="{FF2B5EF4-FFF2-40B4-BE49-F238E27FC236}">
                <a16:creationId xmlns:a16="http://schemas.microsoft.com/office/drawing/2014/main" id="{FC6A7F18-3A59-4BBD-B9E2-E76D3370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Assessor</a:t>
            </a:r>
          </a:p>
        </p:txBody>
      </p:sp>
      <p:sp>
        <p:nvSpPr>
          <p:cNvPr id="11" name="s4-body-01">
            <a:extLst xmlns:a="http://schemas.openxmlformats.org/drawingml/2006/main">
              <a:ext uri="{FF2B5EF4-FFF2-40B4-BE49-F238E27FC236}">
                <a16:creationId xmlns:a16="http://schemas.microsoft.com/office/drawing/2014/main" id="{697A179D-7F05-4452-803F-8267F848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Lõi nghiên cứu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Chấm A2/B1/B2 + tiêu chí</a:t>
            </a:r>
          </a:p>
        </p:txBody>
      </p:sp>
      <p:sp>
        <p:nvSpPr>
          <p:cNvPr id="12" name="s4-box-02">
            <a:extLst xmlns:a="http://schemas.openxmlformats.org/drawingml/2006/main">
              <a:ext uri="{FF2B5EF4-FFF2-40B4-BE49-F238E27FC236}">
                <a16:creationId xmlns:a16="http://schemas.microsoft.com/office/drawing/2014/main" id="{2F291C41-F9B0-4B16-A1D9-86AD713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s4-num-02">
            <a:extLst xmlns:a="http://schemas.openxmlformats.org/drawingml/2006/main">
              <a:ext uri="{FF2B5EF4-FFF2-40B4-BE49-F238E27FC236}">
                <a16:creationId xmlns:a16="http://schemas.microsoft.com/office/drawing/2014/main" id="{E7DA6963-EECC-46CD-8300-BDB85D0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s4-title-02">
            <a:extLst xmlns:a="http://schemas.openxmlformats.org/drawingml/2006/main">
              <a:ext uri="{FF2B5EF4-FFF2-40B4-BE49-F238E27FC236}">
                <a16:creationId xmlns:a16="http://schemas.microsoft.com/office/drawing/2014/main" id="{B2F8A7D2-3504-47DC-8924-FA4A92F8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Conversation Partner</a:t>
            </a:r>
          </a:p>
        </p:txBody>
      </p:sp>
      <p:sp>
        <p:nvSpPr>
          <p:cNvPr id="15" name="s4-body-02">
            <a:extLst xmlns:a="http://schemas.openxmlformats.org/drawingml/2006/main">
              <a:ext uri="{FF2B5EF4-FFF2-40B4-BE49-F238E27FC236}">
                <a16:creationId xmlns:a16="http://schemas.microsoft.com/office/drawing/2014/main" id="{E5F4310E-84F0-4093-99AC-F677E07C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385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Tạo Task C bán cấu trúc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Đo Interaction</a:t>
            </a:r>
          </a:p>
        </p:txBody>
      </p:sp>
      <p:sp>
        <p:nvSpPr>
          <p:cNvPr id="16" name="s4-box-03">
            <a:extLst xmlns:a="http://schemas.openxmlformats.org/drawingml/2006/main">
              <a:ext uri="{FF2B5EF4-FFF2-40B4-BE49-F238E27FC236}">
                <a16:creationId xmlns:a16="http://schemas.microsoft.com/office/drawing/2014/main" id="{D9FD93AE-DF95-48A6-B114-1AC8A97C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s4-num-03">
            <a:extLst xmlns:a="http://schemas.openxmlformats.org/drawingml/2006/main">
              <a:ext uri="{FF2B5EF4-FFF2-40B4-BE49-F238E27FC236}">
                <a16:creationId xmlns:a16="http://schemas.microsoft.com/office/drawing/2014/main" id="{E6B6E305-F27C-4267-BC5D-4B9E038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s4-title-03">
            <a:extLst xmlns:a="http://schemas.openxmlformats.org/drawingml/2006/main">
              <a:ext uri="{FF2B5EF4-FFF2-40B4-BE49-F238E27FC236}">
                <a16:creationId xmlns:a16="http://schemas.microsoft.com/office/drawing/2014/main" id="{00F6D467-0F9C-4C51-B1F9-2F013FAD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Feedbacker</a:t>
            </a:r>
          </a:p>
        </p:txBody>
      </p:sp>
      <p:sp>
        <p:nvSpPr>
          <p:cNvPr id="19" name="s4-body-03">
            <a:extLst xmlns:a="http://schemas.openxmlformats.org/drawingml/2006/main">
              <a:ext uri="{FF2B5EF4-FFF2-40B4-BE49-F238E27FC236}">
                <a16:creationId xmlns:a16="http://schemas.microsoft.com/office/drawing/2014/main" id="{E42BCE03-5E80-401D-9EC3-41611F5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385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Giải thích bằng evidence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Ưu tiên cải thiện</a:t>
            </a:r>
          </a:p>
        </p:txBody>
      </p:sp>
      <p:sp>
        <p:nvSpPr>
          <p:cNvPr id="20" name="s4-box-04">
            <a:extLst xmlns:a="http://schemas.openxmlformats.org/drawingml/2006/main">
              <a:ext uri="{FF2B5EF4-FFF2-40B4-BE49-F238E27FC236}">
                <a16:creationId xmlns:a16="http://schemas.microsoft.com/office/drawing/2014/main" id="{C67C1111-EE04-4447-A83C-CC51A33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21" name="s4-num-04">
            <a:extLst xmlns:a="http://schemas.openxmlformats.org/drawingml/2006/main">
              <a:ext uri="{FF2B5EF4-FFF2-40B4-BE49-F238E27FC236}">
                <a16:creationId xmlns:a16="http://schemas.microsoft.com/office/drawing/2014/main" id="{0CFD507F-B527-4BA7-A39F-C2FC5E1F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s4-title-04">
            <a:extLst xmlns:a="http://schemas.openxmlformats.org/drawingml/2006/main">
              <a:ext uri="{FF2B5EF4-FFF2-40B4-BE49-F238E27FC236}">
                <a16:creationId xmlns:a16="http://schemas.microsoft.com/office/drawing/2014/main" id="{74817155-B899-4B95-BFF5-01A62A3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Personalizer</a:t>
            </a:r>
          </a:p>
        </p:txBody>
      </p:sp>
      <p:sp>
        <p:nvSpPr>
          <p:cNvPr id="23" name="s4-body-04">
            <a:extLst xmlns:a="http://schemas.openxmlformats.org/drawingml/2006/main">
              <a:ext uri="{FF2B5EF4-FFF2-40B4-BE49-F238E27FC236}">
                <a16:creationId xmlns:a16="http://schemas.microsoft.com/office/drawing/2014/main" id="{4EE54026-5759-423D-B8ED-2CA07AC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385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Chỉ là stretch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Chọn 1–2 task tiếp theo</a:t>
            </a:r>
          </a:p>
        </p:txBody>
      </p:sp>
      <p:sp>
        <p:nvSpPr>
          <p:cNvPr id="24" name="s4-scope-bg">
            <a:extLst xmlns:a="http://schemas.openxmlformats.org/drawingml/2006/main">
              <a:ext uri="{FF2B5EF4-FFF2-40B4-BE49-F238E27FC236}">
                <a16:creationId xmlns:a16="http://schemas.microsoft.com/office/drawing/2014/main" id="{1D91724E-4FB3-4ADB-93A8-1331271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4-scope">
            <a:extLst xmlns:a="http://schemas.openxmlformats.org/drawingml/2006/main">
              <a:ext uri="{FF2B5EF4-FFF2-40B4-BE49-F238E27FC236}">
                <a16:creationId xmlns:a16="http://schemas.microsoft.com/office/drawing/2014/main" id="{AB10B045-A23B-4A3F-A25E-821008F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Không triển khai đồng thời LMS, thi high-stakes, phỏng vấn việc làm và chatbot tự do trong 10 tuần.</a:t>
            </a:r>
          </a:p>
        </p:txBody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F60D557C-4DAB-4B48-AEFA-569D40EA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27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7D332FC4-424D-45CC-A3DA-04F02C6A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647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5">
            <a:extLst xmlns:a="http://schemas.openxmlformats.org/drawingml/2006/main">
              <a:ext uri="{FF2B5EF4-FFF2-40B4-BE49-F238E27FC236}">
                <a16:creationId xmlns:a16="http://schemas.microsoft.com/office/drawing/2014/main" id="{7ECB9842-A6FF-4DCF-B19F-18D6E61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6249A7F-BD7F-468A-A261-BBFD3B5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CEFR yêu cầu sáu mặt của năng lực nói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7174A851-A4C6-4D89-8FE5-8A44D9F7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5-rule-0">
            <a:extLst xmlns:a="http://schemas.openxmlformats.org/drawingml/2006/main">
              <a:ext uri="{FF2B5EF4-FFF2-40B4-BE49-F238E27FC236}">
                <a16:creationId xmlns:a16="http://schemas.microsoft.com/office/drawing/2014/main" id="{200838EF-14B7-4906-80B7-A02D0BB0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s5-head-0">
            <a:extLst xmlns:a="http://schemas.openxmlformats.org/drawingml/2006/main">
              <a:ext uri="{FF2B5EF4-FFF2-40B4-BE49-F238E27FC236}">
                <a16:creationId xmlns:a16="http://schemas.microsoft.com/office/drawing/2014/main" id="{6F5D927F-7A6D-4044-B987-E419D72D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</a:t>
            </a:r>
          </a:p>
        </p:txBody>
      </p:sp>
      <p:sp>
        <p:nvSpPr>
          <p:cNvPr id="6" name="s5-body-0">
            <a:extLst xmlns:a="http://schemas.openxmlformats.org/drawingml/2006/main">
              <a:ext uri="{FF2B5EF4-FFF2-40B4-BE49-F238E27FC236}">
                <a16:creationId xmlns:a16="http://schemas.microsoft.com/office/drawing/2014/main" id="{1421A542-90A1-4522-AF16-469ABFE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Từ vựng và cấu trúc đủ để diễn đạt ý</a:t>
            </a:r>
          </a:p>
        </p:txBody>
      </p:sp>
      <p:sp>
        <p:nvSpPr>
          <p:cNvPr id="7" name="s5-rule-1">
            <a:extLst xmlns:a="http://schemas.openxmlformats.org/drawingml/2006/main">
              <a:ext uri="{FF2B5EF4-FFF2-40B4-BE49-F238E27FC236}">
                <a16:creationId xmlns:a16="http://schemas.microsoft.com/office/drawing/2014/main" id="{3FB63379-74CB-4BBF-BC8E-01F6133B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s5-head-1">
            <a:extLst xmlns:a="http://schemas.openxmlformats.org/drawingml/2006/main">
              <a:ext uri="{FF2B5EF4-FFF2-40B4-BE49-F238E27FC236}">
                <a16:creationId xmlns:a16="http://schemas.microsoft.com/office/drawing/2014/main" id="{6D4D787D-83EA-46A0-99A4-A1365186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66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9" name="s5-body-1">
            <a:extLst xmlns:a="http://schemas.openxmlformats.org/drawingml/2006/main">
              <a:ext uri="{FF2B5EF4-FFF2-40B4-BE49-F238E27FC236}">
                <a16:creationId xmlns:a16="http://schemas.microsoft.com/office/drawing/2014/main" id="{D1EA6698-B66D-42B1-B91D-F3E45C91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030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Mức kiểm soát ngữ pháp và cách tự sửa</a:t>
            </a:r>
          </a:p>
        </p:txBody>
      </p:sp>
      <p:sp>
        <p:nvSpPr>
          <p:cNvPr id="10" name="s5-rule-2">
            <a:extLst xmlns:a="http://schemas.openxmlformats.org/drawingml/2006/main">
              <a:ext uri="{FF2B5EF4-FFF2-40B4-BE49-F238E27FC236}">
                <a16:creationId xmlns:a16="http://schemas.microsoft.com/office/drawing/2014/main" id="{F802F2BB-20C9-4368-A1E5-9A55728B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s5-head-2">
            <a:extLst xmlns:a="http://schemas.openxmlformats.org/drawingml/2006/main">
              <a:ext uri="{FF2B5EF4-FFF2-40B4-BE49-F238E27FC236}">
                <a16:creationId xmlns:a16="http://schemas.microsoft.com/office/drawing/2014/main" id="{0286B20C-6C61-4924-A5B3-E9FE23CC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Fluency</a:t>
            </a:r>
          </a:p>
        </p:txBody>
      </p:sp>
      <p:sp>
        <p:nvSpPr>
          <p:cNvPr id="12" name="s5-body-2">
            <a:extLst xmlns:a="http://schemas.openxmlformats.org/drawingml/2006/main">
              <a:ext uri="{FF2B5EF4-FFF2-40B4-BE49-F238E27FC236}">
                <a16:creationId xmlns:a16="http://schemas.microsoft.com/office/drawing/2014/main" id="{6747EF4F-3026-4107-8906-1D53806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Nhịp nói, pause và khả năng duy trì lời nói</a:t>
            </a:r>
          </a:p>
        </p:txBody>
      </p:sp>
      <p:sp>
        <p:nvSpPr>
          <p:cNvPr id="13" name="s5-rule-3">
            <a:extLst xmlns:a="http://schemas.openxmlformats.org/drawingml/2006/main">
              <a:ext uri="{FF2B5EF4-FFF2-40B4-BE49-F238E27FC236}">
                <a16:creationId xmlns:a16="http://schemas.microsoft.com/office/drawing/2014/main" id="{5C44E958-46A7-455C-8743-286CFB24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5-head-3">
            <a:extLst xmlns:a="http://schemas.openxmlformats.org/drawingml/2006/main">
              <a:ext uri="{FF2B5EF4-FFF2-40B4-BE49-F238E27FC236}">
                <a16:creationId xmlns:a16="http://schemas.microsoft.com/office/drawing/2014/main" id="{062918AC-42CE-4CE4-8D32-52903993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15" name="s5-body-3">
            <a:extLst xmlns:a="http://schemas.openxmlformats.org/drawingml/2006/main">
              <a:ext uri="{FF2B5EF4-FFF2-40B4-BE49-F238E27FC236}">
                <a16:creationId xmlns:a16="http://schemas.microsoft.com/office/drawing/2014/main" id="{472EB907-274F-4342-A2A1-AE6ED8F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Khởi tạo, phản hồi, hỏi lại và quản lý lượt</a:t>
            </a:r>
          </a:p>
        </p:txBody>
      </p:sp>
      <p:sp>
        <p:nvSpPr>
          <p:cNvPr id="16" name="s5-rule-4">
            <a:extLst xmlns:a="http://schemas.openxmlformats.org/drawingml/2006/main">
              <a:ext uri="{FF2B5EF4-FFF2-40B4-BE49-F238E27FC236}">
                <a16:creationId xmlns:a16="http://schemas.microsoft.com/office/drawing/2014/main" id="{1B32DCCF-5AEE-40B3-B0CD-34ED7F5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9570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s5-head-4">
            <a:extLst xmlns:a="http://schemas.openxmlformats.org/drawingml/2006/main">
              <a:ext uri="{FF2B5EF4-FFF2-40B4-BE49-F238E27FC236}">
                <a16:creationId xmlns:a16="http://schemas.microsoft.com/office/drawing/2014/main" id="{D5340A2F-6D32-48C2-91D1-6597DA7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Coherence</a:t>
            </a:r>
          </a:p>
        </p:txBody>
      </p:sp>
      <p:sp>
        <p:nvSpPr>
          <p:cNvPr id="18" name="s5-body-4">
            <a:extLst xmlns:a="http://schemas.openxmlformats.org/drawingml/2006/main">
              <a:ext uri="{FF2B5EF4-FFF2-40B4-BE49-F238E27FC236}">
                <a16:creationId xmlns:a16="http://schemas.microsoft.com/office/drawing/2014/main" id="{759F2C6B-037E-44C0-A796-A65E67E0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386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Phát triển chủ đề và liên kết các ý</a:t>
            </a:r>
          </a:p>
        </p:txBody>
      </p:sp>
      <p:sp>
        <p:nvSpPr>
          <p:cNvPr id="19" name="s5-rule-5">
            <a:extLst xmlns:a="http://schemas.openxmlformats.org/drawingml/2006/main">
              <a:ext uri="{FF2B5EF4-FFF2-40B4-BE49-F238E27FC236}">
                <a16:creationId xmlns:a16="http://schemas.microsoft.com/office/drawing/2014/main" id="{7DA84024-AA61-4D72-945F-DFAB722A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3524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s5-head-5">
            <a:extLst xmlns:a="http://schemas.openxmlformats.org/drawingml/2006/main">
              <a:ext uri="{FF2B5EF4-FFF2-40B4-BE49-F238E27FC236}">
                <a16:creationId xmlns:a16="http://schemas.microsoft.com/office/drawing/2014/main" id="{5EA53610-E520-4042-8F25-7763001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Phonology</a:t>
            </a:r>
          </a:p>
        </p:txBody>
      </p:sp>
      <p:sp>
        <p:nvSpPr>
          <p:cNvPr id="21" name="s5-body-5">
            <a:extLst xmlns:a="http://schemas.openxmlformats.org/drawingml/2006/main">
              <a:ext uri="{FF2B5EF4-FFF2-40B4-BE49-F238E27FC236}">
                <a16:creationId xmlns:a16="http://schemas.microsoft.com/office/drawing/2014/main" id="{2D3B48E7-77D9-4A27-8D74-B129DDBB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Intelligibility, âm, trọng âm, nhịp và ngữ điệu</a:t>
            </a:r>
          </a:p>
        </p:txBody>
      </p:sp>
      <p:sp>
        <p:nvSpPr>
          <p:cNvPr id="22" name="s5-note">
            <a:extLst xmlns:a="http://schemas.openxmlformats.org/drawingml/2006/main">
              <a:ext uri="{FF2B5EF4-FFF2-40B4-BE49-F238E27FC236}">
                <a16:creationId xmlns:a16="http://schemas.microsoft.com/office/drawing/2014/main" id="{6315DF55-D516-41C0-BCF3-4723C610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Interaction chỉ được chấm khi có nhiệm vụ tương tác; accent không phải lỗi nếu thông điệp vẫn dễ hiểu.</a:t>
            </a:r>
          </a:p>
        </p:txBody>
      </p:sp>
      <p:sp>
        <p:nvSpPr>
          <p:cNvPr id="2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AE45D073-BC50-4D4D-AFDC-782F5538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24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0409B488-6B51-41F8-A474-1ABD242E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3552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6">
            <a:extLst xmlns:a="http://schemas.openxmlformats.org/drawingml/2006/main">
              <a:ext uri="{FF2B5EF4-FFF2-40B4-BE49-F238E27FC236}">
                <a16:creationId xmlns:a16="http://schemas.microsoft.com/office/drawing/2014/main" id="{C1FB5653-D391-4017-8574-D40CA405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5B7C2F2-6721-481C-A14A-BE1C2253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 nhiệm vụ tạo đủ bằng chứng để chấm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67D135B6-F190-4C75-A7D6-69A8470F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6-panel-0">
            <a:extLst xmlns:a="http://schemas.openxmlformats.org/drawingml/2006/main">
              <a:ext uri="{FF2B5EF4-FFF2-40B4-BE49-F238E27FC236}">
                <a16:creationId xmlns:a16="http://schemas.microsoft.com/office/drawing/2014/main" id="{EC7C56D8-1BE9-44BA-86E4-1DD7BF40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5687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6-letter-0">
            <a:extLst xmlns:a="http://schemas.openxmlformats.org/drawingml/2006/main">
              <a:ext uri="{FF2B5EF4-FFF2-40B4-BE49-F238E27FC236}">
                <a16:creationId xmlns:a16="http://schemas.microsoft.com/office/drawing/2014/main" id="{36126665-2C44-4CC1-8E2A-F2B7053F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s6-title-0">
            <a:extLst xmlns:a="http://schemas.openxmlformats.org/drawingml/2006/main">
              <a:ext uri="{FF2B5EF4-FFF2-40B4-BE49-F238E27FC236}">
                <a16:creationId xmlns:a16="http://schemas.microsoft.com/office/drawing/2014/main" id="{0CF9AA3C-DBDC-4044-BC13-4BF00B7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1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Kể / mô tả</a:t>
            </a:r>
          </a:p>
        </p:txBody>
      </p:sp>
      <p:sp>
        <p:nvSpPr>
          <p:cNvPr id="7" name="s6-time-0">
            <a:extLst xmlns:a="http://schemas.openxmlformats.org/drawingml/2006/main">
              <a:ext uri="{FF2B5EF4-FFF2-40B4-BE49-F238E27FC236}">
                <a16:creationId xmlns:a16="http://schemas.microsoft.com/office/drawing/2014/main" id="{C4262486-495E-4455-BCD1-7D7056B3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1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90–120 giây</a:t>
            </a:r>
          </a:p>
        </p:txBody>
      </p:sp>
      <p:sp>
        <p:nvSpPr>
          <p:cNvPr id="8" name="s6-body-0">
            <a:extLst xmlns:a="http://schemas.openxmlformats.org/drawingml/2006/main">
              <a:ext uri="{FF2B5EF4-FFF2-40B4-BE49-F238E27FC236}">
                <a16:creationId xmlns:a16="http://schemas.microsoft.com/office/drawing/2014/main" id="{6D24CED3-C504-408C-BE24-3574B8B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1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 • Fluency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Coherence • Phonology</a:t>
            </a:r>
          </a:p>
        </p:txBody>
      </p:sp>
      <p:sp>
        <p:nvSpPr>
          <p:cNvPr id="9" name="s6-rule-0">
            <a:extLst xmlns:a="http://schemas.openxmlformats.org/drawingml/2006/main">
              <a:ext uri="{FF2B5EF4-FFF2-40B4-BE49-F238E27FC236}">
                <a16:creationId xmlns:a16="http://schemas.microsoft.com/office/drawing/2014/main" id="{351E36BC-8F81-4C1B-9C46-B005D96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6-sample-0">
            <a:extLst xmlns:a="http://schemas.openxmlformats.org/drawingml/2006/main">
              <a:ext uri="{FF2B5EF4-FFF2-40B4-BE49-F238E27FC236}">
                <a16:creationId xmlns:a16="http://schemas.microsoft.com/office/drawing/2014/main" id="{CA24F4E1-116B-4CB8-9DE7-CF6214C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1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Một trải nghiệm học tập đáng nhớ</a:t>
            </a:r>
          </a:p>
        </p:txBody>
      </p:sp>
      <p:sp>
        <p:nvSpPr>
          <p:cNvPr id="11" name="s6-panel-1">
            <a:extLst xmlns:a="http://schemas.openxmlformats.org/drawingml/2006/main">
              <a:ext uri="{FF2B5EF4-FFF2-40B4-BE49-F238E27FC236}">
                <a16:creationId xmlns:a16="http://schemas.microsoft.com/office/drawing/2014/main" id="{BCC28740-CBD7-4640-B8E8-D6DAA53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1619250"/>
            <a:ext cx="35687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6-letter-1">
            <a:extLst xmlns:a="http://schemas.openxmlformats.org/drawingml/2006/main">
              <a:ext uri="{FF2B5EF4-FFF2-40B4-BE49-F238E27FC236}">
                <a16:creationId xmlns:a16="http://schemas.microsoft.com/office/drawing/2014/main" id="{B7D79062-45F8-41A2-AF31-8B7B8F97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79070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s6-title-1">
            <a:extLst xmlns:a="http://schemas.openxmlformats.org/drawingml/2006/main">
              <a:ext uri="{FF2B5EF4-FFF2-40B4-BE49-F238E27FC236}">
                <a16:creationId xmlns:a16="http://schemas.microsoft.com/office/drawing/2014/main" id="{E9A3BE32-01C4-47CE-9672-573AD31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628900"/>
            <a:ext cx="311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Nêu quan điểm</a:t>
            </a:r>
          </a:p>
        </p:txBody>
      </p:sp>
      <p:sp>
        <p:nvSpPr>
          <p:cNvPr id="14" name="s6-time-1">
            <a:extLst xmlns:a="http://schemas.openxmlformats.org/drawingml/2006/main">
              <a:ext uri="{FF2B5EF4-FFF2-40B4-BE49-F238E27FC236}">
                <a16:creationId xmlns:a16="http://schemas.microsoft.com/office/drawing/2014/main" id="{186A5A66-6441-49B3-BAF7-323F14BC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3333750"/>
            <a:ext cx="311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120 giây</a:t>
            </a:r>
          </a:p>
        </p:txBody>
      </p:sp>
      <p:sp>
        <p:nvSpPr>
          <p:cNvPr id="15" name="s6-body-1">
            <a:extLst xmlns:a="http://schemas.openxmlformats.org/drawingml/2006/main">
              <a:ext uri="{FF2B5EF4-FFF2-40B4-BE49-F238E27FC236}">
                <a16:creationId xmlns:a16="http://schemas.microsoft.com/office/drawing/2014/main" id="{AD636CB8-1FA3-4EFB-A4CD-86664390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3848100"/>
            <a:ext cx="311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Range • Accuracy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Coherence</a:t>
            </a:r>
          </a:p>
        </p:txBody>
      </p:sp>
      <p:sp>
        <p:nvSpPr>
          <p:cNvPr id="16" name="s6-rule-1">
            <a:extLst xmlns:a="http://schemas.openxmlformats.org/drawingml/2006/main">
              <a:ext uri="{FF2B5EF4-FFF2-40B4-BE49-F238E27FC236}">
                <a16:creationId xmlns:a16="http://schemas.microsoft.com/office/drawing/2014/main" id="{D634D49E-61AB-4DCE-B00B-65782F58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772025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6-sample-1">
            <a:extLst xmlns:a="http://schemas.openxmlformats.org/drawingml/2006/main">
              <a:ext uri="{FF2B5EF4-FFF2-40B4-BE49-F238E27FC236}">
                <a16:creationId xmlns:a16="http://schemas.microsoft.com/office/drawing/2014/main" id="{DEB7D8AF-9474-4835-B0A3-56EDDC95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953000"/>
            <a:ext cx="311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Có nên dùng AI khi học ngoại ngữ?</a:t>
            </a:r>
          </a:p>
        </p:txBody>
      </p:sp>
      <p:sp>
        <p:nvSpPr>
          <p:cNvPr id="18" name="s6-panel-2">
            <a:extLst xmlns:a="http://schemas.openxmlformats.org/drawingml/2006/main">
              <a:ext uri="{FF2B5EF4-FFF2-40B4-BE49-F238E27FC236}">
                <a16:creationId xmlns:a16="http://schemas.microsoft.com/office/drawing/2014/main" id="{8C9F0DB4-E639-43FA-B44A-D996277F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619250"/>
            <a:ext cx="35687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6-letter-2">
            <a:extLst xmlns:a="http://schemas.openxmlformats.org/drawingml/2006/main">
              <a:ext uri="{FF2B5EF4-FFF2-40B4-BE49-F238E27FC236}">
                <a16:creationId xmlns:a16="http://schemas.microsoft.com/office/drawing/2014/main" id="{8BC2492B-9C40-4CC5-9448-14424E4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179070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s6-title-2">
            <a:extLst xmlns:a="http://schemas.openxmlformats.org/drawingml/2006/main">
              <a:ext uri="{FF2B5EF4-FFF2-40B4-BE49-F238E27FC236}">
                <a16:creationId xmlns:a16="http://schemas.microsoft.com/office/drawing/2014/main" id="{2CFB6807-23E6-4F5F-BF35-7A0FE3A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2628900"/>
            <a:ext cx="311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Hội thoại bán cấu trúc</a:t>
            </a:r>
          </a:p>
        </p:txBody>
      </p:sp>
      <p:sp>
        <p:nvSpPr>
          <p:cNvPr id="21" name="s6-time-2">
            <a:extLst xmlns:a="http://schemas.openxmlformats.org/drawingml/2006/main">
              <a:ext uri="{FF2B5EF4-FFF2-40B4-BE49-F238E27FC236}">
                <a16:creationId xmlns:a16="http://schemas.microsoft.com/office/drawing/2014/main" id="{F8D442AF-55A0-4D54-8169-F539184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3333750"/>
            <a:ext cx="311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3–5 lượt</a:t>
            </a:r>
          </a:p>
        </p:txBody>
      </p:sp>
      <p:sp>
        <p:nvSpPr>
          <p:cNvPr id="22" name="s6-body-2">
            <a:extLst xmlns:a="http://schemas.openxmlformats.org/drawingml/2006/main">
              <a:ext uri="{FF2B5EF4-FFF2-40B4-BE49-F238E27FC236}">
                <a16:creationId xmlns:a16="http://schemas.microsoft.com/office/drawing/2014/main" id="{31B86EF0-7D1E-4DBB-A523-D567C1B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3848100"/>
            <a:ext cx="311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 • Fluency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 relevance</a:t>
            </a:r>
          </a:p>
        </p:txBody>
      </p:sp>
      <p:sp>
        <p:nvSpPr>
          <p:cNvPr id="23" name="s6-rule-2">
            <a:extLst xmlns:a="http://schemas.openxmlformats.org/drawingml/2006/main">
              <a:ext uri="{FF2B5EF4-FFF2-40B4-BE49-F238E27FC236}">
                <a16:creationId xmlns:a16="http://schemas.microsoft.com/office/drawing/2014/main" id="{90E64B8C-71E4-4558-AEDF-44D908B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4772025"/>
            <a:ext cx="311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s6-sample-2">
            <a:extLst xmlns:a="http://schemas.openxmlformats.org/drawingml/2006/main">
              <a:ext uri="{FF2B5EF4-FFF2-40B4-BE49-F238E27FC236}">
                <a16:creationId xmlns:a16="http://schemas.microsoft.com/office/drawing/2014/main" id="{F74D166E-3279-46E7-856A-29C908F3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4953000"/>
            <a:ext cx="311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Lập kế hoạch hoạt động nhóm</a:t>
            </a:r>
          </a:p>
        </p:txBody>
      </p:sp>
      <p:sp>
        <p:nvSpPr>
          <p:cNvPr id="25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CAAF1EFE-C7CB-4F0B-ADCC-0A3E2695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26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00F3A9BC-F022-40DA-B837-2256BF0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7721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7">
            <a:extLst xmlns:a="http://schemas.openxmlformats.org/drawingml/2006/main">
              <a:ext uri="{FF2B5EF4-FFF2-40B4-BE49-F238E27FC236}">
                <a16:creationId xmlns:a16="http://schemas.microsoft.com/office/drawing/2014/main" id="{FE2B7640-8EAF-4BA8-881E-94437573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D68BAEE-38EB-4620-8FF4-BD60001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người Việt có, nhưng chưa có nhãn CEFR đầy đủ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9E1A901C-36F9-47B4-9065-58DE1167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7-lead">
            <a:extLst xmlns:a="http://schemas.openxmlformats.org/drawingml/2006/main">
              <a:ext uri="{FF2B5EF4-FFF2-40B4-BE49-F238E27FC236}">
                <a16:creationId xmlns:a16="http://schemas.microsoft.com/office/drawing/2014/main" id="{FAF3C93C-D036-4ACD-A71E-E48E5EA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Corpus công khai hỗ trợ pronunciation/ASR; dữ liệu tại trường mới là tập kiểm định chính.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2019300"/>
          <a:ext xmlns:a="http://schemas.openxmlformats.org/drawingml/2006/main" cx="112776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2905125"/>
                <a:gridCol w="3705225"/>
              </a:tblGrid>
              <a:tr h="587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Nguồn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Người Việt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Nhãn chính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587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L2-ARCTIC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 speakers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Transcript + lỗi phone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ASR / pronunciation; không CEFR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Speech Accent Archive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20+ trong mirror*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Đoạn đọc + metadata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External accent check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</a:tr>
              <a:tr h="587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CSLU Foreign Accented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Có L1 Vietnamese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Accent 4 mức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Có phí; không CEFR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Speak &amp; Improve 2025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Chưa xác nhận subset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Holistic CEFR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Benchmark chung; licence chặt</a:t>
                      </a:r>
                    </a:p>
                  </a:txBody>
                  <a:tcPr marL="91440" marR="91440" marT="45720" marB="45720" anchor="ctr">
                    <a:solidFill>
                      <a:srgbClr val="F5F7F9"/>
                    </a:solidFill>
                  </a:tcPr>
                </a:tc>
              </a:tr>
              <a:tr h="587375"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Dữ liệu tại trường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40–60 SV mục tiêu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 tiêu chí + overall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  <a:tc>
                  <a:txBody>
                    <a:bodyPr lIns="85725" tIns="66675" rIns="85725" bIns="66675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Validation chính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  <p:sp>
        <p:nvSpPr>
          <p:cNvPr id="6" name="s7-footnote">
            <a:extLst xmlns:a="http://schemas.openxmlformats.org/drawingml/2006/main">
              <a:ext uri="{FF2B5EF4-FFF2-40B4-BE49-F238E27FC236}">
                <a16:creationId xmlns:a16="http://schemas.microsoft.com/office/drawing/2014/main" id="{B10B3E1E-2CBE-4EC8-8558-7436BC7F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127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*Số mẫu mirror cần kiểm tra lại trước khi công bố thống kê chính thức.</a:t>
            </a:r>
          </a:p>
        </p:txBody>
      </p:sp>
      <p:sp>
        <p:nvSpPr>
          <p:cNvPr id="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4C4C0DBA-D003-4AB9-ABF5-C7EA575C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964582CE-6634-450D-B9D0-9DE5C59E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7832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8">
            <a:extLst xmlns:a="http://schemas.openxmlformats.org/drawingml/2006/main">
              <a:ext uri="{FF2B5EF4-FFF2-40B4-BE49-F238E27FC236}">
                <a16:creationId xmlns:a16="http://schemas.microsoft.com/office/drawing/2014/main" id="{D9101D17-C4F1-488C-A997-267D9FC0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73544B4-DAA8-4041-9851-9316D73C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Pipeline chấm: tách bằng chứng khỏi diễn giải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794C003F-6265-4DE2-A94D-88465F57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8-arrow-0">
            <a:extLst xmlns:a="http://schemas.openxmlformats.org/drawingml/2006/main">
              <a:ext uri="{FF2B5EF4-FFF2-40B4-BE49-F238E27FC236}">
                <a16:creationId xmlns:a16="http://schemas.microsoft.com/office/drawing/2014/main" id="{9553BFB7-1A83-42E3-A26E-25F76EF9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52750"/>
            <a:ext cx="400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s8-arrow-1">
            <a:extLst xmlns:a="http://schemas.openxmlformats.org/drawingml/2006/main">
              <a:ext uri="{FF2B5EF4-FFF2-40B4-BE49-F238E27FC236}">
                <a16:creationId xmlns:a16="http://schemas.microsoft.com/office/drawing/2014/main" id="{E3859A13-D704-41B7-AE5B-3E6EAD29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52750"/>
            <a:ext cx="400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s8-arrow-2">
            <a:extLst xmlns:a="http://schemas.openxmlformats.org/drawingml/2006/main">
              <a:ext uri="{FF2B5EF4-FFF2-40B4-BE49-F238E27FC236}">
                <a16:creationId xmlns:a16="http://schemas.microsoft.com/office/drawing/2014/main" id="{017CC62A-F728-4285-A819-6966C082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400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s8-arrow-3">
            <a:extLst xmlns:a="http://schemas.openxmlformats.org/drawingml/2006/main">
              <a:ext uri="{FF2B5EF4-FFF2-40B4-BE49-F238E27FC236}">
                <a16:creationId xmlns:a16="http://schemas.microsoft.com/office/drawing/2014/main" id="{B59BADB7-9C7C-4F52-A30F-2663FEEB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400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s8-arrow-4">
            <a:extLst xmlns:a="http://schemas.openxmlformats.org/drawingml/2006/main">
              <a:ext uri="{FF2B5EF4-FFF2-40B4-BE49-F238E27FC236}">
                <a16:creationId xmlns:a16="http://schemas.microsoft.com/office/drawing/2014/main" id="{8D28E6FD-3F2A-47FE-BBEB-FF7DB7E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400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s8-node-0">
            <a:extLst xmlns:a="http://schemas.openxmlformats.org/drawingml/2006/main">
              <a:ext uri="{FF2B5EF4-FFF2-40B4-BE49-F238E27FC236}">
                <a16:creationId xmlns:a16="http://schemas.microsoft.com/office/drawing/2014/main" id="{98D7E3CE-CBDD-4292-9652-2DCA71BF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676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0" name="s8-index-0">
            <a:extLst xmlns:a="http://schemas.openxmlformats.org/drawingml/2006/main">
              <a:ext uri="{FF2B5EF4-FFF2-40B4-BE49-F238E27FC236}">
                <a16:creationId xmlns:a16="http://schemas.microsoft.com/office/drawing/2014/main" id="{5EA94EF6-EA0F-4E1B-A715-5DF438B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8-title-0">
            <a:extLst xmlns:a="http://schemas.openxmlformats.org/drawingml/2006/main">
              <a:ext uri="{FF2B5EF4-FFF2-40B4-BE49-F238E27FC236}">
                <a16:creationId xmlns:a16="http://schemas.microsoft.com/office/drawing/2014/main" id="{7D460F0C-B91C-494B-A66E-9154729E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+ audio</a:t>
            </a:r>
          </a:p>
        </p:txBody>
      </p:sp>
      <p:sp>
        <p:nvSpPr>
          <p:cNvPr id="12" name="s8-sub-0">
            <a:extLst xmlns:a="http://schemas.openxmlformats.org/drawingml/2006/main">
              <a:ext uri="{FF2B5EF4-FFF2-40B4-BE49-F238E27FC236}">
                <a16:creationId xmlns:a16="http://schemas.microsoft.com/office/drawing/2014/main" id="{9332B650-0DD5-487C-A176-B70372CF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/ B / C</a:t>
            </a:r>
          </a:p>
        </p:txBody>
      </p:sp>
      <p:sp>
        <p:nvSpPr>
          <p:cNvPr id="13" name="s8-node-1">
            <a:extLst xmlns:a="http://schemas.openxmlformats.org/drawingml/2006/main">
              <a:ext uri="{FF2B5EF4-FFF2-40B4-BE49-F238E27FC236}">
                <a16:creationId xmlns:a16="http://schemas.microsoft.com/office/drawing/2014/main" id="{8386054F-F3BB-42C1-88B0-22B5DEC9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24100"/>
            <a:ext cx="1676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4" name="s8-index-1">
            <a:extLst xmlns:a="http://schemas.openxmlformats.org/drawingml/2006/main">
              <a:ext uri="{FF2B5EF4-FFF2-40B4-BE49-F238E27FC236}">
                <a16:creationId xmlns:a16="http://schemas.microsoft.com/office/drawing/2014/main" id="{4C7DB5A2-8060-4C54-B0C0-F0554AA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s8-title-1">
            <a:extLst xmlns:a="http://schemas.openxmlformats.org/drawingml/2006/main">
              <a:ext uri="{FF2B5EF4-FFF2-40B4-BE49-F238E27FC236}">
                <a16:creationId xmlns:a16="http://schemas.microsoft.com/office/drawing/2014/main" id="{2040BFC1-31A8-4B51-91FF-9317B647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Quality + ASR</a:t>
            </a:r>
          </a:p>
        </p:txBody>
      </p:sp>
      <p:sp>
        <p:nvSpPr>
          <p:cNvPr id="16" name="s8-sub-1">
            <a:extLst xmlns:a="http://schemas.openxmlformats.org/drawingml/2006/main">
              <a:ext uri="{FF2B5EF4-FFF2-40B4-BE49-F238E27FC236}">
                <a16:creationId xmlns:a16="http://schemas.microsoft.com/office/drawing/2014/main" id="{A7DAC53E-DFC6-4424-85ED-CC2114E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VAD • noise • timestamps</a:t>
            </a:r>
          </a:p>
        </p:txBody>
      </p:sp>
      <p:sp>
        <p:nvSpPr>
          <p:cNvPr id="17" name="s8-node-2">
            <a:extLst xmlns:a="http://schemas.openxmlformats.org/drawingml/2006/main">
              <a:ext uri="{FF2B5EF4-FFF2-40B4-BE49-F238E27FC236}">
                <a16:creationId xmlns:a16="http://schemas.microsoft.com/office/drawing/2014/main" id="{417BCFFF-7D4C-4143-A9CE-FEDD12C3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1676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s8-index-2">
            <a:extLst xmlns:a="http://schemas.openxmlformats.org/drawingml/2006/main">
              <a:ext uri="{FF2B5EF4-FFF2-40B4-BE49-F238E27FC236}">
                <a16:creationId xmlns:a16="http://schemas.microsoft.com/office/drawing/2014/main" id="{8B711D64-A626-487F-BAA0-C5F45544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s8-title-2">
            <a:extLst xmlns:a="http://schemas.openxmlformats.org/drawingml/2006/main">
              <a:ext uri="{FF2B5EF4-FFF2-40B4-BE49-F238E27FC236}">
                <a16:creationId xmlns:a16="http://schemas.microsoft.com/office/drawing/2014/main" id="{DF963CC5-5D96-4CC5-8B02-26FBD9DC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lanes</a:t>
            </a:r>
          </a:p>
        </p:txBody>
      </p:sp>
      <p:sp>
        <p:nvSpPr>
          <p:cNvPr id="20" name="s8-sub-2">
            <a:extLst xmlns:a="http://schemas.openxmlformats.org/drawingml/2006/main">
              <a:ext uri="{FF2B5EF4-FFF2-40B4-BE49-F238E27FC236}">
                <a16:creationId xmlns:a16="http://schemas.microsoft.com/office/drawing/2014/main" id="{5244030D-3AC1-4A2C-8FEF-3B9328E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Audio • text • interaction</a:t>
            </a:r>
          </a:p>
        </p:txBody>
      </p:sp>
      <p:sp>
        <p:nvSpPr>
          <p:cNvPr id="21" name="s8-node-3">
            <a:extLst xmlns:a="http://schemas.openxmlformats.org/drawingml/2006/main">
              <a:ext uri="{FF2B5EF4-FFF2-40B4-BE49-F238E27FC236}">
                <a16:creationId xmlns:a16="http://schemas.microsoft.com/office/drawing/2014/main" id="{FD945EB7-F8BE-4F5A-B624-B350498F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24100"/>
            <a:ext cx="1676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2" name="s8-index-3">
            <a:extLst xmlns:a="http://schemas.openxmlformats.org/drawingml/2006/main">
              <a:ext uri="{FF2B5EF4-FFF2-40B4-BE49-F238E27FC236}">
                <a16:creationId xmlns:a16="http://schemas.microsoft.com/office/drawing/2014/main" id="{669A22BC-98DC-46CC-8DC0-5BDE4854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s8-title-3">
            <a:extLst xmlns:a="http://schemas.openxmlformats.org/drawingml/2006/main">
              <a:ext uri="{FF2B5EF4-FFF2-40B4-BE49-F238E27FC236}">
                <a16:creationId xmlns:a16="http://schemas.microsoft.com/office/drawing/2014/main" id="{D24B9BF8-A581-492E-9E0E-9CC1A4D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Criterion models</a:t>
            </a:r>
          </a:p>
        </p:txBody>
      </p:sp>
      <p:sp>
        <p:nvSpPr>
          <p:cNvPr id="24" name="s8-sub-3">
            <a:extLst xmlns:a="http://schemas.openxmlformats.org/drawingml/2006/main">
              <a:ext uri="{FF2B5EF4-FFF2-40B4-BE49-F238E27FC236}">
                <a16:creationId xmlns:a16="http://schemas.microsoft.com/office/drawing/2014/main" id="{ED47B291-1436-40F2-A258-E65E445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A2 / B1 / B2 probabilities</a:t>
            </a:r>
          </a:p>
        </p:txBody>
      </p:sp>
      <p:sp>
        <p:nvSpPr>
          <p:cNvPr id="25" name="s8-node-4">
            <a:extLst xmlns:a="http://schemas.openxmlformats.org/drawingml/2006/main">
              <a:ext uri="{FF2B5EF4-FFF2-40B4-BE49-F238E27FC236}">
                <a16:creationId xmlns:a16="http://schemas.microsoft.com/office/drawing/2014/main" id="{8285E789-25DC-4D41-8D9A-16D63AA3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1676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6" name="s8-index-4">
            <a:extLst xmlns:a="http://schemas.openxmlformats.org/drawingml/2006/main">
              <a:ext uri="{FF2B5EF4-FFF2-40B4-BE49-F238E27FC236}">
                <a16:creationId xmlns:a16="http://schemas.microsoft.com/office/drawing/2014/main" id="{5F033606-F055-453F-9A76-051AA11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s8-title-4">
            <a:extLst xmlns:a="http://schemas.openxmlformats.org/drawingml/2006/main">
              <a:ext uri="{FF2B5EF4-FFF2-40B4-BE49-F238E27FC236}">
                <a16:creationId xmlns:a16="http://schemas.microsoft.com/office/drawing/2014/main" id="{033E6C26-1CCE-4DFD-A28E-ED4667EF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28" name="s8-sub-4">
            <a:extLst xmlns:a="http://schemas.openxmlformats.org/drawingml/2006/main">
              <a:ext uri="{FF2B5EF4-FFF2-40B4-BE49-F238E27FC236}">
                <a16:creationId xmlns:a16="http://schemas.microsoft.com/office/drawing/2014/main" id="{01AF1342-30C5-4E14-A41E-756163C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overall • boundary • confidence</a:t>
            </a:r>
          </a:p>
        </p:txBody>
      </p:sp>
      <p:sp>
        <p:nvSpPr>
          <p:cNvPr id="29" name="s8-node-5">
            <a:extLst xmlns:a="http://schemas.openxmlformats.org/drawingml/2006/main">
              <a:ext uri="{FF2B5EF4-FFF2-40B4-BE49-F238E27FC236}">
                <a16:creationId xmlns:a16="http://schemas.microsoft.com/office/drawing/2014/main" id="{D1CD01A8-F307-4E2D-8AD9-74196607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24100"/>
            <a:ext cx="1676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s8-index-5">
            <a:extLst xmlns:a="http://schemas.openxmlformats.org/drawingml/2006/main">
              <a:ext uri="{FF2B5EF4-FFF2-40B4-BE49-F238E27FC236}">
                <a16:creationId xmlns:a16="http://schemas.microsoft.com/office/drawing/2014/main" id="{CC4767AB-7392-4E0B-8F41-382BAF91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s8-title-5">
            <a:extLst xmlns:a="http://schemas.openxmlformats.org/drawingml/2006/main">
              <a:ext uri="{FF2B5EF4-FFF2-40B4-BE49-F238E27FC236}">
                <a16:creationId xmlns:a16="http://schemas.microsoft.com/office/drawing/2014/main" id="{D23CF3C6-143B-4340-A2AB-7F322856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57500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+ review</a:t>
            </a:r>
          </a:p>
        </p:txBody>
      </p:sp>
      <p:sp>
        <p:nvSpPr>
          <p:cNvPr id="32" name="s8-sub-5">
            <a:extLst xmlns:a="http://schemas.openxmlformats.org/drawingml/2006/main">
              <a:ext uri="{FF2B5EF4-FFF2-40B4-BE49-F238E27FC236}">
                <a16:creationId xmlns:a16="http://schemas.microsoft.com/office/drawing/2014/main" id="{A31E5DD4-304D-4C11-8BEF-6CD026C9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05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feedback • teacher queue</a:t>
            </a:r>
          </a:p>
        </p:txBody>
      </p:sp>
      <p:sp>
        <p:nvSpPr>
          <p:cNvPr id="33" name="s8-llm-bg">
            <a:extLst xmlns:a="http://schemas.openxmlformats.org/drawingml/2006/main">
              <a:ext uri="{FF2B5EF4-FFF2-40B4-BE49-F238E27FC236}">
                <a16:creationId xmlns:a16="http://schemas.microsoft.com/office/drawing/2014/main" id="{C05929D7-0251-4530-9712-5309F159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s8-llm">
            <a:extLst xmlns:a="http://schemas.openxmlformats.org/drawingml/2006/main">
              <a:ext uri="{FF2B5EF4-FFF2-40B4-BE49-F238E27FC236}">
                <a16:creationId xmlns:a16="http://schemas.microsoft.com/office/drawing/2014/main" id="{AD681BEE-B103-4F56-A7B0-BA928E4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9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LLM, nếu dùng, chỉ nhận rubric + evidence đã kiểm chứng để diễn giải; điểm chính phải lặp lại được và có version.</a:t>
            </a:r>
          </a:p>
        </p:txBody>
      </p:sp>
      <p:sp>
        <p:nvSpPr>
          <p:cNvPr id="3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A1E723D-8E23-4EDA-AB19-A39E373C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36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0AC04DAE-7772-4217-90AA-B30442F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7965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9">
            <a:extLst xmlns:a="http://schemas.openxmlformats.org/drawingml/2006/main">
              <a:ext uri="{FF2B5EF4-FFF2-40B4-BE49-F238E27FC236}">
                <a16:creationId xmlns:a16="http://schemas.microsoft.com/office/drawing/2014/main" id="{EE79CEE9-6B7B-4FF8-ADAD-8A392484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CFA8F071-B848-40FB-B898-0156C59F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Mô hình được đánh giá so với cả baseline và giảng viên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2B0179FA-E484-438F-828E-897F90B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9-left-bar">
            <a:extLst xmlns:a="http://schemas.openxmlformats.org/drawingml/2006/main">
              <a:ext uri="{FF2B5EF4-FFF2-40B4-BE49-F238E27FC236}">
                <a16:creationId xmlns:a16="http://schemas.microsoft.com/office/drawing/2014/main" id="{DB9A5B5A-9375-49E9-8FAA-9B9A1199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s9-left-label">
            <a:extLst xmlns:a="http://schemas.openxmlformats.org/drawingml/2006/main">
              <a:ext uri="{FF2B5EF4-FFF2-40B4-BE49-F238E27FC236}">
                <a16:creationId xmlns:a16="http://schemas.microsoft.com/office/drawing/2014/main" id="{092C4CE4-7FB4-4888-9109-FE87C161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544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Thang baseline</a:t>
            </a:r>
          </a:p>
        </p:txBody>
      </p:sp>
      <p:sp>
        <p:nvSpPr>
          <p:cNvPr id="6" name="s9-model-bg-0">
            <a:extLst xmlns:a="http://schemas.openxmlformats.org/drawingml/2006/main">
              <a:ext uri="{FF2B5EF4-FFF2-40B4-BE49-F238E27FC236}">
                <a16:creationId xmlns:a16="http://schemas.microsoft.com/office/drawing/2014/main" id="{07D3D9E7-F9D7-4B7C-9FAB-7823C0F9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9-model-id-0">
            <a:extLst xmlns:a="http://schemas.openxmlformats.org/drawingml/2006/main">
              <a:ext uri="{FF2B5EF4-FFF2-40B4-BE49-F238E27FC236}">
                <a16:creationId xmlns:a16="http://schemas.microsoft.com/office/drawing/2014/main" id="{0938A7B2-93F6-4F12-B3C1-7EF09055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8" name="s9-model-name-0">
            <a:extLst xmlns:a="http://schemas.openxmlformats.org/drawingml/2006/main">
              <a:ext uri="{FF2B5EF4-FFF2-40B4-BE49-F238E27FC236}">
                <a16:creationId xmlns:a16="http://schemas.microsoft.com/office/drawing/2014/main" id="{8DA0C22F-3FCC-45AB-A7F6-6F2BBF12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Majority / stratified</a:t>
            </a:r>
          </a:p>
        </p:txBody>
      </p:sp>
      <p:sp>
        <p:nvSpPr>
          <p:cNvPr id="9" name="s9-model-bg-1">
            <a:extLst xmlns:a="http://schemas.openxmlformats.org/drawingml/2006/main">
              <a:ext uri="{FF2B5EF4-FFF2-40B4-BE49-F238E27FC236}">
                <a16:creationId xmlns:a16="http://schemas.microsoft.com/office/drawing/2014/main" id="{D43701E8-AB31-4CE8-97D3-50B4F0D2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3600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9-model-id-1">
            <a:extLst xmlns:a="http://schemas.openxmlformats.org/drawingml/2006/main">
              <a:ext uri="{FF2B5EF4-FFF2-40B4-BE49-F238E27FC236}">
                <a16:creationId xmlns:a16="http://schemas.microsoft.com/office/drawing/2014/main" id="{F1FA045A-FFEA-4877-BE21-7BC01C8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1" name="s9-model-name-1">
            <a:extLst xmlns:a="http://schemas.openxmlformats.org/drawingml/2006/main">
              <a:ext uri="{FF2B5EF4-FFF2-40B4-BE49-F238E27FC236}">
                <a16:creationId xmlns:a16="http://schemas.microsoft.com/office/drawing/2014/main" id="{6C809A34-B735-45E9-A34B-28061239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860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Audio-only</a:t>
            </a:r>
          </a:p>
        </p:txBody>
      </p:sp>
      <p:sp>
        <p:nvSpPr>
          <p:cNvPr id="12" name="s9-model-bg-2">
            <a:extLst xmlns:a="http://schemas.openxmlformats.org/drawingml/2006/main">
              <a:ext uri="{FF2B5EF4-FFF2-40B4-BE49-F238E27FC236}">
                <a16:creationId xmlns:a16="http://schemas.microsoft.com/office/drawing/2014/main" id="{A551A339-6944-4A5E-8A4E-BBAD1EC3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057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9-model-id-2">
            <a:extLst xmlns:a="http://schemas.openxmlformats.org/drawingml/2006/main">
              <a:ext uri="{FF2B5EF4-FFF2-40B4-BE49-F238E27FC236}">
                <a16:creationId xmlns:a16="http://schemas.microsoft.com/office/drawing/2014/main" id="{A0456EEA-CF2D-44F6-B8D4-D1783D34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4" name="s9-model-name-2">
            <a:extLst xmlns:a="http://schemas.openxmlformats.org/drawingml/2006/main">
              <a:ext uri="{FF2B5EF4-FFF2-40B4-BE49-F238E27FC236}">
                <a16:creationId xmlns:a16="http://schemas.microsoft.com/office/drawing/2014/main" id="{E721EFDE-3C54-4A14-9CF8-565BFC9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Transcript-only</a:t>
            </a:r>
          </a:p>
        </p:txBody>
      </p:sp>
      <p:sp>
        <p:nvSpPr>
          <p:cNvPr id="15" name="s9-model-bg-3">
            <a:extLst xmlns:a="http://schemas.openxmlformats.org/drawingml/2006/main">
              <a:ext uri="{FF2B5EF4-FFF2-40B4-BE49-F238E27FC236}">
                <a16:creationId xmlns:a16="http://schemas.microsoft.com/office/drawing/2014/main" id="{46DC285F-68DC-4850-A7EA-47A9BB6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51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9-model-id-3">
            <a:extLst xmlns:a="http://schemas.openxmlformats.org/drawingml/2006/main">
              <a:ext uri="{FF2B5EF4-FFF2-40B4-BE49-F238E27FC236}">
                <a16:creationId xmlns:a16="http://schemas.microsoft.com/office/drawing/2014/main" id="{43AF5325-864A-4296-82D0-F8A9ADC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7" name="s9-model-name-3">
            <a:extLst xmlns:a="http://schemas.openxmlformats.org/drawingml/2006/main">
              <a:ext uri="{FF2B5EF4-FFF2-40B4-BE49-F238E27FC236}">
                <a16:creationId xmlns:a16="http://schemas.microsoft.com/office/drawing/2014/main" id="{C0D98AFB-E32C-46B2-8059-AD315746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148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rubric LLM</a:t>
            </a:r>
          </a:p>
        </p:txBody>
      </p:sp>
      <p:sp>
        <p:nvSpPr>
          <p:cNvPr id="18" name="s9-model-bg-4">
            <a:extLst xmlns:a="http://schemas.openxmlformats.org/drawingml/2006/main">
              <a:ext uri="{FF2B5EF4-FFF2-40B4-BE49-F238E27FC236}">
                <a16:creationId xmlns:a16="http://schemas.microsoft.com/office/drawing/2014/main" id="{A848D5C2-E4A3-4547-939B-5CBF92FC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4972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9-model-id-4">
            <a:extLst xmlns:a="http://schemas.openxmlformats.org/drawingml/2006/main">
              <a:ext uri="{FF2B5EF4-FFF2-40B4-BE49-F238E27FC236}">
                <a16:creationId xmlns:a16="http://schemas.microsoft.com/office/drawing/2014/main" id="{69B8116A-51BD-4E78-A499-A1F614D2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20" name="s9-model-name-4">
            <a:extLst xmlns:a="http://schemas.openxmlformats.org/drawingml/2006/main">
              <a:ext uri="{FF2B5EF4-FFF2-40B4-BE49-F238E27FC236}">
                <a16:creationId xmlns:a16="http://schemas.microsoft.com/office/drawing/2014/main" id="{2BD2E691-60C8-4D66-8FA6-96F2B6A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 fusion + calibration</a:t>
            </a:r>
          </a:p>
        </p:txBody>
      </p:sp>
      <p:sp>
        <p:nvSpPr>
          <p:cNvPr id="21" name="s9-right-bar">
            <a:extLst xmlns:a="http://schemas.openxmlformats.org/drawingml/2006/main">
              <a:ext uri="{FF2B5EF4-FFF2-40B4-BE49-F238E27FC236}">
                <a16:creationId xmlns:a16="http://schemas.microsoft.com/office/drawing/2014/main" id="{97A90880-39FB-4DDE-8DEA-5BC8B847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s9-right-label">
            <a:extLst xmlns:a="http://schemas.openxmlformats.org/drawingml/2006/main">
              <a:ext uri="{FF2B5EF4-FFF2-40B4-BE49-F238E27FC236}">
                <a16:creationId xmlns:a16="http://schemas.microsoft.com/office/drawing/2014/main" id="{F3A04E68-4E2A-4178-8189-315FA60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95425"/>
            <a:ext cx="468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Bằng chứng thành công</a:t>
            </a:r>
          </a:p>
        </p:txBody>
      </p:sp>
      <p:sp>
        <p:nvSpPr>
          <p:cNvPr id="23" name="s9-qwk">
            <a:extLst xmlns:a="http://schemas.openxmlformats.org/drawingml/2006/main">
              <a:ext uri="{FF2B5EF4-FFF2-40B4-BE49-F238E27FC236}">
                <a16:creationId xmlns:a16="http://schemas.microsoft.com/office/drawing/2014/main" id="{7BA742D8-2CF6-4967-8DA9-D4FF58A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QWK</a:t>
            </a:r>
          </a:p>
        </p:txBody>
      </p:sp>
      <p:sp>
        <p:nvSpPr>
          <p:cNvPr id="24" name="s9-qwk-label">
            <a:extLst xmlns:a="http://schemas.openxmlformats.org/drawingml/2006/main">
              <a:ext uri="{FF2B5EF4-FFF2-40B4-BE49-F238E27FC236}">
                <a16:creationId xmlns:a16="http://schemas.microsoft.com/office/drawing/2014/main" id="{266F277B-FCB5-49CC-BA17-024D3F1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metric chính cho AI–human agreement</a:t>
            </a:r>
          </a:p>
        </p:txBody>
      </p:sp>
      <p:sp>
        <p:nvSpPr>
          <p:cNvPr id="25" name="s9-metrics">
            <a:extLst xmlns:a="http://schemas.openxmlformats.org/drawingml/2006/main">
              <a:ext uri="{FF2B5EF4-FFF2-40B4-BE49-F238E27FC236}">
                <a16:creationId xmlns:a16="http://schemas.microsoft.com/office/drawing/2014/main" id="{56ED38EF-E7AF-4F03-BCC4-B94080BC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Human–human agreement trước khi train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MAE theo band + adjacent accuracy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Macro-F1 + confusion matrix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WER trên tập chép tay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Calibration + error analysis</a:t>
            </a:r>
          </a:p>
        </p:txBody>
      </p:sp>
      <p:sp>
        <p:nvSpPr>
          <p:cNvPr id="26" name="s9-target-bg">
            <a:extLst xmlns:a="http://schemas.openxmlformats.org/drawingml/2006/main">
              <a:ext uri="{FF2B5EF4-FFF2-40B4-BE49-F238E27FC236}">
                <a16:creationId xmlns:a16="http://schemas.microsoft.com/office/drawing/2014/main" id="{E82C6306-FEBC-4E2D-8469-DF113AA1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9-target">
            <a:extLst xmlns:a="http://schemas.openxmlformats.org/drawingml/2006/main">
              <a:ext uri="{FF2B5EF4-FFF2-40B4-BE49-F238E27FC236}">
                <a16:creationId xmlns:a16="http://schemas.microsoft.com/office/drawing/2014/main" id="{826717A2-3F9D-4663-900E-68AB002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QWK ≥ 0,60 là mục tiêu dự án, không phải chuẩn CEFR chính thức.</a:t>
            </a:r>
          </a:p>
        </p:txBody>
      </p:sp>
      <p:sp>
        <p:nvSpPr>
          <p:cNvPr id="28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43ABD08-BFEB-4DB1-B4D9-BFFC13C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29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F9D4A6F3-F872-43B9-AA09-202DA91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32984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kicker-10">
            <a:extLst xmlns:a="http://schemas.openxmlformats.org/drawingml/2006/main">
              <a:ext uri="{FF2B5EF4-FFF2-40B4-BE49-F238E27FC236}">
                <a16:creationId xmlns:a16="http://schemas.microsoft.com/office/drawing/2014/main" id="{C3F11EA2-9350-41E1-9C00-8686C3A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F81AD4CA-48BF-44F6-B6C4-72376AD9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Mười tuần được quản lý bằng cổng G1–G10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3860AD08-90B8-4908-9BF0-A540FA3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10-week-1">
            <a:extLst xmlns:a="http://schemas.openxmlformats.org/drawingml/2006/main">
              <a:ext uri="{FF2B5EF4-FFF2-40B4-BE49-F238E27FC236}">
                <a16:creationId xmlns:a16="http://schemas.microsoft.com/office/drawing/2014/main" id="{FCAE7B67-0ECF-4C16-A4B0-C92B9172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W1</a:t>
            </a:r>
          </a:p>
        </p:txBody>
      </p:sp>
      <p:sp>
        <p:nvSpPr>
          <p:cNvPr id="5" name="s10-vline-1">
            <a:extLst xmlns:a="http://schemas.openxmlformats.org/drawingml/2006/main">
              <a:ext uri="{FF2B5EF4-FFF2-40B4-BE49-F238E27FC236}">
                <a16:creationId xmlns:a16="http://schemas.microsoft.com/office/drawing/2014/main" id="{419A831C-D8CA-4075-ADD8-36AC5FFB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s10-week-2">
            <a:extLst xmlns:a="http://schemas.openxmlformats.org/drawingml/2006/main">
              <a:ext uri="{FF2B5EF4-FFF2-40B4-BE49-F238E27FC236}">
                <a16:creationId xmlns:a16="http://schemas.microsoft.com/office/drawing/2014/main" id="{8C7D2586-E5BF-4341-8F32-00CC43F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W2</a:t>
            </a:r>
          </a:p>
        </p:txBody>
      </p:sp>
      <p:sp>
        <p:nvSpPr>
          <p:cNvPr id="7" name="s10-vline-2">
            <a:extLst xmlns:a="http://schemas.openxmlformats.org/drawingml/2006/main">
              <a:ext uri="{FF2B5EF4-FFF2-40B4-BE49-F238E27FC236}">
                <a16:creationId xmlns:a16="http://schemas.microsoft.com/office/drawing/2014/main" id="{443F6D80-DC12-40CF-9A26-94661823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s10-week-3">
            <a:extLst xmlns:a="http://schemas.openxmlformats.org/drawingml/2006/main">
              <a:ext uri="{FF2B5EF4-FFF2-40B4-BE49-F238E27FC236}">
                <a16:creationId xmlns:a16="http://schemas.microsoft.com/office/drawing/2014/main" id="{7D22C4FD-A413-4637-910F-9B4066E1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W3</a:t>
            </a:r>
          </a:p>
        </p:txBody>
      </p:sp>
      <p:sp>
        <p:nvSpPr>
          <p:cNvPr id="9" name="s10-vline-3">
            <a:extLst xmlns:a="http://schemas.openxmlformats.org/drawingml/2006/main">
              <a:ext uri="{FF2B5EF4-FFF2-40B4-BE49-F238E27FC236}">
                <a16:creationId xmlns:a16="http://schemas.microsoft.com/office/drawing/2014/main" id="{744B5F0B-A7BC-44F8-8B7F-64880BE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10-week-4">
            <a:extLst xmlns:a="http://schemas.openxmlformats.org/drawingml/2006/main">
              <a:ext uri="{FF2B5EF4-FFF2-40B4-BE49-F238E27FC236}">
                <a16:creationId xmlns:a16="http://schemas.microsoft.com/office/drawing/2014/main" id="{0AE4BEBE-A8D2-4A80-A808-DA10CC5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W4</a:t>
            </a:r>
          </a:p>
        </p:txBody>
      </p:sp>
      <p:sp>
        <p:nvSpPr>
          <p:cNvPr id="11" name="s10-vline-4">
            <a:extLst xmlns:a="http://schemas.openxmlformats.org/drawingml/2006/main">
              <a:ext uri="{FF2B5EF4-FFF2-40B4-BE49-F238E27FC236}">
                <a16:creationId xmlns:a16="http://schemas.microsoft.com/office/drawing/2014/main" id="{465C622D-DB4D-40B7-BD25-ED5B2CFB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s10-week-5">
            <a:extLst xmlns:a="http://schemas.openxmlformats.org/drawingml/2006/main">
              <a:ext uri="{FF2B5EF4-FFF2-40B4-BE49-F238E27FC236}">
                <a16:creationId xmlns:a16="http://schemas.microsoft.com/office/drawing/2014/main" id="{3916E5D4-33ED-4797-9E07-C8012904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W5</a:t>
            </a:r>
          </a:p>
        </p:txBody>
      </p:sp>
      <p:sp>
        <p:nvSpPr>
          <p:cNvPr id="13" name="s10-vline-5">
            <a:extLst xmlns:a="http://schemas.openxmlformats.org/drawingml/2006/main">
              <a:ext uri="{FF2B5EF4-FFF2-40B4-BE49-F238E27FC236}">
                <a16:creationId xmlns:a16="http://schemas.microsoft.com/office/drawing/2014/main" id="{8613EBDA-0A19-4D8B-A5AA-072A2769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10-week-6">
            <a:extLst xmlns:a="http://schemas.openxmlformats.org/drawingml/2006/main">
              <a:ext uri="{FF2B5EF4-FFF2-40B4-BE49-F238E27FC236}">
                <a16:creationId xmlns:a16="http://schemas.microsoft.com/office/drawing/2014/main" id="{F8802C9D-CC2A-4145-BA92-B118BAF0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W6</a:t>
            </a:r>
          </a:p>
        </p:txBody>
      </p:sp>
      <p:sp>
        <p:nvSpPr>
          <p:cNvPr id="15" name="s10-vline-6">
            <a:extLst xmlns:a="http://schemas.openxmlformats.org/drawingml/2006/main">
              <a:ext uri="{FF2B5EF4-FFF2-40B4-BE49-F238E27FC236}">
                <a16:creationId xmlns:a16="http://schemas.microsoft.com/office/drawing/2014/main" id="{59A0FF0E-C947-43C4-A4EE-D6C85F7D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s10-week-7">
            <a:extLst xmlns:a="http://schemas.openxmlformats.org/drawingml/2006/main">
              <a:ext uri="{FF2B5EF4-FFF2-40B4-BE49-F238E27FC236}">
                <a16:creationId xmlns:a16="http://schemas.microsoft.com/office/drawing/2014/main" id="{584719EE-90CA-4B1E-957F-102C4F5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W7</a:t>
            </a:r>
          </a:p>
        </p:txBody>
      </p:sp>
      <p:sp>
        <p:nvSpPr>
          <p:cNvPr id="17" name="s10-vline-7">
            <a:extLst xmlns:a="http://schemas.openxmlformats.org/drawingml/2006/main">
              <a:ext uri="{FF2B5EF4-FFF2-40B4-BE49-F238E27FC236}">
                <a16:creationId xmlns:a16="http://schemas.microsoft.com/office/drawing/2014/main" id="{62096FAE-F8DB-49FD-A4BA-D0F6895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s10-week-8">
            <a:extLst xmlns:a="http://schemas.openxmlformats.org/drawingml/2006/main">
              <a:ext uri="{FF2B5EF4-FFF2-40B4-BE49-F238E27FC236}">
                <a16:creationId xmlns:a16="http://schemas.microsoft.com/office/drawing/2014/main" id="{86B3A856-8C86-495A-B84C-6698FC88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W8</a:t>
            </a:r>
          </a:p>
        </p:txBody>
      </p:sp>
      <p:sp>
        <p:nvSpPr>
          <p:cNvPr id="19" name="s10-vline-8">
            <a:extLst xmlns:a="http://schemas.openxmlformats.org/drawingml/2006/main">
              <a:ext uri="{FF2B5EF4-FFF2-40B4-BE49-F238E27FC236}">
                <a16:creationId xmlns:a16="http://schemas.microsoft.com/office/drawing/2014/main" id="{4EEAC848-0C8D-456B-AC77-231411F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s10-week-9">
            <a:extLst xmlns:a="http://schemas.openxmlformats.org/drawingml/2006/main">
              <a:ext uri="{FF2B5EF4-FFF2-40B4-BE49-F238E27FC236}">
                <a16:creationId xmlns:a16="http://schemas.microsoft.com/office/drawing/2014/main" id="{F8D6E416-AF87-45E9-9783-D97389E6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W9</a:t>
            </a:r>
          </a:p>
        </p:txBody>
      </p:sp>
      <p:sp>
        <p:nvSpPr>
          <p:cNvPr id="21" name="s10-vline-9">
            <a:extLst xmlns:a="http://schemas.openxmlformats.org/drawingml/2006/main">
              <a:ext uri="{FF2B5EF4-FFF2-40B4-BE49-F238E27FC236}">
                <a16:creationId xmlns:a16="http://schemas.microsoft.com/office/drawing/2014/main" id="{5E857517-E4EA-4E06-99E7-7DB583B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s10-week-10">
            <a:extLst xmlns:a="http://schemas.openxmlformats.org/drawingml/2006/main">
              <a:ext uri="{FF2B5EF4-FFF2-40B4-BE49-F238E27FC236}">
                <a16:creationId xmlns:a16="http://schemas.microsoft.com/office/drawing/2014/main" id="{C020AEA8-4D73-4F9F-81DA-1DBD7A5B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001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W10</a:t>
            </a:r>
          </a:p>
        </p:txBody>
      </p:sp>
      <p:sp>
        <p:nvSpPr>
          <p:cNvPr id="23" name="s10-vline-10">
            <a:extLst xmlns:a="http://schemas.openxmlformats.org/drawingml/2006/main">
              <a:ext uri="{FF2B5EF4-FFF2-40B4-BE49-F238E27FC236}">
                <a16:creationId xmlns:a16="http://schemas.microsoft.com/office/drawing/2014/main" id="{1902A979-3A0B-404E-BD3E-873281A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s10-vline-end">
            <a:extLst xmlns:a="http://schemas.openxmlformats.org/drawingml/2006/main">
              <a:ext uri="{FF2B5EF4-FFF2-40B4-BE49-F238E27FC236}">
                <a16:creationId xmlns:a16="http://schemas.microsoft.com/office/drawing/2014/main" id="{5D2D6349-27F2-4E40-A9EF-14E2DFE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6764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s10-hline-0">
            <a:extLst xmlns:a="http://schemas.openxmlformats.org/drawingml/2006/main">
              <a:ext uri="{FF2B5EF4-FFF2-40B4-BE49-F238E27FC236}">
                <a16:creationId xmlns:a16="http://schemas.microsoft.com/office/drawing/2014/main" id="{29D42EE3-C480-4EF7-B7A6-B1FB7B9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s10-hline-1">
            <a:extLst xmlns:a="http://schemas.openxmlformats.org/drawingml/2006/main">
              <a:ext uri="{FF2B5EF4-FFF2-40B4-BE49-F238E27FC236}">
                <a16:creationId xmlns:a16="http://schemas.microsoft.com/office/drawing/2014/main" id="{A7670B58-3C50-4AB3-9297-117727B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s10-hline-2">
            <a:extLst xmlns:a="http://schemas.openxmlformats.org/drawingml/2006/main">
              <a:ext uri="{FF2B5EF4-FFF2-40B4-BE49-F238E27FC236}">
                <a16:creationId xmlns:a16="http://schemas.microsoft.com/office/drawing/2014/main" id="{88827A96-8FC2-4D10-95AB-5917B62B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s10-hline-3">
            <a:extLst xmlns:a="http://schemas.openxmlformats.org/drawingml/2006/main">
              <a:ext uri="{FF2B5EF4-FFF2-40B4-BE49-F238E27FC236}">
                <a16:creationId xmlns:a16="http://schemas.microsoft.com/office/drawing/2014/main" id="{0BA9ED59-AA50-4EB8-863A-046D99E2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s10-hline-4">
            <a:extLst xmlns:a="http://schemas.openxmlformats.org/drawingml/2006/main">
              <a:ext uri="{FF2B5EF4-FFF2-40B4-BE49-F238E27FC236}">
                <a16:creationId xmlns:a16="http://schemas.microsoft.com/office/drawing/2014/main" id="{B5626F04-18B3-4070-984D-64D0C10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s10-hline-5">
            <a:extLst xmlns:a="http://schemas.openxmlformats.org/drawingml/2006/main">
              <a:ext uri="{FF2B5EF4-FFF2-40B4-BE49-F238E27FC236}">
                <a16:creationId xmlns:a16="http://schemas.microsoft.com/office/drawing/2014/main" id="{C79BADB7-6B37-4194-82D9-6C86F874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1" name="s10-hline-6">
            <a:extLst xmlns:a="http://schemas.openxmlformats.org/drawingml/2006/main">
              <a:ext uri="{FF2B5EF4-FFF2-40B4-BE49-F238E27FC236}">
                <a16:creationId xmlns:a16="http://schemas.microsoft.com/office/drawing/2014/main" id="{21199DE1-96A5-4F76-8DC2-17D1972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2" name="s10-hline-7">
            <a:extLst xmlns:a="http://schemas.openxmlformats.org/drawingml/2006/main">
              <a:ext uri="{FF2B5EF4-FFF2-40B4-BE49-F238E27FC236}">
                <a16:creationId xmlns:a16="http://schemas.microsoft.com/office/drawing/2014/main" id="{0F70F19F-4B1D-4077-B54B-71FBB2E8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3" name="s10-label-0">
            <a:extLst xmlns:a="http://schemas.openxmlformats.org/drawingml/2006/main">
              <a:ext uri="{FF2B5EF4-FFF2-40B4-BE49-F238E27FC236}">
                <a16:creationId xmlns:a16="http://schemas.microsoft.com/office/drawing/2014/main" id="{004BF94F-4B5A-424D-8E0E-B2172FCB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+ scope</a:t>
            </a:r>
          </a:p>
        </p:txBody>
      </p:sp>
      <p:sp>
        <p:nvSpPr>
          <p:cNvPr id="34" name="s10-bar-0">
            <a:extLst xmlns:a="http://schemas.openxmlformats.org/drawingml/2006/main">
              <a:ext uri="{FF2B5EF4-FFF2-40B4-BE49-F238E27FC236}">
                <a16:creationId xmlns:a16="http://schemas.microsoft.com/office/drawing/2014/main" id="{88506D52-7ACD-49BB-8C37-4D948F9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716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35" name="s10-gate-0">
            <a:extLst xmlns:a="http://schemas.openxmlformats.org/drawingml/2006/main">
              <a:ext uri="{FF2B5EF4-FFF2-40B4-BE49-F238E27FC236}">
                <a16:creationId xmlns:a16="http://schemas.microsoft.com/office/drawing/2014/main" id="{4DDED2AE-9D4C-40CE-8A31-44A5A2A1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38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G2</a:t>
            </a:r>
          </a:p>
        </p:txBody>
      </p:sp>
      <p:sp>
        <p:nvSpPr>
          <p:cNvPr id="36" name="s10-label-1">
            <a:extLst xmlns:a="http://schemas.openxmlformats.org/drawingml/2006/main">
              <a:ext uri="{FF2B5EF4-FFF2-40B4-BE49-F238E27FC236}">
                <a16:creationId xmlns:a16="http://schemas.microsoft.com/office/drawing/2014/main" id="{9887D4DE-3C61-404B-BF90-13924F00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vertical slice</a:t>
            </a:r>
          </a:p>
        </p:txBody>
      </p:sp>
      <p:sp>
        <p:nvSpPr>
          <p:cNvPr id="37" name="s10-bar-1">
            <a:extLst xmlns:a="http://schemas.openxmlformats.org/drawingml/2006/main">
              <a:ext uri="{FF2B5EF4-FFF2-40B4-BE49-F238E27FC236}">
                <a16:creationId xmlns:a16="http://schemas.microsoft.com/office/drawing/2014/main" id="{416A1940-E4A4-4415-952D-A09BAEB9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8" name="s10-gate-1">
            <a:extLst xmlns:a="http://schemas.openxmlformats.org/drawingml/2006/main">
              <a:ext uri="{FF2B5EF4-FFF2-40B4-BE49-F238E27FC236}">
                <a16:creationId xmlns:a16="http://schemas.microsoft.com/office/drawing/2014/main" id="{FF7393AE-69F3-49C4-8635-DE1F6A35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52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G3</a:t>
            </a:r>
          </a:p>
        </p:txBody>
      </p:sp>
      <p:sp>
        <p:nvSpPr>
          <p:cNvPr id="39" name="s10-label-2">
            <a:extLst xmlns:a="http://schemas.openxmlformats.org/drawingml/2006/main">
              <a:ext uri="{FF2B5EF4-FFF2-40B4-BE49-F238E27FC236}">
                <a16:creationId xmlns:a16="http://schemas.microsoft.com/office/drawing/2014/main" id="{499B3AE1-EC86-4595-90DB-A42EC1D0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 + calibration</a:t>
            </a:r>
          </a:p>
        </p:txBody>
      </p:sp>
      <p:sp>
        <p:nvSpPr>
          <p:cNvPr id="40" name="s10-bar-2">
            <a:extLst xmlns:a="http://schemas.openxmlformats.org/drawingml/2006/main">
              <a:ext uri="{FF2B5EF4-FFF2-40B4-BE49-F238E27FC236}">
                <a16:creationId xmlns:a16="http://schemas.microsoft.com/office/drawing/2014/main" id="{CFA8D083-EC02-43A3-9F51-097356BE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003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41" name="s10-gate-2">
            <a:extLst xmlns:a="http://schemas.openxmlformats.org/drawingml/2006/main">
              <a:ext uri="{FF2B5EF4-FFF2-40B4-BE49-F238E27FC236}">
                <a16:creationId xmlns:a16="http://schemas.microsoft.com/office/drawing/2014/main" id="{7C9213C5-64A7-4CB1-B5C5-F49FA6B8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67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G4</a:t>
            </a:r>
          </a:p>
        </p:txBody>
      </p:sp>
      <p:sp>
        <p:nvSpPr>
          <p:cNvPr id="42" name="s10-label-3">
            <a:extLst xmlns:a="http://schemas.openxmlformats.org/drawingml/2006/main">
              <a:ext uri="{FF2B5EF4-FFF2-40B4-BE49-F238E27FC236}">
                <a16:creationId xmlns:a16="http://schemas.microsoft.com/office/drawing/2014/main" id="{A85D36F9-5D76-4591-B482-1D1526ED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 + lock data</a:t>
            </a:r>
          </a:p>
        </p:txBody>
      </p:sp>
      <p:sp>
        <p:nvSpPr>
          <p:cNvPr id="43" name="s10-bar-3">
            <a:extLst xmlns:a="http://schemas.openxmlformats.org/drawingml/2006/main">
              <a:ext uri="{FF2B5EF4-FFF2-40B4-BE49-F238E27FC236}">
                <a16:creationId xmlns:a16="http://schemas.microsoft.com/office/drawing/2014/main" id="{CCFEC5C9-1B0E-4F8F-9351-7BF8DA33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4" name="s10-gate-3">
            <a:extLst xmlns:a="http://schemas.openxmlformats.org/drawingml/2006/main">
              <a:ext uri="{FF2B5EF4-FFF2-40B4-BE49-F238E27FC236}">
                <a16:creationId xmlns:a16="http://schemas.microsoft.com/office/drawing/2014/main" id="{96D84FA0-A150-4FD2-BF00-A424DFE3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813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G6</a:t>
            </a:r>
          </a:p>
        </p:txBody>
      </p:sp>
      <p:sp>
        <p:nvSpPr>
          <p:cNvPr id="45" name="s10-label-4">
            <a:extLst xmlns:a="http://schemas.openxmlformats.org/drawingml/2006/main">
              <a:ext uri="{FF2B5EF4-FFF2-40B4-BE49-F238E27FC236}">
                <a16:creationId xmlns:a16="http://schemas.microsoft.com/office/drawing/2014/main" id="{DFE309F8-E8A0-4D6D-B571-94257134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 + fusion</a:t>
            </a:r>
          </a:p>
        </p:txBody>
      </p:sp>
      <p:sp>
        <p:nvSpPr>
          <p:cNvPr id="46" name="s10-bar-4">
            <a:extLst xmlns:a="http://schemas.openxmlformats.org/drawingml/2006/main">
              <a:ext uri="{FF2B5EF4-FFF2-40B4-BE49-F238E27FC236}">
                <a16:creationId xmlns:a16="http://schemas.microsoft.com/office/drawing/2014/main" id="{40A557BB-4FCC-46ED-88DD-A6077C9D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7" name="s10-gate-4">
            <a:extLst xmlns:a="http://schemas.openxmlformats.org/drawingml/2006/main">
              <a:ext uri="{FF2B5EF4-FFF2-40B4-BE49-F238E27FC236}">
                <a16:creationId xmlns:a16="http://schemas.microsoft.com/office/drawing/2014/main" id="{B823AAE5-49FF-411D-94FC-D20183B3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95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G8</a:t>
            </a:r>
          </a:p>
        </p:txBody>
      </p:sp>
      <p:sp>
        <p:nvSpPr>
          <p:cNvPr id="48" name="s10-label-5">
            <a:extLst xmlns:a="http://schemas.openxmlformats.org/drawingml/2006/main">
              <a:ext uri="{FF2B5EF4-FFF2-40B4-BE49-F238E27FC236}">
                <a16:creationId xmlns:a16="http://schemas.microsoft.com/office/drawing/2014/main" id="{F26B9437-1041-427B-ADDC-304284A6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Integrate + usability</a:t>
            </a:r>
          </a:p>
        </p:txBody>
      </p:sp>
      <p:sp>
        <p:nvSpPr>
          <p:cNvPr id="49" name="s10-bar-5">
            <a:extLst xmlns:a="http://schemas.openxmlformats.org/drawingml/2006/main">
              <a:ext uri="{FF2B5EF4-FFF2-40B4-BE49-F238E27FC236}">
                <a16:creationId xmlns:a16="http://schemas.microsoft.com/office/drawing/2014/main" id="{046E93BF-6113-4D36-9DAB-6A5D1257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4340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1"/>
          </a:solidFill>
          <a:ln xmlns:a="http://schemas.openxmlformats.org/drawingml/2006/main" w="0">
            <a:solidFill>
              <a:srgbClr val="DCEFE1"/>
            </a:solidFill>
            <a:prstDash val="solid"/>
          </a:ln>
        </p:spPr>
      </p:sp>
      <p:sp>
        <p:nvSpPr>
          <p:cNvPr id="50" name="s10-gate-5">
            <a:extLst xmlns:a="http://schemas.openxmlformats.org/drawingml/2006/main">
              <a:ext uri="{FF2B5EF4-FFF2-40B4-BE49-F238E27FC236}">
                <a16:creationId xmlns:a16="http://schemas.microsoft.com/office/drawing/2014/main" id="{50CE846C-935B-47FE-BE80-4FDEEBD1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100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G9</a:t>
            </a:r>
          </a:p>
        </p:txBody>
      </p:sp>
      <p:sp>
        <p:nvSpPr>
          <p:cNvPr id="51" name="s10-label-6">
            <a:extLst xmlns:a="http://schemas.openxmlformats.org/drawingml/2006/main">
              <a:ext uri="{FF2B5EF4-FFF2-40B4-BE49-F238E27FC236}">
                <a16:creationId xmlns:a16="http://schemas.microsoft.com/office/drawing/2014/main" id="{06D582EF-47F3-48BE-A82B-F0C34857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holdout + report</a:t>
            </a:r>
          </a:p>
        </p:txBody>
      </p:sp>
      <p:sp>
        <p:nvSpPr>
          <p:cNvPr id="52" name="s10-bar-6">
            <a:extLst xmlns:a="http://schemas.openxmlformats.org/drawingml/2006/main">
              <a:ext uri="{FF2B5EF4-FFF2-40B4-BE49-F238E27FC236}">
                <a16:creationId xmlns:a16="http://schemas.microsoft.com/office/drawing/2014/main" id="{E6EF77A9-AEEC-48B4-A91E-2200C39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68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s10-gate-6">
            <a:extLst xmlns:a="http://schemas.openxmlformats.org/drawingml/2006/main">
              <a:ext uri="{FF2B5EF4-FFF2-40B4-BE49-F238E27FC236}">
                <a16:creationId xmlns:a16="http://schemas.microsoft.com/office/drawing/2014/main" id="{4C376D88-C6AD-4763-A592-CBDA7A5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244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G10</a:t>
            </a:r>
          </a:p>
        </p:txBody>
      </p:sp>
      <p:sp>
        <p:nvSpPr>
          <p:cNvPr id="54" name="s10-note">
            <a:extLst xmlns:a="http://schemas.openxmlformats.org/drawingml/2006/main">
              <a:ext uri="{FF2B5EF4-FFF2-40B4-BE49-F238E27FC236}">
                <a16:creationId xmlns:a16="http://schemas.microsoft.com/office/drawing/2014/main" id="{BD9F44D8-D006-4F07-956B-EAC81ED4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Không đạt cổng → hạ phạm vi hoặc sửa nền tảng; không bù bằng cách thêm tính năng trình diễn.</a:t>
            </a:r>
          </a:p>
        </p:txBody>
      </p:sp>
      <p:sp>
        <p:nvSpPr>
          <p:cNvPr id="55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568F2133-232A-4BA3-839A-7E62242B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56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138ED84F-0676-4F11-8E83-F186798D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0888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11">
            <a:extLst xmlns:a="http://schemas.openxmlformats.org/drawingml/2006/main">
              <a:ext uri="{FF2B5EF4-FFF2-40B4-BE49-F238E27FC236}">
                <a16:creationId xmlns:a16="http://schemas.microsoft.com/office/drawing/2014/main" id="{35BDEA0E-7143-4905-BC3C-6D1CAB5B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ĐỊNH HƯỚNG KHÓA LUẬN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42CC7CF-DF01-4B1F-ACA1-1A55E18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Rủi ro lớn nhất là dữ liệu và nhãn, không phải frontend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B99ADC69-2A56-4CCA-9C34-04C051F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11-left-head">
            <a:extLst xmlns:a="http://schemas.openxmlformats.org/drawingml/2006/main">
              <a:ext uri="{FF2B5EF4-FFF2-40B4-BE49-F238E27FC236}">
                <a16:creationId xmlns:a16="http://schemas.microsoft.com/office/drawing/2014/main" id="{BEABE875-D9AC-47C6-83F2-F2B8995B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RỦI RO</a:t>
            </a:r>
          </a:p>
        </p:txBody>
      </p:sp>
      <p:sp>
        <p:nvSpPr>
          <p:cNvPr id="5" name="s11-right-head">
            <a:extLst xmlns:a="http://schemas.openxmlformats.org/drawingml/2006/main">
              <a:ext uri="{FF2B5EF4-FFF2-40B4-BE49-F238E27FC236}">
                <a16:creationId xmlns:a16="http://schemas.microsoft.com/office/drawing/2014/main" id="{29CCF50C-53B7-4B97-876D-27719B4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81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KIỂM SOÁT</a:t>
            </a:r>
          </a:p>
        </p:txBody>
      </p:sp>
      <p:sp>
        <p:nvSpPr>
          <p:cNvPr id="6" name="s11-row-bg-0">
            <a:extLst xmlns:a="http://schemas.openxmlformats.org/drawingml/2006/main">
              <a:ext uri="{FF2B5EF4-FFF2-40B4-BE49-F238E27FC236}">
                <a16:creationId xmlns:a16="http://schemas.microsoft.com/office/drawing/2014/main" id="{3206CA61-7C0F-4E3A-A1DD-8CB68CBC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11-risk-bar-0">
            <a:extLst xmlns:a="http://schemas.openxmlformats.org/drawingml/2006/main">
              <a:ext uri="{FF2B5EF4-FFF2-40B4-BE49-F238E27FC236}">
                <a16:creationId xmlns:a16="http://schemas.microsoft.com/office/drawing/2014/main" id="{752389C2-B2F5-4D92-A40F-F3CE1102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DA"/>
          </a:solidFill>
          <a:ln xmlns:a="http://schemas.openxmlformats.org/drawingml/2006/main" w="0">
            <a:solidFill>
              <a:srgbClr val="F8D7DA"/>
            </a:solidFill>
            <a:prstDash val="solid"/>
          </a:ln>
        </p:spPr>
      </p:sp>
      <p:sp>
        <p:nvSpPr>
          <p:cNvPr id="8" name="s11-risk-0">
            <a:extLst xmlns:a="http://schemas.openxmlformats.org/drawingml/2006/main">
              <a:ext uri="{FF2B5EF4-FFF2-40B4-BE49-F238E27FC236}">
                <a16:creationId xmlns:a16="http://schemas.microsoft.com/office/drawing/2014/main" id="{B69A6138-A68B-4B6F-A6B8-02F71667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Thiếu band / ít speaker</a:t>
            </a:r>
          </a:p>
        </p:txBody>
      </p:sp>
      <p:sp>
        <p:nvSpPr>
          <p:cNvPr id="9" name="s11-control-0">
            <a:extLst xmlns:a="http://schemas.openxmlformats.org/drawingml/2006/main">
              <a:ext uri="{FF2B5EF4-FFF2-40B4-BE49-F238E27FC236}">
                <a16:creationId xmlns:a16="http://schemas.microsoft.com/office/drawing/2014/main" id="{2B752919-6FE1-46E4-B3BB-27FBA2C6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621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Quota mềm • GroupKFold • hạ tuyên bố</a:t>
            </a:r>
          </a:p>
        </p:txBody>
      </p:sp>
      <p:sp>
        <p:nvSpPr>
          <p:cNvPr id="10" name="s11-row-bg-1">
            <a:extLst xmlns:a="http://schemas.openxmlformats.org/drawingml/2006/main">
              <a:ext uri="{FF2B5EF4-FFF2-40B4-BE49-F238E27FC236}">
                <a16:creationId xmlns:a16="http://schemas.microsoft.com/office/drawing/2014/main" id="{CB5AA23C-E28F-4A09-A09A-8F01884D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11-risk-bar-1">
            <a:extLst xmlns:a="http://schemas.openxmlformats.org/drawingml/2006/main">
              <a:ext uri="{FF2B5EF4-FFF2-40B4-BE49-F238E27FC236}">
                <a16:creationId xmlns:a16="http://schemas.microsoft.com/office/drawing/2014/main" id="{2FCA746E-FD0E-4DCF-95D9-B7C6447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DA"/>
          </a:solidFill>
          <a:ln xmlns:a="http://schemas.openxmlformats.org/drawingml/2006/main" w="0">
            <a:solidFill>
              <a:srgbClr val="F8D7DA"/>
            </a:solidFill>
            <a:prstDash val="solid"/>
          </a:ln>
        </p:spPr>
      </p:sp>
      <p:sp>
        <p:nvSpPr>
          <p:cNvPr id="12" name="s11-risk-1">
            <a:extLst xmlns:a="http://schemas.openxmlformats.org/drawingml/2006/main">
              <a:ext uri="{FF2B5EF4-FFF2-40B4-BE49-F238E27FC236}">
                <a16:creationId xmlns:a16="http://schemas.microsoft.com/office/drawing/2014/main" id="{4A8F568B-D750-48A0-8AE4-F1607CF4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Rater không nhất quán</a:t>
            </a:r>
          </a:p>
        </p:txBody>
      </p:sp>
      <p:sp>
        <p:nvSpPr>
          <p:cNvPr id="13" name="s11-control-1">
            <a:extLst xmlns:a="http://schemas.openxmlformats.org/drawingml/2006/main">
              <a:ext uri="{FF2B5EF4-FFF2-40B4-BE49-F238E27FC236}">
                <a16:creationId xmlns:a16="http://schemas.microsoft.com/office/drawing/2014/main" id="{98C5EB7D-F780-4DBC-87DA-3C4D93C5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432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 • calibration • adjudication</a:t>
            </a:r>
          </a:p>
        </p:txBody>
      </p:sp>
      <p:sp>
        <p:nvSpPr>
          <p:cNvPr id="14" name="s11-row-bg-2">
            <a:extLst xmlns:a="http://schemas.openxmlformats.org/drawingml/2006/main">
              <a:ext uri="{FF2B5EF4-FFF2-40B4-BE49-F238E27FC236}">
                <a16:creationId xmlns:a16="http://schemas.microsoft.com/office/drawing/2014/main" id="{D21FC217-FEB9-4457-B082-930015AA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11-risk-bar-2">
            <a:extLst xmlns:a="http://schemas.openxmlformats.org/drawingml/2006/main">
              <a:ext uri="{FF2B5EF4-FFF2-40B4-BE49-F238E27FC236}">
                <a16:creationId xmlns:a16="http://schemas.microsoft.com/office/drawing/2014/main" id="{80FAF7F4-5020-437D-B7F8-45E97E87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16" name="s11-risk-2">
            <a:extLst xmlns:a="http://schemas.openxmlformats.org/drawingml/2006/main">
              <a:ext uri="{FF2B5EF4-FFF2-40B4-BE49-F238E27FC236}">
                <a16:creationId xmlns:a16="http://schemas.microsoft.com/office/drawing/2014/main" id="{845BD61E-6F86-4ED2-A4D8-60D5D031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ASR sai accent Việt</a:t>
            </a:r>
          </a:p>
        </p:txBody>
      </p:sp>
      <p:sp>
        <p:nvSpPr>
          <p:cNvPr id="17" name="s11-control-2">
            <a:extLst xmlns:a="http://schemas.openxmlformats.org/drawingml/2006/main">
              <a:ext uri="{FF2B5EF4-FFF2-40B4-BE49-F238E27FC236}">
                <a16:creationId xmlns:a16="http://schemas.microsoft.com/office/drawing/2014/main" id="{809C6750-884A-4C0F-9AAF-4D034CDF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242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WER subset • audio features • review rule</a:t>
            </a:r>
          </a:p>
        </p:txBody>
      </p:sp>
      <p:sp>
        <p:nvSpPr>
          <p:cNvPr id="18" name="s11-row-bg-3">
            <a:extLst xmlns:a="http://schemas.openxmlformats.org/drawingml/2006/main">
              <a:ext uri="{FF2B5EF4-FFF2-40B4-BE49-F238E27FC236}">
                <a16:creationId xmlns:a16="http://schemas.microsoft.com/office/drawing/2014/main" id="{803D6B53-CCF3-4B64-9A6D-CBAFF0A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11-risk-bar-3">
            <a:extLst xmlns:a="http://schemas.openxmlformats.org/drawingml/2006/main">
              <a:ext uri="{FF2B5EF4-FFF2-40B4-BE49-F238E27FC236}">
                <a16:creationId xmlns:a16="http://schemas.microsoft.com/office/drawing/2014/main" id="{4F953ACE-3E85-4E01-9EAF-04FE38DF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20" name="s11-risk-3">
            <a:extLst xmlns:a="http://schemas.openxmlformats.org/drawingml/2006/main">
              <a:ext uri="{FF2B5EF4-FFF2-40B4-BE49-F238E27FC236}">
                <a16:creationId xmlns:a16="http://schemas.microsoft.com/office/drawing/2014/main" id="{819DAF55-209A-44A0-B4C0-92E6C6B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 bịa feedback</a:t>
            </a:r>
          </a:p>
        </p:txBody>
      </p:sp>
      <p:sp>
        <p:nvSpPr>
          <p:cNvPr id="21" name="s11-control-3">
            <a:extLst xmlns:a="http://schemas.openxmlformats.org/drawingml/2006/main">
              <a:ext uri="{FF2B5EF4-FFF2-40B4-BE49-F238E27FC236}">
                <a16:creationId xmlns:a16="http://schemas.microsoft.com/office/drawing/2014/main" id="{84DAF4BA-F2FB-4B0D-A2D8-C74CA336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053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grounding • template • human review</a:t>
            </a:r>
          </a:p>
        </p:txBody>
      </p:sp>
      <p:sp>
        <p:nvSpPr>
          <p:cNvPr id="22" name="s11-row-bg-4">
            <a:extLst xmlns:a="http://schemas.openxmlformats.org/drawingml/2006/main">
              <a:ext uri="{FF2B5EF4-FFF2-40B4-BE49-F238E27FC236}">
                <a16:creationId xmlns:a16="http://schemas.microsoft.com/office/drawing/2014/main" id="{728EAA78-C87D-44E8-AF9B-EAFB7AF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11-risk-bar-4">
            <a:extLst xmlns:a="http://schemas.openxmlformats.org/drawingml/2006/main">
              <a:ext uri="{FF2B5EF4-FFF2-40B4-BE49-F238E27FC236}">
                <a16:creationId xmlns:a16="http://schemas.microsoft.com/office/drawing/2014/main" id="{E3C11297-BF66-4C00-BD70-6F5C27B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24" name="s11-risk-4">
            <a:extLst xmlns:a="http://schemas.openxmlformats.org/drawingml/2006/main">
              <a:ext uri="{FF2B5EF4-FFF2-40B4-BE49-F238E27FC236}">
                <a16:creationId xmlns:a16="http://schemas.microsoft.com/office/drawing/2014/main" id="{6E379347-25F3-4420-B056-004BC013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Quá phạm vi</a:t>
            </a:r>
          </a:p>
        </p:txBody>
      </p:sp>
      <p:sp>
        <p:nvSpPr>
          <p:cNvPr id="25" name="s11-control-4">
            <a:extLst xmlns:a="http://schemas.openxmlformats.org/drawingml/2006/main">
              <a:ext uri="{FF2B5EF4-FFF2-40B4-BE49-F238E27FC236}">
                <a16:creationId xmlns:a16="http://schemas.microsoft.com/office/drawing/2014/main" id="{D13A36A3-EFDB-4474-A2B0-6CA3453B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863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MVP gate • bỏ Group 3/4 trước khi giảm validation</a:t>
            </a:r>
          </a:p>
        </p:txBody>
      </p:sp>
      <p:sp>
        <p:nvSpPr>
          <p:cNvPr id="26" name="s11-bottom-bg">
            <a:extLst xmlns:a="http://schemas.openxmlformats.org/drawingml/2006/main">
              <a:ext uri="{FF2B5EF4-FFF2-40B4-BE49-F238E27FC236}">
                <a16:creationId xmlns:a16="http://schemas.microsoft.com/office/drawing/2014/main" id="{FAEA4EF8-F780-403D-ACC8-7BEF870B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127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7" name="s11-bottom">
            <a:extLst xmlns:a="http://schemas.openxmlformats.org/drawingml/2006/main">
              <a:ext uri="{FF2B5EF4-FFF2-40B4-BE49-F238E27FC236}">
                <a16:creationId xmlns:a16="http://schemas.microsoft.com/office/drawing/2014/main" id="{93D4D713-7620-4C7E-B3D3-8323613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Ưu tiên theo thứ tự: rubric → rater → dữ liệu → thực nghiệm → demo.</a:t>
            </a:r>
          </a:p>
        </p:txBody>
      </p:sp>
      <p:sp>
        <p:nvSpPr>
          <p:cNvPr id="28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E9D63716-9AC5-4C81-A947-53715748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29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437D64BE-22C8-4303-A616-44653E5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0224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2-kicker">
            <a:extLst xmlns:a="http://schemas.openxmlformats.org/drawingml/2006/main">
              <a:ext uri="{FF2B5EF4-FFF2-40B4-BE49-F238E27FC236}">
                <a16:creationId xmlns:a16="http://schemas.microsoft.com/office/drawing/2014/main" id="{CBAD4F13-4874-4931-8352-2E28CF1C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QUYẾT ĐỊNH CẦN CHỐT</a:t>
            </a:r>
          </a:p>
        </p:txBody>
      </p:sp>
      <p:sp>
        <p:nvSpPr>
          <p:cNvPr id="2" name="s12-title">
            <a:extLst xmlns:a="http://schemas.openxmlformats.org/drawingml/2006/main">
              <a:ext uri="{FF2B5EF4-FFF2-40B4-BE49-F238E27FC236}">
                <a16:creationId xmlns:a16="http://schemas.microsoft.com/office/drawing/2014/main" id="{B07B6485-CEFC-4947-85E0-8FD8CB3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 điều kiện để bắt đầu đúng hướng</a:t>
            </a:r>
          </a:p>
        </p:txBody>
      </p:sp>
      <p:sp>
        <p:nvSpPr>
          <p:cNvPr id="3" name="s12-num-bg-0">
            <a:extLst xmlns:a="http://schemas.openxmlformats.org/drawingml/2006/main">
              <a:ext uri="{FF2B5EF4-FFF2-40B4-BE49-F238E27FC236}">
                <a16:creationId xmlns:a16="http://schemas.microsoft.com/office/drawing/2014/main" id="{8CEA511E-735A-47F9-952C-CF438920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s12-num-0">
            <a:extLst xmlns:a="http://schemas.openxmlformats.org/drawingml/2006/main">
              <a:ext uri="{FF2B5EF4-FFF2-40B4-BE49-F238E27FC236}">
                <a16:creationId xmlns:a16="http://schemas.microsoft.com/office/drawing/2014/main" id="{185CFE8F-71EB-4AF8-9212-9829446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12-head-0">
            <a:extLst xmlns:a="http://schemas.openxmlformats.org/drawingml/2006/main">
              <a:ext uri="{FF2B5EF4-FFF2-40B4-BE49-F238E27FC236}">
                <a16:creationId xmlns:a16="http://schemas.microsoft.com/office/drawing/2014/main" id="{7AA1065E-5D76-4BD1-917B-73D8B909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38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Phạm vi</a:t>
            </a:r>
          </a:p>
        </p:txBody>
      </p:sp>
      <p:sp>
        <p:nvSpPr>
          <p:cNvPr id="6" name="s12-body-0">
            <a:extLst xmlns:a="http://schemas.openxmlformats.org/drawingml/2006/main">
              <a:ext uri="{FF2B5EF4-FFF2-40B4-BE49-F238E27FC236}">
                <a16:creationId xmlns:a16="http://schemas.microsoft.com/office/drawing/2014/main" id="{BBBA5A96-47B9-468D-99B4-0AE4C438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765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A2–B2 • low-stakes • Nhóm 1 + phần Nhóm 2</a:t>
            </a:r>
          </a:p>
        </p:txBody>
      </p:sp>
      <p:sp>
        <p:nvSpPr>
          <p:cNvPr id="7" name="s12-num-bg-1">
            <a:extLst xmlns:a="http://schemas.openxmlformats.org/drawingml/2006/main">
              <a:ext uri="{FF2B5EF4-FFF2-40B4-BE49-F238E27FC236}">
                <a16:creationId xmlns:a16="http://schemas.microsoft.com/office/drawing/2014/main" id="{269DBE63-0D5B-4D6E-9296-41D150B9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s12-num-1">
            <a:extLst xmlns:a="http://schemas.openxmlformats.org/drawingml/2006/main">
              <a:ext uri="{FF2B5EF4-FFF2-40B4-BE49-F238E27FC236}">
                <a16:creationId xmlns:a16="http://schemas.microsoft.com/office/drawing/2014/main" id="{BB59A57F-31D7-4B79-B893-89C409BF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12-head-1">
            <a:extLst xmlns:a="http://schemas.openxmlformats.org/drawingml/2006/main">
              <a:ext uri="{FF2B5EF4-FFF2-40B4-BE49-F238E27FC236}">
                <a16:creationId xmlns:a16="http://schemas.microsoft.com/office/drawing/2014/main" id="{2DD8AB5A-A2F9-4E88-BE36-D81C689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 người</a:t>
            </a:r>
          </a:p>
        </p:txBody>
      </p:sp>
      <p:sp>
        <p:nvSpPr>
          <p:cNvPr id="10" name="s12-body-1">
            <a:extLst xmlns:a="http://schemas.openxmlformats.org/drawingml/2006/main">
              <a:ext uri="{FF2B5EF4-FFF2-40B4-BE49-F238E27FC236}">
                <a16:creationId xmlns:a16="http://schemas.microsoft.com/office/drawing/2014/main" id="{808F8945-1CA3-4162-B74B-DCAAED5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814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Hai rater • calibration • chấm mù • adjudication</a:t>
            </a:r>
          </a:p>
        </p:txBody>
      </p:sp>
      <p:sp>
        <p:nvSpPr>
          <p:cNvPr id="11" name="s12-num-bg-2">
            <a:extLst xmlns:a="http://schemas.openxmlformats.org/drawingml/2006/main">
              <a:ext uri="{FF2B5EF4-FFF2-40B4-BE49-F238E27FC236}">
                <a16:creationId xmlns:a16="http://schemas.microsoft.com/office/drawing/2014/main" id="{B062ADEB-945C-4757-ADEF-76E513A5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s12-num-2">
            <a:extLst xmlns:a="http://schemas.openxmlformats.org/drawingml/2006/main">
              <a:ext uri="{FF2B5EF4-FFF2-40B4-BE49-F238E27FC236}">
                <a16:creationId xmlns:a16="http://schemas.microsoft.com/office/drawing/2014/main" id="{18532A78-D82F-40F5-BA25-CF67AE63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s12-head-2">
            <a:extLst xmlns:a="http://schemas.openxmlformats.org/drawingml/2006/main">
              <a:ext uri="{FF2B5EF4-FFF2-40B4-BE49-F238E27FC236}">
                <a16:creationId xmlns:a16="http://schemas.microsoft.com/office/drawing/2014/main" id="{02E22744-D5FB-4422-9DF6-ED8ED65E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48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14" name="s12-body-2">
            <a:extLst xmlns:a="http://schemas.openxmlformats.org/drawingml/2006/main">
              <a:ext uri="{FF2B5EF4-FFF2-40B4-BE49-F238E27FC236}">
                <a16:creationId xmlns:a16="http://schemas.microsoft.com/office/drawing/2014/main" id="{4B5D3E0E-AD8C-46D5-BF4A-479A023F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40–60 sinh viên mục tiêu • speaker split • consent</a:t>
            </a:r>
          </a:p>
        </p:txBody>
      </p:sp>
      <p:sp>
        <p:nvSpPr>
          <p:cNvPr id="15" name="s12-reco-bg">
            <a:extLst xmlns:a="http://schemas.openxmlformats.org/drawingml/2006/main">
              <a:ext uri="{FF2B5EF4-FFF2-40B4-BE49-F238E27FC236}">
                <a16:creationId xmlns:a16="http://schemas.microsoft.com/office/drawing/2014/main" id="{3A98C31A-A959-4BA2-8B61-D4E3F65D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s12-reco">
            <a:extLst xmlns:a="http://schemas.openxmlformats.org/drawingml/2006/main">
              <a:ext uri="{FF2B5EF4-FFF2-40B4-BE49-F238E27FC236}">
                <a16:creationId xmlns:a16="http://schemas.microsoft.com/office/drawing/2014/main" id="{8D22A1CA-EDF5-4E56-93D8-76222474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Khuyến nghị: duyệt MVP trước, chỉ thêm hội thoại/personalizer khi dữ liệu và baseline đã qua cổng G8.</a:t>
            </a:r>
          </a:p>
        </p:txBody>
      </p:sp>
      <p:sp>
        <p:nvSpPr>
          <p:cNvPr id="17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8CD0E2DA-69BD-41A0-A986-14C12123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 Assessor • Speaking theo CEFR</a:t>
            </a:r>
          </a:p>
        </p:txBody>
      </p:sp>
      <p:sp>
        <p:nvSpPr>
          <p:cNvPr id="18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82253309-826C-4DAB-91AF-260370F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7704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2026-08-20T04:06:46.6600000Z</dcterms:created>
  <dcterms:modified xsi:type="dcterms:W3CDTF">2026-08-20T04:06:46.6600000Z</dcterms:modified>
</coreProperties>
</file>