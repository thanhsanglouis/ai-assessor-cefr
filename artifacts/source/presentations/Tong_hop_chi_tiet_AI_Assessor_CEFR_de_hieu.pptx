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53428e6f7b4705" /><Relationship Type="http://schemas.openxmlformats.org/officeDocument/2006/relationships/extended-properties" Target="/docProps/app.xml" Id="Rc830feaf525f4df8" /><Relationship Type="http://schemas.openxmlformats.org/officeDocument/2006/relationships/officeDocument" Target="/ppt/presentation.xml" Id="R502f847e2fc6480b" /></Relationships>
</file>

<file path=ppt/presentation.xml><?xml version="1.0" encoding="utf-8"?>
<p:presentation xmlns:p="http://schemas.openxmlformats.org/presentationml/2006/main">
  <p:sldMasterIdLst>
    <p:sldMasterId xmlns:r="http://schemas.openxmlformats.org/officeDocument/2006/relationships" id="2147483648" r:id="R5dcc185c94ce4081"/>
  </p:sldMasterIdLst>
  <p:notesMasterIdLst>
    <p:notesMasterId xmlns:r="http://schemas.openxmlformats.org/officeDocument/2006/relationships" r:id="Rb1a6c58a40d54184"/>
  </p:notesMasterIdLst>
  <p:sldIdLst>
    <p:sldId xmlns:r="http://schemas.openxmlformats.org/officeDocument/2006/relationships" id="256" r:id="Rce9a1893cf1b4732"/>
    <p:sldId xmlns:r="http://schemas.openxmlformats.org/officeDocument/2006/relationships" id="257" r:id="Rf4c59f00ca53439a"/>
    <p:sldId xmlns:r="http://schemas.openxmlformats.org/officeDocument/2006/relationships" id="258" r:id="Ra158bde4d4374117"/>
    <p:sldId xmlns:r="http://schemas.openxmlformats.org/officeDocument/2006/relationships" id="259" r:id="R33b85b448da94d4c"/>
    <p:sldId xmlns:r="http://schemas.openxmlformats.org/officeDocument/2006/relationships" id="260" r:id="R7e53d7545e30414f"/>
    <p:sldId xmlns:r="http://schemas.openxmlformats.org/officeDocument/2006/relationships" id="261" r:id="R0b2f618a047b4aaf"/>
    <p:sldId xmlns:r="http://schemas.openxmlformats.org/officeDocument/2006/relationships" id="262" r:id="R543c237159684af4"/>
    <p:sldId xmlns:r="http://schemas.openxmlformats.org/officeDocument/2006/relationships" id="263" r:id="R0e44b45497e34fea"/>
    <p:sldId xmlns:r="http://schemas.openxmlformats.org/officeDocument/2006/relationships" id="264" r:id="Rb60b030ccc914791"/>
    <p:sldId xmlns:r="http://schemas.openxmlformats.org/officeDocument/2006/relationships" id="265" r:id="R3c0419430cb34b01"/>
    <p:sldId xmlns:r="http://schemas.openxmlformats.org/officeDocument/2006/relationships" id="266" r:id="R42c97ef94812419d"/>
    <p:sldId xmlns:r="http://schemas.openxmlformats.org/officeDocument/2006/relationships" id="267" r:id="Rdb4ba52d202241b3"/>
    <p:sldId xmlns:r="http://schemas.openxmlformats.org/officeDocument/2006/relationships" id="268" r:id="Ra317cae4580e4207"/>
    <p:sldId xmlns:r="http://schemas.openxmlformats.org/officeDocument/2006/relationships" id="269" r:id="R4c30a5a34f664ce3"/>
    <p:sldId xmlns:r="http://schemas.openxmlformats.org/officeDocument/2006/relationships" id="270" r:id="Re073573729db4856"/>
    <p:sldId xmlns:r="http://schemas.openxmlformats.org/officeDocument/2006/relationships" id="271" r:id="R0047a18610be48b1"/>
    <p:sldId xmlns:r="http://schemas.openxmlformats.org/officeDocument/2006/relationships" id="272" r:id="Re6ffa3934c084979"/>
    <p:sldId xmlns:r="http://schemas.openxmlformats.org/officeDocument/2006/relationships" id="273" r:id="R3c0f239bf0554f66"/>
    <p:sldId xmlns:r="http://schemas.openxmlformats.org/officeDocument/2006/relationships" id="274" r:id="R9e9e679fa1fc4e0a"/>
    <p:sldId xmlns:r="http://schemas.openxmlformats.org/officeDocument/2006/relationships" id="275" r:id="R3f7837099455433f"/>
    <p:sldId xmlns:r="http://schemas.openxmlformats.org/officeDocument/2006/relationships" id="276" r:id="R89cd3aa47a644a0f"/>
    <p:sldId xmlns:r="http://schemas.openxmlformats.org/officeDocument/2006/relationships" id="277" r:id="R8e1a3faee225469e"/>
    <p:sldId xmlns:r="http://schemas.openxmlformats.org/officeDocument/2006/relationships" id="278" r:id="R035595b3d28f4b0b"/>
    <p:sldId xmlns:r="http://schemas.openxmlformats.org/officeDocument/2006/relationships" id="279" r:id="R50805e0d0a3f4f93"/>
    <p:sldId xmlns:r="http://schemas.openxmlformats.org/officeDocument/2006/relationships" id="280" r:id="R1ea4d5c41f5c404c"/>
    <p:sldId xmlns:r="http://schemas.openxmlformats.org/officeDocument/2006/relationships" id="281" r:id="Rc136744e377140df"/>
    <p:sldId xmlns:r="http://schemas.openxmlformats.org/officeDocument/2006/relationships" id="282" r:id="R5898585c3ece4cd1"/>
    <p:sldId xmlns:r="http://schemas.openxmlformats.org/officeDocument/2006/relationships" id="283" r:id="R173cd11c29e348e5"/>
    <p:sldId xmlns:r="http://schemas.openxmlformats.org/officeDocument/2006/relationships" id="284" r:id="R09b54076b4484a0e"/>
    <p:sldId xmlns:r="http://schemas.openxmlformats.org/officeDocument/2006/relationships" id="285" r:id="R08029af1000e4c69"/>
    <p:sldId xmlns:r="http://schemas.openxmlformats.org/officeDocument/2006/relationships" id="286" r:id="R19f82717368e44c4"/>
    <p:sldId xmlns:r="http://schemas.openxmlformats.org/officeDocument/2006/relationships" id="287" r:id="R2160124536594e1d"/>
    <p:sldId xmlns:r="http://schemas.openxmlformats.org/officeDocument/2006/relationships" id="288" r:id="Reb6850a9bf9f4eb0"/>
    <p:sldId xmlns:r="http://schemas.openxmlformats.org/officeDocument/2006/relationships" id="289" r:id="R02a36f2a5f0849a6"/>
    <p:sldId xmlns:r="http://schemas.openxmlformats.org/officeDocument/2006/relationships" id="290" r:id="R3fe0c122a9574809"/>
    <p:sldId xmlns:r="http://schemas.openxmlformats.org/officeDocument/2006/relationships" id="291" r:id="R1733211895cf4796"/>
    <p:sldId xmlns:r="http://schemas.openxmlformats.org/officeDocument/2006/relationships" id="292" r:id="Rf946e25c812340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44354a12a84a7a" /><Relationship Type="http://schemas.openxmlformats.org/officeDocument/2006/relationships/slideMaster" Target="/ppt/slideMasters/slideMaster1.xml" Id="R5dcc185c94ce4081" /><Relationship Type="http://schemas.openxmlformats.org/officeDocument/2006/relationships/notesMaster" Target="/ppt/notesMasters/notesMaster1.xml" Id="Rb1a6c58a40d54184" /><Relationship Type="http://schemas.openxmlformats.org/officeDocument/2006/relationships/presProps" Target="/ppt/presProps.xml" Id="R5d32affeba794981" /><Relationship Type="http://schemas.openxmlformats.org/officeDocument/2006/relationships/tableStyles" Target="/ppt/tableStyles.xml" Id="R2fe7bf287ed4470e" /><Relationship Type="http://schemas.openxmlformats.org/officeDocument/2006/relationships/slide" Target="/ppt/slides/slide1.xml" Id="Rce9a1893cf1b4732" /><Relationship Type="http://schemas.openxmlformats.org/officeDocument/2006/relationships/slide" Target="/ppt/slides/slide2.xml" Id="Rf4c59f00ca53439a" /><Relationship Type="http://schemas.openxmlformats.org/officeDocument/2006/relationships/slide" Target="/ppt/slides/slide3.xml" Id="Ra158bde4d4374117" /><Relationship Type="http://schemas.openxmlformats.org/officeDocument/2006/relationships/slide" Target="/ppt/slides/slide4.xml" Id="R33b85b448da94d4c" /><Relationship Type="http://schemas.openxmlformats.org/officeDocument/2006/relationships/slide" Target="/ppt/slides/slide5.xml" Id="R7e53d7545e30414f" /><Relationship Type="http://schemas.openxmlformats.org/officeDocument/2006/relationships/slide" Target="/ppt/slides/slide6.xml" Id="R0b2f618a047b4aaf" /><Relationship Type="http://schemas.openxmlformats.org/officeDocument/2006/relationships/slide" Target="/ppt/slides/slide7.xml" Id="R543c237159684af4" /><Relationship Type="http://schemas.openxmlformats.org/officeDocument/2006/relationships/slide" Target="/ppt/slides/slide8.xml" Id="R0e44b45497e34fea" /><Relationship Type="http://schemas.openxmlformats.org/officeDocument/2006/relationships/slide" Target="/ppt/slides/slide9.xml" Id="Rb60b030ccc914791" /><Relationship Type="http://schemas.openxmlformats.org/officeDocument/2006/relationships/slide" Target="/ppt/slides/slide10.xml" Id="R3c0419430cb34b01" /><Relationship Type="http://schemas.openxmlformats.org/officeDocument/2006/relationships/slide" Target="/ppt/slides/slide11.xml" Id="R42c97ef94812419d" /><Relationship Type="http://schemas.openxmlformats.org/officeDocument/2006/relationships/slide" Target="/ppt/slides/slide12.xml" Id="Rdb4ba52d202241b3" /><Relationship Type="http://schemas.openxmlformats.org/officeDocument/2006/relationships/slide" Target="/ppt/slides/slide13.xml" Id="Ra317cae4580e4207" /><Relationship Type="http://schemas.openxmlformats.org/officeDocument/2006/relationships/slide" Target="/ppt/slides/slide14.xml" Id="R4c30a5a34f664ce3" /><Relationship Type="http://schemas.openxmlformats.org/officeDocument/2006/relationships/slide" Target="/ppt/slides/slide15.xml" Id="Re073573729db4856" /><Relationship Type="http://schemas.openxmlformats.org/officeDocument/2006/relationships/slide" Target="/ppt/slides/slide16.xml" Id="R0047a18610be48b1" /><Relationship Type="http://schemas.openxmlformats.org/officeDocument/2006/relationships/slide" Target="/ppt/slides/slide17.xml" Id="Re6ffa3934c084979" /><Relationship Type="http://schemas.openxmlformats.org/officeDocument/2006/relationships/slide" Target="/ppt/slides/slide18.xml" Id="R3c0f239bf0554f66" /><Relationship Type="http://schemas.openxmlformats.org/officeDocument/2006/relationships/slide" Target="/ppt/slides/slide19.xml" Id="R9e9e679fa1fc4e0a" /><Relationship Type="http://schemas.openxmlformats.org/officeDocument/2006/relationships/slide" Target="/ppt/slides/slide20.xml" Id="R3f7837099455433f" /><Relationship Type="http://schemas.openxmlformats.org/officeDocument/2006/relationships/slide" Target="/ppt/slides/slide21.xml" Id="R89cd3aa47a644a0f" /><Relationship Type="http://schemas.openxmlformats.org/officeDocument/2006/relationships/slide" Target="/ppt/slides/slide22.xml" Id="R8e1a3faee225469e" /><Relationship Type="http://schemas.openxmlformats.org/officeDocument/2006/relationships/slide" Target="/ppt/slides/slide23.xml" Id="R035595b3d28f4b0b" /><Relationship Type="http://schemas.openxmlformats.org/officeDocument/2006/relationships/slide" Target="/ppt/slides/slide24.xml" Id="R50805e0d0a3f4f93" /><Relationship Type="http://schemas.openxmlformats.org/officeDocument/2006/relationships/slide" Target="/ppt/slides/slide25.xml" Id="R1ea4d5c41f5c404c" /><Relationship Type="http://schemas.openxmlformats.org/officeDocument/2006/relationships/slide" Target="/ppt/slides/slide26.xml" Id="Rc136744e377140df" /><Relationship Type="http://schemas.openxmlformats.org/officeDocument/2006/relationships/slide" Target="/ppt/slides/slide27.xml" Id="R5898585c3ece4cd1" /><Relationship Type="http://schemas.openxmlformats.org/officeDocument/2006/relationships/slide" Target="/ppt/slides/slide28.xml" Id="R173cd11c29e348e5" /><Relationship Type="http://schemas.openxmlformats.org/officeDocument/2006/relationships/slide" Target="/ppt/slides/slide29.xml" Id="R09b54076b4484a0e" /><Relationship Type="http://schemas.openxmlformats.org/officeDocument/2006/relationships/slide" Target="/ppt/slides/slide30.xml" Id="R08029af1000e4c69" /><Relationship Type="http://schemas.openxmlformats.org/officeDocument/2006/relationships/slide" Target="/ppt/slides/slide31.xml" Id="R19f82717368e44c4" /><Relationship Type="http://schemas.openxmlformats.org/officeDocument/2006/relationships/slide" Target="/ppt/slides/slide32.xml" Id="R2160124536594e1d" /><Relationship Type="http://schemas.openxmlformats.org/officeDocument/2006/relationships/slide" Target="/ppt/slides/slide33.xml" Id="Reb6850a9bf9f4eb0" /><Relationship Type="http://schemas.openxmlformats.org/officeDocument/2006/relationships/slide" Target="/ppt/slides/slide34.xml" Id="R02a36f2a5f0849a6" /><Relationship Type="http://schemas.openxmlformats.org/officeDocument/2006/relationships/slide" Target="/ppt/slides/slide35.xml" Id="R3fe0c122a9574809" /><Relationship Type="http://schemas.openxmlformats.org/officeDocument/2006/relationships/slide" Target="/ppt/slides/slide36.xml" Id="R1733211895cf4796" /><Relationship Type="http://schemas.openxmlformats.org/officeDocument/2006/relationships/slide" Target="/ppt/slides/slide37.xml" Id="Rf946e25c812340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e6c838da9546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533fb680ec43dc" /><Relationship Type="http://schemas.openxmlformats.org/officeDocument/2006/relationships/notesMaster" Target="/ppt/notesMasters/notesMaster1.xml" Id="R4314609f35914b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377e8a80984e8c" /><Relationship Type="http://schemas.openxmlformats.org/officeDocument/2006/relationships/notesMaster" Target="/ppt/notesMasters/notesMaster1.xml" Id="R01efc52818e44d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716819dffd4940" /><Relationship Type="http://schemas.openxmlformats.org/officeDocument/2006/relationships/notesMaster" Target="/ppt/notesMasters/notesMaster1.xml" Id="Re07fec760ad842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46b00e7d1941c6" /><Relationship Type="http://schemas.openxmlformats.org/officeDocument/2006/relationships/notesMaster" Target="/ppt/notesMasters/notesMaster1.xml" Id="R3e7d1655681b4e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53b4e1a4414041" /><Relationship Type="http://schemas.openxmlformats.org/officeDocument/2006/relationships/notesMaster" Target="/ppt/notesMasters/notesMaster1.xml" Id="Re76f6b34a31a49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710bdda85a4b34" /><Relationship Type="http://schemas.openxmlformats.org/officeDocument/2006/relationships/notesMaster" Target="/ppt/notesMasters/notesMaster1.xml" Id="Rb5b9ddaa577647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566c39abd24e08" /><Relationship Type="http://schemas.openxmlformats.org/officeDocument/2006/relationships/notesMaster" Target="/ppt/notesMasters/notesMaster1.xml" Id="R12a91e5e93e449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057db3efe043f6" /><Relationship Type="http://schemas.openxmlformats.org/officeDocument/2006/relationships/notesMaster" Target="/ppt/notesMasters/notesMaster1.xml" Id="R7e425fc48edb48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f61c1478934a79" /><Relationship Type="http://schemas.openxmlformats.org/officeDocument/2006/relationships/notesMaster" Target="/ppt/notesMasters/notesMaster1.xml" Id="R1cfdf3bdb31740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eb7d2023534f08" /><Relationship Type="http://schemas.openxmlformats.org/officeDocument/2006/relationships/notesMaster" Target="/ppt/notesMasters/notesMaster1.xml" Id="R507329c643bc49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e52b5488d6400e" /><Relationship Type="http://schemas.openxmlformats.org/officeDocument/2006/relationships/notesMaster" Target="/ppt/notesMasters/notesMaster1.xml" Id="R06e0a2fdc58f46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00e1ca52f3408d" /><Relationship Type="http://schemas.openxmlformats.org/officeDocument/2006/relationships/notesMaster" Target="/ppt/notesMasters/notesMaster1.xml" Id="Rc7ca61093e2b48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527301a2e94e35" /><Relationship Type="http://schemas.openxmlformats.org/officeDocument/2006/relationships/notesMaster" Target="/ppt/notesMasters/notesMaster1.xml" Id="Rfddfc31f83ba4d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c3d7d3da754235" /><Relationship Type="http://schemas.openxmlformats.org/officeDocument/2006/relationships/notesMaster" Target="/ppt/notesMasters/notesMaster1.xml" Id="R1caeead07e144b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5a590ddd5c4891" /><Relationship Type="http://schemas.openxmlformats.org/officeDocument/2006/relationships/notesMaster" Target="/ppt/notesMasters/notesMaster1.xml" Id="Rf64836b9de1a42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863a535d1b4feb" /><Relationship Type="http://schemas.openxmlformats.org/officeDocument/2006/relationships/notesMaster" Target="/ppt/notesMasters/notesMaster1.xml" Id="Rcab997c0746343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4b10628c8d4edb" /><Relationship Type="http://schemas.openxmlformats.org/officeDocument/2006/relationships/notesMaster" Target="/ppt/notesMasters/notesMaster1.xml" Id="Rae42af40f4794e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44d9b9535d4cc5" /><Relationship Type="http://schemas.openxmlformats.org/officeDocument/2006/relationships/notesMaster" Target="/ppt/notesMasters/notesMaster1.xml" Id="Rb5f134c8706a4a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37ca1e8bc747e0" /><Relationship Type="http://schemas.openxmlformats.org/officeDocument/2006/relationships/notesMaster" Target="/ppt/notesMasters/notesMaster1.xml" Id="R9f76a739223446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6ab789dc404a5d" /><Relationship Type="http://schemas.openxmlformats.org/officeDocument/2006/relationships/notesMaster" Target="/ppt/notesMasters/notesMaster1.xml" Id="Rc92f9c23d14544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7b24da11fb4d4f" /><Relationship Type="http://schemas.openxmlformats.org/officeDocument/2006/relationships/notesMaster" Target="/ppt/notesMasters/notesMaster1.xml" Id="R71e667b913ac48b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4e6c07493294d84" /><Relationship Type="http://schemas.openxmlformats.org/officeDocument/2006/relationships/notesMaster" Target="/ppt/notesMasters/notesMaster1.xml" Id="R2bf76a86f7124f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ad7e2eba9f4dca" /><Relationship Type="http://schemas.openxmlformats.org/officeDocument/2006/relationships/notesMaster" Target="/ppt/notesMasters/notesMaster1.xml" Id="Re6569d4c73e541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e04ab7bfe604437" /><Relationship Type="http://schemas.openxmlformats.org/officeDocument/2006/relationships/notesMaster" Target="/ppt/notesMasters/notesMaster1.xml" Id="Raca29aecf91447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466d46a36d74935" /><Relationship Type="http://schemas.openxmlformats.org/officeDocument/2006/relationships/notesMaster" Target="/ppt/notesMasters/notesMaster1.xml" Id="Rabe80b4d0ce944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208f92b0684afd" /><Relationship Type="http://schemas.openxmlformats.org/officeDocument/2006/relationships/notesMaster" Target="/ppt/notesMasters/notesMaster1.xml" Id="R1f39590d7b134f6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f5feb4a14641bc" /><Relationship Type="http://schemas.openxmlformats.org/officeDocument/2006/relationships/notesMaster" Target="/ppt/notesMasters/notesMaster1.xml" Id="Re173a25643be450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82593508e54171" /><Relationship Type="http://schemas.openxmlformats.org/officeDocument/2006/relationships/notesMaster" Target="/ppt/notesMasters/notesMaster1.xml" Id="R780727bdb4da42b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82dde1a308c4bcc" /><Relationship Type="http://schemas.openxmlformats.org/officeDocument/2006/relationships/notesMaster" Target="/ppt/notesMasters/notesMaster1.xml" Id="R68a0472b6d834c2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3c02bed63a408d" /><Relationship Type="http://schemas.openxmlformats.org/officeDocument/2006/relationships/notesMaster" Target="/ppt/notesMasters/notesMaster1.xml" Id="R4bfd8c5e5b6e4a7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6c2dea1c9b14668" /><Relationship Type="http://schemas.openxmlformats.org/officeDocument/2006/relationships/notesMaster" Target="/ppt/notesMasters/notesMaster1.xml" Id="R55355c7c418c4d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49d31edaa44da4" /><Relationship Type="http://schemas.openxmlformats.org/officeDocument/2006/relationships/notesMaster" Target="/ppt/notesMasters/notesMaster1.xml" Id="Ra0ee046743a048d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c8edabef6da4d66" /><Relationship Type="http://schemas.openxmlformats.org/officeDocument/2006/relationships/notesMaster" Target="/ppt/notesMasters/notesMaster1.xml" Id="R9f8038ee3f854a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bef0ddf67484349" /><Relationship Type="http://schemas.openxmlformats.org/officeDocument/2006/relationships/notesMaster" Target="/ppt/notesMasters/notesMaster1.xml" Id="R125ec6853a3041c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4d824a886004686" /><Relationship Type="http://schemas.openxmlformats.org/officeDocument/2006/relationships/notesMaster" Target="/ppt/notesMasters/notesMaster1.xml" Id="R3351821f647a408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166a9ddfdbc41af" /><Relationship Type="http://schemas.openxmlformats.org/officeDocument/2006/relationships/notesMaster" Target="/ppt/notesMasters/notesMaster1.xml" Id="Rcc5c0f2c64594b0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b63708382964a15" /><Relationship Type="http://schemas.openxmlformats.org/officeDocument/2006/relationships/notesMaster" Target="/ppt/notesMasters/notesMaster1.xml" Id="R4b50fd044f984d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đơn giản: đây là hệ thống hỗ trợ giảng viên nghe, phân tích và phản hồi bài nói; không phải máy cấp chứng chỉ CEFR.</a:t>
            </a:r>
          </a:p>
          <a:p xmlns:a="http://schemas.openxmlformats.org/drawingml/2006/main">
            <a:r>
              <a:t/>
            </a:r>
          </a:p>
          <a:p xmlns:a="http://schemas.openxmlformats.org/drawingml/2006/main">
            <a:r>
              <a:t>[Sources]</a:t>
            </a:r>
          </a:p>
          <a:p xmlns:a="http://schemas.openxmlformats.org/drawingml/2006/main">
            <a:r>
              <a:t>- Generated with OpenAI ImageGen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là bản đồ. Mỗi phần sau sẽ trả lời một câu hỏi, tránh đi thẳng vào thuật ngữ kỹ thuật.</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từ 'hỗ trợ'. AI làm nhanh phần quan sát và sàng lọc; giảng viên giữ vai trò quyết định trong ca khó.</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lý do đề tài cần cả kỹ thuật lẫn phương pháp đánh giá. Chỉ làm giao diện đẹp hoặc gọi LLM sẽ không giải quyết được tính nhất quán và sai số ASR.</a:t>
            </a:r>
          </a:p>
          <a:p xmlns:a="http://schemas.openxmlformats.org/drawingml/2006/main">
            <a:r>
              <a:t/>
            </a:r>
          </a:p>
          <a:p xmlns:a="http://schemas.openxmlformats.org/drawingml/2006/main">
            <a:r>
              <a:t>[Sources]</a:t>
            </a:r>
          </a:p>
          <a:p xmlns:a="http://schemas.openxmlformats.org/drawingml/2006/main">
            <a:r>
              <a:t>- https://www.ets.org/research/policy_research_reports/publications/report/2018/jyzm.html</a:t>
            </a:r>
          </a:p>
          <a:p xmlns:a="http://schemas.openxmlformats.org/drawingml/2006/main">
            <a:r>
              <a:t>- https://arxiv.org/abs/2212.04356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Hội đồng thường hỏi đề tài có overclaim hay không. Trả lời bằng ranh giới sử dụng rõ ràng ngay từ đầu.</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https://www.coe.int/en/web/common-european-framework-reference-languages/cefr-companion-volume-and-its-language-versions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rằng CEFR là construct. Hệ thống chỉ được gọi là aligned khi nhiệm vụ, rubric và kiểm định cùng bám vào construct này.</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https://www.coe.int/en/web/common-european-framework-reference-languages/cefr-companion-volume-and-its-language-versions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qua từng hàng và cho một ví dụ. Nhấn mạnh mỗi tiêu chí cần loại bằng chứng khác nhau.</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ví dụ đối lập: một người dùng nhiều từ nhưng sai nhiều vẫn có Range khá và Accuracy thấp; hai điểm không đồng nghĩa.</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quan trọng về công bằng. Accent khác native không đồng nghĩa với năng lực thấp.</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https://learn.microsoft.com/en-us/azure/ai-services/Speech-Service/how-to-pronunciation-assessment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missing evidence khác low score. Đây là quyết định thiết kế quan trọng để tránh chấm sai construct.</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blueprint phải được chốt trước khi thu dữ liệu. Nếu Task C trễ, MVP vẫn có thể chạy A/B nhưng không tuyên bố điểm Interaction.</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xương sống. Mỗi slide sau giải thích sâu một khối trong pipeline.</a:t>
            </a:r>
          </a:p>
          <a:p xmlns:a="http://schemas.openxmlformats.org/drawingml/2006/main">
            <a:r>
              <a:t/>
            </a:r>
          </a:p>
          <a:p xmlns:a="http://schemas.openxmlformats.org/drawingml/2006/main">
            <a:r>
              <a:t>[Sources]</a:t>
            </a:r>
          </a:p>
          <a:p xmlns:a="http://schemas.openxmlformats.org/drawingml/2006/main">
            <a:r>
              <a:t>- https://arxiv.org/abs/2212.04356</a:t>
            </a:r>
          </a:p>
          <a:p xmlns:a="http://schemas.openxmlformats.org/drawingml/2006/main">
            <a:r>
              <a:t>- https://rm.coe.int/cefr-companion-volume-with-new-descriptors-2020/16809ea0d4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gate không phải điểm năng lực. Nó chỉ quyết định dữ liệu có đủ tốt để xử lý hay không.</a:t>
            </a:r>
          </a:p>
          <a:p xmlns:a="http://schemas.openxmlformats.org/drawingml/2006/main">
            <a:r>
              <a:t/>
            </a:r>
          </a:p>
          <a:p xmlns:a="http://schemas.openxmlformats.org/drawingml/2006/main">
            <a:r>
              <a:t>[Sources]</a:t>
            </a:r>
          </a:p>
          <a:p xmlns:a="http://schemas.openxmlformats.org/drawingml/2006/main">
            <a:r>
              <a:t>- https://www.ets.org/research/policy_research_reports/publications/report/2018/jyzm.html</a:t>
            </a:r>
          </a:p>
          <a:p xmlns:a="http://schemas.openxmlformats.org/drawingml/2006/main">
            <a:r>
              <a:t>- https://arxiv.org/abs/2212.04356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WER là tỷ lệ từ ASR nhận sai so với transcript người chép. Không biến WER thành điểm CEFR; chỉ dùng để đo rủi ro của tầng ASR.</a:t>
            </a:r>
          </a:p>
          <a:p xmlns:a="http://schemas.openxmlformats.org/drawingml/2006/main">
            <a:r>
              <a:t/>
            </a:r>
          </a:p>
          <a:p xmlns:a="http://schemas.openxmlformats.org/drawingml/2006/main">
            <a:r>
              <a:t>[Sources]</a:t>
            </a:r>
          </a:p>
          <a:p xmlns:a="http://schemas.openxmlformats.org/drawingml/2006/main">
            <a:r>
              <a:t>- https://arxiv.org/abs/2212.04356</a:t>
            </a:r>
          </a:p>
          <a:p xmlns:a="http://schemas.openxmlformats.org/drawingml/2006/main">
            <a:r>
              <a:t>- https://github.com/SYSTRAN/faster-whisper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là số đo trung gian, không phải kết luận. Ví dụ nói nhanh chỉ là một tín hiệu của Fluency, không tự động đồng nghĩa với B2.</a:t>
            </a:r>
          </a:p>
          <a:p xmlns:a="http://schemas.openxmlformats.org/drawingml/2006/main">
            <a:r>
              <a:t/>
            </a:r>
          </a:p>
          <a:p xmlns:a="http://schemas.openxmlformats.org/drawingml/2006/main">
            <a:r>
              <a:t>[Sources]</a:t>
            </a:r>
          </a:p>
          <a:p xmlns:a="http://schemas.openxmlformats.org/drawingml/2006/main">
            <a:r>
              <a:t>- https://www.ets.org/research/policy_research_reports/publications/report/2018/jyzm.html</a:t>
            </a:r>
          </a:p>
          <a:p xmlns:a="http://schemas.openxmlformats.org/drawingml/2006/main">
            <a:r>
              <a:t>- https://learn.microsoft.com/en-us/azure/ai-services/Speech-Service/how-to-pronunciation-assessment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Xác suất cho phép xác định vùng ranh giới và chuyển review. Đây là nền tảng của calibration ở slide tiếp theo.</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hệ thống tốt không chỉ dự đoán đúng nhiều; nó còn biết ca nào mình không nên tự quyết.</a:t>
            </a:r>
          </a:p>
          <a:p xmlns:a="http://schemas.openxmlformats.org/drawingml/2006/main">
            <a:r>
              <a:t/>
            </a:r>
          </a:p>
          <a:p xmlns:a="http://schemas.openxmlformats.org/drawingml/2006/main">
            <a:r>
              <a:t>[Sources]</a:t>
            </a:r>
          </a:p>
          <a:p xmlns:a="http://schemas.openxmlformats.org/drawingml/2006/main">
            <a:r>
              <a:t>- https://www.ets.org/research/policy_research_reports/publications/report/2018/jyzm.html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quan trọng là mọi kết luận đều có đường quay lại audio/timestamp, không phải lời nhận xét chung chung.</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đây là mockup đầu ra. Các phần bắt buộc gồm mức ước lượng, từng tiêu chí, độ tin cậy, bằng chứng và hành động tiếp theo.</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phủ nhận LLM. Chỉ đặt LLM đúng vai trò: baseline hoặc lớp diễn giải có kiểm soát, không phải bộ chấm duy nhất.</a:t>
            </a:r>
          </a:p>
          <a:p xmlns:a="http://schemas.openxmlformats.org/drawingml/2006/main">
            <a:r>
              <a:t/>
            </a:r>
          </a:p>
          <a:p xmlns:a="http://schemas.openxmlformats.org/drawingml/2006/main">
            <a:r>
              <a:t>[Sources]</a:t>
            </a:r>
          </a:p>
          <a:p xmlns:a="http://schemas.openxmlformats.org/drawingml/2006/main">
            <a:r>
              <a:t>- https://arxiv.org/abs/2408.12226</a:t>
            </a:r>
          </a:p>
          <a:p xmlns:a="http://schemas.openxmlformats.org/drawingml/2006/main">
            <a:r>
              <a:t>- https://arxiv.org/abs/2212.04356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nói sản phẩm khác kém. Đề tài đóng góp ở validity cục bộ, khả năng tái lập và phân tích lỗi trong ngữ cảnh người Việt.</a:t>
            </a:r>
          </a:p>
          <a:p xmlns:a="http://schemas.openxmlformats.org/drawingml/2006/main">
            <a:r>
              <a:t/>
            </a:r>
          </a:p>
          <a:p xmlns:a="http://schemas.openxmlformats.org/drawingml/2006/main">
            <a:r>
              <a:t>[Sources]</a:t>
            </a:r>
          </a:p>
          <a:p xmlns:a="http://schemas.openxmlformats.org/drawingml/2006/main">
            <a:r>
              <a:t>- https://www.ets.org/research/policy_research_reports/publications/report/2018/jyzm.html</a:t>
            </a:r>
          </a:p>
          <a:p xmlns:a="http://schemas.openxmlformats.org/drawingml/2006/main">
            <a:r>
              <a:t>- https://www.repository.cam.ac.uk/items/611e9b8b-c5b2-4cbe-9b7a-036a48334118</a:t>
            </a:r>
          </a:p>
          <a:p xmlns:a="http://schemas.openxmlformats.org/drawingml/2006/main">
            <a:r>
              <a:t>- https://learn.microsoft.com/en-us/azure/ai-services/Speech-Service/how-to-pronunciation-assessment</a:t>
            </a:r>
          </a:p>
          <a:p xmlns:a="http://schemas.openxmlformats.org/drawingml/2006/main">
            <a:r>
              <a:t>- https://arxiv.org/abs/2408.12226</a:t>
            </a:r>
          </a:p>
          <a:p xmlns:a="http://schemas.openxmlformats.org/drawingml/2006/main">
            <a:r>
              <a:t>- https://github.com/Talking-Yak/EvalYaks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cần nhớ: public data giúp thử công nghệ; nhãn chuẩn cho câu hỏi nghiên cứu vẫn phải thu trên người Việt theo protocol của đề tài.</a:t>
            </a:r>
          </a:p>
          <a:p xmlns:a="http://schemas.openxmlformats.org/drawingml/2006/main">
            <a:r>
              <a:t/>
            </a:r>
          </a:p>
          <a:p xmlns:a="http://schemas.openxmlformats.org/drawingml/2006/main">
            <a:r>
              <a:t>[Sources]</a:t>
            </a:r>
          </a:p>
          <a:p xmlns:a="http://schemas.openxmlformats.org/drawingml/2006/main">
            <a:r>
              <a:t>- https://psi.engr.tamu.edu/l2-arctic-corpus/</a:t>
            </a:r>
          </a:p>
          <a:p xmlns:a="http://schemas.openxmlformats.org/drawingml/2006/main">
            <a:r>
              <a:t>- https://accent.gmu.edu/about/</a:t>
            </a:r>
          </a:p>
          <a:p xmlns:a="http://schemas.openxmlformats.org/drawingml/2006/main">
            <a:r>
              <a:t>- https://www.language.sakura.ne.jp/icnale/index.html</a:t>
            </a:r>
          </a:p>
          <a:p xmlns:a="http://schemas.openxmlformats.org/drawingml/2006/main">
            <a:r>
              <a:t>- https://www.repository.cam.ac.uk/items/611e9b8b-c5b2-4cbe-9b7a-036a48334118</a:t>
            </a:r>
          </a:p>
          <a:p xmlns:a="http://schemas.openxmlformats.org/drawingml/2006/main">
            <a:r>
              <a:t>- https://www.openslr.org/101/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Đóng góp chính không phải huấn luyện model lớn. Giá trị nằm ở tập dữ liệu có consent, task version, hai rater, manifest và speaker split.</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Nhãn giảng viên là thước đo tham chiếu, nhưng chính nhãn này cũng có sai số. Human ceiling giúp diễn giải AI-human agreement.</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https://scikit-learn.org/stable/modules/generated/sklearn.metrics.cohen_kappa_score.html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chọn mô hình dựa trên test. Tune trên train/dev, khóa test và chạy một lần ở tuần cuối.</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báo một metric duy nhất. QWK thể hiện thứ tự; MAE cho độ lệch; F1 cho cân bằng; calibration cho độ tin cậy; WER cho lỗi ASR.</a:t>
            </a:r>
          </a:p>
          <a:p xmlns:a="http://schemas.openxmlformats.org/drawingml/2006/main">
            <a:r>
              <a:t/>
            </a:r>
          </a:p>
          <a:p xmlns:a="http://schemas.openxmlformats.org/drawingml/2006/main">
            <a:r>
              <a:t>[Sources]</a:t>
            </a:r>
          </a:p>
          <a:p xmlns:a="http://schemas.openxmlformats.org/drawingml/2006/main">
            <a:r>
              <a:t>- https://scikit-learn.org/stable/modules/generated/sklearn.metrics.cohen_kappa_score.html</a:t>
            </a:r>
          </a:p>
          <a:p xmlns:a="http://schemas.openxmlformats.org/drawingml/2006/main">
            <a:r>
              <a:t>- https://arxiv.org/abs/2212.04356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khối có input/output và version riêng. Audio gốc, feature, model artifact và decision log phải có quyền truy cập khác nhau.</a:t>
            </a:r>
          </a:p>
          <a:p xmlns:a="http://schemas.openxmlformats.org/drawingml/2006/main">
            <a:r>
              <a:t/>
            </a:r>
          </a:p>
          <a:p xmlns:a="http://schemas.openxmlformats.org/drawingml/2006/main">
            <a:r>
              <a:t>[Sources]</a:t>
            </a:r>
          </a:p>
          <a:p xmlns:a="http://schemas.openxmlformats.org/drawingml/2006/main">
            <a:r>
              <a:t>- Locally generated architecture figure for the thesis proposal.</a:t>
            </a:r>
          </a:p>
          <a:p xmlns:a="http://schemas.openxmlformats.org/drawingml/2006/main">
            <a:r>
              <a:t>- https://fastapi.tiangolo.com/</a:t>
            </a:r>
          </a:p>
          <a:p xmlns:a="http://schemas.openxmlformats.org/drawingml/2006/main">
            <a:r>
              <a:t>- https://github.com/SYSTRAN/faster-whisper</a:t>
            </a:r>
          </a:p>
          <a:p xmlns:a="http://schemas.openxmlformats.org/drawingml/2006/main">
            <a:r>
              <a:t>- https://mlflow.org/docs/latest/tracking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 stack không phải đóng góp khoa học. Nó phải phục vụ việc chạy lại thí nghiệm, bảo vệ dữ liệu và hoàn thành đúng thời gian.</a:t>
            </a:r>
          </a:p>
          <a:p xmlns:a="http://schemas.openxmlformats.org/drawingml/2006/main">
            <a:r>
              <a:t/>
            </a:r>
          </a:p>
          <a:p xmlns:a="http://schemas.openxmlformats.org/drawingml/2006/main">
            <a:r>
              <a:t>[Sources]</a:t>
            </a:r>
          </a:p>
          <a:p xmlns:a="http://schemas.openxmlformats.org/drawingml/2006/main">
            <a:r>
              <a:t>- https://fastapi.tiangolo.com/</a:t>
            </a:r>
          </a:p>
          <a:p xmlns:a="http://schemas.openxmlformats.org/drawingml/2006/main">
            <a:r>
              <a:t>- https://github.com/SYSTRAN/faster-whisper</a:t>
            </a:r>
          </a:p>
          <a:p xmlns:a="http://schemas.openxmlformats.org/drawingml/2006/main">
            <a:r>
              <a:t>- https://mlflow.org/docs/latest/tracking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Luật và nghị định đang có hiệu lực từ 01/01/2026. Đề tài phải bám chính sách trường và điều khoản của từng corpus/API.</a:t>
            </a:r>
          </a:p>
          <a:p xmlns:a="http://schemas.openxmlformats.org/drawingml/2006/main">
            <a:r>
              <a:t/>
            </a:r>
          </a:p>
          <a:p xmlns:a="http://schemas.openxmlformats.org/drawingml/2006/main">
            <a:r>
              <a:t>[Sources]</a:t>
            </a:r>
          </a:p>
          <a:p xmlns:a="http://schemas.openxmlformats.org/drawingml/2006/main">
            <a:r>
              <a:t>- https://vanban.chinhphu.vn/?docid=214590&amp;pageid=27160</a:t>
            </a:r>
          </a:p>
          <a:p xmlns:a="http://schemas.openxmlformats.org/drawingml/2006/main">
            <a:r>
              <a:t>- https://vbpl.vn/TW/Pages/vbpq-toanvan.aspx?ItemID=187276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train trước khi rubric, task và pilot ổn định. Nếu G2 trễ, bỏ Task C khỏi MVP để bảo vệ phần kiểm định.</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7–8 là lõi khoa học. Không hy sinh baseline, ablation và error analysis để làm giao diện đẹp.</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Tính khả thi phụ thuộc rater, quyền thu audio và speaker split nhiều hơn GPU. Model đơn giản vẫn đủ cho proof-of-concept có kiểm định.</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Rủi ro lớn nhất là rater và dữ liệu, không phải mô hình. Cổng G1/G4/G6 buộc dự án xử lý rủi ro sớm.</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M1 không vượt baseline, khóa luận vẫn có giá trị khi chỉ ra human ceiling, lỗi ASR, coverage của construct và điều kiện thất bại một cách tái lập.</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này giữ câu chuyện khoa học: construct → phương pháp → hệ thống → thí nghiệm → thảo luận, thay vì mô tả code theo từng thư mục.</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Câu trả lời xuyên suốt: AI hỗ trợ, có bằng chứng, có giới hạn, có human review và được kiểm định trên speaker split.</a:t>
            </a:r>
          </a:p>
          <a:p xmlns:a="http://schemas.openxmlformats.org/drawingml/2006/main">
            <a:r>
              <a:t/>
            </a:r>
          </a:p>
          <a:p xmlns:a="http://schemas.openxmlformats.org/drawingml/2006/main">
            <a:r>
              <a:t>[Sources]</a:t>
            </a:r>
          </a:p>
          <a:p xmlns:a="http://schemas.openxmlformats.org/drawingml/2006/main">
            <a:r>
              <a:t>- Nội dung thiết kế/đề xuất của khóa luận; không dùng số liệu bên ngoài.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quyết định cụ thể: không bắt đầu từ giao diện hay LLM; bắt đầu từ rubric, rater và dữ liệu.</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bf4314476e40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d5184b5a9449d4" /><Relationship Type="http://schemas.openxmlformats.org/officeDocument/2006/relationships/slideLayout" Target="/ppt/slideLayouts/slideLayout1.xml" Id="Re3eaf2531de846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eaf2531de846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a892e560ad4c94" /><Relationship Type="http://schemas.openxmlformats.org/officeDocument/2006/relationships/image" Target="/ppt/media/image.png" Id="Red8624cd02e841c6" /><Relationship Type="http://schemas.openxmlformats.org/officeDocument/2006/relationships/notesSlide" Target="/ppt/notesSlides/notesSlide1.xml" Id="Ra82655dda3b944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34c6458b294c48" /><Relationship Type="http://schemas.openxmlformats.org/officeDocument/2006/relationships/notesSlide" Target="/ppt/notesSlides/notesSlide2.xml" Id="R09e897458fa548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a21d573b604826" /><Relationship Type="http://schemas.openxmlformats.org/officeDocument/2006/relationships/notesSlide" Target="/ppt/notesSlides/notesSlide3.xml" Id="Rc182a059469542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2e8c391c94496f" /><Relationship Type="http://schemas.openxmlformats.org/officeDocument/2006/relationships/notesSlide" Target="/ppt/notesSlides/notesSlide4.xml" Id="R9e9805be70ed47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f44b508ff24413" /><Relationship Type="http://schemas.openxmlformats.org/officeDocument/2006/relationships/notesSlide" Target="/ppt/notesSlides/notesSlide5.xml" Id="Rc96edd8acb7c42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40449c23f74c7c" /><Relationship Type="http://schemas.openxmlformats.org/officeDocument/2006/relationships/notesSlide" Target="/ppt/notesSlides/notesSlide6.xml" Id="Rd55a18eb7fc348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04fb91225e4dae" /><Relationship Type="http://schemas.openxmlformats.org/officeDocument/2006/relationships/notesSlide" Target="/ppt/notesSlides/notesSlide7.xml" Id="R2b13b2a9922247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01050dbbe4428d" /><Relationship Type="http://schemas.openxmlformats.org/officeDocument/2006/relationships/notesSlide" Target="/ppt/notesSlides/notesSlide8.xml" Id="Rab96f66a24c947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d1c565ba094859" /><Relationship Type="http://schemas.openxmlformats.org/officeDocument/2006/relationships/notesSlide" Target="/ppt/notesSlides/notesSlide9.xml" Id="R9e242d45629b46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c2a843b6414138" /><Relationship Type="http://schemas.openxmlformats.org/officeDocument/2006/relationships/notesSlide" Target="/ppt/notesSlides/notesSlide10.xml" Id="R7f7e7189e03142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7fed8f3d124fe1" /><Relationship Type="http://schemas.openxmlformats.org/officeDocument/2006/relationships/notesSlide" Target="/ppt/notesSlides/notesSlide11.xml" Id="Ra33ff315b9a243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3600d29f554fd9" /><Relationship Type="http://schemas.openxmlformats.org/officeDocument/2006/relationships/notesSlide" Target="/ppt/notesSlides/notesSlide12.xml" Id="Rec09cd3ab7eb4d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80e7e72c7c4076" /><Relationship Type="http://schemas.openxmlformats.org/officeDocument/2006/relationships/notesSlide" Target="/ppt/notesSlides/notesSlide13.xml" Id="R37b58c229ec54f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6462f4d75734107" /><Relationship Type="http://schemas.openxmlformats.org/officeDocument/2006/relationships/notesSlide" Target="/ppt/notesSlides/notesSlide14.xml" Id="Rceef2c953d8543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c1354d9c3804e6b" /><Relationship Type="http://schemas.openxmlformats.org/officeDocument/2006/relationships/notesSlide" Target="/ppt/notesSlides/notesSlide15.xml" Id="R55f55bf02bcc4c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75f3d879b10444e" /><Relationship Type="http://schemas.openxmlformats.org/officeDocument/2006/relationships/notesSlide" Target="/ppt/notesSlides/notesSlide16.xml" Id="R6945864eb1e741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dcd6dd12f84d05" /><Relationship Type="http://schemas.openxmlformats.org/officeDocument/2006/relationships/notesSlide" Target="/ppt/notesSlides/notesSlide17.xml" Id="Rb370ae3b79804e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e9b6dc701b4c00" /><Relationship Type="http://schemas.openxmlformats.org/officeDocument/2006/relationships/notesSlide" Target="/ppt/notesSlides/notesSlide18.xml" Id="R861889044ded41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94cacf41c764ba3" /><Relationship Type="http://schemas.openxmlformats.org/officeDocument/2006/relationships/notesSlide" Target="/ppt/notesSlides/notesSlide19.xml" Id="R916fcd8de71d40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c7ce8f41fe544c9" /><Relationship Type="http://schemas.openxmlformats.org/officeDocument/2006/relationships/notesSlide" Target="/ppt/notesSlides/notesSlide20.xml" Id="Re7e9e4d1025d4b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5928559ff1f4054" /><Relationship Type="http://schemas.openxmlformats.org/officeDocument/2006/relationships/notesSlide" Target="/ppt/notesSlides/notesSlide21.xml" Id="Rcf4f001547f84e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9e2f974529049eb" /><Relationship Type="http://schemas.openxmlformats.org/officeDocument/2006/relationships/notesSlide" Target="/ppt/notesSlides/notesSlide22.xml" Id="R55dde4eafa964c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95d46b484a74cd9" /><Relationship Type="http://schemas.openxmlformats.org/officeDocument/2006/relationships/notesSlide" Target="/ppt/notesSlides/notesSlide23.xml" Id="R05b417b692874d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7f8b0842a84b6f" /><Relationship Type="http://schemas.openxmlformats.org/officeDocument/2006/relationships/notesSlide" Target="/ppt/notesSlides/notesSlide24.xml" Id="Reb126d552b954f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84f03136ac84cc5" /><Relationship Type="http://schemas.openxmlformats.org/officeDocument/2006/relationships/notesSlide" Target="/ppt/notesSlides/notesSlide25.xml" Id="R0d859a611020491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a6351da11824dc9" /><Relationship Type="http://schemas.openxmlformats.org/officeDocument/2006/relationships/notesSlide" Target="/ppt/notesSlides/notesSlide26.xml" Id="R91b7b84270be4f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774cc241ece4c7e" /><Relationship Type="http://schemas.openxmlformats.org/officeDocument/2006/relationships/image" Target="/ppt/media/image2.png" Id="R101828b194db49f1" /><Relationship Type="http://schemas.openxmlformats.org/officeDocument/2006/relationships/notesSlide" Target="/ppt/notesSlides/notesSlide27.xml" Id="R781485876d08435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ade34072f534e26" /><Relationship Type="http://schemas.openxmlformats.org/officeDocument/2006/relationships/notesSlide" Target="/ppt/notesSlides/notesSlide28.xml" Id="Rd52bf55852cd430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bc827ccdde645bc" /><Relationship Type="http://schemas.openxmlformats.org/officeDocument/2006/relationships/notesSlide" Target="/ppt/notesSlides/notesSlide29.xml" Id="Rf4637a0d77f2420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4b7a040bc084683" /><Relationship Type="http://schemas.openxmlformats.org/officeDocument/2006/relationships/notesSlide" Target="/ppt/notesSlides/notesSlide30.xml" Id="R141352b5bdfb4a9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10a6516b83d42b8" /><Relationship Type="http://schemas.openxmlformats.org/officeDocument/2006/relationships/notesSlide" Target="/ppt/notesSlides/notesSlide31.xml" Id="R4986197d30d4424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cbac54b871941ff" /><Relationship Type="http://schemas.openxmlformats.org/officeDocument/2006/relationships/notesSlide" Target="/ppt/notesSlides/notesSlide32.xml" Id="Rc3e2993a45ce4a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0dd228206174a4d" /><Relationship Type="http://schemas.openxmlformats.org/officeDocument/2006/relationships/notesSlide" Target="/ppt/notesSlides/notesSlide33.xml" Id="R9d6d6ed9999d4d3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8167d3385f94547" /><Relationship Type="http://schemas.openxmlformats.org/officeDocument/2006/relationships/notesSlide" Target="/ppt/notesSlides/notesSlide34.xml" Id="Rf79f8a91adab4fc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d6017849ea3430e" /><Relationship Type="http://schemas.openxmlformats.org/officeDocument/2006/relationships/notesSlide" Target="/ppt/notesSlides/notesSlide35.xml" Id="Rf8195587a2844eb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93a0214552b43aa" /><Relationship Type="http://schemas.openxmlformats.org/officeDocument/2006/relationships/notesSlide" Target="/ppt/notesSlides/notesSlide36.xml" Id="R0ab20a956df8408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649cf2448534b69" /><Relationship Type="http://schemas.openxmlformats.org/officeDocument/2006/relationships/notesSlide" Target="/ppt/notesSlides/notesSlide37.xml" Id="Rb22be5df29db420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8624cd02e841c6"/>
          <a:srcRect xmlns:a="http://schemas.openxmlformats.org/drawingml/2006/main" l="25378" t="0" r="25378"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cover-field-aq9n0">
            <a:extLst xmlns:a="http://schemas.openxmlformats.org/drawingml/2006/main">
              <a:ext uri="{FF2B5EF4-FFF2-40B4-BE49-F238E27FC236}">
                <a16:creationId xmlns:a16="http://schemas.microsoft.com/office/drawing/2014/main" id="{24BF358A-3CF8-4963-A599-41549D06A4FF}"/>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text-9ajwka">
            <a:extLst xmlns:a="http://schemas.openxmlformats.org/drawingml/2006/main">
              <a:ext uri="{FF2B5EF4-FFF2-40B4-BE49-F238E27FC236}">
                <a16:creationId xmlns:a16="http://schemas.microsoft.com/office/drawing/2014/main" id="{8BC2BA48-1857-4770-B104-68E0218623DE}"/>
              </a:ext>
            </a:extLst>
          </p:cNvPr>
          <p:cNvSpPr>
            <a:spLocks xmlns:a="http://schemas.openxmlformats.org/drawingml/2006/main" noGrp="1"/>
          </p:cNvSpPr>
          <p:nvPr/>
        </p:nvSpPr>
        <p:spPr>
          <a:xfrm xmlns:a="http://schemas.openxmlformats.org/drawingml/2006/main">
            <a:off x="495300" y="4572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ĐỀ CƯƠNG KHÓA LUẬN • BẢN GIẢI THÍCH DỄ HIỂU</a:t>
            </a:r>
          </a:p>
        </p:txBody>
      </p:sp>
      <p:sp>
        <p:nvSpPr>
          <p:cNvPr id="4" name="deck-title">
            <a:extLst xmlns:a="http://schemas.openxmlformats.org/drawingml/2006/main">
              <a:ext uri="{FF2B5EF4-FFF2-40B4-BE49-F238E27FC236}">
                <a16:creationId xmlns:a16="http://schemas.microsoft.com/office/drawing/2014/main" id="{8E7FE7FC-0C18-4FF6-92AD-CC3114ACA90F}"/>
              </a:ext>
            </a:extLst>
          </p:cNvPr>
          <p:cNvSpPr>
            <a:spLocks xmlns:a="http://schemas.openxmlformats.org/drawingml/2006/main" noGrp="1"/>
          </p:cNvSpPr>
          <p:nvPr/>
        </p:nvSpPr>
        <p:spPr>
          <a:xfrm xmlns:a="http://schemas.openxmlformats.org/drawingml/2006/main">
            <a:off x="495300" y="1219200"/>
            <a:ext cx="5429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i="0">
                <a:solidFill>
                  <a:srgbClr val="111827"/>
                </a:solidFill>
                <a:latin typeface="Arial"/>
                <a:ea typeface="Arial"/>
                <a:cs typeface="Arial"/>
              </a:defRPr>
            </a:pPr>
            <a:r>
              <a:rPr sz="4200" b="1" i="0">
                <a:solidFill>
                  <a:srgbClr val="111827"/>
                </a:solidFill>
                <a:latin typeface="Arial"/>
                <a:ea typeface="Arial"/>
                <a:cs typeface="Arial"/>
              </a:rPr>
              <a:t>AI hỗ trợ đánh giá</a:t>
            </a:r>
          </a:p>
          <a:p xmlns:a="http://schemas.openxmlformats.org/drawingml/2006/main">
            <a:pPr algn="l">
              <a:defRPr sz="4200" b="1" i="0">
                <a:solidFill>
                  <a:srgbClr val="111827"/>
                </a:solidFill>
                <a:latin typeface="Arial"/>
                <a:ea typeface="Arial"/>
                <a:cs typeface="Arial"/>
              </a:defRPr>
            </a:pPr>
            <a:r>
              <a:rPr sz="4200" b="1" i="0">
                <a:solidFill>
                  <a:srgbClr val="111827"/>
                </a:solidFill>
                <a:latin typeface="Arial"/>
                <a:ea typeface="Arial"/>
                <a:cs typeface="Arial"/>
              </a:rPr>
              <a:t>Speaking theo CEFR</a:t>
            </a:r>
          </a:p>
        </p:txBody>
      </p:sp>
      <p:sp>
        <p:nvSpPr>
          <p:cNvPr id="5" name="text-ohvsec">
            <a:extLst xmlns:a="http://schemas.openxmlformats.org/drawingml/2006/main">
              <a:ext uri="{FF2B5EF4-FFF2-40B4-BE49-F238E27FC236}">
                <a16:creationId xmlns:a16="http://schemas.microsoft.com/office/drawing/2014/main" id="{F7FFB800-BD91-4141-907C-45E7393DCAC5}"/>
              </a:ext>
            </a:extLst>
          </p:cNvPr>
          <p:cNvSpPr>
            <a:spLocks xmlns:a="http://schemas.openxmlformats.org/drawingml/2006/main" noGrp="1"/>
          </p:cNvSpPr>
          <p:nvPr/>
        </p:nvSpPr>
        <p:spPr>
          <a:xfrm xmlns:a="http://schemas.openxmlformats.org/drawingml/2006/main">
            <a:off x="495300" y="314325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5E6B78"/>
                </a:solidFill>
                <a:latin typeface="Arial"/>
                <a:ea typeface="Arial"/>
                <a:cs typeface="Arial"/>
              </a:defRPr>
            </a:pPr>
            <a:r>
              <a:rPr sz="1875" b="0" i="0">
                <a:solidFill>
                  <a:srgbClr val="5E6B78"/>
                </a:solidFill>
                <a:latin typeface="Arial"/>
                <a:ea typeface="Arial"/>
                <a:cs typeface="Arial"/>
              </a:rPr>
              <a:t>Dành cho người học Việt Nam ở trình độ A2–B2</a:t>
            </a:r>
          </a:p>
        </p:txBody>
      </p:sp>
      <p:sp>
        <p:nvSpPr>
          <p:cNvPr id="6" name="rule">
            <a:extLst xmlns:a="http://schemas.openxmlformats.org/drawingml/2006/main">
              <a:ext uri="{FF2B5EF4-FFF2-40B4-BE49-F238E27FC236}">
                <a16:creationId xmlns:a16="http://schemas.microsoft.com/office/drawing/2014/main" id="{A725A0B6-32BA-4F59-8129-77BEDBC947F9}"/>
              </a:ext>
            </a:extLst>
          </p:cNvPr>
          <p:cNvSpPr>
            <a:spLocks xmlns:a="http://schemas.openxmlformats.org/drawingml/2006/main" noGrp="1"/>
          </p:cNvSpPr>
          <p:nvPr/>
        </p:nvSpPr>
        <p:spPr>
          <a:xfrm xmlns:a="http://schemas.openxmlformats.org/drawingml/2006/main">
            <a:off x="495300" y="3943350"/>
            <a:ext cx="40005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ext-7w6wdk">
            <a:extLst xmlns:a="http://schemas.openxmlformats.org/drawingml/2006/main">
              <a:ext uri="{FF2B5EF4-FFF2-40B4-BE49-F238E27FC236}">
                <a16:creationId xmlns:a16="http://schemas.microsoft.com/office/drawing/2014/main" id="{10B024A5-D898-4F8C-ABAC-C80A7FF13E67}"/>
              </a:ext>
            </a:extLst>
          </p:cNvPr>
          <p:cNvSpPr>
            <a:spLocks xmlns:a="http://schemas.openxmlformats.org/drawingml/2006/main" noGrp="1"/>
          </p:cNvSpPr>
          <p:nvPr/>
        </p:nvSpPr>
        <p:spPr>
          <a:xfrm xmlns:a="http://schemas.openxmlformats.org/drawingml/2006/main">
            <a:off x="495300" y="42862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111827"/>
                </a:solidFill>
                <a:latin typeface="Arial"/>
                <a:ea typeface="Arial"/>
                <a:cs typeface="Arial"/>
              </a:defRPr>
            </a:pPr>
            <a:r>
              <a:rPr sz="1650" b="0" i="0">
                <a:solidFill>
                  <a:srgbClr val="111827"/>
                </a:solidFill>
                <a:latin typeface="Arial"/>
                <a:ea typeface="Arial"/>
                <a:cs typeface="Arial"/>
              </a:rPr>
              <a:t>Từ cách con người chấm nói → cách AI quan sát bằng chứng → cách kiểm định với giảng viên</a:t>
            </a:r>
          </a:p>
        </p:txBody>
      </p:sp>
      <p:sp>
        <p:nvSpPr>
          <p:cNvPr id="8" name="text-lhlyti">
            <a:extLst xmlns:a="http://schemas.openxmlformats.org/drawingml/2006/main">
              <a:ext uri="{FF2B5EF4-FFF2-40B4-BE49-F238E27FC236}">
                <a16:creationId xmlns:a16="http://schemas.microsoft.com/office/drawing/2014/main" id="{B88692B7-83C9-4148-8A7B-29313D5D006E}"/>
              </a:ext>
            </a:extLst>
          </p:cNvPr>
          <p:cNvSpPr>
            <a:spLocks xmlns:a="http://schemas.openxmlformats.org/drawingml/2006/main" noGrp="1"/>
          </p:cNvSpPr>
          <p:nvPr/>
        </p:nvSpPr>
        <p:spPr>
          <a:xfrm xmlns:a="http://schemas.openxmlformats.org/drawingml/2006/main">
            <a:off x="495300" y="58102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Sinh viên: [Điền họ tên – MSSV]</a:t>
            </a:r>
          </a:p>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Giảng viên hướng dẫn: [Điền họ tên]</a:t>
            </a:r>
          </a:p>
        </p:txBody>
      </p:sp>
      <p:sp>
        <p:nvSpPr>
          <p:cNvPr id="9" name="text-c015pe">
            <a:extLst xmlns:a="http://schemas.openxmlformats.org/drawingml/2006/main">
              <a:ext uri="{FF2B5EF4-FFF2-40B4-BE49-F238E27FC236}">
                <a16:creationId xmlns:a16="http://schemas.microsoft.com/office/drawing/2014/main" id="{3E297E41-7739-4721-B8E1-961F95511CB0}"/>
              </a:ext>
            </a:extLst>
          </p:cNvPr>
          <p:cNvSpPr>
            <a:spLocks xmlns:a="http://schemas.openxmlformats.org/drawingml/2006/main" noGrp="1"/>
          </p:cNvSpPr>
          <p:nvPr/>
        </p:nvSpPr>
        <p:spPr>
          <a:xfrm xmlns:a="http://schemas.openxmlformats.org/drawingml/2006/main">
            <a:off x="11334750" y="64770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FFFFFF"/>
                </a:solidFill>
                <a:latin typeface="Arial"/>
                <a:ea typeface="Arial"/>
                <a:cs typeface="Arial"/>
              </a:defRPr>
            </a:pPr>
            <a:r>
              <a:rPr sz="975" b="0" i="0">
                <a:solidFill>
                  <a:srgbClr val="FFFFFF"/>
                </a:solidFill>
                <a:latin typeface="Arial"/>
                <a:ea typeface="Arial"/>
                <a:cs typeface="Arial"/>
              </a:rPr>
              <a:t>1</a:t>
            </a:r>
          </a:p>
        </p:txBody>
      </p:sp>
    </p:spTree>
    <p:extLst>
      <p:ext uri="{BB962C8B-B14F-4D97-AF65-F5344CB8AC3E}">
        <p14:creationId xmlns:p14="http://schemas.microsoft.com/office/powerpoint/2010/main" val="15986703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9E846EB-FF54-4EE4-BACE-F9478265D6F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BẢN ĐỒ NỘI DUNG</a:t>
            </a:r>
          </a:p>
        </p:txBody>
      </p:sp>
      <p:sp>
        <p:nvSpPr>
          <p:cNvPr id="2" name="slide-title">
            <a:extLst xmlns:a="http://schemas.openxmlformats.org/drawingml/2006/main">
              <a:ext uri="{FF2B5EF4-FFF2-40B4-BE49-F238E27FC236}">
                <a16:creationId xmlns:a16="http://schemas.microsoft.com/office/drawing/2014/main" id="{F86A189B-A93F-4C3E-97A0-205BFBA2BE3C}"/>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Năm câu hỏi giúp hiểu toàn bộ đề tài</a:t>
            </a:r>
          </a:p>
        </p:txBody>
      </p:sp>
      <p:sp>
        <p:nvSpPr>
          <p:cNvPr id="3" name="slide-subtitle">
            <a:extLst xmlns:a="http://schemas.openxmlformats.org/drawingml/2006/main">
              <a:ext uri="{FF2B5EF4-FFF2-40B4-BE49-F238E27FC236}">
                <a16:creationId xmlns:a16="http://schemas.microsoft.com/office/drawing/2014/main" id="{3FF1C3AC-FFC4-4449-8E93-C0066E54E74E}"/>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Người nghe không cần biết AI trước; chỉ cần đi lần lượt qua năm câu hỏi.</a:t>
            </a:r>
          </a:p>
        </p:txBody>
      </p:sp>
      <p:sp>
        <p:nvSpPr>
          <p:cNvPr id="4" name="rule">
            <a:extLst xmlns:a="http://schemas.openxmlformats.org/drawingml/2006/main">
              <a:ext uri="{FF2B5EF4-FFF2-40B4-BE49-F238E27FC236}">
                <a16:creationId xmlns:a16="http://schemas.microsoft.com/office/drawing/2014/main" id="{B65A0F04-8727-4396-B00A-96C74A8B3AC4}"/>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BE29A436-3C6E-4AAC-85DF-90116B558FDE}"/>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BẢN ĐỒ NỘI DUNG</a:t>
            </a:r>
          </a:p>
        </p:txBody>
      </p:sp>
      <p:sp>
        <p:nvSpPr>
          <p:cNvPr id="6" name="footer-number">
            <a:extLst xmlns:a="http://schemas.openxmlformats.org/drawingml/2006/main">
              <a:ext uri="{FF2B5EF4-FFF2-40B4-BE49-F238E27FC236}">
                <a16:creationId xmlns:a16="http://schemas.microsoft.com/office/drawing/2014/main" id="{7C478EB0-16DB-42A3-ADEA-E6E76053BF8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a:t>
            </a:r>
          </a:p>
        </p:txBody>
      </p:sp>
      <p:graphicFrame>
        <p:nvGraphicFramePr>
          <p:cNvPr id="14" name=""/>
          <p:cNvGraphicFramePr/>
          <p:nvPr/>
        </p:nvGraphicFramePr>
        <p:xfrm>
          <a:off xmlns:a="http://schemas.openxmlformats.org/drawingml/2006/main" x="495300" y="1885950"/>
          <a:ext xmlns:a="http://schemas.openxmlformats.org/drawingml/2006/main" cx="11201400" cy="3714750"/>
        </p:xfrm>
        <a:graphic xmlns:a="http://schemas.openxmlformats.org/drawingml/2006/main">
          <a:graphicData uri="http://schemas.openxmlformats.org/drawingml/2006/table">
            <a:tbl>
              <a:tblPr firstRow="1" bandRow="1"/>
              <a:tblGrid>
                <a:gridCol w="857250"/>
                <a:gridCol w="3238500"/>
                <a:gridCol w="7105650"/>
              </a:tblGrid>
              <a:tr h="742950">
                <a:tc>
                  <a:txBody>
                    <a:bodyPr/>
                    <a:lstStyle/>
                    <a:p>
                      <a:r>
                        <a:rPr sz="1350" b="1">
                          <a:solidFill>
                            <a:srgbClr val="FFFFFF"/>
                          </a:solidFill>
                          <a:latin typeface="Arial"/>
                          <a:ea typeface="Arial"/>
                          <a:cs typeface="Arial"/>
                        </a:rPr>
                        <a:t>01</a:t>
                      </a:r>
                    </a:p>
                  </a:txBody>
                  <a:tcPr marL="76200" marR="76200" marT="66675" marB="66675">
                    <a:solidFill>
                      <a:srgbClr val="1859A9"/>
                    </a:solidFill>
                  </a:tcPr>
                </a:tc>
                <a:tc>
                  <a:txBody>
                    <a:bodyPr/>
                    <a:lstStyle/>
                    <a:p>
                      <a:r>
                        <a:rPr sz="1350" b="1">
                          <a:solidFill>
                            <a:srgbClr val="FFFFFF"/>
                          </a:solidFill>
                          <a:latin typeface="Arial"/>
                          <a:ea typeface="Arial"/>
                          <a:cs typeface="Arial"/>
                        </a:rPr>
                        <a:t>Vì sao cần hệ thống?</a:t>
                      </a:r>
                    </a:p>
                  </a:txBody>
                  <a:tcPr marL="76200" marR="76200" marT="66675" marB="66675">
                    <a:solidFill>
                      <a:srgbClr val="1859A9"/>
                    </a:solidFill>
                  </a:tcPr>
                </a:tc>
                <a:tc>
                  <a:txBody>
                    <a:bodyPr/>
                    <a:lstStyle/>
                    <a:p>
                      <a:r>
                        <a:rPr sz="1350" b="1">
                          <a:solidFill>
                            <a:srgbClr val="FFFFFF"/>
                          </a:solidFill>
                          <a:latin typeface="Arial"/>
                          <a:ea typeface="Arial"/>
                          <a:cs typeface="Arial"/>
                        </a:rPr>
                        <a:t>Việc chấm Speaking thủ công đang gặp vấn đề gì?</a:t>
                      </a:r>
                    </a:p>
                  </a:txBody>
                  <a:tcPr marL="76200" marR="76200" marT="66675" marB="66675">
                    <a:solidFill>
                      <a:srgbClr val="1859A9"/>
                    </a:solidFill>
                  </a:tcPr>
                </a:tc>
              </a:tr>
              <a:tr h="742950">
                <a:tc>
                  <a:txBody>
                    <a:bodyPr/>
                    <a:lstStyle/>
                    <a:p>
                      <a:r>
                        <a:rPr sz="1350">
                          <a:solidFill>
                            <a:srgbClr val="111827"/>
                          </a:solidFill>
                          <a:latin typeface="Arial"/>
                          <a:ea typeface="Arial"/>
                          <a:cs typeface="Arial"/>
                        </a:rPr>
                        <a:t>02</a:t>
                      </a:r>
                    </a:p>
                  </a:txBody>
                  <a:tcPr marL="76200" marR="76200" marT="66675" marB="66675"/>
                </a:tc>
                <a:tc>
                  <a:txBody>
                    <a:bodyPr/>
                    <a:lstStyle/>
                    <a:p>
                      <a:r>
                        <a:rPr sz="1350">
                          <a:solidFill>
                            <a:srgbClr val="111827"/>
                          </a:solidFill>
                          <a:latin typeface="Arial"/>
                          <a:ea typeface="Arial"/>
                          <a:cs typeface="Arial"/>
                        </a:rPr>
                        <a:t>Speaking được chấm ra sao?</a:t>
                      </a:r>
                    </a:p>
                  </a:txBody>
                  <a:tcPr marL="76200" marR="76200" marT="66675" marB="66675"/>
                </a:tc>
                <a:tc>
                  <a:txBody>
                    <a:bodyPr/>
                    <a:lstStyle/>
                    <a:p>
                      <a:r>
                        <a:rPr sz="1350">
                          <a:solidFill>
                            <a:srgbClr val="111827"/>
                          </a:solidFill>
                          <a:latin typeface="Arial"/>
                          <a:ea typeface="Arial"/>
                          <a:cs typeface="Arial"/>
                        </a:rPr>
                        <a:t>CEFR nhìn vào những mặt nào của năng lực nói?</a:t>
                      </a:r>
                    </a:p>
                  </a:txBody>
                  <a:tcPr marL="76200" marR="76200" marT="66675" marB="66675"/>
                </a:tc>
              </a:tr>
              <a:tr h="742950">
                <a:tc>
                  <a:txBody>
                    <a:bodyPr/>
                    <a:lstStyle/>
                    <a:p>
                      <a:r>
                        <a:rPr sz="1350">
                          <a:solidFill>
                            <a:srgbClr val="111827"/>
                          </a:solidFill>
                          <a:latin typeface="Arial"/>
                          <a:ea typeface="Arial"/>
                          <a:cs typeface="Arial"/>
                        </a:rPr>
                        <a:t>03</a:t>
                      </a:r>
                    </a:p>
                  </a:txBody>
                  <a:tcPr marL="76200" marR="76200" marT="66675" marB="66675"/>
                </a:tc>
                <a:tc>
                  <a:txBody>
                    <a:bodyPr/>
                    <a:lstStyle/>
                    <a:p>
                      <a:r>
                        <a:rPr sz="1350">
                          <a:solidFill>
                            <a:srgbClr val="111827"/>
                          </a:solidFill>
                          <a:latin typeface="Arial"/>
                          <a:ea typeface="Arial"/>
                          <a:cs typeface="Arial"/>
                        </a:rPr>
                        <a:t>AI làm gì với audio?</a:t>
                      </a:r>
                    </a:p>
                  </a:txBody>
                  <a:tcPr marL="76200" marR="76200" marT="66675" marB="66675"/>
                </a:tc>
                <a:tc>
                  <a:txBody>
                    <a:bodyPr/>
                    <a:lstStyle/>
                    <a:p>
                      <a:r>
                        <a:rPr sz="1350">
                          <a:solidFill>
                            <a:srgbClr val="111827"/>
                          </a:solidFill>
                          <a:latin typeface="Arial"/>
                          <a:ea typeface="Arial"/>
                          <a:cs typeface="Arial"/>
                        </a:rPr>
                        <a:t>Từ file ghi âm đến transcript, đặc trưng và mức A2/B1/B2.</a:t>
                      </a:r>
                    </a:p>
                  </a:txBody>
                  <a:tcPr marL="76200" marR="76200" marT="66675" marB="66675"/>
                </a:tc>
              </a:tr>
              <a:tr h="742950">
                <a:tc>
                  <a:txBody>
                    <a:bodyPr/>
                    <a:lstStyle/>
                    <a:p>
                      <a:r>
                        <a:rPr sz="1350">
                          <a:solidFill>
                            <a:srgbClr val="111827"/>
                          </a:solidFill>
                          <a:latin typeface="Arial"/>
                          <a:ea typeface="Arial"/>
                          <a:cs typeface="Arial"/>
                        </a:rPr>
                        <a:t>04</a:t>
                      </a:r>
                    </a:p>
                  </a:txBody>
                  <a:tcPr marL="76200" marR="76200" marT="66675" marB="66675"/>
                </a:tc>
                <a:tc>
                  <a:txBody>
                    <a:bodyPr/>
                    <a:lstStyle/>
                    <a:p>
                      <a:r>
                        <a:rPr sz="1350">
                          <a:solidFill>
                            <a:srgbClr val="111827"/>
                          </a:solidFill>
                          <a:latin typeface="Arial"/>
                          <a:ea typeface="Arial"/>
                          <a:cs typeface="Arial"/>
                        </a:rPr>
                        <a:t>Làm sao biết AI đáng tin?</a:t>
                      </a:r>
                    </a:p>
                  </a:txBody>
                  <a:tcPr marL="76200" marR="76200" marT="66675" marB="66675"/>
                </a:tc>
                <a:tc>
                  <a:txBody>
                    <a:bodyPr/>
                    <a:lstStyle/>
                    <a:p>
                      <a:r>
                        <a:rPr sz="1350">
                          <a:solidFill>
                            <a:srgbClr val="111827"/>
                          </a:solidFill>
                          <a:latin typeface="Arial"/>
                          <a:ea typeface="Arial"/>
                          <a:cs typeface="Arial"/>
                        </a:rPr>
                        <a:t>Dùng hai giảng viên, dữ liệu tách theo người và các metric phù hợp.</a:t>
                      </a:r>
                    </a:p>
                  </a:txBody>
                  <a:tcPr marL="76200" marR="76200" marT="66675" marB="66675"/>
                </a:tc>
              </a:tr>
              <a:tr h="742950">
                <a:tc>
                  <a:txBody>
                    <a:bodyPr/>
                    <a:lstStyle/>
                    <a:p>
                      <a:r>
                        <a:rPr sz="1350">
                          <a:solidFill>
                            <a:srgbClr val="111827"/>
                          </a:solidFill>
                          <a:latin typeface="Arial"/>
                          <a:ea typeface="Arial"/>
                          <a:cs typeface="Arial"/>
                        </a:rPr>
                        <a:t>05</a:t>
                      </a:r>
                    </a:p>
                  </a:txBody>
                  <a:tcPr marL="76200" marR="76200" marT="66675" marB="66675"/>
                </a:tc>
                <a:tc>
                  <a:txBody>
                    <a:bodyPr/>
                    <a:lstStyle/>
                    <a:p>
                      <a:r>
                        <a:rPr sz="1350">
                          <a:solidFill>
                            <a:srgbClr val="111827"/>
                          </a:solidFill>
                          <a:latin typeface="Arial"/>
                          <a:ea typeface="Arial"/>
                          <a:cs typeface="Arial"/>
                        </a:rPr>
                        <a:t>Có làm kịp 10 tuần không?</a:t>
                      </a:r>
                    </a:p>
                  </a:txBody>
                  <a:tcPr marL="76200" marR="76200" marT="66675" marB="66675"/>
                </a:tc>
                <a:tc>
                  <a:txBody>
                    <a:bodyPr/>
                    <a:lstStyle/>
                    <a:p>
                      <a:r>
                        <a:rPr sz="1350">
                          <a:solidFill>
                            <a:srgbClr val="111827"/>
                          </a:solidFill>
                          <a:latin typeface="Arial"/>
                          <a:ea typeface="Arial"/>
                          <a:cs typeface="Arial"/>
                        </a:rPr>
                        <a:t>Khóa phạm vi MVP, có cổng nghiệm thu và phương án dự phòng.</a:t>
                      </a:r>
                    </a:p>
                  </a:txBody>
                  <a:tcPr marL="76200" marR="76200" marT="66675" marB="66675"/>
                </a:tc>
              </a:tr>
            </a:tbl>
          </a:graphicData>
        </a:graphic>
      </p:graphicFrame>
    </p:spTree>
    <p:extLst>
      <p:ext uri="{BB962C8B-B14F-4D97-AF65-F5344CB8AC3E}">
        <p14:creationId xmlns:p14="http://schemas.microsoft.com/office/powerpoint/2010/main" val="2449010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60850082-BC4E-4EC5-9DED-E3B26F97C63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Ý TƯỞNG CỐT LÕI</a:t>
            </a:r>
          </a:p>
        </p:txBody>
      </p:sp>
      <p:sp>
        <p:nvSpPr>
          <p:cNvPr id="2" name="slide-title">
            <a:extLst xmlns:a="http://schemas.openxmlformats.org/drawingml/2006/main">
              <a:ext uri="{FF2B5EF4-FFF2-40B4-BE49-F238E27FC236}">
                <a16:creationId xmlns:a16="http://schemas.microsoft.com/office/drawing/2014/main" id="{A6469DB4-145C-420B-BD59-8C71C890CD6A}"/>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Đề tài có thể hiểu bằng bốn câu đơn giản</a:t>
            </a:r>
          </a:p>
        </p:txBody>
      </p:sp>
      <p:sp>
        <p:nvSpPr>
          <p:cNvPr id="3" name="rule">
            <a:extLst xmlns:a="http://schemas.openxmlformats.org/drawingml/2006/main">
              <a:ext uri="{FF2B5EF4-FFF2-40B4-BE49-F238E27FC236}">
                <a16:creationId xmlns:a16="http://schemas.microsoft.com/office/drawing/2014/main" id="{7311DC66-FCAF-4DF8-8EA8-2A2E1C98818D}"/>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F6FBA4E1-8346-4528-AA0C-A551E812C647}"/>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Ý TƯỞNG CỐT LÕI</a:t>
            </a:r>
          </a:p>
        </p:txBody>
      </p:sp>
      <p:sp>
        <p:nvSpPr>
          <p:cNvPr id="5" name="footer-number">
            <a:extLst xmlns:a="http://schemas.openxmlformats.org/drawingml/2006/main">
              <a:ext uri="{FF2B5EF4-FFF2-40B4-BE49-F238E27FC236}">
                <a16:creationId xmlns:a16="http://schemas.microsoft.com/office/drawing/2014/main" id="{C0BEFE37-37ED-4DAC-88D5-581DC2941E12}"/>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a:t>
            </a:r>
          </a:p>
        </p:txBody>
      </p:sp>
      <p:sp>
        <p:nvSpPr>
          <p:cNvPr id="6" name="rule">
            <a:extLst xmlns:a="http://schemas.openxmlformats.org/drawingml/2006/main">
              <a:ext uri="{FF2B5EF4-FFF2-40B4-BE49-F238E27FC236}">
                <a16:creationId xmlns:a16="http://schemas.microsoft.com/office/drawing/2014/main" id="{069CD9D1-7D24-474E-A77D-504E792F15CD}"/>
              </a:ext>
            </a:extLst>
          </p:cNvPr>
          <p:cNvSpPr>
            <a:spLocks xmlns:a="http://schemas.openxmlformats.org/drawingml/2006/main" noGrp="1"/>
          </p:cNvSpPr>
          <p:nvPr/>
        </p:nvSpPr>
        <p:spPr>
          <a:xfrm xmlns:a="http://schemas.openxmlformats.org/drawingml/2006/main">
            <a:off x="6096000" y="1581150"/>
            <a:ext cx="19050" cy="0"/>
          </a:xfrm>
          <a:prstGeom xmlns:a="http://schemas.openxmlformats.org/drawingml/2006/main" prst="rect">
            <a:avLst/>
          </a:prstGeom>
          <a:ln xmlns:a="http://schemas.openxmlformats.org/drawingml/2006/main" w="0">
            <a:prstDash val="solid"/>
          </a:ln>
        </p:spPr>
      </p:sp>
      <p:sp>
        <p:nvSpPr>
          <p:cNvPr id="7" name="rule">
            <a:extLst xmlns:a="http://schemas.openxmlformats.org/drawingml/2006/main">
              <a:ext uri="{FF2B5EF4-FFF2-40B4-BE49-F238E27FC236}">
                <a16:creationId xmlns:a16="http://schemas.microsoft.com/office/drawing/2014/main" id="{95EB0417-E3D7-4167-B0DB-641B416F9A6F}"/>
              </a:ext>
            </a:extLst>
          </p:cNvPr>
          <p:cNvSpPr>
            <a:spLocks xmlns:a="http://schemas.openxmlformats.org/drawingml/2006/main" noGrp="1"/>
          </p:cNvSpPr>
          <p:nvPr/>
        </p:nvSpPr>
        <p:spPr>
          <a:xfrm xmlns:a="http://schemas.openxmlformats.org/drawingml/2006/main">
            <a:off x="495300" y="3486150"/>
            <a:ext cx="11201400" cy="0"/>
          </a:xfrm>
          <a:prstGeom xmlns:a="http://schemas.openxmlformats.org/drawingml/2006/main" prst="rect">
            <a:avLst/>
          </a:prstGeom>
          <a:ln xmlns:a="http://schemas.openxmlformats.org/drawingml/2006/main" w="0">
            <a:prstDash val="solid"/>
          </a:ln>
        </p:spPr>
      </p:sp>
      <p:sp>
        <p:nvSpPr>
          <p:cNvPr id="8" name="text-8giqe0">
            <a:extLst xmlns:a="http://schemas.openxmlformats.org/drawingml/2006/main">
              <a:ext uri="{FF2B5EF4-FFF2-40B4-BE49-F238E27FC236}">
                <a16:creationId xmlns:a16="http://schemas.microsoft.com/office/drawing/2014/main" id="{DCED7F18-1C08-49CD-8DEE-1CF9E1F90D7B}"/>
              </a:ext>
            </a:extLst>
          </p:cNvPr>
          <p:cNvSpPr>
            <a:spLocks xmlns:a="http://schemas.openxmlformats.org/drawingml/2006/main" noGrp="1"/>
          </p:cNvSpPr>
          <p:nvPr/>
        </p:nvSpPr>
        <p:spPr>
          <a:xfrm xmlns:a="http://schemas.openxmlformats.org/drawingml/2006/main">
            <a:off x="4953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Người học nói</a:t>
            </a:r>
          </a:p>
        </p:txBody>
      </p:sp>
      <p:sp>
        <p:nvSpPr>
          <p:cNvPr id="9" name="text-tl5faa">
            <a:extLst xmlns:a="http://schemas.openxmlformats.org/drawingml/2006/main">
              <a:ext uri="{FF2B5EF4-FFF2-40B4-BE49-F238E27FC236}">
                <a16:creationId xmlns:a16="http://schemas.microsoft.com/office/drawing/2014/main" id="{7DEA4021-1E29-4AA7-8EAA-E30C7558F76F}"/>
              </a:ext>
            </a:extLst>
          </p:cNvPr>
          <p:cNvSpPr>
            <a:spLocks xmlns:a="http://schemas.openxmlformats.org/drawingml/2006/main" noGrp="1"/>
          </p:cNvSpPr>
          <p:nvPr/>
        </p:nvSpPr>
        <p:spPr>
          <a:xfrm xmlns:a="http://schemas.openxmlformats.org/drawingml/2006/main">
            <a:off x="4953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Thực hiện bài kể chuyện, nêu quan điểm hoặc hội thoại ngắn bằng tiếng Anh.</a:t>
            </a:r>
          </a:p>
        </p:txBody>
      </p:sp>
      <p:sp>
        <p:nvSpPr>
          <p:cNvPr id="10" name="text-2rzxyv">
            <a:extLst xmlns:a="http://schemas.openxmlformats.org/drawingml/2006/main">
              <a:ext uri="{FF2B5EF4-FFF2-40B4-BE49-F238E27FC236}">
                <a16:creationId xmlns:a16="http://schemas.microsoft.com/office/drawing/2014/main" id="{521DE506-3A03-4813-89FC-27610213756A}"/>
              </a:ext>
            </a:extLst>
          </p:cNvPr>
          <p:cNvSpPr>
            <a:spLocks xmlns:a="http://schemas.openxmlformats.org/drawingml/2006/main" noGrp="1"/>
          </p:cNvSpPr>
          <p:nvPr/>
        </p:nvSpPr>
        <p:spPr>
          <a:xfrm xmlns:a="http://schemas.openxmlformats.org/drawingml/2006/main">
            <a:off x="62865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AI quan sát</a:t>
            </a:r>
          </a:p>
        </p:txBody>
      </p:sp>
      <p:sp>
        <p:nvSpPr>
          <p:cNvPr id="11" name="text-tkcfed">
            <a:extLst xmlns:a="http://schemas.openxmlformats.org/drawingml/2006/main">
              <a:ext uri="{FF2B5EF4-FFF2-40B4-BE49-F238E27FC236}">
                <a16:creationId xmlns:a16="http://schemas.microsoft.com/office/drawing/2014/main" id="{19A8541E-B6CB-4D2A-ABAF-75F6175C8B2A}"/>
              </a:ext>
            </a:extLst>
          </p:cNvPr>
          <p:cNvSpPr>
            <a:spLocks xmlns:a="http://schemas.openxmlformats.org/drawingml/2006/main" noGrp="1"/>
          </p:cNvSpPr>
          <p:nvPr/>
        </p:nvSpPr>
        <p:spPr>
          <a:xfrm xmlns:a="http://schemas.openxmlformats.org/drawingml/2006/main">
            <a:off x="62865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Nghe audio, tạo transcript và đo các dấu hiệu như khoảng lặng, từ vựng, lỗi ngữ pháp, mức liên kết ý.</a:t>
            </a:r>
          </a:p>
        </p:txBody>
      </p:sp>
      <p:sp>
        <p:nvSpPr>
          <p:cNvPr id="12" name="text-f3ep8y">
            <a:extLst xmlns:a="http://schemas.openxmlformats.org/drawingml/2006/main">
              <a:ext uri="{FF2B5EF4-FFF2-40B4-BE49-F238E27FC236}">
                <a16:creationId xmlns:a16="http://schemas.microsoft.com/office/drawing/2014/main" id="{D173DDAE-3D50-4A9E-996F-BF8EE895AE35}"/>
              </a:ext>
            </a:extLst>
          </p:cNvPr>
          <p:cNvSpPr>
            <a:spLocks xmlns:a="http://schemas.openxmlformats.org/drawingml/2006/main" noGrp="1"/>
          </p:cNvSpPr>
          <p:nvPr/>
        </p:nvSpPr>
        <p:spPr>
          <a:xfrm xmlns:a="http://schemas.openxmlformats.org/drawingml/2006/main">
            <a:off x="4953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AI ước lượng</a:t>
            </a:r>
          </a:p>
        </p:txBody>
      </p:sp>
      <p:sp>
        <p:nvSpPr>
          <p:cNvPr id="13" name="text-i5kzek">
            <a:extLst xmlns:a="http://schemas.openxmlformats.org/drawingml/2006/main">
              <a:ext uri="{FF2B5EF4-FFF2-40B4-BE49-F238E27FC236}">
                <a16:creationId xmlns:a16="http://schemas.microsoft.com/office/drawing/2014/main" id="{B5BBFAE3-3AB7-46BD-B6DB-ED5E1F899BBC}"/>
              </a:ext>
            </a:extLst>
          </p:cNvPr>
          <p:cNvSpPr>
            <a:spLocks xmlns:a="http://schemas.openxmlformats.org/drawingml/2006/main" noGrp="1"/>
          </p:cNvSpPr>
          <p:nvPr/>
        </p:nvSpPr>
        <p:spPr>
          <a:xfrm xmlns:a="http://schemas.openxmlformats.org/drawingml/2006/main">
            <a:off x="4953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Đưa ra xác suất A2/B1/B2 cho từng tiêu chí, không chỉ trả về một điểm duy nhất.</a:t>
            </a:r>
          </a:p>
        </p:txBody>
      </p:sp>
      <p:sp>
        <p:nvSpPr>
          <p:cNvPr id="14" name="text-rmqpt4">
            <a:extLst xmlns:a="http://schemas.openxmlformats.org/drawingml/2006/main">
              <a:ext uri="{FF2B5EF4-FFF2-40B4-BE49-F238E27FC236}">
                <a16:creationId xmlns:a16="http://schemas.microsoft.com/office/drawing/2014/main" id="{B341A242-60E6-471F-8B72-9D1C8F21BF30}"/>
              </a:ext>
            </a:extLst>
          </p:cNvPr>
          <p:cNvSpPr>
            <a:spLocks xmlns:a="http://schemas.openxmlformats.org/drawingml/2006/main" noGrp="1"/>
          </p:cNvSpPr>
          <p:nvPr/>
        </p:nvSpPr>
        <p:spPr>
          <a:xfrm xmlns:a="http://schemas.openxmlformats.org/drawingml/2006/main">
            <a:off x="62865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Giảng viên kiểm soát</a:t>
            </a:r>
          </a:p>
        </p:txBody>
      </p:sp>
      <p:sp>
        <p:nvSpPr>
          <p:cNvPr id="15" name="text-v47p34">
            <a:extLst xmlns:a="http://schemas.openxmlformats.org/drawingml/2006/main">
              <a:ext uri="{FF2B5EF4-FFF2-40B4-BE49-F238E27FC236}">
                <a16:creationId xmlns:a16="http://schemas.microsoft.com/office/drawing/2014/main" id="{7528C492-1672-4627-9910-C2AF3556B105}"/>
              </a:ext>
            </a:extLst>
          </p:cNvPr>
          <p:cNvSpPr>
            <a:spLocks xmlns:a="http://schemas.openxmlformats.org/drawingml/2006/main" noGrp="1"/>
          </p:cNvSpPr>
          <p:nvPr/>
        </p:nvSpPr>
        <p:spPr>
          <a:xfrm xmlns:a="http://schemas.openxmlformats.org/drawingml/2006/main">
            <a:off x="62865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Duyệt các trường hợp không chắc chắn và chịu trách nhiệm với nhãn chuẩn.</a:t>
            </a:r>
          </a:p>
        </p:txBody>
      </p:sp>
    </p:spTree>
    <p:extLst>
      <p:ext uri="{BB962C8B-B14F-4D97-AF65-F5344CB8AC3E}">
        <p14:creationId xmlns:p14="http://schemas.microsoft.com/office/powerpoint/2010/main" val="9550551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C471B546-3FD2-4D2C-B240-377B687DEAD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BỐI CẢNH VÀ VẤN ĐỀ</a:t>
            </a:r>
          </a:p>
        </p:txBody>
      </p:sp>
      <p:sp>
        <p:nvSpPr>
          <p:cNvPr id="2" name="slide-title">
            <a:extLst xmlns:a="http://schemas.openxmlformats.org/drawingml/2006/main">
              <a:ext uri="{FF2B5EF4-FFF2-40B4-BE49-F238E27FC236}">
                <a16:creationId xmlns:a16="http://schemas.microsoft.com/office/drawing/2014/main" id="{93380AB8-DE24-4023-8C9F-4B714FD7D435}"/>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Chấm Speaking khó mở rộng vì vừa tốn thời gian vừa khó nhất quán</a:t>
            </a:r>
          </a:p>
        </p:txBody>
      </p:sp>
      <p:sp>
        <p:nvSpPr>
          <p:cNvPr id="3" name="rule">
            <a:extLst xmlns:a="http://schemas.openxmlformats.org/drawingml/2006/main">
              <a:ext uri="{FF2B5EF4-FFF2-40B4-BE49-F238E27FC236}">
                <a16:creationId xmlns:a16="http://schemas.microsoft.com/office/drawing/2014/main" id="{12095A0A-0368-4DEB-ACA2-1AF77998945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EE9A8F11-FD97-4273-B446-8B67A9470F5A}"/>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BỐI CẢNH VÀ VẤN ĐỀ</a:t>
            </a:r>
          </a:p>
        </p:txBody>
      </p:sp>
      <p:sp>
        <p:nvSpPr>
          <p:cNvPr id="5" name="footer-number">
            <a:extLst xmlns:a="http://schemas.openxmlformats.org/drawingml/2006/main">
              <a:ext uri="{FF2B5EF4-FFF2-40B4-BE49-F238E27FC236}">
                <a16:creationId xmlns:a16="http://schemas.microsoft.com/office/drawing/2014/main" id="{2CD3C194-84DD-465E-A105-C9844E6ED0DC}"/>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4</a:t>
            </a:r>
          </a:p>
        </p:txBody>
      </p:sp>
      <p:sp>
        <p:nvSpPr>
          <p:cNvPr id="6" name="rule">
            <a:extLst xmlns:a="http://schemas.openxmlformats.org/drawingml/2006/main">
              <a:ext uri="{FF2B5EF4-FFF2-40B4-BE49-F238E27FC236}">
                <a16:creationId xmlns:a16="http://schemas.microsoft.com/office/drawing/2014/main" id="{571CBE31-6447-47CA-901C-A27C7F845BD3}"/>
              </a:ext>
            </a:extLst>
          </p:cNvPr>
          <p:cNvSpPr>
            <a:spLocks xmlns:a="http://schemas.openxmlformats.org/drawingml/2006/main" noGrp="1"/>
          </p:cNvSpPr>
          <p:nvPr/>
        </p:nvSpPr>
        <p:spPr>
          <a:xfrm xmlns:a="http://schemas.openxmlformats.org/drawingml/2006/main">
            <a:off x="6096000" y="1581150"/>
            <a:ext cx="19050" cy="0"/>
          </a:xfrm>
          <a:prstGeom xmlns:a="http://schemas.openxmlformats.org/drawingml/2006/main" prst="rect">
            <a:avLst/>
          </a:prstGeom>
          <a:ln xmlns:a="http://schemas.openxmlformats.org/drawingml/2006/main" w="0">
            <a:prstDash val="solid"/>
          </a:ln>
        </p:spPr>
      </p:sp>
      <p:sp>
        <p:nvSpPr>
          <p:cNvPr id="7" name="rule">
            <a:extLst xmlns:a="http://schemas.openxmlformats.org/drawingml/2006/main">
              <a:ext uri="{FF2B5EF4-FFF2-40B4-BE49-F238E27FC236}">
                <a16:creationId xmlns:a16="http://schemas.microsoft.com/office/drawing/2014/main" id="{2B7FE3D1-5C61-41E1-A9DE-58CED4566F6F}"/>
              </a:ext>
            </a:extLst>
          </p:cNvPr>
          <p:cNvSpPr>
            <a:spLocks xmlns:a="http://schemas.openxmlformats.org/drawingml/2006/main" noGrp="1"/>
          </p:cNvSpPr>
          <p:nvPr/>
        </p:nvSpPr>
        <p:spPr>
          <a:xfrm xmlns:a="http://schemas.openxmlformats.org/drawingml/2006/main">
            <a:off x="495300" y="3486150"/>
            <a:ext cx="11201400" cy="0"/>
          </a:xfrm>
          <a:prstGeom xmlns:a="http://schemas.openxmlformats.org/drawingml/2006/main" prst="rect">
            <a:avLst/>
          </a:prstGeom>
          <a:ln xmlns:a="http://schemas.openxmlformats.org/drawingml/2006/main" w="0">
            <a:prstDash val="solid"/>
          </a:ln>
        </p:spPr>
      </p:sp>
      <p:sp>
        <p:nvSpPr>
          <p:cNvPr id="8" name="text-y887u4">
            <a:extLst xmlns:a="http://schemas.openxmlformats.org/drawingml/2006/main">
              <a:ext uri="{FF2B5EF4-FFF2-40B4-BE49-F238E27FC236}">
                <a16:creationId xmlns:a16="http://schemas.microsoft.com/office/drawing/2014/main" id="{4E100493-F0BC-422D-B654-D8B10CFA9564}"/>
              </a:ext>
            </a:extLst>
          </p:cNvPr>
          <p:cNvSpPr>
            <a:spLocks xmlns:a="http://schemas.openxmlformats.org/drawingml/2006/main" noGrp="1"/>
          </p:cNvSpPr>
          <p:nvPr/>
        </p:nvSpPr>
        <p:spPr>
          <a:xfrm xmlns:a="http://schemas.openxmlformats.org/drawingml/2006/main">
            <a:off x="4953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Nghe nhiều lần</a:t>
            </a:r>
          </a:p>
        </p:txBody>
      </p:sp>
      <p:sp>
        <p:nvSpPr>
          <p:cNvPr id="9" name="text-c1b5xx">
            <a:extLst xmlns:a="http://schemas.openxmlformats.org/drawingml/2006/main">
              <a:ext uri="{FF2B5EF4-FFF2-40B4-BE49-F238E27FC236}">
                <a16:creationId xmlns:a16="http://schemas.microsoft.com/office/drawing/2014/main" id="{FAAF3ACF-E084-40A7-ADBC-B693306553A2}"/>
              </a:ext>
            </a:extLst>
          </p:cNvPr>
          <p:cNvSpPr>
            <a:spLocks xmlns:a="http://schemas.openxmlformats.org/drawingml/2006/main" noGrp="1"/>
          </p:cNvSpPr>
          <p:nvPr/>
        </p:nvSpPr>
        <p:spPr>
          <a:xfrm xmlns:a="http://schemas.openxmlformats.org/drawingml/2006/main">
            <a:off x="4953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Một bài nói 2 phút có thể cần nghe lại, ghi chú và đối chiếu rubric trước khi cho điểm.</a:t>
            </a:r>
          </a:p>
        </p:txBody>
      </p:sp>
      <p:sp>
        <p:nvSpPr>
          <p:cNvPr id="10" name="text-70rcl0">
            <a:extLst xmlns:a="http://schemas.openxmlformats.org/drawingml/2006/main">
              <a:ext uri="{FF2B5EF4-FFF2-40B4-BE49-F238E27FC236}">
                <a16:creationId xmlns:a16="http://schemas.microsoft.com/office/drawing/2014/main" id="{CFEFA5E3-0A74-4632-8140-53139FECA7E5}"/>
              </a:ext>
            </a:extLst>
          </p:cNvPr>
          <p:cNvSpPr>
            <a:spLocks xmlns:a="http://schemas.openxmlformats.org/drawingml/2006/main" noGrp="1"/>
          </p:cNvSpPr>
          <p:nvPr/>
        </p:nvSpPr>
        <p:spPr>
          <a:xfrm xmlns:a="http://schemas.openxmlformats.org/drawingml/2006/main">
            <a:off x="62865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Hai người có thể chấm khác</a:t>
            </a:r>
          </a:p>
        </p:txBody>
      </p:sp>
      <p:sp>
        <p:nvSpPr>
          <p:cNvPr id="11" name="text-l7pa44">
            <a:extLst xmlns:a="http://schemas.openxmlformats.org/drawingml/2006/main">
              <a:ext uri="{FF2B5EF4-FFF2-40B4-BE49-F238E27FC236}">
                <a16:creationId xmlns:a16="http://schemas.microsoft.com/office/drawing/2014/main" id="{E69CDCC6-3987-4716-B72F-2EC281A63479}"/>
              </a:ext>
            </a:extLst>
          </p:cNvPr>
          <p:cNvSpPr>
            <a:spLocks xmlns:a="http://schemas.openxmlformats.org/drawingml/2006/main" noGrp="1"/>
          </p:cNvSpPr>
          <p:nvPr/>
        </p:nvSpPr>
        <p:spPr>
          <a:xfrm xmlns:a="http://schemas.openxmlformats.org/drawingml/2006/main">
            <a:off x="62865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Cùng một bài nói, giảng viên có thể hiểu tiêu chí hoặc mức độ nghiêm khác nhau.</a:t>
            </a:r>
          </a:p>
        </p:txBody>
      </p:sp>
      <p:sp>
        <p:nvSpPr>
          <p:cNvPr id="12" name="text-pb0ta7">
            <a:extLst xmlns:a="http://schemas.openxmlformats.org/drawingml/2006/main">
              <a:ext uri="{FF2B5EF4-FFF2-40B4-BE49-F238E27FC236}">
                <a16:creationId xmlns:a16="http://schemas.microsoft.com/office/drawing/2014/main" id="{B9D6E88B-2CE4-432B-927B-87B1FA7710EF}"/>
              </a:ext>
            </a:extLst>
          </p:cNvPr>
          <p:cNvSpPr>
            <a:spLocks xmlns:a="http://schemas.openxmlformats.org/drawingml/2006/main" noGrp="1"/>
          </p:cNvSpPr>
          <p:nvPr/>
        </p:nvSpPr>
        <p:spPr>
          <a:xfrm xmlns:a="http://schemas.openxmlformats.org/drawingml/2006/main">
            <a:off x="4953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Phản hồi thường quá chung</a:t>
            </a:r>
          </a:p>
        </p:txBody>
      </p:sp>
      <p:sp>
        <p:nvSpPr>
          <p:cNvPr id="13" name="text-dpo7gv">
            <a:extLst xmlns:a="http://schemas.openxmlformats.org/drawingml/2006/main">
              <a:ext uri="{FF2B5EF4-FFF2-40B4-BE49-F238E27FC236}">
                <a16:creationId xmlns:a16="http://schemas.microsoft.com/office/drawing/2014/main" id="{21C71B07-55A5-440F-B40E-844F1C344B3C}"/>
              </a:ext>
            </a:extLst>
          </p:cNvPr>
          <p:cNvSpPr>
            <a:spLocks xmlns:a="http://schemas.openxmlformats.org/drawingml/2006/main" noGrp="1"/>
          </p:cNvSpPr>
          <p:nvPr/>
        </p:nvSpPr>
        <p:spPr>
          <a:xfrm xmlns:a="http://schemas.openxmlformats.org/drawingml/2006/main">
            <a:off x="4953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Người học nhận một mức tổng quát nhưng không biết đoạn nào làm giảm điểm.</a:t>
            </a:r>
          </a:p>
        </p:txBody>
      </p:sp>
      <p:sp>
        <p:nvSpPr>
          <p:cNvPr id="14" name="text-jrood5">
            <a:extLst xmlns:a="http://schemas.openxmlformats.org/drawingml/2006/main">
              <a:ext uri="{FF2B5EF4-FFF2-40B4-BE49-F238E27FC236}">
                <a16:creationId xmlns:a16="http://schemas.microsoft.com/office/drawing/2014/main" id="{5B286F31-000F-4D99-8136-BB1027123F97}"/>
              </a:ext>
            </a:extLst>
          </p:cNvPr>
          <p:cNvSpPr>
            <a:spLocks xmlns:a="http://schemas.openxmlformats.org/drawingml/2006/main" noGrp="1"/>
          </p:cNvSpPr>
          <p:nvPr/>
        </p:nvSpPr>
        <p:spPr>
          <a:xfrm xmlns:a="http://schemas.openxmlformats.org/drawingml/2006/main">
            <a:off x="62865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Accent Việt làm ASR dễ sai</a:t>
            </a:r>
          </a:p>
        </p:txBody>
      </p:sp>
      <p:sp>
        <p:nvSpPr>
          <p:cNvPr id="15" name="text-925tht">
            <a:extLst xmlns:a="http://schemas.openxmlformats.org/drawingml/2006/main">
              <a:ext uri="{FF2B5EF4-FFF2-40B4-BE49-F238E27FC236}">
                <a16:creationId xmlns:a16="http://schemas.microsoft.com/office/drawing/2014/main" id="{701342E7-D2AD-4A1B-B7C3-5BA101AFA7EE}"/>
              </a:ext>
            </a:extLst>
          </p:cNvPr>
          <p:cNvSpPr>
            <a:spLocks xmlns:a="http://schemas.openxmlformats.org/drawingml/2006/main" noGrp="1"/>
          </p:cNvSpPr>
          <p:nvPr/>
        </p:nvSpPr>
        <p:spPr>
          <a:xfrm xmlns:a="http://schemas.openxmlformats.org/drawingml/2006/main">
            <a:off x="62865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Transcript tự động sai có thể khiến hệ thống hiểu nhầm lỗi của máy thành lỗi của người học.</a:t>
            </a:r>
          </a:p>
        </p:txBody>
      </p:sp>
    </p:spTree>
    <p:extLst>
      <p:ext uri="{BB962C8B-B14F-4D97-AF65-F5344CB8AC3E}">
        <p14:creationId xmlns:p14="http://schemas.microsoft.com/office/powerpoint/2010/main" val="9010699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F9573891-EA65-41F5-9673-75F61BF21B92}"/>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PHẠM VI</a:t>
            </a:r>
          </a:p>
        </p:txBody>
      </p:sp>
      <p:sp>
        <p:nvSpPr>
          <p:cNvPr id="2" name="slide-title">
            <a:extLst xmlns:a="http://schemas.openxmlformats.org/drawingml/2006/main">
              <a:ext uri="{FF2B5EF4-FFF2-40B4-BE49-F238E27FC236}">
                <a16:creationId xmlns:a16="http://schemas.microsoft.com/office/drawing/2014/main" id="{93700018-24E3-439E-B47C-F2F6CDBC253F}"/>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Hệ thống hỗ trợ điều gì – và không được hứa điều gì</a:t>
            </a:r>
          </a:p>
        </p:txBody>
      </p:sp>
      <p:sp>
        <p:nvSpPr>
          <p:cNvPr id="3" name="rule">
            <a:extLst xmlns:a="http://schemas.openxmlformats.org/drawingml/2006/main">
              <a:ext uri="{FF2B5EF4-FFF2-40B4-BE49-F238E27FC236}">
                <a16:creationId xmlns:a16="http://schemas.microsoft.com/office/drawing/2014/main" id="{75362D4B-1118-4C20-852F-471578BCBCCB}"/>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902FFB50-636A-4345-915E-09CC0383A968}"/>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PHẠM VI</a:t>
            </a:r>
          </a:p>
        </p:txBody>
      </p:sp>
      <p:sp>
        <p:nvSpPr>
          <p:cNvPr id="5" name="footer-number">
            <a:extLst xmlns:a="http://schemas.openxmlformats.org/drawingml/2006/main">
              <a:ext uri="{FF2B5EF4-FFF2-40B4-BE49-F238E27FC236}">
                <a16:creationId xmlns:a16="http://schemas.microsoft.com/office/drawing/2014/main" id="{6DB9AC74-A302-44D6-8F18-3EA583101D1F}"/>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5</a:t>
            </a:r>
          </a:p>
        </p:txBody>
      </p:sp>
      <p:sp>
        <p:nvSpPr>
          <p:cNvPr id="6" name="text-0r4olj">
            <a:extLst xmlns:a="http://schemas.openxmlformats.org/drawingml/2006/main">
              <a:ext uri="{FF2B5EF4-FFF2-40B4-BE49-F238E27FC236}">
                <a16:creationId xmlns:a16="http://schemas.microsoft.com/office/drawing/2014/main" id="{BA5AF950-D16F-47EE-8D25-64E857C68DE9}"/>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2E8B57"/>
                </a:solidFill>
                <a:latin typeface="Arial"/>
                <a:ea typeface="Arial"/>
                <a:cs typeface="Arial"/>
              </a:defRPr>
            </a:pPr>
            <a:r>
              <a:rPr sz="1800" b="1" i="0">
                <a:solidFill>
                  <a:srgbClr val="2E8B57"/>
                </a:solidFill>
                <a:latin typeface="Arial"/>
                <a:ea typeface="Arial"/>
                <a:cs typeface="Arial"/>
              </a:rPr>
              <a:t>Hệ thống được phép làm</a:t>
            </a:r>
          </a:p>
        </p:txBody>
      </p:sp>
      <p:sp>
        <p:nvSpPr>
          <p:cNvPr id="7" name="text-npjqbu">
            <a:extLst xmlns:a="http://schemas.openxmlformats.org/drawingml/2006/main">
              <a:ext uri="{FF2B5EF4-FFF2-40B4-BE49-F238E27FC236}">
                <a16:creationId xmlns:a16="http://schemas.microsoft.com/office/drawing/2014/main" id="{8D93C0E5-F6B6-4E6E-B5C0-2680B47A7A02}"/>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Phản hồi nhanh cho hoạt động luyện tập.</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Ước lượng A2/B1/B2 trong phạm vi đã kiểm định.</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Chỉ ra bằng chứng từ audio và transcript.</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Ưu tiên bài cần giảng viên duyệt.</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Hỗ trợ giảng viên chấm số lượng lớn hơn.</a:t>
            </a:r>
          </a:p>
        </p:txBody>
      </p:sp>
      <p:sp>
        <p:nvSpPr>
          <p:cNvPr id="8" name="rule">
            <a:extLst xmlns:a="http://schemas.openxmlformats.org/drawingml/2006/main">
              <a:ext uri="{FF2B5EF4-FFF2-40B4-BE49-F238E27FC236}">
                <a16:creationId xmlns:a16="http://schemas.microsoft.com/office/drawing/2014/main" id="{0931B31E-60AC-46E3-B059-4DC2988D8388}"/>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s7v2lf">
            <a:extLst xmlns:a="http://schemas.openxmlformats.org/drawingml/2006/main">
              <a:ext uri="{FF2B5EF4-FFF2-40B4-BE49-F238E27FC236}">
                <a16:creationId xmlns:a16="http://schemas.microsoft.com/office/drawing/2014/main" id="{C81F347F-4A60-46D9-AE40-F831CC04E88E}"/>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B33A3A"/>
                </a:solidFill>
                <a:latin typeface="Arial"/>
                <a:ea typeface="Arial"/>
                <a:cs typeface="Arial"/>
              </a:defRPr>
            </a:pPr>
            <a:r>
              <a:rPr sz="1800" b="1" i="0">
                <a:solidFill>
                  <a:srgbClr val="B33A3A"/>
                </a:solidFill>
                <a:latin typeface="Arial"/>
                <a:ea typeface="Arial"/>
                <a:cs typeface="Arial"/>
              </a:rPr>
              <a:t>Hệ thống không được tuyên bố</a:t>
            </a:r>
          </a:p>
        </p:txBody>
      </p:sp>
      <p:sp>
        <p:nvSpPr>
          <p:cNvPr id="10" name="text-9mi3bj">
            <a:extLst xmlns:a="http://schemas.openxmlformats.org/drawingml/2006/main">
              <a:ext uri="{FF2B5EF4-FFF2-40B4-BE49-F238E27FC236}">
                <a16:creationId xmlns:a16="http://schemas.microsoft.com/office/drawing/2014/main" id="{9FE2F882-4C13-4940-B5E2-3B5B7F9707EC}"/>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Cấp chứng chỉ CEFR chính thức.</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Thay thế hoàn toàn giảng viên.</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Chính xác cho mọi accent, thiết bị và nhiệm vụ.</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Dùng cho quyết định học vụ high-stakes.</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Suy luận tính cách, giới tính hoặc cảm xúc từ giọng nói.</a:t>
            </a:r>
          </a:p>
        </p:txBody>
      </p:sp>
      <p:sp>
        <p:nvSpPr>
          <p:cNvPr id="11" name="callout-9o5bn">
            <a:extLst xmlns:a="http://schemas.openxmlformats.org/drawingml/2006/main">
              <a:ext uri="{FF2B5EF4-FFF2-40B4-BE49-F238E27FC236}">
                <a16:creationId xmlns:a16="http://schemas.microsoft.com/office/drawing/2014/main" id="{FD2D15D5-5735-4FCC-8BE3-556C0438BDEE}"/>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EAF5FB"/>
          </a:solidFill>
          <a:ln xmlns:a="http://schemas.openxmlformats.org/drawingml/2006/main" w="9525">
            <a:solidFill>
              <a:srgbClr val="3D8DFF"/>
            </a:solidFill>
            <a:prstDash val="solid"/>
          </a:ln>
        </p:spPr>
      </p:sp>
      <p:sp>
        <p:nvSpPr>
          <p:cNvPr id="12" name="callout-text">
            <a:extLst xmlns:a="http://schemas.openxmlformats.org/drawingml/2006/main">
              <a:ext uri="{FF2B5EF4-FFF2-40B4-BE49-F238E27FC236}">
                <a16:creationId xmlns:a16="http://schemas.microsoft.com/office/drawing/2014/main" id="{11DEE8C9-DC8E-4722-BE0F-10E19AD19723}"/>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859A9"/>
                </a:solidFill>
                <a:latin typeface="Arial"/>
                <a:ea typeface="Arial"/>
                <a:cs typeface="Arial"/>
              </a:defRPr>
            </a:pPr>
            <a:r>
              <a:rPr sz="1500" b="1" i="0">
                <a:solidFill>
                  <a:srgbClr val="1859A9"/>
                </a:solidFill>
                <a:latin typeface="Arial"/>
                <a:ea typeface="Arial"/>
                <a:cs typeface="Arial"/>
              </a:rPr>
              <a:t>Cách gọi an toàn: hệ thống AI hỗ trợ đánh giá theo CEFR trong bối cảnh luyện tập/low-stakes.</a:t>
            </a:r>
          </a:p>
        </p:txBody>
      </p:sp>
    </p:spTree>
    <p:extLst>
      <p:ext uri="{BB962C8B-B14F-4D97-AF65-F5344CB8AC3E}">
        <p14:creationId xmlns:p14="http://schemas.microsoft.com/office/powerpoint/2010/main" val="20149292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9228B0E3-41AC-4F5F-BD50-5A3365E527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NỀN TẢNG ĐÁNH GIÁ</a:t>
            </a:r>
          </a:p>
        </p:txBody>
      </p:sp>
      <p:sp>
        <p:nvSpPr>
          <p:cNvPr id="2" name="slide-title">
            <a:extLst xmlns:a="http://schemas.openxmlformats.org/drawingml/2006/main">
              <a:ext uri="{FF2B5EF4-FFF2-40B4-BE49-F238E27FC236}">
                <a16:creationId xmlns:a16="http://schemas.microsoft.com/office/drawing/2014/main" id="{2CC197EA-2352-4D76-9156-E6B01232256A}"/>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CEFR là khung mô tả năng lực, không phải thuật toán chấm</a:t>
            </a:r>
          </a:p>
        </p:txBody>
      </p:sp>
      <p:sp>
        <p:nvSpPr>
          <p:cNvPr id="3" name="rule">
            <a:extLst xmlns:a="http://schemas.openxmlformats.org/drawingml/2006/main">
              <a:ext uri="{FF2B5EF4-FFF2-40B4-BE49-F238E27FC236}">
                <a16:creationId xmlns:a16="http://schemas.microsoft.com/office/drawing/2014/main" id="{6B794545-B27D-4FB2-8836-CB35172FA3D2}"/>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16D3E1A2-C727-4695-9205-BD1AD6A610C5}"/>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NỀN TẢNG ĐÁNH GIÁ</a:t>
            </a:r>
          </a:p>
        </p:txBody>
      </p:sp>
      <p:sp>
        <p:nvSpPr>
          <p:cNvPr id="5" name="footer-number">
            <a:extLst xmlns:a="http://schemas.openxmlformats.org/drawingml/2006/main">
              <a:ext uri="{FF2B5EF4-FFF2-40B4-BE49-F238E27FC236}">
                <a16:creationId xmlns:a16="http://schemas.microsoft.com/office/drawing/2014/main" id="{105CBCEA-5996-4121-95D3-5948A8C4F7E4}"/>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6</a:t>
            </a:r>
          </a:p>
        </p:txBody>
      </p:sp>
      <p:sp>
        <p:nvSpPr>
          <p:cNvPr id="6" name="text-bwq8t6">
            <a:extLst xmlns:a="http://schemas.openxmlformats.org/drawingml/2006/main">
              <a:ext uri="{FF2B5EF4-FFF2-40B4-BE49-F238E27FC236}">
                <a16:creationId xmlns:a16="http://schemas.microsoft.com/office/drawing/2014/main" id="{7472BA57-6A9B-4AE0-889C-2D3EC4C4C0C3}"/>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CEFR nói điều gì?</a:t>
            </a:r>
          </a:p>
        </p:txBody>
      </p:sp>
      <p:sp>
        <p:nvSpPr>
          <p:cNvPr id="7" name="text-layv6u">
            <a:extLst xmlns:a="http://schemas.openxmlformats.org/drawingml/2006/main">
              <a:ext uri="{FF2B5EF4-FFF2-40B4-BE49-F238E27FC236}">
                <a16:creationId xmlns:a16="http://schemas.microsoft.com/office/drawing/2014/main" id="{F55D59A1-91EE-4A7D-8849-8EF674FFA635}"/>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CEFR mô tả người học có thể sử dụng ngôn ngữ hiệu quả đến đâu trong các tình huống giao tiếp.</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A2: giao tiếp đơn giản, quen thuộc.</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B1: diễn đạt được ý chính và trải nghiệm.</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B2: trình bày quan điểm khá rõ, tương tác tương đối tự nhiên.</a:t>
            </a:r>
          </a:p>
        </p:txBody>
      </p:sp>
      <p:sp>
        <p:nvSpPr>
          <p:cNvPr id="8" name="rule">
            <a:extLst xmlns:a="http://schemas.openxmlformats.org/drawingml/2006/main">
              <a:ext uri="{FF2B5EF4-FFF2-40B4-BE49-F238E27FC236}">
                <a16:creationId xmlns:a16="http://schemas.microsoft.com/office/drawing/2014/main" id="{003A55B3-5677-460A-9893-A314FDD9B5EF}"/>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ua2tm4">
            <a:extLst xmlns:a="http://schemas.openxmlformats.org/drawingml/2006/main">
              <a:ext uri="{FF2B5EF4-FFF2-40B4-BE49-F238E27FC236}">
                <a16:creationId xmlns:a16="http://schemas.microsoft.com/office/drawing/2014/main" id="{EB9D1ADA-877E-4A68-9B25-46222DB582C5}"/>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CEFR không nói điều gì?</a:t>
            </a:r>
          </a:p>
        </p:txBody>
      </p:sp>
      <p:sp>
        <p:nvSpPr>
          <p:cNvPr id="10" name="text-anc556">
            <a:extLst xmlns:a="http://schemas.openxmlformats.org/drawingml/2006/main">
              <a:ext uri="{FF2B5EF4-FFF2-40B4-BE49-F238E27FC236}">
                <a16:creationId xmlns:a16="http://schemas.microsoft.com/office/drawing/2014/main" id="{00D265AC-5EA7-412A-B45B-51CD5E2861C7}"/>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CEFR không cung cấp một công thức kiểu “150 từ/phút = B2”.</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Muốn chấm bằng AI, đề tài phải biến mô tả CEFR thành rubric, nhiệm vụ nói, bằng chứng quan sát được và nhãn của giảng viên.</a:t>
            </a:r>
          </a:p>
        </p:txBody>
      </p:sp>
      <p:sp>
        <p:nvSpPr>
          <p:cNvPr id="11" name="callout-ub3xr">
            <a:extLst xmlns:a="http://schemas.openxmlformats.org/drawingml/2006/main">
              <a:ext uri="{FF2B5EF4-FFF2-40B4-BE49-F238E27FC236}">
                <a16:creationId xmlns:a16="http://schemas.microsoft.com/office/drawing/2014/main" id="{B7680371-4B7B-4FF2-9D25-7DF22CDFDB48}"/>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FFF3D6"/>
          </a:solidFill>
          <a:ln xmlns:a="http://schemas.openxmlformats.org/drawingml/2006/main" w="9525">
            <a:solidFill>
              <a:srgbClr val="A66A00"/>
            </a:solidFill>
            <a:prstDash val="solid"/>
          </a:ln>
        </p:spPr>
      </p:sp>
      <p:sp>
        <p:nvSpPr>
          <p:cNvPr id="12" name="callout-text">
            <a:extLst xmlns:a="http://schemas.openxmlformats.org/drawingml/2006/main">
              <a:ext uri="{FF2B5EF4-FFF2-40B4-BE49-F238E27FC236}">
                <a16:creationId xmlns:a16="http://schemas.microsoft.com/office/drawing/2014/main" id="{01636CAC-F338-4B4E-B36F-60C82CA676D1}"/>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A66A00"/>
                </a:solidFill>
                <a:latin typeface="Arial"/>
                <a:ea typeface="Arial"/>
                <a:cs typeface="Arial"/>
              </a:defRPr>
            </a:pPr>
            <a:r>
              <a:rPr sz="1500" b="1" i="0">
                <a:solidFill>
                  <a:srgbClr val="A66A00"/>
                </a:solidFill>
                <a:latin typeface="Arial"/>
                <a:ea typeface="Arial"/>
                <a:cs typeface="Arial"/>
              </a:rPr>
              <a:t>AI không học 'CEFR' từ tên gọi; AI chỉ học mối liên hệ giữa bằng chứng và nhãn do con người chấm.</a:t>
            </a:r>
          </a:p>
        </p:txBody>
      </p:sp>
    </p:spTree>
    <p:extLst>
      <p:ext uri="{BB962C8B-B14F-4D97-AF65-F5344CB8AC3E}">
        <p14:creationId xmlns:p14="http://schemas.microsoft.com/office/powerpoint/2010/main" val="14771726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E8F9974F-EA6B-44B3-891D-2F26D578DE46}"/>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CÁCH CHẤM SPEAKING</a:t>
            </a:r>
          </a:p>
        </p:txBody>
      </p:sp>
      <p:sp>
        <p:nvSpPr>
          <p:cNvPr id="2" name="slide-title">
            <a:extLst xmlns:a="http://schemas.openxmlformats.org/drawingml/2006/main">
              <a:ext uri="{FF2B5EF4-FFF2-40B4-BE49-F238E27FC236}">
                <a16:creationId xmlns:a16="http://schemas.microsoft.com/office/drawing/2014/main" id="{3CBA5D40-7C50-46FB-A4F8-30F9EE81E1FD}"/>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Sáu tiêu chí trả lời sáu câu hỏi khác nhau</a:t>
            </a:r>
          </a:p>
        </p:txBody>
      </p:sp>
      <p:sp>
        <p:nvSpPr>
          <p:cNvPr id="3" name="slide-subtitle">
            <a:extLst xmlns:a="http://schemas.openxmlformats.org/drawingml/2006/main">
              <a:ext uri="{FF2B5EF4-FFF2-40B4-BE49-F238E27FC236}">
                <a16:creationId xmlns:a16="http://schemas.microsoft.com/office/drawing/2014/main" id="{C4AF97B8-4406-44E3-9B64-7CA220D2628E}"/>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Không nên gộp tất cả vào một con số ngay từ đầu.</a:t>
            </a:r>
          </a:p>
        </p:txBody>
      </p:sp>
      <p:sp>
        <p:nvSpPr>
          <p:cNvPr id="4" name="rule">
            <a:extLst xmlns:a="http://schemas.openxmlformats.org/drawingml/2006/main">
              <a:ext uri="{FF2B5EF4-FFF2-40B4-BE49-F238E27FC236}">
                <a16:creationId xmlns:a16="http://schemas.microsoft.com/office/drawing/2014/main" id="{1C217484-1D1E-4103-94F8-D3F7F0DEBC96}"/>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EAD5FA39-3449-4DB4-B953-72236104E739}"/>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CÁCH CHẤM SPEAKING</a:t>
            </a:r>
          </a:p>
        </p:txBody>
      </p:sp>
      <p:sp>
        <p:nvSpPr>
          <p:cNvPr id="6" name="footer-number">
            <a:extLst xmlns:a="http://schemas.openxmlformats.org/drawingml/2006/main">
              <a:ext uri="{FF2B5EF4-FFF2-40B4-BE49-F238E27FC236}">
                <a16:creationId xmlns:a16="http://schemas.microsoft.com/office/drawing/2014/main" id="{D73697E1-EECC-4800-A429-AC9EF720AD85}"/>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7</a:t>
            </a:r>
          </a:p>
        </p:txBody>
      </p:sp>
      <p:graphicFrame>
        <p:nvGraphicFramePr>
          <p:cNvPr id="14" name=""/>
          <p:cNvGraphicFramePr/>
          <p:nvPr/>
        </p:nvGraphicFramePr>
        <p:xfrm>
          <a:off xmlns:a="http://schemas.openxmlformats.org/drawingml/2006/main" x="495300" y="1885950"/>
          <a:ext xmlns:a="http://schemas.openxmlformats.org/drawingml/2006/main" cx="11201400" cy="4171950"/>
        </p:xfrm>
        <a:graphic xmlns:a="http://schemas.openxmlformats.org/drawingml/2006/main">
          <a:graphicData uri="http://schemas.openxmlformats.org/drawingml/2006/table">
            <a:tbl>
              <a:tblPr firstRow="1" bandRow="1"/>
              <a:tblGrid>
                <a:gridCol w="1619250"/>
                <a:gridCol w="4572000"/>
                <a:gridCol w="5010150"/>
              </a:tblGrid>
              <a:tr h="595993">
                <a:tc>
                  <a:txBody>
                    <a:bodyPr/>
                    <a:lstStyle/>
                    <a:p>
                      <a:r>
                        <a:rPr sz="1125" b="1">
                          <a:solidFill>
                            <a:srgbClr val="FFFFFF"/>
                          </a:solidFill>
                          <a:latin typeface="Arial"/>
                          <a:ea typeface="Arial"/>
                          <a:cs typeface="Arial"/>
                        </a:rPr>
                        <a:t>Tiêu chí</a:t>
                      </a:r>
                    </a:p>
                  </a:txBody>
                  <a:tcPr marL="76200" marR="76200" marT="66675" marB="66675">
                    <a:solidFill>
                      <a:srgbClr val="1859A9"/>
                    </a:solidFill>
                  </a:tcPr>
                </a:tc>
                <a:tc>
                  <a:txBody>
                    <a:bodyPr/>
                    <a:lstStyle/>
                    <a:p>
                      <a:r>
                        <a:rPr sz="1125" b="1">
                          <a:solidFill>
                            <a:srgbClr val="FFFFFF"/>
                          </a:solidFill>
                          <a:latin typeface="Arial"/>
                          <a:ea typeface="Arial"/>
                          <a:cs typeface="Arial"/>
                        </a:rPr>
                        <a:t>Câu hỏi dễ hiểu</a:t>
                      </a:r>
                    </a:p>
                  </a:txBody>
                  <a:tcPr marL="76200" marR="76200" marT="66675" marB="66675">
                    <a:solidFill>
                      <a:srgbClr val="1859A9"/>
                    </a:solidFill>
                  </a:tcPr>
                </a:tc>
                <a:tc>
                  <a:txBody>
                    <a:bodyPr/>
                    <a:lstStyle/>
                    <a:p>
                      <a:r>
                        <a:rPr sz="1125" b="1">
                          <a:solidFill>
                            <a:srgbClr val="FFFFFF"/>
                          </a:solidFill>
                          <a:latin typeface="Arial"/>
                          <a:ea typeface="Arial"/>
                          <a:cs typeface="Arial"/>
                        </a:rPr>
                        <a:t>Bằng chứng AI có thể quan sát</a:t>
                      </a:r>
                    </a:p>
                  </a:txBody>
                  <a:tcPr marL="76200" marR="76200" marT="66675" marB="66675">
                    <a:solidFill>
                      <a:srgbClr val="1859A9"/>
                    </a:solidFill>
                  </a:tcPr>
                </a:tc>
              </a:tr>
              <a:tr h="595993">
                <a:tc>
                  <a:txBody>
                    <a:bodyPr/>
                    <a:lstStyle/>
                    <a:p>
                      <a:r>
                        <a:rPr sz="1125">
                          <a:solidFill>
                            <a:srgbClr val="111827"/>
                          </a:solidFill>
                          <a:latin typeface="Arial"/>
                          <a:ea typeface="Arial"/>
                          <a:cs typeface="Arial"/>
                        </a:rPr>
                        <a:t>Range</a:t>
                      </a:r>
                    </a:p>
                  </a:txBody>
                  <a:tcPr marL="76200" marR="76200" marT="66675" marB="66675"/>
                </a:tc>
                <a:tc>
                  <a:txBody>
                    <a:bodyPr/>
                    <a:lstStyle/>
                    <a:p>
                      <a:r>
                        <a:rPr sz="1125">
                          <a:solidFill>
                            <a:srgbClr val="111827"/>
                          </a:solidFill>
                          <a:latin typeface="Arial"/>
                          <a:ea typeface="Arial"/>
                          <a:cs typeface="Arial"/>
                        </a:rPr>
                        <a:t>Người học dùng từ và cấu trúc đa dạng đến đâu?</a:t>
                      </a:r>
                    </a:p>
                  </a:txBody>
                  <a:tcPr marL="76200" marR="76200" marT="66675" marB="66675"/>
                </a:tc>
                <a:tc>
                  <a:txBody>
                    <a:bodyPr/>
                    <a:lstStyle/>
                    <a:p>
                      <a:r>
                        <a:rPr sz="1125">
                          <a:solidFill>
                            <a:srgbClr val="111827"/>
                          </a:solidFill>
                          <a:latin typeface="Arial"/>
                          <a:ea typeface="Arial"/>
                          <a:cs typeface="Arial"/>
                        </a:rPr>
                        <a:t>Độ đa dạng từ, cấu trúc câu</a:t>
                      </a:r>
                    </a:p>
                  </a:txBody>
                  <a:tcPr marL="76200" marR="76200" marT="66675" marB="66675"/>
                </a:tc>
              </a:tr>
              <a:tr h="595993">
                <a:tc>
                  <a:txBody>
                    <a:bodyPr/>
                    <a:lstStyle/>
                    <a:p>
                      <a:r>
                        <a:rPr sz="1125">
                          <a:solidFill>
                            <a:srgbClr val="111827"/>
                          </a:solidFill>
                          <a:latin typeface="Arial"/>
                          <a:ea typeface="Arial"/>
                          <a:cs typeface="Arial"/>
                        </a:rPr>
                        <a:t>Accuracy</a:t>
                      </a:r>
                    </a:p>
                  </a:txBody>
                  <a:tcPr marL="76200" marR="76200" marT="66675" marB="66675"/>
                </a:tc>
                <a:tc>
                  <a:txBody>
                    <a:bodyPr/>
                    <a:lstStyle/>
                    <a:p>
                      <a:r>
                        <a:rPr sz="1125">
                          <a:solidFill>
                            <a:srgbClr val="111827"/>
                          </a:solidFill>
                          <a:latin typeface="Arial"/>
                          <a:ea typeface="Arial"/>
                          <a:cs typeface="Arial"/>
                        </a:rPr>
                        <a:t>Ngữ pháp và cách dùng từ có chính xác không?</a:t>
                      </a:r>
                    </a:p>
                  </a:txBody>
                  <a:tcPr marL="76200" marR="76200" marT="66675" marB="66675"/>
                </a:tc>
                <a:tc>
                  <a:txBody>
                    <a:bodyPr/>
                    <a:lstStyle/>
                    <a:p>
                      <a:r>
                        <a:rPr sz="1125">
                          <a:solidFill>
                            <a:srgbClr val="111827"/>
                          </a:solidFill>
                          <a:latin typeface="Arial"/>
                          <a:ea typeface="Arial"/>
                          <a:cs typeface="Arial"/>
                        </a:rPr>
                        <a:t>Lỗi thì, giới từ, hòa hợp chủ–vị</a:t>
                      </a:r>
                    </a:p>
                  </a:txBody>
                  <a:tcPr marL="76200" marR="76200" marT="66675" marB="66675"/>
                </a:tc>
              </a:tr>
              <a:tr h="595993">
                <a:tc>
                  <a:txBody>
                    <a:bodyPr/>
                    <a:lstStyle/>
                    <a:p>
                      <a:r>
                        <a:rPr sz="1125">
                          <a:solidFill>
                            <a:srgbClr val="111827"/>
                          </a:solidFill>
                          <a:latin typeface="Arial"/>
                          <a:ea typeface="Arial"/>
                          <a:cs typeface="Arial"/>
                        </a:rPr>
                        <a:t>Fluency</a:t>
                      </a:r>
                    </a:p>
                  </a:txBody>
                  <a:tcPr marL="76200" marR="76200" marT="66675" marB="66675"/>
                </a:tc>
                <a:tc>
                  <a:txBody>
                    <a:bodyPr/>
                    <a:lstStyle/>
                    <a:p>
                      <a:r>
                        <a:rPr sz="1125">
                          <a:solidFill>
                            <a:srgbClr val="111827"/>
                          </a:solidFill>
                          <a:latin typeface="Arial"/>
                          <a:ea typeface="Arial"/>
                          <a:cs typeface="Arial"/>
                        </a:rPr>
                        <a:t>Bài nói có trôi chảy và phù hợp nhiệm vụ không?</a:t>
                      </a:r>
                    </a:p>
                  </a:txBody>
                  <a:tcPr marL="76200" marR="76200" marT="66675" marB="66675"/>
                </a:tc>
                <a:tc>
                  <a:txBody>
                    <a:bodyPr/>
                    <a:lstStyle/>
                    <a:p>
                      <a:r>
                        <a:rPr sz="1125">
                          <a:solidFill>
                            <a:srgbClr val="111827"/>
                          </a:solidFill>
                          <a:latin typeface="Arial"/>
                          <a:ea typeface="Arial"/>
                          <a:cs typeface="Arial"/>
                        </a:rPr>
                        <a:t>Tốc độ, khoảng lặng, lặp, tự sửa</a:t>
                      </a:r>
                    </a:p>
                  </a:txBody>
                  <a:tcPr marL="76200" marR="76200" marT="66675" marB="66675"/>
                </a:tc>
              </a:tr>
              <a:tr h="595993">
                <a:tc>
                  <a:txBody>
                    <a:bodyPr/>
                    <a:lstStyle/>
                    <a:p>
                      <a:r>
                        <a:rPr sz="1125">
                          <a:solidFill>
                            <a:srgbClr val="111827"/>
                          </a:solidFill>
                          <a:latin typeface="Arial"/>
                          <a:ea typeface="Arial"/>
                          <a:cs typeface="Arial"/>
                        </a:rPr>
                        <a:t>Interaction</a:t>
                      </a:r>
                    </a:p>
                  </a:txBody>
                  <a:tcPr marL="76200" marR="76200" marT="66675" marB="66675"/>
                </a:tc>
                <a:tc>
                  <a:txBody>
                    <a:bodyPr/>
                    <a:lstStyle/>
                    <a:p>
                      <a:r>
                        <a:rPr sz="1125">
                          <a:solidFill>
                            <a:srgbClr val="111827"/>
                          </a:solidFill>
                          <a:latin typeface="Arial"/>
                          <a:ea typeface="Arial"/>
                          <a:cs typeface="Arial"/>
                        </a:rPr>
                        <a:t>Người học phản hồi và duy trì hội thoại ra sao?</a:t>
                      </a:r>
                    </a:p>
                  </a:txBody>
                  <a:tcPr marL="76200" marR="76200" marT="66675" marB="66675"/>
                </a:tc>
                <a:tc>
                  <a:txBody>
                    <a:bodyPr/>
                    <a:lstStyle/>
                    <a:p>
                      <a:r>
                        <a:rPr sz="1125">
                          <a:solidFill>
                            <a:srgbClr val="111827"/>
                          </a:solidFill>
                          <a:latin typeface="Arial"/>
                          <a:ea typeface="Arial"/>
                          <a:cs typeface="Arial"/>
                        </a:rPr>
                        <a:t>Lượt nói, latency, hỏi lại, follow-up</a:t>
                      </a:r>
                    </a:p>
                  </a:txBody>
                  <a:tcPr marL="76200" marR="76200" marT="66675" marB="66675"/>
                </a:tc>
              </a:tr>
              <a:tr h="595993">
                <a:tc>
                  <a:txBody>
                    <a:bodyPr/>
                    <a:lstStyle/>
                    <a:p>
                      <a:r>
                        <a:rPr sz="1125">
                          <a:solidFill>
                            <a:srgbClr val="111827"/>
                          </a:solidFill>
                          <a:latin typeface="Arial"/>
                          <a:ea typeface="Arial"/>
                          <a:cs typeface="Arial"/>
                        </a:rPr>
                        <a:t>Coherence</a:t>
                      </a:r>
                    </a:p>
                  </a:txBody>
                  <a:tcPr marL="76200" marR="76200" marT="66675" marB="66675"/>
                </a:tc>
                <a:tc>
                  <a:txBody>
                    <a:bodyPr/>
                    <a:lstStyle/>
                    <a:p>
                      <a:r>
                        <a:rPr sz="1125">
                          <a:solidFill>
                            <a:srgbClr val="111827"/>
                          </a:solidFill>
                          <a:latin typeface="Arial"/>
                          <a:ea typeface="Arial"/>
                          <a:cs typeface="Arial"/>
                        </a:rPr>
                        <a:t>Các ý có rõ ràng và liên kết không?</a:t>
                      </a:r>
                    </a:p>
                  </a:txBody>
                  <a:tcPr marL="76200" marR="76200" marT="66675" marB="66675"/>
                </a:tc>
                <a:tc>
                  <a:txBody>
                    <a:bodyPr/>
                    <a:lstStyle/>
                    <a:p>
                      <a:r>
                        <a:rPr sz="1125">
                          <a:solidFill>
                            <a:srgbClr val="111827"/>
                          </a:solidFill>
                          <a:latin typeface="Arial"/>
                          <a:ea typeface="Arial"/>
                          <a:cs typeface="Arial"/>
                        </a:rPr>
                        <a:t>Từ nối, trình tự ý, mức liên quan</a:t>
                      </a:r>
                    </a:p>
                  </a:txBody>
                  <a:tcPr marL="76200" marR="76200" marT="66675" marB="66675"/>
                </a:tc>
              </a:tr>
              <a:tr h="595993">
                <a:tc>
                  <a:txBody>
                    <a:bodyPr/>
                    <a:lstStyle/>
                    <a:p>
                      <a:r>
                        <a:rPr sz="1125">
                          <a:solidFill>
                            <a:srgbClr val="111827"/>
                          </a:solidFill>
                          <a:latin typeface="Arial"/>
                          <a:ea typeface="Arial"/>
                          <a:cs typeface="Arial"/>
                        </a:rPr>
                        <a:t>Phonology</a:t>
                      </a:r>
                    </a:p>
                  </a:txBody>
                  <a:tcPr marL="76200" marR="76200" marT="66675" marB="66675"/>
                </a:tc>
                <a:tc>
                  <a:txBody>
                    <a:bodyPr/>
                    <a:lstStyle/>
                    <a:p>
                      <a:r>
                        <a:rPr sz="1125">
                          <a:solidFill>
                            <a:srgbClr val="111827"/>
                          </a:solidFill>
                          <a:latin typeface="Arial"/>
                          <a:ea typeface="Arial"/>
                          <a:cs typeface="Arial"/>
                        </a:rPr>
                        <a:t>Phát âm, trọng âm và ngữ điệu có dễ hiểu không?</a:t>
                      </a:r>
                    </a:p>
                  </a:txBody>
                  <a:tcPr marL="76200" marR="76200" marT="66675" marB="66675"/>
                </a:tc>
                <a:tc>
                  <a:txBody>
                    <a:bodyPr/>
                    <a:lstStyle/>
                    <a:p>
                      <a:r>
                        <a:rPr sz="1125">
                          <a:solidFill>
                            <a:srgbClr val="111827"/>
                          </a:solidFill>
                          <a:latin typeface="Arial"/>
                          <a:ea typeface="Arial"/>
                          <a:cs typeface="Arial"/>
                        </a:rPr>
                        <a:t>Độ rõ, nhịp, trọng âm, prosody</a:t>
                      </a:r>
                    </a:p>
                  </a:txBody>
                  <a:tcPr marL="76200" marR="76200" marT="66675" marB="66675"/>
                </a:tc>
              </a:tr>
            </a:tbl>
          </a:graphicData>
        </a:graphic>
      </p:graphicFrame>
    </p:spTree>
    <p:extLst>
      <p:ext uri="{BB962C8B-B14F-4D97-AF65-F5344CB8AC3E}">
        <p14:creationId xmlns:p14="http://schemas.microsoft.com/office/powerpoint/2010/main" val="8424086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BD20BF9B-3980-4CA2-9022-E77F163A50E0}"/>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SÁU TIÊU CHÍ</a:t>
            </a:r>
          </a:p>
        </p:txBody>
      </p:sp>
      <p:sp>
        <p:nvSpPr>
          <p:cNvPr id="2" name="slide-title">
            <a:extLst xmlns:a="http://schemas.openxmlformats.org/drawingml/2006/main">
              <a:ext uri="{FF2B5EF4-FFF2-40B4-BE49-F238E27FC236}">
                <a16:creationId xmlns:a16="http://schemas.microsoft.com/office/drawing/2014/main" id="{965C9E7F-571B-4BD0-9671-36DF5938DC8E}"/>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Range và Accuracy: nói được nhiều – và nói có kiểm soát</a:t>
            </a:r>
          </a:p>
        </p:txBody>
      </p:sp>
      <p:sp>
        <p:nvSpPr>
          <p:cNvPr id="3" name="rule">
            <a:extLst xmlns:a="http://schemas.openxmlformats.org/drawingml/2006/main">
              <a:ext uri="{FF2B5EF4-FFF2-40B4-BE49-F238E27FC236}">
                <a16:creationId xmlns:a16="http://schemas.microsoft.com/office/drawing/2014/main" id="{3E6D9C3C-EB4B-43CC-A7EB-D976A8DFCBA4}"/>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B73EF90E-FE9B-4BD8-B723-44B193FEAB58}"/>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SÁU TIÊU CHÍ</a:t>
            </a:r>
          </a:p>
        </p:txBody>
      </p:sp>
      <p:sp>
        <p:nvSpPr>
          <p:cNvPr id="5" name="footer-number">
            <a:extLst xmlns:a="http://schemas.openxmlformats.org/drawingml/2006/main">
              <a:ext uri="{FF2B5EF4-FFF2-40B4-BE49-F238E27FC236}">
                <a16:creationId xmlns:a16="http://schemas.microsoft.com/office/drawing/2014/main" id="{845BD17B-E125-47F9-A4DA-4E9D3513EC84}"/>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8</a:t>
            </a:r>
          </a:p>
        </p:txBody>
      </p:sp>
      <p:sp>
        <p:nvSpPr>
          <p:cNvPr id="6" name="text-bd2454">
            <a:extLst xmlns:a="http://schemas.openxmlformats.org/drawingml/2006/main">
              <a:ext uri="{FF2B5EF4-FFF2-40B4-BE49-F238E27FC236}">
                <a16:creationId xmlns:a16="http://schemas.microsoft.com/office/drawing/2014/main" id="{DE2ED29D-BD6B-44AF-91A5-44F0CDCBE277}"/>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Range – phạm vi ngôn ngữ</a:t>
            </a:r>
          </a:p>
        </p:txBody>
      </p:sp>
      <p:sp>
        <p:nvSpPr>
          <p:cNvPr id="7" name="text-lx6fr7">
            <a:extLst xmlns:a="http://schemas.openxmlformats.org/drawingml/2006/main">
              <a:ext uri="{FF2B5EF4-FFF2-40B4-BE49-F238E27FC236}">
                <a16:creationId xmlns:a16="http://schemas.microsoft.com/office/drawing/2014/main" id="{6DA2CAB3-2C6E-44A7-9344-B652BD52212F}"/>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Ví dụ A2: từ quen thuộc, câu ngắn.</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Ví dụ B1: đủ từ để kể trải nghiệm và giải thích lý do.</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Ví dụ B2: diễn đạt quan điểm với nhiều cách diễn đạt hơn.</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AI quan sát: lexical diversity, loại cấu trúc câu, mức độ lặp.</a:t>
            </a:r>
          </a:p>
        </p:txBody>
      </p:sp>
      <p:sp>
        <p:nvSpPr>
          <p:cNvPr id="8" name="rule">
            <a:extLst xmlns:a="http://schemas.openxmlformats.org/drawingml/2006/main">
              <a:ext uri="{FF2B5EF4-FFF2-40B4-BE49-F238E27FC236}">
                <a16:creationId xmlns:a16="http://schemas.microsoft.com/office/drawing/2014/main" id="{9288DEFB-06F3-4302-978D-5D96005AEBCB}"/>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rj0nem">
            <a:extLst xmlns:a="http://schemas.openxmlformats.org/drawingml/2006/main">
              <a:ext uri="{FF2B5EF4-FFF2-40B4-BE49-F238E27FC236}">
                <a16:creationId xmlns:a16="http://schemas.microsoft.com/office/drawing/2014/main" id="{45B616C2-13ED-482B-93FB-BEC559F074D6}"/>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Accuracy – độ chính xác</a:t>
            </a:r>
          </a:p>
        </p:txBody>
      </p:sp>
      <p:sp>
        <p:nvSpPr>
          <p:cNvPr id="10" name="text-c73ugs">
            <a:extLst xmlns:a="http://schemas.openxmlformats.org/drawingml/2006/main">
              <a:ext uri="{FF2B5EF4-FFF2-40B4-BE49-F238E27FC236}">
                <a16:creationId xmlns:a16="http://schemas.microsoft.com/office/drawing/2014/main" id="{49A5778C-BCC2-4C80-A7C2-8B1EC097ABE7}"/>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Không yêu cầu người học không có lỗi. Câu hỏi quan trọng là lỗi có thường xuyên và có cản trở ý nghĩa không.</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AI quan sát: tense, agreement, article, preposition, self-repair.</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Cảnh báo: transcript ASR sai không được tính thành lỗi của người học.</a:t>
            </a:r>
          </a:p>
        </p:txBody>
      </p:sp>
    </p:spTree>
    <p:extLst>
      <p:ext uri="{BB962C8B-B14F-4D97-AF65-F5344CB8AC3E}">
        <p14:creationId xmlns:p14="http://schemas.microsoft.com/office/powerpoint/2010/main" val="5324253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5A40F629-21D6-4E7F-9D41-CE409F1E17F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SÁU TIÊU CHÍ</a:t>
            </a:r>
          </a:p>
        </p:txBody>
      </p:sp>
      <p:sp>
        <p:nvSpPr>
          <p:cNvPr id="2" name="slide-title">
            <a:extLst xmlns:a="http://schemas.openxmlformats.org/drawingml/2006/main">
              <a:ext uri="{FF2B5EF4-FFF2-40B4-BE49-F238E27FC236}">
                <a16:creationId xmlns:a16="http://schemas.microsoft.com/office/drawing/2014/main" id="{F6FCF863-C0C2-4E2D-B8A2-C05D149E710F}"/>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Fluency và Phonology: trôi chảy không đồng nghĩa với nói nhanh</a:t>
            </a:r>
          </a:p>
        </p:txBody>
      </p:sp>
      <p:sp>
        <p:nvSpPr>
          <p:cNvPr id="3" name="rule">
            <a:extLst xmlns:a="http://schemas.openxmlformats.org/drawingml/2006/main">
              <a:ext uri="{FF2B5EF4-FFF2-40B4-BE49-F238E27FC236}">
                <a16:creationId xmlns:a16="http://schemas.microsoft.com/office/drawing/2014/main" id="{AB171A2A-38FE-4749-8AC0-111CE301C2D1}"/>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99A0A101-0E44-4C71-B0CA-32B72B05E9B0}"/>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SÁU TIÊU CHÍ</a:t>
            </a:r>
          </a:p>
        </p:txBody>
      </p:sp>
      <p:sp>
        <p:nvSpPr>
          <p:cNvPr id="5" name="footer-number">
            <a:extLst xmlns:a="http://schemas.openxmlformats.org/drawingml/2006/main">
              <a:ext uri="{FF2B5EF4-FFF2-40B4-BE49-F238E27FC236}">
                <a16:creationId xmlns:a16="http://schemas.microsoft.com/office/drawing/2014/main" id="{8558DEF4-0452-4D25-B748-27B59BD9BE6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9</a:t>
            </a:r>
          </a:p>
        </p:txBody>
      </p:sp>
      <p:sp>
        <p:nvSpPr>
          <p:cNvPr id="6" name="text-94h3uc">
            <a:extLst xmlns:a="http://schemas.openxmlformats.org/drawingml/2006/main">
              <a:ext uri="{FF2B5EF4-FFF2-40B4-BE49-F238E27FC236}">
                <a16:creationId xmlns:a16="http://schemas.microsoft.com/office/drawing/2014/main" id="{DD5E1CD5-255B-4D74-83E3-BF519063403B}"/>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Fluency – độ trôi chảy</a:t>
            </a:r>
          </a:p>
        </p:txBody>
      </p:sp>
      <p:sp>
        <p:nvSpPr>
          <p:cNvPr id="7" name="text-cat5d8">
            <a:extLst xmlns:a="http://schemas.openxmlformats.org/drawingml/2006/main">
              <a:ext uri="{FF2B5EF4-FFF2-40B4-BE49-F238E27FC236}">
                <a16:creationId xmlns:a16="http://schemas.microsoft.com/office/drawing/2014/main" id="{50B251FB-D3DC-47B8-9F81-E51F1DB746F8}"/>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Đánh giá khả năng duy trì lời nói với nhịp phù hợp.</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Bằng chứng: số khoảng dừng, tỷ lệ im lặng, độ dài chuỗi nói, lặp và tự sửa.</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Không nên thưởng người nói quá nhanh nếu nội dung thiếu rõ ràng.</a:t>
            </a:r>
          </a:p>
        </p:txBody>
      </p:sp>
      <p:sp>
        <p:nvSpPr>
          <p:cNvPr id="8" name="rule">
            <a:extLst xmlns:a="http://schemas.openxmlformats.org/drawingml/2006/main">
              <a:ext uri="{FF2B5EF4-FFF2-40B4-BE49-F238E27FC236}">
                <a16:creationId xmlns:a16="http://schemas.microsoft.com/office/drawing/2014/main" id="{6D502D14-5E7A-4768-9E67-61B27E04C466}"/>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7zzx7m">
            <a:extLst xmlns:a="http://schemas.openxmlformats.org/drawingml/2006/main">
              <a:ext uri="{FF2B5EF4-FFF2-40B4-BE49-F238E27FC236}">
                <a16:creationId xmlns:a16="http://schemas.microsoft.com/office/drawing/2014/main" id="{1AD7B68F-A023-4B9A-9B64-7718296DA1DE}"/>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Phonology – âm thanh lời nói</a:t>
            </a:r>
          </a:p>
        </p:txBody>
      </p:sp>
      <p:sp>
        <p:nvSpPr>
          <p:cNvPr id="10" name="text-971cbm">
            <a:extLst xmlns:a="http://schemas.openxmlformats.org/drawingml/2006/main">
              <a:ext uri="{FF2B5EF4-FFF2-40B4-BE49-F238E27FC236}">
                <a16:creationId xmlns:a16="http://schemas.microsoft.com/office/drawing/2014/main" id="{B52A2A38-5746-4D45-A4CE-F96CFAC9D482}"/>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Xem phát âm, trọng âm, nhịp và ngữ điệu có giúp người nghe hiểu không.</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Accent Việt không phải lỗi tự động. Chỉ phạt khi intelligibility giảm.</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Bằng chứng cần đối chiếu audio và giảng viên.</a:t>
            </a:r>
          </a:p>
        </p:txBody>
      </p:sp>
      <p:sp>
        <p:nvSpPr>
          <p:cNvPr id="11" name="callout-31j8z">
            <a:extLst xmlns:a="http://schemas.openxmlformats.org/drawingml/2006/main">
              <a:ext uri="{FF2B5EF4-FFF2-40B4-BE49-F238E27FC236}">
                <a16:creationId xmlns:a16="http://schemas.microsoft.com/office/drawing/2014/main" id="{A7F80FF0-F3BE-4A09-B4AA-447A5DE2B65F}"/>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E9F6EF"/>
          </a:solidFill>
          <a:ln xmlns:a="http://schemas.openxmlformats.org/drawingml/2006/main" w="9525">
            <a:solidFill>
              <a:srgbClr val="2E8B57"/>
            </a:solidFill>
            <a:prstDash val="solid"/>
          </a:ln>
        </p:spPr>
      </p:sp>
      <p:sp>
        <p:nvSpPr>
          <p:cNvPr id="12" name="callout-text">
            <a:extLst xmlns:a="http://schemas.openxmlformats.org/drawingml/2006/main">
              <a:ext uri="{FF2B5EF4-FFF2-40B4-BE49-F238E27FC236}">
                <a16:creationId xmlns:a16="http://schemas.microsoft.com/office/drawing/2014/main" id="{1ED18F33-276C-49BB-B8A1-47F2F9D4EBB0}"/>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2E8B57"/>
                </a:solidFill>
                <a:latin typeface="Arial"/>
                <a:ea typeface="Arial"/>
                <a:cs typeface="Arial"/>
              </a:defRPr>
            </a:pPr>
            <a:r>
              <a:rPr sz="1500" b="1" i="0">
                <a:solidFill>
                  <a:srgbClr val="2E8B57"/>
                </a:solidFill>
                <a:latin typeface="Arial"/>
                <a:ea typeface="Arial"/>
                <a:cs typeface="Arial"/>
              </a:rPr>
              <a:t>Mục tiêu hợp lý là 'dễ hiểu', không phải 'giống người bản ngữ'.</a:t>
            </a:r>
          </a:p>
        </p:txBody>
      </p:sp>
    </p:spTree>
    <p:extLst>
      <p:ext uri="{BB962C8B-B14F-4D97-AF65-F5344CB8AC3E}">
        <p14:creationId xmlns:p14="http://schemas.microsoft.com/office/powerpoint/2010/main" val="12684807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095F8E33-8A5A-456E-88A9-A4BE4A514769}"/>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SÁU TIÊU CHÍ</a:t>
            </a:r>
          </a:p>
        </p:txBody>
      </p:sp>
      <p:sp>
        <p:nvSpPr>
          <p:cNvPr id="2" name="slide-title">
            <a:extLst xmlns:a="http://schemas.openxmlformats.org/drawingml/2006/main">
              <a:ext uri="{FF2B5EF4-FFF2-40B4-BE49-F238E27FC236}">
                <a16:creationId xmlns:a16="http://schemas.microsoft.com/office/drawing/2014/main" id="{1874BACE-883A-4230-B232-5C349DBCDDAB}"/>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Coherence và Interaction cần nhìn vào cách phát triển và trao đổi ý</a:t>
            </a:r>
          </a:p>
        </p:txBody>
      </p:sp>
      <p:sp>
        <p:nvSpPr>
          <p:cNvPr id="3" name="rule">
            <a:extLst xmlns:a="http://schemas.openxmlformats.org/drawingml/2006/main">
              <a:ext uri="{FF2B5EF4-FFF2-40B4-BE49-F238E27FC236}">
                <a16:creationId xmlns:a16="http://schemas.microsoft.com/office/drawing/2014/main" id="{7ACDC2B6-08B2-43EA-8B34-2A2047EDE6A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5EC084E6-D9A2-41D5-8FC6-9F7E906771A4}"/>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SÁU TIÊU CHÍ</a:t>
            </a:r>
          </a:p>
        </p:txBody>
      </p:sp>
      <p:sp>
        <p:nvSpPr>
          <p:cNvPr id="5" name="footer-number">
            <a:extLst xmlns:a="http://schemas.openxmlformats.org/drawingml/2006/main">
              <a:ext uri="{FF2B5EF4-FFF2-40B4-BE49-F238E27FC236}">
                <a16:creationId xmlns:a16="http://schemas.microsoft.com/office/drawing/2014/main" id="{55E0E728-4724-4157-89E7-69EBB5072F35}"/>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10</a:t>
            </a:r>
          </a:p>
        </p:txBody>
      </p:sp>
      <p:sp>
        <p:nvSpPr>
          <p:cNvPr id="6" name="text-ir0b1p">
            <a:extLst xmlns:a="http://schemas.openxmlformats.org/drawingml/2006/main">
              <a:ext uri="{FF2B5EF4-FFF2-40B4-BE49-F238E27FC236}">
                <a16:creationId xmlns:a16="http://schemas.microsoft.com/office/drawing/2014/main" id="{BA620B2F-3746-487A-9EEE-E2743DD44071}"/>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Coherence – mạch lạc</a:t>
            </a:r>
          </a:p>
        </p:txBody>
      </p:sp>
      <p:sp>
        <p:nvSpPr>
          <p:cNvPr id="7" name="text-sa366d">
            <a:extLst xmlns:a="http://schemas.openxmlformats.org/drawingml/2006/main">
              <a:ext uri="{FF2B5EF4-FFF2-40B4-BE49-F238E27FC236}">
                <a16:creationId xmlns:a16="http://schemas.microsoft.com/office/drawing/2014/main" id="{206769D9-0E00-4D2E-86B6-3D16A4E3A965}"/>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Ý tưởng có đi theo trình tự dễ hiểu không? Người học có dùng từ nối và giải thích đủ để người nghe theo kịp không?</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AI quan sát: discourse markers, idea progression, semantic continuity và relevance.</a:t>
            </a:r>
          </a:p>
        </p:txBody>
      </p:sp>
      <p:sp>
        <p:nvSpPr>
          <p:cNvPr id="8" name="rule">
            <a:extLst xmlns:a="http://schemas.openxmlformats.org/drawingml/2006/main">
              <a:ext uri="{FF2B5EF4-FFF2-40B4-BE49-F238E27FC236}">
                <a16:creationId xmlns:a16="http://schemas.microsoft.com/office/drawing/2014/main" id="{FC4DCA34-197B-423B-8549-039C6A3BB85C}"/>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187l2s">
            <a:extLst xmlns:a="http://schemas.openxmlformats.org/drawingml/2006/main">
              <a:ext uri="{FF2B5EF4-FFF2-40B4-BE49-F238E27FC236}">
                <a16:creationId xmlns:a16="http://schemas.microsoft.com/office/drawing/2014/main" id="{D23B45DF-461A-48EC-8F90-15155FE8DBB4}"/>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Interaction – tương tác</a:t>
            </a:r>
          </a:p>
        </p:txBody>
      </p:sp>
      <p:sp>
        <p:nvSpPr>
          <p:cNvPr id="10" name="text-sea7b2">
            <a:extLst xmlns:a="http://schemas.openxmlformats.org/drawingml/2006/main">
              <a:ext uri="{FF2B5EF4-FFF2-40B4-BE49-F238E27FC236}">
                <a16:creationId xmlns:a16="http://schemas.microsoft.com/office/drawing/2014/main" id="{3172DAC1-CF01-44C8-BBA6-C810A7E45511}"/>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Người học có phản hồi đúng lúc, trả lời đúng ý, hỏi lại khi chưa rõ và duy trì lượt nói không?</a:t>
            </a:r>
          </a:p>
          <a:p xmlns:a="http://schemas.openxmlformats.org/drawingml/2006/main">
            <a:r>
              <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Chỉ có đủ bằng chứng khi nhiệm vụ thật sự có nhiều lượt hội thoại.</a:t>
            </a:r>
          </a:p>
        </p:txBody>
      </p:sp>
      <p:sp>
        <p:nvSpPr>
          <p:cNvPr id="11" name="callout-wxtzl">
            <a:extLst xmlns:a="http://schemas.openxmlformats.org/drawingml/2006/main">
              <a:ext uri="{FF2B5EF4-FFF2-40B4-BE49-F238E27FC236}">
                <a16:creationId xmlns:a16="http://schemas.microsoft.com/office/drawing/2014/main" id="{C420F88A-682E-4427-B3F4-485267586E99}"/>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FFF3D6"/>
          </a:solidFill>
          <a:ln xmlns:a="http://schemas.openxmlformats.org/drawingml/2006/main" w="9525">
            <a:solidFill>
              <a:srgbClr val="A66A00"/>
            </a:solidFill>
            <a:prstDash val="solid"/>
          </a:ln>
        </p:spPr>
      </p:sp>
      <p:sp>
        <p:nvSpPr>
          <p:cNvPr id="12" name="callout-text">
            <a:extLst xmlns:a="http://schemas.openxmlformats.org/drawingml/2006/main">
              <a:ext uri="{FF2B5EF4-FFF2-40B4-BE49-F238E27FC236}">
                <a16:creationId xmlns:a16="http://schemas.microsoft.com/office/drawing/2014/main" id="{E0036CCC-7310-4A82-AB9F-FB1FA95BEC13}"/>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A66A00"/>
                </a:solidFill>
                <a:latin typeface="Arial"/>
                <a:ea typeface="Arial"/>
                <a:cs typeface="Arial"/>
              </a:defRPr>
            </a:pPr>
            <a:r>
              <a:rPr sz="1500" b="1" i="0">
                <a:solidFill>
                  <a:srgbClr val="A66A00"/>
                </a:solidFill>
                <a:latin typeface="Arial"/>
                <a:ea typeface="Arial"/>
                <a:cs typeface="Arial"/>
              </a:rPr>
              <a:t>Nếu chỉ có độc thoại, hệ thống phải ghi 'chưa đủ bằng chứng cho Interaction' – không được tự cho 0 điểm.</a:t>
            </a:r>
          </a:p>
        </p:txBody>
      </p:sp>
    </p:spTree>
    <p:extLst>
      <p:ext uri="{BB962C8B-B14F-4D97-AF65-F5344CB8AC3E}">
        <p14:creationId xmlns:p14="http://schemas.microsoft.com/office/powerpoint/2010/main" val="6031419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D1464BFC-C526-4A4C-A03F-3A7EA53B7649}"/>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THIẾT KẾ BÀI NÓI</a:t>
            </a:r>
          </a:p>
        </p:txBody>
      </p:sp>
      <p:sp>
        <p:nvSpPr>
          <p:cNvPr id="2" name="slide-title">
            <a:extLst xmlns:a="http://schemas.openxmlformats.org/drawingml/2006/main">
              <a:ext uri="{FF2B5EF4-FFF2-40B4-BE49-F238E27FC236}">
                <a16:creationId xmlns:a16="http://schemas.microsoft.com/office/drawing/2014/main" id="{821B5F3A-ADBE-44DC-945C-A1C5EDD93DB2}"/>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Ba dạng nhiệm vụ tạo ba loại bằng chứng</a:t>
            </a:r>
          </a:p>
        </p:txBody>
      </p:sp>
      <p:sp>
        <p:nvSpPr>
          <p:cNvPr id="3" name="rule">
            <a:extLst xmlns:a="http://schemas.openxmlformats.org/drawingml/2006/main">
              <a:ext uri="{FF2B5EF4-FFF2-40B4-BE49-F238E27FC236}">
                <a16:creationId xmlns:a16="http://schemas.microsoft.com/office/drawing/2014/main" id="{7A18B3FC-077C-4FC2-AD68-6519111D9E40}"/>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E2A7E922-38CA-4343-91B3-EAA54763C014}"/>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THIẾT KẾ BÀI NÓI</a:t>
            </a:r>
          </a:p>
        </p:txBody>
      </p:sp>
      <p:sp>
        <p:nvSpPr>
          <p:cNvPr id="5" name="footer-number">
            <a:extLst xmlns:a="http://schemas.openxmlformats.org/drawingml/2006/main">
              <a:ext uri="{FF2B5EF4-FFF2-40B4-BE49-F238E27FC236}">
                <a16:creationId xmlns:a16="http://schemas.microsoft.com/office/drawing/2014/main" id="{FCD86781-396E-4D35-BED5-6C9AE9B4BD9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11</a:t>
            </a:r>
          </a:p>
        </p:txBody>
      </p:sp>
      <p:sp>
        <p:nvSpPr>
          <p:cNvPr id="6" name="edge-1">
            <a:extLst xmlns:a="http://schemas.openxmlformats.org/drawingml/2006/main">
              <a:ext uri="{FF2B5EF4-FFF2-40B4-BE49-F238E27FC236}">
                <a16:creationId xmlns:a16="http://schemas.microsoft.com/office/drawing/2014/main" id="{150F1841-A0C9-4BF6-8D91-B8729C7B1DB6}"/>
              </a:ext>
            </a:extLst>
          </p:cNvPr>
          <p:cNvSpPr>
            <a:spLocks xmlns:a="http://schemas.openxmlformats.org/drawingml/2006/main" noGrp="1"/>
          </p:cNvSpPr>
          <p:nvPr/>
        </p:nvSpPr>
        <p:spPr>
          <a:xfrm xmlns:a="http://schemas.openxmlformats.org/drawingml/2006/main">
            <a:off x="406717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7" name="edge-2">
            <a:extLst xmlns:a="http://schemas.openxmlformats.org/drawingml/2006/main">
              <a:ext uri="{FF2B5EF4-FFF2-40B4-BE49-F238E27FC236}">
                <a16:creationId xmlns:a16="http://schemas.microsoft.com/office/drawing/2014/main" id="{3F657B3C-B0BB-4ECC-8659-6A7A4B1B4380}"/>
              </a:ext>
            </a:extLst>
          </p:cNvPr>
          <p:cNvSpPr>
            <a:spLocks xmlns:a="http://schemas.openxmlformats.org/drawingml/2006/main" noGrp="1"/>
          </p:cNvSpPr>
          <p:nvPr/>
        </p:nvSpPr>
        <p:spPr>
          <a:xfrm xmlns:a="http://schemas.openxmlformats.org/drawingml/2006/main">
            <a:off x="789622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8" name="process-node-myyk2">
            <a:extLst xmlns:a="http://schemas.openxmlformats.org/drawingml/2006/main">
              <a:ext uri="{FF2B5EF4-FFF2-40B4-BE49-F238E27FC236}">
                <a16:creationId xmlns:a16="http://schemas.microsoft.com/office/drawing/2014/main" id="{9CF7B75F-6A13-4810-9ACF-E7E02DAA307C}"/>
              </a:ext>
            </a:extLst>
          </p:cNvPr>
          <p:cNvSpPr>
            <a:spLocks xmlns:a="http://schemas.openxmlformats.org/drawingml/2006/main" noGrp="1"/>
          </p:cNvSpPr>
          <p:nvPr/>
        </p:nvSpPr>
        <p:spPr>
          <a:xfrm xmlns:a="http://schemas.openxmlformats.org/drawingml/2006/main">
            <a:off x="495300" y="2000250"/>
            <a:ext cx="3543300" cy="2286000"/>
          </a:xfrm>
          <a:prstGeom xmlns:a="http://schemas.openxmlformats.org/drawingml/2006/main" prst="roundRect">
            <a:avLst>
              <a:gd name="adj" fmla="val 2500"/>
            </a:avLst>
          </a:prstGeom>
          <a:solidFill xmlns:a="http://schemas.openxmlformats.org/drawingml/2006/main">
            <a:srgbClr val="F5F7F9"/>
          </a:solidFill>
          <a:ln xmlns:a="http://schemas.openxmlformats.org/drawingml/2006/main" w="9525">
            <a:solidFill>
              <a:srgbClr val="B8BCC4"/>
            </a:solidFill>
            <a:prstDash val="solid"/>
          </a:ln>
        </p:spPr>
      </p:sp>
      <p:sp>
        <p:nvSpPr>
          <p:cNvPr id="9" name="text-13sshk">
            <a:extLst xmlns:a="http://schemas.openxmlformats.org/drawingml/2006/main">
              <a:ext uri="{FF2B5EF4-FFF2-40B4-BE49-F238E27FC236}">
                <a16:creationId xmlns:a16="http://schemas.microsoft.com/office/drawing/2014/main" id="{F7830B96-2FDF-4632-8AF8-9A1C4D961F65}"/>
              </a:ext>
            </a:extLst>
          </p:cNvPr>
          <p:cNvSpPr>
            <a:spLocks xmlns:a="http://schemas.openxmlformats.org/drawingml/2006/main" noGrp="1"/>
          </p:cNvSpPr>
          <p:nvPr/>
        </p:nvSpPr>
        <p:spPr>
          <a:xfrm xmlns:a="http://schemas.openxmlformats.org/drawingml/2006/main">
            <a:off x="64770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01</a:t>
            </a:r>
          </a:p>
        </p:txBody>
      </p:sp>
      <p:sp>
        <p:nvSpPr>
          <p:cNvPr id="10" name="text-w2wglp">
            <a:extLst xmlns:a="http://schemas.openxmlformats.org/drawingml/2006/main">
              <a:ext uri="{FF2B5EF4-FFF2-40B4-BE49-F238E27FC236}">
                <a16:creationId xmlns:a16="http://schemas.microsoft.com/office/drawing/2014/main" id="{8C3C3C33-6FD0-46D9-93EF-C058C46EE7DA}"/>
              </a:ext>
            </a:extLst>
          </p:cNvPr>
          <p:cNvSpPr>
            <a:spLocks xmlns:a="http://schemas.openxmlformats.org/drawingml/2006/main" noGrp="1"/>
          </p:cNvSpPr>
          <p:nvPr/>
        </p:nvSpPr>
        <p:spPr>
          <a:xfrm xmlns:a="http://schemas.openxmlformats.org/drawingml/2006/main">
            <a:off x="647700" y="2514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Task A</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Kể / mô tả</a:t>
            </a:r>
          </a:p>
        </p:txBody>
      </p:sp>
      <p:sp>
        <p:nvSpPr>
          <p:cNvPr id="11" name="text-rn6px8">
            <a:extLst xmlns:a="http://schemas.openxmlformats.org/drawingml/2006/main">
              <a:ext uri="{FF2B5EF4-FFF2-40B4-BE49-F238E27FC236}">
                <a16:creationId xmlns:a16="http://schemas.microsoft.com/office/drawing/2014/main" id="{419173EC-EF6A-4142-A4C4-D7EF701F4598}"/>
              </a:ext>
            </a:extLst>
          </p:cNvPr>
          <p:cNvSpPr>
            <a:spLocks xmlns:a="http://schemas.openxmlformats.org/drawingml/2006/main" noGrp="1"/>
          </p:cNvSpPr>
          <p:nvPr/>
        </p:nvSpPr>
        <p:spPr>
          <a:xfrm xmlns:a="http://schemas.openxmlformats.org/drawingml/2006/main">
            <a:off x="647700" y="3162300"/>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60–90 giây. Chủ đề quen thuộc. Quan sát Range, Fluency, Coherence, Phonology.</a:t>
            </a:r>
          </a:p>
        </p:txBody>
      </p:sp>
      <p:sp>
        <p:nvSpPr>
          <p:cNvPr id="12" name="process-node-dq829">
            <a:extLst xmlns:a="http://schemas.openxmlformats.org/drawingml/2006/main">
              <a:ext uri="{FF2B5EF4-FFF2-40B4-BE49-F238E27FC236}">
                <a16:creationId xmlns:a16="http://schemas.microsoft.com/office/drawing/2014/main" id="{60449A9E-055C-4216-9C64-C638EC1901BE}"/>
              </a:ext>
            </a:extLst>
          </p:cNvPr>
          <p:cNvSpPr>
            <a:spLocks xmlns:a="http://schemas.openxmlformats.org/drawingml/2006/main" noGrp="1"/>
          </p:cNvSpPr>
          <p:nvPr/>
        </p:nvSpPr>
        <p:spPr>
          <a:xfrm xmlns:a="http://schemas.openxmlformats.org/drawingml/2006/main">
            <a:off x="4324350" y="2000250"/>
            <a:ext cx="3543300" cy="2286000"/>
          </a:xfrm>
          <a:prstGeom xmlns:a="http://schemas.openxmlformats.org/drawingml/2006/main" prst="roundRect">
            <a:avLst>
              <a:gd name="adj" fmla="val 2500"/>
            </a:avLst>
          </a:prstGeom>
          <a:solidFill xmlns:a="http://schemas.openxmlformats.org/drawingml/2006/main">
            <a:srgbClr val="F5F7F9"/>
          </a:solidFill>
          <a:ln xmlns:a="http://schemas.openxmlformats.org/drawingml/2006/main" w="9525">
            <a:solidFill>
              <a:srgbClr val="B8BCC4"/>
            </a:solidFill>
            <a:prstDash val="solid"/>
          </a:ln>
        </p:spPr>
      </p:sp>
      <p:sp>
        <p:nvSpPr>
          <p:cNvPr id="13" name="text-bcz4lq">
            <a:extLst xmlns:a="http://schemas.openxmlformats.org/drawingml/2006/main">
              <a:ext uri="{FF2B5EF4-FFF2-40B4-BE49-F238E27FC236}">
                <a16:creationId xmlns:a16="http://schemas.microsoft.com/office/drawing/2014/main" id="{26B50BEC-7667-4E34-B0B3-42ADCD88EFCB}"/>
              </a:ext>
            </a:extLst>
          </p:cNvPr>
          <p:cNvSpPr>
            <a:spLocks xmlns:a="http://schemas.openxmlformats.org/drawingml/2006/main" noGrp="1"/>
          </p:cNvSpPr>
          <p:nvPr/>
        </p:nvSpPr>
        <p:spPr>
          <a:xfrm xmlns:a="http://schemas.openxmlformats.org/drawingml/2006/main">
            <a:off x="447675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02</a:t>
            </a:r>
          </a:p>
        </p:txBody>
      </p:sp>
      <p:sp>
        <p:nvSpPr>
          <p:cNvPr id="14" name="text-h74j1v">
            <a:extLst xmlns:a="http://schemas.openxmlformats.org/drawingml/2006/main">
              <a:ext uri="{FF2B5EF4-FFF2-40B4-BE49-F238E27FC236}">
                <a16:creationId xmlns:a16="http://schemas.microsoft.com/office/drawing/2014/main" id="{1CABA526-6794-49AC-B3D7-49181E49BAB1}"/>
              </a:ext>
            </a:extLst>
          </p:cNvPr>
          <p:cNvSpPr>
            <a:spLocks xmlns:a="http://schemas.openxmlformats.org/drawingml/2006/main" noGrp="1"/>
          </p:cNvSpPr>
          <p:nvPr/>
        </p:nvSpPr>
        <p:spPr>
          <a:xfrm xmlns:a="http://schemas.openxmlformats.org/drawingml/2006/main">
            <a:off x="4476750" y="2514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Task B</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Nêu quan điểm</a:t>
            </a:r>
          </a:p>
        </p:txBody>
      </p:sp>
      <p:sp>
        <p:nvSpPr>
          <p:cNvPr id="15" name="text-9tff3p">
            <a:extLst xmlns:a="http://schemas.openxmlformats.org/drawingml/2006/main">
              <a:ext uri="{FF2B5EF4-FFF2-40B4-BE49-F238E27FC236}">
                <a16:creationId xmlns:a16="http://schemas.microsoft.com/office/drawing/2014/main" id="{387117BA-79F5-4FE2-98B4-AEBFA725D639}"/>
              </a:ext>
            </a:extLst>
          </p:cNvPr>
          <p:cNvSpPr>
            <a:spLocks xmlns:a="http://schemas.openxmlformats.org/drawingml/2006/main" noGrp="1"/>
          </p:cNvSpPr>
          <p:nvPr/>
        </p:nvSpPr>
        <p:spPr>
          <a:xfrm xmlns:a="http://schemas.openxmlformats.org/drawingml/2006/main">
            <a:off x="4476750" y="3162300"/>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Khoảng 120 giây. Nêu lập trường, lý do, ví dụ. Kiểm tra Accuracy và phát triển ý.</a:t>
            </a:r>
          </a:p>
        </p:txBody>
      </p:sp>
      <p:sp>
        <p:nvSpPr>
          <p:cNvPr id="16" name="process-node-nf9zy">
            <a:extLst xmlns:a="http://schemas.openxmlformats.org/drawingml/2006/main">
              <a:ext uri="{FF2B5EF4-FFF2-40B4-BE49-F238E27FC236}">
                <a16:creationId xmlns:a16="http://schemas.microsoft.com/office/drawing/2014/main" id="{F5D1704F-8415-4B5B-8232-A14687E7C594}"/>
              </a:ext>
            </a:extLst>
          </p:cNvPr>
          <p:cNvSpPr>
            <a:spLocks xmlns:a="http://schemas.openxmlformats.org/drawingml/2006/main" noGrp="1"/>
          </p:cNvSpPr>
          <p:nvPr/>
        </p:nvSpPr>
        <p:spPr>
          <a:xfrm xmlns:a="http://schemas.openxmlformats.org/drawingml/2006/main">
            <a:off x="8153400" y="2000250"/>
            <a:ext cx="3543300" cy="2286000"/>
          </a:xfrm>
          <a:prstGeom xmlns:a="http://schemas.openxmlformats.org/drawingml/2006/main" prst="roundRect">
            <a:avLst>
              <a:gd name="adj" fmla="val 2500"/>
            </a:avLst>
          </a:prstGeom>
          <a:solidFill xmlns:a="http://schemas.openxmlformats.org/drawingml/2006/main">
            <a:srgbClr val="EAF5FB"/>
          </a:solidFill>
          <a:ln xmlns:a="http://schemas.openxmlformats.org/drawingml/2006/main" w="9525">
            <a:solidFill>
              <a:srgbClr val="3D8DFF"/>
            </a:solidFill>
            <a:prstDash val="solid"/>
          </a:ln>
        </p:spPr>
      </p:sp>
      <p:sp>
        <p:nvSpPr>
          <p:cNvPr id="17" name="text-w6n383">
            <a:extLst xmlns:a="http://schemas.openxmlformats.org/drawingml/2006/main">
              <a:ext uri="{FF2B5EF4-FFF2-40B4-BE49-F238E27FC236}">
                <a16:creationId xmlns:a16="http://schemas.microsoft.com/office/drawing/2014/main" id="{50D7CC36-9D42-48C4-A5A3-D55590A7400A}"/>
              </a:ext>
            </a:extLst>
          </p:cNvPr>
          <p:cNvSpPr>
            <a:spLocks xmlns:a="http://schemas.openxmlformats.org/drawingml/2006/main" noGrp="1"/>
          </p:cNvSpPr>
          <p:nvPr/>
        </p:nvSpPr>
        <p:spPr>
          <a:xfrm xmlns:a="http://schemas.openxmlformats.org/drawingml/2006/main">
            <a:off x="830580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03</a:t>
            </a:r>
          </a:p>
        </p:txBody>
      </p:sp>
      <p:sp>
        <p:nvSpPr>
          <p:cNvPr id="18" name="text-h18kfm">
            <a:extLst xmlns:a="http://schemas.openxmlformats.org/drawingml/2006/main">
              <a:ext uri="{FF2B5EF4-FFF2-40B4-BE49-F238E27FC236}">
                <a16:creationId xmlns:a16="http://schemas.microsoft.com/office/drawing/2014/main" id="{E675E200-2357-4894-9B71-152D1F7B84B1}"/>
              </a:ext>
            </a:extLst>
          </p:cNvPr>
          <p:cNvSpPr>
            <a:spLocks xmlns:a="http://schemas.openxmlformats.org/drawingml/2006/main" noGrp="1"/>
          </p:cNvSpPr>
          <p:nvPr/>
        </p:nvSpPr>
        <p:spPr>
          <a:xfrm xmlns:a="http://schemas.openxmlformats.org/drawingml/2006/main">
            <a:off x="8305800" y="2514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Task C</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Hội thoại</a:t>
            </a:r>
          </a:p>
        </p:txBody>
      </p:sp>
      <p:sp>
        <p:nvSpPr>
          <p:cNvPr id="19" name="text-hcgbrf">
            <a:extLst xmlns:a="http://schemas.openxmlformats.org/drawingml/2006/main">
              <a:ext uri="{FF2B5EF4-FFF2-40B4-BE49-F238E27FC236}">
                <a16:creationId xmlns:a16="http://schemas.microsoft.com/office/drawing/2014/main" id="{A7743454-B426-4EB7-8172-D417CD4FF832}"/>
              </a:ext>
            </a:extLst>
          </p:cNvPr>
          <p:cNvSpPr>
            <a:spLocks xmlns:a="http://schemas.openxmlformats.org/drawingml/2006/main" noGrp="1"/>
          </p:cNvSpPr>
          <p:nvPr/>
        </p:nvSpPr>
        <p:spPr>
          <a:xfrm xmlns:a="http://schemas.openxmlformats.org/drawingml/2006/main">
            <a:off x="8305800" y="3162300"/>
            <a:ext cx="3238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3–5 lượt có follow-up bán cấu trúc. Cần để chấm Interaction.</a:t>
            </a:r>
          </a:p>
        </p:txBody>
      </p:sp>
      <p:sp>
        <p:nvSpPr>
          <p:cNvPr id="20" name="callout-1rw70">
            <a:extLst xmlns:a="http://schemas.openxmlformats.org/drawingml/2006/main">
              <a:ext uri="{FF2B5EF4-FFF2-40B4-BE49-F238E27FC236}">
                <a16:creationId xmlns:a16="http://schemas.microsoft.com/office/drawing/2014/main" id="{2AAC6168-51CD-471A-9524-40624D7C708E}"/>
              </a:ext>
            </a:extLst>
          </p:cNvPr>
          <p:cNvSpPr>
            <a:spLocks xmlns:a="http://schemas.openxmlformats.org/drawingml/2006/main" noGrp="1"/>
          </p:cNvSpPr>
          <p:nvPr/>
        </p:nvSpPr>
        <p:spPr>
          <a:xfrm xmlns:a="http://schemas.openxmlformats.org/drawingml/2006/main">
            <a:off x="495300" y="5219700"/>
            <a:ext cx="11201400" cy="762000"/>
          </a:xfrm>
          <a:prstGeom xmlns:a="http://schemas.openxmlformats.org/drawingml/2006/main" prst="roundRect">
            <a:avLst>
              <a:gd name="adj" fmla="val 7500"/>
            </a:avLst>
          </a:prstGeom>
          <a:solidFill xmlns:a="http://schemas.openxmlformats.org/drawingml/2006/main">
            <a:srgbClr val="EAF5FB"/>
          </a:solidFill>
          <a:ln xmlns:a="http://schemas.openxmlformats.org/drawingml/2006/main" w="9525">
            <a:solidFill>
              <a:srgbClr val="3D8DFF"/>
            </a:solidFill>
            <a:prstDash val="solid"/>
          </a:ln>
        </p:spPr>
      </p:sp>
      <p:sp>
        <p:nvSpPr>
          <p:cNvPr id="21" name="callout-text">
            <a:extLst xmlns:a="http://schemas.openxmlformats.org/drawingml/2006/main">
              <a:ext uri="{FF2B5EF4-FFF2-40B4-BE49-F238E27FC236}">
                <a16:creationId xmlns:a16="http://schemas.microsoft.com/office/drawing/2014/main" id="{C8D40AEE-0075-44D9-8E8B-8248192F0F3E}"/>
              </a:ext>
            </a:extLst>
          </p:cNvPr>
          <p:cNvSpPr>
            <a:spLocks xmlns:a="http://schemas.openxmlformats.org/drawingml/2006/main" noGrp="1"/>
          </p:cNvSpPr>
          <p:nvPr/>
        </p:nvSpPr>
        <p:spPr>
          <a:xfrm xmlns:a="http://schemas.openxmlformats.org/drawingml/2006/main">
            <a:off x="666750" y="535305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859A9"/>
                </a:solidFill>
                <a:latin typeface="Arial"/>
                <a:ea typeface="Arial"/>
                <a:cs typeface="Arial"/>
              </a:defRPr>
            </a:pPr>
            <a:r>
              <a:rPr sz="1500" b="1" i="0">
                <a:solidFill>
                  <a:srgbClr val="1859A9"/>
                </a:solidFill>
                <a:latin typeface="Arial"/>
                <a:ea typeface="Arial"/>
                <a:cs typeface="Arial"/>
              </a:rPr>
              <a:t>Không dùng một bài nói duy nhất để suy ra toàn bộ năng lực. Nhiệm vụ quyết định loại bằng chứng có thể thu được.</a:t>
            </a:r>
          </a:p>
        </p:txBody>
      </p:sp>
    </p:spTree>
    <p:extLst>
      <p:ext uri="{BB962C8B-B14F-4D97-AF65-F5344CB8AC3E}">
        <p14:creationId xmlns:p14="http://schemas.microsoft.com/office/powerpoint/2010/main" val="3523450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label">
            <a:extLst xmlns:a="http://schemas.openxmlformats.org/drawingml/2006/main">
              <a:ext uri="{FF2B5EF4-FFF2-40B4-BE49-F238E27FC236}">
                <a16:creationId xmlns:a16="http://schemas.microsoft.com/office/drawing/2014/main" id="{6EC7451C-831A-4EFD-A8CD-45DF243A215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CƠ CHẾ TỔNG THỂ</a:t>
            </a:r>
          </a:p>
        </p:txBody>
      </p:sp>
      <p:sp>
        <p:nvSpPr>
          <p:cNvPr id="2" name="slide-title">
            <a:extLst xmlns:a="http://schemas.openxmlformats.org/drawingml/2006/main">
              <a:ext uri="{FF2B5EF4-FFF2-40B4-BE49-F238E27FC236}">
                <a16:creationId xmlns:a16="http://schemas.microsoft.com/office/drawing/2014/main" id="{9AA47BA9-B3CC-43D5-8619-221FA8734D76}"/>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Từ giọng nói đến báo cáo có bằng chứng</a:t>
            </a:r>
          </a:p>
        </p:txBody>
      </p:sp>
      <p:sp>
        <p:nvSpPr>
          <p:cNvPr id="3" name="rule">
            <a:extLst xmlns:a="http://schemas.openxmlformats.org/drawingml/2006/main">
              <a:ext uri="{FF2B5EF4-FFF2-40B4-BE49-F238E27FC236}">
                <a16:creationId xmlns:a16="http://schemas.microsoft.com/office/drawing/2014/main" id="{79F9C691-35B4-4EF4-A258-FE76E560B52A}"/>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41DFA051-20FE-494B-8CF0-8D8F5BCBC725}"/>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CƠ CHẾ TỔNG THỂ</a:t>
            </a:r>
          </a:p>
        </p:txBody>
      </p:sp>
      <p:sp>
        <p:nvSpPr>
          <p:cNvPr id="5" name="footer-number">
            <a:extLst xmlns:a="http://schemas.openxmlformats.org/drawingml/2006/main">
              <a:ext uri="{FF2B5EF4-FFF2-40B4-BE49-F238E27FC236}">
                <a16:creationId xmlns:a16="http://schemas.microsoft.com/office/drawing/2014/main" id="{32E6E456-0330-45A5-BF11-44555BCB66D2}"/>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12</a:t>
            </a:r>
          </a:p>
        </p:txBody>
      </p:sp>
      <p:sp>
        <p:nvSpPr>
          <p:cNvPr id="6" name="edge-1">
            <a:extLst xmlns:a="http://schemas.openxmlformats.org/drawingml/2006/main">
              <a:ext uri="{FF2B5EF4-FFF2-40B4-BE49-F238E27FC236}">
                <a16:creationId xmlns:a16="http://schemas.microsoft.com/office/drawing/2014/main" id="{B1EAFD4A-39CE-4E9D-901E-86DDB706E0D3}"/>
              </a:ext>
            </a:extLst>
          </p:cNvPr>
          <p:cNvSpPr>
            <a:spLocks xmlns:a="http://schemas.openxmlformats.org/drawingml/2006/main" noGrp="1"/>
          </p:cNvSpPr>
          <p:nvPr/>
        </p:nvSpPr>
        <p:spPr>
          <a:xfrm xmlns:a="http://schemas.openxmlformats.org/drawingml/2006/main">
            <a:off x="253555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7" name="edge-2">
            <a:extLst xmlns:a="http://schemas.openxmlformats.org/drawingml/2006/main">
              <a:ext uri="{FF2B5EF4-FFF2-40B4-BE49-F238E27FC236}">
                <a16:creationId xmlns:a16="http://schemas.microsoft.com/office/drawing/2014/main" id="{E581C458-A275-4FFC-954A-D86DA38192F7}"/>
              </a:ext>
            </a:extLst>
          </p:cNvPr>
          <p:cNvSpPr>
            <a:spLocks xmlns:a="http://schemas.openxmlformats.org/drawingml/2006/main" noGrp="1"/>
          </p:cNvSpPr>
          <p:nvPr/>
        </p:nvSpPr>
        <p:spPr>
          <a:xfrm xmlns:a="http://schemas.openxmlformats.org/drawingml/2006/main">
            <a:off x="483298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8" name="edge-3">
            <a:extLst xmlns:a="http://schemas.openxmlformats.org/drawingml/2006/main">
              <a:ext uri="{FF2B5EF4-FFF2-40B4-BE49-F238E27FC236}">
                <a16:creationId xmlns:a16="http://schemas.microsoft.com/office/drawing/2014/main" id="{D72F1BB0-34D7-444E-BDF5-0CDAE9A83B4B}"/>
              </a:ext>
            </a:extLst>
          </p:cNvPr>
          <p:cNvSpPr>
            <a:spLocks xmlns:a="http://schemas.openxmlformats.org/drawingml/2006/main" noGrp="1"/>
          </p:cNvSpPr>
          <p:nvPr/>
        </p:nvSpPr>
        <p:spPr>
          <a:xfrm xmlns:a="http://schemas.openxmlformats.org/drawingml/2006/main">
            <a:off x="713041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9" name="edge-4">
            <a:extLst xmlns:a="http://schemas.openxmlformats.org/drawingml/2006/main">
              <a:ext uri="{FF2B5EF4-FFF2-40B4-BE49-F238E27FC236}">
                <a16:creationId xmlns:a16="http://schemas.microsoft.com/office/drawing/2014/main" id="{B7A506F3-3832-417B-9930-B9043DDC1601}"/>
              </a:ext>
            </a:extLst>
          </p:cNvPr>
          <p:cNvSpPr>
            <a:spLocks xmlns:a="http://schemas.openxmlformats.org/drawingml/2006/main" noGrp="1"/>
          </p:cNvSpPr>
          <p:nvPr/>
        </p:nvSpPr>
        <p:spPr>
          <a:xfrm xmlns:a="http://schemas.openxmlformats.org/drawingml/2006/main">
            <a:off x="942784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10" name="process-node-2rln3">
            <a:extLst xmlns:a="http://schemas.openxmlformats.org/drawingml/2006/main">
              <a:ext uri="{FF2B5EF4-FFF2-40B4-BE49-F238E27FC236}">
                <a16:creationId xmlns:a16="http://schemas.microsoft.com/office/drawing/2014/main" id="{595A64E1-948F-4501-8B1A-E87FCA6E143C}"/>
              </a:ext>
            </a:extLst>
          </p:cNvPr>
          <p:cNvSpPr>
            <a:spLocks xmlns:a="http://schemas.openxmlformats.org/drawingml/2006/main" noGrp="1"/>
          </p:cNvSpPr>
          <p:nvPr/>
        </p:nvSpPr>
        <p:spPr>
          <a:xfrm xmlns:a="http://schemas.openxmlformats.org/drawingml/2006/main">
            <a:off x="49530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1" name="text-kjrtk9">
            <a:extLst xmlns:a="http://schemas.openxmlformats.org/drawingml/2006/main">
              <a:ext uri="{FF2B5EF4-FFF2-40B4-BE49-F238E27FC236}">
                <a16:creationId xmlns:a16="http://schemas.microsoft.com/office/drawing/2014/main" id="{4B61E56E-A18A-4B5E-BB20-CF360116C471}"/>
              </a:ext>
            </a:extLst>
          </p:cNvPr>
          <p:cNvSpPr>
            <a:spLocks xmlns:a="http://schemas.openxmlformats.org/drawingml/2006/main" noGrp="1"/>
          </p:cNvSpPr>
          <p:nvPr/>
        </p:nvSpPr>
        <p:spPr>
          <a:xfrm xmlns:a="http://schemas.openxmlformats.org/drawingml/2006/main">
            <a:off x="64770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01</a:t>
            </a:r>
          </a:p>
        </p:txBody>
      </p:sp>
      <p:sp>
        <p:nvSpPr>
          <p:cNvPr id="12" name="text-gl9l15">
            <a:extLst xmlns:a="http://schemas.openxmlformats.org/drawingml/2006/main">
              <a:ext uri="{FF2B5EF4-FFF2-40B4-BE49-F238E27FC236}">
                <a16:creationId xmlns:a16="http://schemas.microsoft.com/office/drawing/2014/main" id="{C8E88DCA-5B1E-449B-AAFF-192B1BDC28AD}"/>
              </a:ext>
            </a:extLst>
          </p:cNvPr>
          <p:cNvSpPr>
            <a:spLocks xmlns:a="http://schemas.openxmlformats.org/drawingml/2006/main" noGrp="1"/>
          </p:cNvSpPr>
          <p:nvPr/>
        </p:nvSpPr>
        <p:spPr>
          <a:xfrm xmlns:a="http://schemas.openxmlformats.org/drawingml/2006/main">
            <a:off x="64770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Nhiệm vụ</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 audio</a:t>
            </a:r>
          </a:p>
        </p:txBody>
      </p:sp>
      <p:sp>
        <p:nvSpPr>
          <p:cNvPr id="13" name="text-y4uu9r">
            <a:extLst xmlns:a="http://schemas.openxmlformats.org/drawingml/2006/main">
              <a:ext uri="{FF2B5EF4-FFF2-40B4-BE49-F238E27FC236}">
                <a16:creationId xmlns:a16="http://schemas.microsoft.com/office/drawing/2014/main" id="{7324A381-33DD-49B4-B05D-1B714F093B79}"/>
              </a:ext>
            </a:extLst>
          </p:cNvPr>
          <p:cNvSpPr>
            <a:spLocks xmlns:a="http://schemas.openxmlformats.org/drawingml/2006/main" noGrp="1"/>
          </p:cNvSpPr>
          <p:nvPr/>
        </p:nvSpPr>
        <p:spPr>
          <a:xfrm xmlns:a="http://schemas.openxmlformats.org/drawingml/2006/main">
            <a:off x="64770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Prompt, consent, speaker_id và file ghi âm.</a:t>
            </a:r>
          </a:p>
        </p:txBody>
      </p:sp>
      <p:sp>
        <p:nvSpPr>
          <p:cNvPr id="14" name="process-node-9kr7a">
            <a:extLst xmlns:a="http://schemas.openxmlformats.org/drawingml/2006/main">
              <a:ext uri="{FF2B5EF4-FFF2-40B4-BE49-F238E27FC236}">
                <a16:creationId xmlns:a16="http://schemas.microsoft.com/office/drawing/2014/main" id="{E22BBB95-4412-48AD-AF5C-8B6C9AB64FD2}"/>
              </a:ext>
            </a:extLst>
          </p:cNvPr>
          <p:cNvSpPr>
            <a:spLocks xmlns:a="http://schemas.openxmlformats.org/drawingml/2006/main" noGrp="1"/>
          </p:cNvSpPr>
          <p:nvPr/>
        </p:nvSpPr>
        <p:spPr>
          <a:xfrm xmlns:a="http://schemas.openxmlformats.org/drawingml/2006/main">
            <a:off x="279273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5" name="text-r0cilm">
            <a:extLst xmlns:a="http://schemas.openxmlformats.org/drawingml/2006/main">
              <a:ext uri="{FF2B5EF4-FFF2-40B4-BE49-F238E27FC236}">
                <a16:creationId xmlns:a16="http://schemas.microsoft.com/office/drawing/2014/main" id="{12EA3D47-43AD-492B-AB01-21C6035DE7D7}"/>
              </a:ext>
            </a:extLst>
          </p:cNvPr>
          <p:cNvSpPr>
            <a:spLocks xmlns:a="http://schemas.openxmlformats.org/drawingml/2006/main" noGrp="1"/>
          </p:cNvSpPr>
          <p:nvPr/>
        </p:nvSpPr>
        <p:spPr>
          <a:xfrm xmlns:a="http://schemas.openxmlformats.org/drawingml/2006/main">
            <a:off x="294513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02</a:t>
            </a:r>
          </a:p>
        </p:txBody>
      </p:sp>
      <p:sp>
        <p:nvSpPr>
          <p:cNvPr id="16" name="text-guepsm">
            <a:extLst xmlns:a="http://schemas.openxmlformats.org/drawingml/2006/main">
              <a:ext uri="{FF2B5EF4-FFF2-40B4-BE49-F238E27FC236}">
                <a16:creationId xmlns:a16="http://schemas.microsoft.com/office/drawing/2014/main" id="{4525941D-F629-4310-82CB-4BFF61E25372}"/>
              </a:ext>
            </a:extLst>
          </p:cNvPr>
          <p:cNvSpPr>
            <a:spLocks xmlns:a="http://schemas.openxmlformats.org/drawingml/2006/main" noGrp="1"/>
          </p:cNvSpPr>
          <p:nvPr/>
        </p:nvSpPr>
        <p:spPr>
          <a:xfrm xmlns:a="http://schemas.openxmlformats.org/drawingml/2006/main">
            <a:off x="294513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Kiểm tra</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chất lượng</a:t>
            </a:r>
          </a:p>
        </p:txBody>
      </p:sp>
      <p:sp>
        <p:nvSpPr>
          <p:cNvPr id="17" name="text-ze939q">
            <a:extLst xmlns:a="http://schemas.openxmlformats.org/drawingml/2006/main">
              <a:ext uri="{FF2B5EF4-FFF2-40B4-BE49-F238E27FC236}">
                <a16:creationId xmlns:a16="http://schemas.microsoft.com/office/drawing/2014/main" id="{965BDA69-A18F-4A1B-96E9-829D94E2BE98}"/>
              </a:ext>
            </a:extLst>
          </p:cNvPr>
          <p:cNvSpPr>
            <a:spLocks xmlns:a="http://schemas.openxmlformats.org/drawingml/2006/main" noGrp="1"/>
          </p:cNvSpPr>
          <p:nvPr/>
        </p:nvSpPr>
        <p:spPr>
          <a:xfrm xmlns:a="http://schemas.openxmlformats.org/drawingml/2006/main">
            <a:off x="294513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Độ dài, im lặng, clipping, tiếng ồn, đúng ngôn ngữ.</a:t>
            </a:r>
          </a:p>
        </p:txBody>
      </p:sp>
      <p:sp>
        <p:nvSpPr>
          <p:cNvPr id="18" name="process-node-i5a9g">
            <a:extLst xmlns:a="http://schemas.openxmlformats.org/drawingml/2006/main">
              <a:ext uri="{FF2B5EF4-FFF2-40B4-BE49-F238E27FC236}">
                <a16:creationId xmlns:a16="http://schemas.microsoft.com/office/drawing/2014/main" id="{774A00BB-447C-4125-B2A5-D7D495ACEBCE}"/>
              </a:ext>
            </a:extLst>
          </p:cNvPr>
          <p:cNvSpPr>
            <a:spLocks xmlns:a="http://schemas.openxmlformats.org/drawingml/2006/main" noGrp="1"/>
          </p:cNvSpPr>
          <p:nvPr/>
        </p:nvSpPr>
        <p:spPr>
          <a:xfrm xmlns:a="http://schemas.openxmlformats.org/drawingml/2006/main">
            <a:off x="509016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9" name="text-u53vv8">
            <a:extLst xmlns:a="http://schemas.openxmlformats.org/drawingml/2006/main">
              <a:ext uri="{FF2B5EF4-FFF2-40B4-BE49-F238E27FC236}">
                <a16:creationId xmlns:a16="http://schemas.microsoft.com/office/drawing/2014/main" id="{A78C2CD1-A940-414B-B4E1-11DF79802EAF}"/>
              </a:ext>
            </a:extLst>
          </p:cNvPr>
          <p:cNvSpPr>
            <a:spLocks xmlns:a="http://schemas.openxmlformats.org/drawingml/2006/main" noGrp="1"/>
          </p:cNvSpPr>
          <p:nvPr/>
        </p:nvSpPr>
        <p:spPr>
          <a:xfrm xmlns:a="http://schemas.openxmlformats.org/drawingml/2006/main">
            <a:off x="524256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03</a:t>
            </a:r>
          </a:p>
        </p:txBody>
      </p:sp>
      <p:sp>
        <p:nvSpPr>
          <p:cNvPr id="20" name="text-l9sjbw">
            <a:extLst xmlns:a="http://schemas.openxmlformats.org/drawingml/2006/main">
              <a:ext uri="{FF2B5EF4-FFF2-40B4-BE49-F238E27FC236}">
                <a16:creationId xmlns:a16="http://schemas.microsoft.com/office/drawing/2014/main" id="{76CB2FC9-3841-49C1-B9D9-8C2587C1A7B7}"/>
              </a:ext>
            </a:extLst>
          </p:cNvPr>
          <p:cNvSpPr>
            <a:spLocks xmlns:a="http://schemas.openxmlformats.org/drawingml/2006/main" noGrp="1"/>
          </p:cNvSpPr>
          <p:nvPr/>
        </p:nvSpPr>
        <p:spPr>
          <a:xfrm xmlns:a="http://schemas.openxmlformats.org/drawingml/2006/main">
            <a:off x="524256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ASR +</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timestamp</a:t>
            </a:r>
          </a:p>
        </p:txBody>
      </p:sp>
      <p:sp>
        <p:nvSpPr>
          <p:cNvPr id="21" name="text-4blkx2">
            <a:extLst xmlns:a="http://schemas.openxmlformats.org/drawingml/2006/main">
              <a:ext uri="{FF2B5EF4-FFF2-40B4-BE49-F238E27FC236}">
                <a16:creationId xmlns:a16="http://schemas.microsoft.com/office/drawing/2014/main" id="{9D4B1B83-4582-4225-A03E-7DC9BE79210D}"/>
              </a:ext>
            </a:extLst>
          </p:cNvPr>
          <p:cNvSpPr>
            <a:spLocks xmlns:a="http://schemas.openxmlformats.org/drawingml/2006/main" noGrp="1"/>
          </p:cNvSpPr>
          <p:nvPr/>
        </p:nvSpPr>
        <p:spPr>
          <a:xfrm xmlns:a="http://schemas.openxmlformats.org/drawingml/2006/main">
            <a:off x="524256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Transcript thô, thời điểm từ và confidence.</a:t>
            </a:r>
          </a:p>
        </p:txBody>
      </p:sp>
      <p:sp>
        <p:nvSpPr>
          <p:cNvPr id="22" name="process-node-sdon9">
            <a:extLst xmlns:a="http://schemas.openxmlformats.org/drawingml/2006/main">
              <a:ext uri="{FF2B5EF4-FFF2-40B4-BE49-F238E27FC236}">
                <a16:creationId xmlns:a16="http://schemas.microsoft.com/office/drawing/2014/main" id="{9DB475BE-FB98-418A-AF07-64DE61C681E0}"/>
              </a:ext>
            </a:extLst>
          </p:cNvPr>
          <p:cNvSpPr>
            <a:spLocks xmlns:a="http://schemas.openxmlformats.org/drawingml/2006/main" noGrp="1"/>
          </p:cNvSpPr>
          <p:nvPr/>
        </p:nvSpPr>
        <p:spPr>
          <a:xfrm xmlns:a="http://schemas.openxmlformats.org/drawingml/2006/main">
            <a:off x="738759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23" name="text-k3o7hd">
            <a:extLst xmlns:a="http://schemas.openxmlformats.org/drawingml/2006/main">
              <a:ext uri="{FF2B5EF4-FFF2-40B4-BE49-F238E27FC236}">
                <a16:creationId xmlns:a16="http://schemas.microsoft.com/office/drawing/2014/main" id="{C7A79D16-7D00-4C7A-9412-61B4AA9EBCF0}"/>
              </a:ext>
            </a:extLst>
          </p:cNvPr>
          <p:cNvSpPr>
            <a:spLocks xmlns:a="http://schemas.openxmlformats.org/drawingml/2006/main" noGrp="1"/>
          </p:cNvSpPr>
          <p:nvPr/>
        </p:nvSpPr>
        <p:spPr>
          <a:xfrm xmlns:a="http://schemas.openxmlformats.org/drawingml/2006/main">
            <a:off x="753999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04</a:t>
            </a:r>
          </a:p>
        </p:txBody>
      </p:sp>
      <p:sp>
        <p:nvSpPr>
          <p:cNvPr id="24" name="text-3y6vbd">
            <a:extLst xmlns:a="http://schemas.openxmlformats.org/drawingml/2006/main">
              <a:ext uri="{FF2B5EF4-FFF2-40B4-BE49-F238E27FC236}">
                <a16:creationId xmlns:a16="http://schemas.microsoft.com/office/drawing/2014/main" id="{BCD3FC5C-E374-4863-8AF3-5E2567F6FDD9}"/>
              </a:ext>
            </a:extLst>
          </p:cNvPr>
          <p:cNvSpPr>
            <a:spLocks xmlns:a="http://schemas.openxmlformats.org/drawingml/2006/main" noGrp="1"/>
          </p:cNvSpPr>
          <p:nvPr/>
        </p:nvSpPr>
        <p:spPr>
          <a:xfrm xmlns:a="http://schemas.openxmlformats.org/drawingml/2006/main">
            <a:off x="753999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Đặc trưng</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đa nguồn</a:t>
            </a:r>
          </a:p>
        </p:txBody>
      </p:sp>
      <p:sp>
        <p:nvSpPr>
          <p:cNvPr id="25" name="text-m6nfme">
            <a:extLst xmlns:a="http://schemas.openxmlformats.org/drawingml/2006/main">
              <a:ext uri="{FF2B5EF4-FFF2-40B4-BE49-F238E27FC236}">
                <a16:creationId xmlns:a16="http://schemas.microsoft.com/office/drawing/2014/main" id="{14ACDECB-AFB1-4C46-BF77-C41DE957F71E}"/>
              </a:ext>
            </a:extLst>
          </p:cNvPr>
          <p:cNvSpPr>
            <a:spLocks xmlns:a="http://schemas.openxmlformats.org/drawingml/2006/main" noGrp="1"/>
          </p:cNvSpPr>
          <p:nvPr/>
        </p:nvSpPr>
        <p:spPr>
          <a:xfrm xmlns:a="http://schemas.openxmlformats.org/drawingml/2006/main">
            <a:off x="753999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Audio, text và interaction được tách riêng.</a:t>
            </a:r>
          </a:p>
        </p:txBody>
      </p:sp>
      <p:sp>
        <p:nvSpPr>
          <p:cNvPr id="26" name="process-node-l2egl">
            <a:extLst xmlns:a="http://schemas.openxmlformats.org/drawingml/2006/main">
              <a:ext uri="{FF2B5EF4-FFF2-40B4-BE49-F238E27FC236}">
                <a16:creationId xmlns:a16="http://schemas.microsoft.com/office/drawing/2014/main" id="{62C8951D-7FE0-443C-9D7D-D83686C9E6CC}"/>
              </a:ext>
            </a:extLst>
          </p:cNvPr>
          <p:cNvSpPr>
            <a:spLocks xmlns:a="http://schemas.openxmlformats.org/drawingml/2006/main" noGrp="1"/>
          </p:cNvSpPr>
          <p:nvPr/>
        </p:nvSpPr>
        <p:spPr>
          <a:xfrm xmlns:a="http://schemas.openxmlformats.org/drawingml/2006/main">
            <a:off x="9685020" y="2000250"/>
            <a:ext cx="2011680" cy="2286000"/>
          </a:xfrm>
          <a:prstGeom xmlns:a="http://schemas.openxmlformats.org/drawingml/2006/main" prst="roundRect">
            <a:avLst>
              <a:gd name="adj" fmla="val 2841"/>
            </a:avLst>
          </a:prstGeom>
          <a:solidFill xmlns:a="http://schemas.openxmlformats.org/drawingml/2006/main">
            <a:srgbClr val="EAF5FB"/>
          </a:solidFill>
          <a:ln xmlns:a="http://schemas.openxmlformats.org/drawingml/2006/main" w="9525">
            <a:solidFill>
              <a:srgbClr val="3D8DFF"/>
            </a:solidFill>
            <a:prstDash val="solid"/>
          </a:ln>
        </p:spPr>
      </p:sp>
      <p:sp>
        <p:nvSpPr>
          <p:cNvPr id="27" name="text-qo0zn3">
            <a:extLst xmlns:a="http://schemas.openxmlformats.org/drawingml/2006/main">
              <a:ext uri="{FF2B5EF4-FFF2-40B4-BE49-F238E27FC236}">
                <a16:creationId xmlns:a16="http://schemas.microsoft.com/office/drawing/2014/main" id="{03867DD9-BAFD-417C-A3CB-20E9B0727B61}"/>
              </a:ext>
            </a:extLst>
          </p:cNvPr>
          <p:cNvSpPr>
            <a:spLocks xmlns:a="http://schemas.openxmlformats.org/drawingml/2006/main" noGrp="1"/>
          </p:cNvSpPr>
          <p:nvPr/>
        </p:nvSpPr>
        <p:spPr>
          <a:xfrm xmlns:a="http://schemas.openxmlformats.org/drawingml/2006/main">
            <a:off x="983742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05</a:t>
            </a:r>
          </a:p>
        </p:txBody>
      </p:sp>
      <p:sp>
        <p:nvSpPr>
          <p:cNvPr id="28" name="text-fk5qnm">
            <a:extLst xmlns:a="http://schemas.openxmlformats.org/drawingml/2006/main">
              <a:ext uri="{FF2B5EF4-FFF2-40B4-BE49-F238E27FC236}">
                <a16:creationId xmlns:a16="http://schemas.microsoft.com/office/drawing/2014/main" id="{7565E517-6879-4F7D-9C97-F5BC8AB2A3DA}"/>
              </a:ext>
            </a:extLst>
          </p:cNvPr>
          <p:cNvSpPr>
            <a:spLocks xmlns:a="http://schemas.openxmlformats.org/drawingml/2006/main" noGrp="1"/>
          </p:cNvSpPr>
          <p:nvPr/>
        </p:nvSpPr>
        <p:spPr>
          <a:xfrm xmlns:a="http://schemas.openxmlformats.org/drawingml/2006/main">
            <a:off x="983742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Chấm +</a:t>
            </a:r>
          </a:p>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calibration</a:t>
            </a:r>
          </a:p>
        </p:txBody>
      </p:sp>
      <p:sp>
        <p:nvSpPr>
          <p:cNvPr id="29" name="text-731ol2">
            <a:extLst xmlns:a="http://schemas.openxmlformats.org/drawingml/2006/main">
              <a:ext uri="{FF2B5EF4-FFF2-40B4-BE49-F238E27FC236}">
                <a16:creationId xmlns:a16="http://schemas.microsoft.com/office/drawing/2014/main" id="{93452E03-F39E-4ACD-98C9-D56CC8B69242}"/>
              </a:ext>
            </a:extLst>
          </p:cNvPr>
          <p:cNvSpPr>
            <a:spLocks xmlns:a="http://schemas.openxmlformats.org/drawingml/2006/main" noGrp="1"/>
          </p:cNvSpPr>
          <p:nvPr/>
        </p:nvSpPr>
        <p:spPr>
          <a:xfrm xmlns:a="http://schemas.openxmlformats.org/drawingml/2006/main">
            <a:off x="983742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Xác suất A2/B1/B2 và cờ cần giảng viên duyệt.</a:t>
            </a:r>
          </a:p>
        </p:txBody>
      </p:sp>
      <p:sp>
        <p:nvSpPr>
          <p:cNvPr id="30" name="callout-685tc">
            <a:extLst xmlns:a="http://schemas.openxmlformats.org/drawingml/2006/main">
              <a:ext uri="{FF2B5EF4-FFF2-40B4-BE49-F238E27FC236}">
                <a16:creationId xmlns:a16="http://schemas.microsoft.com/office/drawing/2014/main" id="{57E4BDAE-E77A-4F65-A739-E12A71C5ED2F}"/>
              </a:ext>
            </a:extLst>
          </p:cNvPr>
          <p:cNvSpPr>
            <a:spLocks xmlns:a="http://schemas.openxmlformats.org/drawingml/2006/main" noGrp="1"/>
          </p:cNvSpPr>
          <p:nvPr/>
        </p:nvSpPr>
        <p:spPr>
          <a:xfrm xmlns:a="http://schemas.openxmlformats.org/drawingml/2006/main">
            <a:off x="495300" y="5219700"/>
            <a:ext cx="11201400" cy="762000"/>
          </a:xfrm>
          <a:prstGeom xmlns:a="http://schemas.openxmlformats.org/drawingml/2006/main" prst="roundRect">
            <a:avLst>
              <a:gd name="adj" fmla="val 7500"/>
            </a:avLst>
          </a:prstGeom>
          <a:solidFill xmlns:a="http://schemas.openxmlformats.org/drawingml/2006/main">
            <a:srgbClr val="E9F6EF"/>
          </a:solidFill>
          <a:ln xmlns:a="http://schemas.openxmlformats.org/drawingml/2006/main" w="9525">
            <a:solidFill>
              <a:srgbClr val="2E8B57"/>
            </a:solidFill>
            <a:prstDash val="solid"/>
          </a:ln>
        </p:spPr>
      </p:sp>
      <p:sp>
        <p:nvSpPr>
          <p:cNvPr id="31" name="callout-text">
            <a:extLst xmlns:a="http://schemas.openxmlformats.org/drawingml/2006/main">
              <a:ext uri="{FF2B5EF4-FFF2-40B4-BE49-F238E27FC236}">
                <a16:creationId xmlns:a16="http://schemas.microsoft.com/office/drawing/2014/main" id="{92E9A3A9-1328-4D33-9A0C-DD6B9F6467E9}"/>
              </a:ext>
            </a:extLst>
          </p:cNvPr>
          <p:cNvSpPr>
            <a:spLocks xmlns:a="http://schemas.openxmlformats.org/drawingml/2006/main" noGrp="1"/>
          </p:cNvSpPr>
          <p:nvPr/>
        </p:nvSpPr>
        <p:spPr>
          <a:xfrm xmlns:a="http://schemas.openxmlformats.org/drawingml/2006/main">
            <a:off x="666750" y="535305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2E8B57"/>
                </a:solidFill>
                <a:latin typeface="Arial"/>
                <a:ea typeface="Arial"/>
                <a:cs typeface="Arial"/>
              </a:defRPr>
            </a:pPr>
            <a:r>
              <a:rPr sz="1500" b="1" i="0">
                <a:solidFill>
                  <a:srgbClr val="2E8B57"/>
                </a:solidFill>
                <a:latin typeface="Arial"/>
                <a:ea typeface="Arial"/>
                <a:cs typeface="Arial"/>
              </a:rPr>
              <a:t>Nguyên tắc: bằng chứng được tạo trước; lời giải thích được sinh sau và phải truy ngược được về bằng chứng.</a:t>
            </a:r>
          </a:p>
        </p:txBody>
      </p:sp>
    </p:spTree>
    <p:extLst>
      <p:ext uri="{BB962C8B-B14F-4D97-AF65-F5344CB8AC3E}">
        <p14:creationId xmlns:p14="http://schemas.microsoft.com/office/powerpoint/2010/main" val="12533767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11F11570-0E18-4DC4-89D7-C4DC603D42E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BƯỚC 1 • QUALITY GATE</a:t>
            </a:r>
          </a:p>
        </p:txBody>
      </p:sp>
      <p:sp>
        <p:nvSpPr>
          <p:cNvPr id="2" name="slide-title">
            <a:extLst xmlns:a="http://schemas.openxmlformats.org/drawingml/2006/main">
              <a:ext uri="{FF2B5EF4-FFF2-40B4-BE49-F238E27FC236}">
                <a16:creationId xmlns:a16="http://schemas.microsoft.com/office/drawing/2014/main" id="{55331B3C-C52C-4E3D-B2AD-9148FB70D5DC}"/>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Hệ thống phải biết khi nào không nên chấm</a:t>
            </a:r>
          </a:p>
        </p:txBody>
      </p:sp>
      <p:sp>
        <p:nvSpPr>
          <p:cNvPr id="3" name="rule">
            <a:extLst xmlns:a="http://schemas.openxmlformats.org/drawingml/2006/main">
              <a:ext uri="{FF2B5EF4-FFF2-40B4-BE49-F238E27FC236}">
                <a16:creationId xmlns:a16="http://schemas.microsoft.com/office/drawing/2014/main" id="{98716CF2-AA78-4BC5-ABE6-C9246FB54B2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853D4191-F16F-409B-BDC5-2ECE10B1081A}"/>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BƯỚC 1 • QUALITY GATE</a:t>
            </a:r>
          </a:p>
        </p:txBody>
      </p:sp>
      <p:sp>
        <p:nvSpPr>
          <p:cNvPr id="5" name="footer-number">
            <a:extLst xmlns:a="http://schemas.openxmlformats.org/drawingml/2006/main">
              <a:ext uri="{FF2B5EF4-FFF2-40B4-BE49-F238E27FC236}">
                <a16:creationId xmlns:a16="http://schemas.microsoft.com/office/drawing/2014/main" id="{2798EF68-403D-4C91-B090-71A2C6628FD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13</a:t>
            </a:r>
          </a:p>
        </p:txBody>
      </p:sp>
      <p:sp>
        <p:nvSpPr>
          <p:cNvPr id="6" name="rule">
            <a:extLst xmlns:a="http://schemas.openxmlformats.org/drawingml/2006/main">
              <a:ext uri="{FF2B5EF4-FFF2-40B4-BE49-F238E27FC236}">
                <a16:creationId xmlns:a16="http://schemas.microsoft.com/office/drawing/2014/main" id="{782F45C4-B05E-4BB6-B82A-DE6890C07653}"/>
              </a:ext>
            </a:extLst>
          </p:cNvPr>
          <p:cNvSpPr>
            <a:spLocks xmlns:a="http://schemas.openxmlformats.org/drawingml/2006/main" noGrp="1"/>
          </p:cNvSpPr>
          <p:nvPr/>
        </p:nvSpPr>
        <p:spPr>
          <a:xfrm xmlns:a="http://schemas.openxmlformats.org/drawingml/2006/main">
            <a:off x="6096000" y="1581150"/>
            <a:ext cx="19050" cy="0"/>
          </a:xfrm>
          <a:prstGeom xmlns:a="http://schemas.openxmlformats.org/drawingml/2006/main" prst="rect">
            <a:avLst/>
          </a:prstGeom>
          <a:ln xmlns:a="http://schemas.openxmlformats.org/drawingml/2006/main" w="0">
            <a:prstDash val="solid"/>
          </a:ln>
        </p:spPr>
      </p:sp>
      <p:sp>
        <p:nvSpPr>
          <p:cNvPr id="7" name="rule">
            <a:extLst xmlns:a="http://schemas.openxmlformats.org/drawingml/2006/main">
              <a:ext uri="{FF2B5EF4-FFF2-40B4-BE49-F238E27FC236}">
                <a16:creationId xmlns:a16="http://schemas.microsoft.com/office/drawing/2014/main" id="{BBB0A84D-FF34-4C01-80BC-79066D87B52D}"/>
              </a:ext>
            </a:extLst>
          </p:cNvPr>
          <p:cNvSpPr>
            <a:spLocks xmlns:a="http://schemas.openxmlformats.org/drawingml/2006/main" noGrp="1"/>
          </p:cNvSpPr>
          <p:nvPr/>
        </p:nvSpPr>
        <p:spPr>
          <a:xfrm xmlns:a="http://schemas.openxmlformats.org/drawingml/2006/main">
            <a:off x="495300" y="3486150"/>
            <a:ext cx="11201400" cy="0"/>
          </a:xfrm>
          <a:prstGeom xmlns:a="http://schemas.openxmlformats.org/drawingml/2006/main" prst="rect">
            <a:avLst/>
          </a:prstGeom>
          <a:ln xmlns:a="http://schemas.openxmlformats.org/drawingml/2006/main" w="0">
            <a:prstDash val="solid"/>
          </a:ln>
        </p:spPr>
      </p:sp>
      <p:sp>
        <p:nvSpPr>
          <p:cNvPr id="8" name="text-fbvw48">
            <a:extLst xmlns:a="http://schemas.openxmlformats.org/drawingml/2006/main">
              <a:ext uri="{FF2B5EF4-FFF2-40B4-BE49-F238E27FC236}">
                <a16:creationId xmlns:a16="http://schemas.microsoft.com/office/drawing/2014/main" id="{A9C97F5A-B5E5-40E6-B8FD-D6AFE4F6DF4E}"/>
              </a:ext>
            </a:extLst>
          </p:cNvPr>
          <p:cNvSpPr>
            <a:spLocks xmlns:a="http://schemas.openxmlformats.org/drawingml/2006/main" noGrp="1"/>
          </p:cNvSpPr>
          <p:nvPr/>
        </p:nvSpPr>
        <p:spPr>
          <a:xfrm xmlns:a="http://schemas.openxmlformats.org/drawingml/2006/main">
            <a:off x="4953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Quá ngắn</a:t>
            </a:r>
          </a:p>
        </p:txBody>
      </p:sp>
      <p:sp>
        <p:nvSpPr>
          <p:cNvPr id="9" name="text-sc0uz9">
            <a:extLst xmlns:a="http://schemas.openxmlformats.org/drawingml/2006/main">
              <a:ext uri="{FF2B5EF4-FFF2-40B4-BE49-F238E27FC236}">
                <a16:creationId xmlns:a16="http://schemas.microsoft.com/office/drawing/2014/main" id="{19DCB866-7344-4A2C-BD30-30BF86DFD118}"/>
              </a:ext>
            </a:extLst>
          </p:cNvPr>
          <p:cNvSpPr>
            <a:spLocks xmlns:a="http://schemas.openxmlformats.org/drawingml/2006/main" noGrp="1"/>
          </p:cNvSpPr>
          <p:nvPr/>
        </p:nvSpPr>
        <p:spPr>
          <a:xfrm xmlns:a="http://schemas.openxmlformats.org/drawingml/2006/main">
            <a:off x="4953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Bài nói không đủ thời lượng hoặc không hoàn thành nhiệm vụ → yêu cầu ghi lại.</a:t>
            </a:r>
          </a:p>
        </p:txBody>
      </p:sp>
      <p:sp>
        <p:nvSpPr>
          <p:cNvPr id="10" name="text-1mcr8h">
            <a:extLst xmlns:a="http://schemas.openxmlformats.org/drawingml/2006/main">
              <a:ext uri="{FF2B5EF4-FFF2-40B4-BE49-F238E27FC236}">
                <a16:creationId xmlns:a16="http://schemas.microsoft.com/office/drawing/2014/main" id="{3FA482A2-C469-4EE9-8A72-BB39A04A0351}"/>
              </a:ext>
            </a:extLst>
          </p:cNvPr>
          <p:cNvSpPr>
            <a:spLocks xmlns:a="http://schemas.openxmlformats.org/drawingml/2006/main" noGrp="1"/>
          </p:cNvSpPr>
          <p:nvPr/>
        </p:nvSpPr>
        <p:spPr>
          <a:xfrm xmlns:a="http://schemas.openxmlformats.org/drawingml/2006/main">
            <a:off x="62865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Âm thanh hỏng</a:t>
            </a:r>
          </a:p>
        </p:txBody>
      </p:sp>
      <p:sp>
        <p:nvSpPr>
          <p:cNvPr id="11" name="text-5o50s2">
            <a:extLst xmlns:a="http://schemas.openxmlformats.org/drawingml/2006/main">
              <a:ext uri="{FF2B5EF4-FFF2-40B4-BE49-F238E27FC236}">
                <a16:creationId xmlns:a16="http://schemas.microsoft.com/office/drawing/2014/main" id="{73BB52F2-BB7F-405A-A896-837325E4AF3B}"/>
              </a:ext>
            </a:extLst>
          </p:cNvPr>
          <p:cNvSpPr>
            <a:spLocks xmlns:a="http://schemas.openxmlformats.org/drawingml/2006/main" noGrp="1"/>
          </p:cNvSpPr>
          <p:nvPr/>
        </p:nvSpPr>
        <p:spPr>
          <a:xfrm xmlns:a="http://schemas.openxmlformats.org/drawingml/2006/main">
            <a:off x="62865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Clipping, âm lượng quá nhỏ, file lỗi hoặc tiếng ồn quá lớn → invalid/review.</a:t>
            </a:r>
          </a:p>
        </p:txBody>
      </p:sp>
      <p:sp>
        <p:nvSpPr>
          <p:cNvPr id="12" name="text-vre09x">
            <a:extLst xmlns:a="http://schemas.openxmlformats.org/drawingml/2006/main">
              <a:ext uri="{FF2B5EF4-FFF2-40B4-BE49-F238E27FC236}">
                <a16:creationId xmlns:a16="http://schemas.microsoft.com/office/drawing/2014/main" id="{173B970F-E846-4F39-9713-E4ED3E1564E7}"/>
              </a:ext>
            </a:extLst>
          </p:cNvPr>
          <p:cNvSpPr>
            <a:spLocks xmlns:a="http://schemas.openxmlformats.org/drawingml/2006/main" noGrp="1"/>
          </p:cNvSpPr>
          <p:nvPr/>
        </p:nvSpPr>
        <p:spPr>
          <a:xfrm xmlns:a="http://schemas.openxmlformats.org/drawingml/2006/main">
            <a:off x="4953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Không đúng đầu bài</a:t>
            </a:r>
          </a:p>
        </p:txBody>
      </p:sp>
      <p:sp>
        <p:nvSpPr>
          <p:cNvPr id="13" name="text-r93ziu">
            <a:extLst xmlns:a="http://schemas.openxmlformats.org/drawingml/2006/main">
              <a:ext uri="{FF2B5EF4-FFF2-40B4-BE49-F238E27FC236}">
                <a16:creationId xmlns:a16="http://schemas.microsoft.com/office/drawing/2014/main" id="{8729E3F8-DDC2-4D98-81FE-E09CC98DB17D}"/>
              </a:ext>
            </a:extLst>
          </p:cNvPr>
          <p:cNvSpPr>
            <a:spLocks xmlns:a="http://schemas.openxmlformats.org/drawingml/2006/main" noGrp="1"/>
          </p:cNvSpPr>
          <p:nvPr/>
        </p:nvSpPr>
        <p:spPr>
          <a:xfrm xmlns:a="http://schemas.openxmlformats.org/drawingml/2006/main">
            <a:off x="4953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Nói sai ngôn ngữ hoặc hoàn toàn lệch chủ đề → không tạo điểm giả.</a:t>
            </a:r>
          </a:p>
        </p:txBody>
      </p:sp>
      <p:sp>
        <p:nvSpPr>
          <p:cNvPr id="14" name="text-9rqhmd">
            <a:extLst xmlns:a="http://schemas.openxmlformats.org/drawingml/2006/main">
              <a:ext uri="{FF2B5EF4-FFF2-40B4-BE49-F238E27FC236}">
                <a16:creationId xmlns:a16="http://schemas.microsoft.com/office/drawing/2014/main" id="{962884E1-FB8D-4F64-9C77-278B3EE76EAA}"/>
              </a:ext>
            </a:extLst>
          </p:cNvPr>
          <p:cNvSpPr>
            <a:spLocks xmlns:a="http://schemas.openxmlformats.org/drawingml/2006/main" noGrp="1"/>
          </p:cNvSpPr>
          <p:nvPr/>
        </p:nvSpPr>
        <p:spPr>
          <a:xfrm xmlns:a="http://schemas.openxmlformats.org/drawingml/2006/main">
            <a:off x="62865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ASR có nguy cơ sai</a:t>
            </a:r>
          </a:p>
        </p:txBody>
      </p:sp>
      <p:sp>
        <p:nvSpPr>
          <p:cNvPr id="15" name="text-jgzg26">
            <a:extLst xmlns:a="http://schemas.openxmlformats.org/drawingml/2006/main">
              <a:ext uri="{FF2B5EF4-FFF2-40B4-BE49-F238E27FC236}">
                <a16:creationId xmlns:a16="http://schemas.microsoft.com/office/drawing/2014/main" id="{8BA43317-116C-4AC2-9192-6E0A5E49C069}"/>
              </a:ext>
            </a:extLst>
          </p:cNvPr>
          <p:cNvSpPr>
            <a:spLocks xmlns:a="http://schemas.openxmlformats.org/drawingml/2006/main" noGrp="1"/>
          </p:cNvSpPr>
          <p:nvPr/>
        </p:nvSpPr>
        <p:spPr>
          <a:xfrm xmlns:a="http://schemas.openxmlformats.org/drawingml/2006/main">
            <a:off x="62865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Confidence thấp hoặc nhiều đoạn vô nghĩa → gắn cờ và giữ audio để giảng viên nghe.</a:t>
            </a:r>
          </a:p>
        </p:txBody>
      </p:sp>
    </p:spTree>
    <p:extLst>
      <p:ext uri="{BB962C8B-B14F-4D97-AF65-F5344CB8AC3E}">
        <p14:creationId xmlns:p14="http://schemas.microsoft.com/office/powerpoint/2010/main" val="6456141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ECB84592-61FF-44BE-8A68-B5D2192FF55A}"/>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BƯỚC 2 • NHẬN DẠNG GIỌNG NÓI</a:t>
            </a:r>
          </a:p>
        </p:txBody>
      </p:sp>
      <p:sp>
        <p:nvSpPr>
          <p:cNvPr id="2" name="slide-title">
            <a:extLst xmlns:a="http://schemas.openxmlformats.org/drawingml/2006/main">
              <a:ext uri="{FF2B5EF4-FFF2-40B4-BE49-F238E27FC236}">
                <a16:creationId xmlns:a16="http://schemas.microsoft.com/office/drawing/2014/main" id="{BABA8D85-1059-46B9-9F56-AC600D2F9A96}"/>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Whisper tạo bản chép lời – nhưng bản chép lời không phải sự thật tuyệt đối</a:t>
            </a:r>
          </a:p>
        </p:txBody>
      </p:sp>
      <p:sp>
        <p:nvSpPr>
          <p:cNvPr id="3" name="rule">
            <a:extLst xmlns:a="http://schemas.openxmlformats.org/drawingml/2006/main">
              <a:ext uri="{FF2B5EF4-FFF2-40B4-BE49-F238E27FC236}">
                <a16:creationId xmlns:a16="http://schemas.microsoft.com/office/drawing/2014/main" id="{01D23E05-DE6D-4F25-97DB-1F8C0A71CE8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4E5042EE-93FF-40D9-BF21-6535D4418FAA}"/>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BƯỚC 2 • NHẬN DẠNG GIỌNG NÓI</a:t>
            </a:r>
          </a:p>
        </p:txBody>
      </p:sp>
      <p:sp>
        <p:nvSpPr>
          <p:cNvPr id="5" name="footer-number">
            <a:extLst xmlns:a="http://schemas.openxmlformats.org/drawingml/2006/main">
              <a:ext uri="{FF2B5EF4-FFF2-40B4-BE49-F238E27FC236}">
                <a16:creationId xmlns:a16="http://schemas.microsoft.com/office/drawing/2014/main" id="{7901EC04-A0D1-4DD1-AE53-3FE4309A1601}"/>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14</a:t>
            </a:r>
          </a:p>
        </p:txBody>
      </p:sp>
      <p:sp>
        <p:nvSpPr>
          <p:cNvPr id="6" name="text-iwkrs0">
            <a:extLst xmlns:a="http://schemas.openxmlformats.org/drawingml/2006/main">
              <a:ext uri="{FF2B5EF4-FFF2-40B4-BE49-F238E27FC236}">
                <a16:creationId xmlns:a16="http://schemas.microsoft.com/office/drawing/2014/main" id="{46DED887-535B-49B4-B3CC-9F7A580E909F}"/>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Whisper cung cấp</a:t>
            </a:r>
          </a:p>
        </p:txBody>
      </p:sp>
      <p:sp>
        <p:nvSpPr>
          <p:cNvPr id="7" name="text-txgk2g">
            <a:extLst xmlns:a="http://schemas.openxmlformats.org/drawingml/2006/main">
              <a:ext uri="{FF2B5EF4-FFF2-40B4-BE49-F238E27FC236}">
                <a16:creationId xmlns:a16="http://schemas.microsoft.com/office/drawing/2014/main" id="{1E8AB708-BF9F-4A7B-BADA-5EDC0C46A4AB}"/>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Transcript thô của bài nói.</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Timestamp cho từng từ hoặc đoạn.</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Thông tin confidence/ước lượng rủi ro.</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Khả năng chạy local qua faster-whisper.</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Dữ liệu để tìm bằng chứng trong báo cáo.</a:t>
            </a:r>
          </a:p>
        </p:txBody>
      </p:sp>
      <p:sp>
        <p:nvSpPr>
          <p:cNvPr id="8" name="rule">
            <a:extLst xmlns:a="http://schemas.openxmlformats.org/drawingml/2006/main">
              <a:ext uri="{FF2B5EF4-FFF2-40B4-BE49-F238E27FC236}">
                <a16:creationId xmlns:a16="http://schemas.microsoft.com/office/drawing/2014/main" id="{F125D17F-B707-4DA8-9F8A-8820045D8F9C}"/>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opx27t">
            <a:extLst xmlns:a="http://schemas.openxmlformats.org/drawingml/2006/main">
              <a:ext uri="{FF2B5EF4-FFF2-40B4-BE49-F238E27FC236}">
                <a16:creationId xmlns:a16="http://schemas.microsoft.com/office/drawing/2014/main" id="{901AAED8-682C-4A0A-9B96-BEE2FF2BE263}"/>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Whisper có thể sai vì</a:t>
            </a:r>
          </a:p>
        </p:txBody>
      </p:sp>
      <p:sp>
        <p:nvSpPr>
          <p:cNvPr id="10" name="text-i9cu2m">
            <a:extLst xmlns:a="http://schemas.openxmlformats.org/drawingml/2006/main">
              <a:ext uri="{FF2B5EF4-FFF2-40B4-BE49-F238E27FC236}">
                <a16:creationId xmlns:a16="http://schemas.microsoft.com/office/drawing/2014/main" id="{181C2C71-8376-4285-A624-9FCAD9AA39FF}"/>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Accent Việt và cách phát âm L2.</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Tiếng ồn, micro hoặc âm lượng.</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Từ riêng, từ hiếm và code-switching.</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Nói ngập ngừng hoặc tự sửa.</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Model nhỏ/CPU có độ chính xác thấp hơn.</a:t>
            </a:r>
          </a:p>
        </p:txBody>
      </p:sp>
      <p:sp>
        <p:nvSpPr>
          <p:cNvPr id="11" name="callout-7m09j">
            <a:extLst xmlns:a="http://schemas.openxmlformats.org/drawingml/2006/main">
              <a:ext uri="{FF2B5EF4-FFF2-40B4-BE49-F238E27FC236}">
                <a16:creationId xmlns:a16="http://schemas.microsoft.com/office/drawing/2014/main" id="{2A3C2419-3F9E-49E2-A943-57B65C744591}"/>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FFF3D6"/>
          </a:solidFill>
          <a:ln xmlns:a="http://schemas.openxmlformats.org/drawingml/2006/main" w="9525">
            <a:solidFill>
              <a:srgbClr val="A66A00"/>
            </a:solidFill>
            <a:prstDash val="solid"/>
          </a:ln>
        </p:spPr>
      </p:sp>
      <p:sp>
        <p:nvSpPr>
          <p:cNvPr id="12" name="callout-text">
            <a:extLst xmlns:a="http://schemas.openxmlformats.org/drawingml/2006/main">
              <a:ext uri="{FF2B5EF4-FFF2-40B4-BE49-F238E27FC236}">
                <a16:creationId xmlns:a16="http://schemas.microsoft.com/office/drawing/2014/main" id="{0F5BC7BA-4BA0-49DC-A5F9-C0CE621C1F91}"/>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A66A00"/>
                </a:solidFill>
                <a:latin typeface="Arial"/>
                <a:ea typeface="Arial"/>
                <a:cs typeface="Arial"/>
              </a:defRPr>
            </a:pPr>
            <a:r>
              <a:rPr sz="1500" b="1" i="0">
                <a:solidFill>
                  <a:srgbClr val="A66A00"/>
                </a:solidFill>
                <a:latin typeface="Arial"/>
                <a:ea typeface="Arial"/>
                <a:cs typeface="Arial"/>
              </a:rPr>
              <a:t>Giải pháp: đo WER trên một tập transcript chép tay và phân tích mối liên hệ giữa lỗi ASR với lỗi chấm.</a:t>
            </a:r>
          </a:p>
        </p:txBody>
      </p:sp>
    </p:spTree>
    <p:extLst>
      <p:ext uri="{BB962C8B-B14F-4D97-AF65-F5344CB8AC3E}">
        <p14:creationId xmlns:p14="http://schemas.microsoft.com/office/powerpoint/2010/main" val="16125706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B836E912-9291-4751-B348-513E23647386}"/>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BƯỚC 3 • TRÍCH XUẤT ĐẶC TRƯNG</a:t>
            </a:r>
          </a:p>
        </p:txBody>
      </p:sp>
      <p:sp>
        <p:nvSpPr>
          <p:cNvPr id="2" name="slide-title">
            <a:extLst xmlns:a="http://schemas.openxmlformats.org/drawingml/2006/main">
              <a:ext uri="{FF2B5EF4-FFF2-40B4-BE49-F238E27FC236}">
                <a16:creationId xmlns:a16="http://schemas.microsoft.com/office/drawing/2014/main" id="{19CBE110-F35E-48C0-9C38-A5E6AE7696EF}"/>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Ba nhánh bằng chứng được tạo độc lập</a:t>
            </a:r>
          </a:p>
        </p:txBody>
      </p:sp>
      <p:sp>
        <p:nvSpPr>
          <p:cNvPr id="3" name="slide-subtitle">
            <a:extLst xmlns:a="http://schemas.openxmlformats.org/drawingml/2006/main">
              <a:ext uri="{FF2B5EF4-FFF2-40B4-BE49-F238E27FC236}">
                <a16:creationId xmlns:a16="http://schemas.microsoft.com/office/drawing/2014/main" id="{19C65178-2FC7-486A-8EDA-B8B4F52AABCF}"/>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Tách nhánh giúp biết mô hình đang dựa vào đâu và kiểm tra được khi một nguồn bị sai.</a:t>
            </a:r>
          </a:p>
        </p:txBody>
      </p:sp>
      <p:sp>
        <p:nvSpPr>
          <p:cNvPr id="4" name="rule">
            <a:extLst xmlns:a="http://schemas.openxmlformats.org/drawingml/2006/main">
              <a:ext uri="{FF2B5EF4-FFF2-40B4-BE49-F238E27FC236}">
                <a16:creationId xmlns:a16="http://schemas.microsoft.com/office/drawing/2014/main" id="{3A6EE0A8-7D75-4671-A294-39EC390312D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60BB4C1D-799F-42B7-97C7-D20035733BE9}"/>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BƯỚC 3 • TRÍCH XUẤT ĐẶC TRƯNG</a:t>
            </a:r>
          </a:p>
        </p:txBody>
      </p:sp>
      <p:sp>
        <p:nvSpPr>
          <p:cNvPr id="6" name="footer-number">
            <a:extLst xmlns:a="http://schemas.openxmlformats.org/drawingml/2006/main">
              <a:ext uri="{FF2B5EF4-FFF2-40B4-BE49-F238E27FC236}">
                <a16:creationId xmlns:a16="http://schemas.microsoft.com/office/drawing/2014/main" id="{6799D18D-3A13-444E-9B26-FEA9F27CBEB2}"/>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15</a:t>
            </a:r>
          </a:p>
        </p:txBody>
      </p:sp>
      <p:graphicFrame>
        <p:nvGraphicFramePr>
          <p:cNvPr id="16" name=""/>
          <p:cNvGraphicFramePr/>
          <p:nvPr/>
        </p:nvGraphicFramePr>
        <p:xfrm>
          <a:off xmlns:a="http://schemas.openxmlformats.org/drawingml/2006/main" x="495300" y="1885950"/>
          <a:ext xmlns:a="http://schemas.openxmlformats.org/drawingml/2006/main" cx="11201400" cy="3524250"/>
        </p:xfrm>
        <a:graphic xmlns:a="http://schemas.openxmlformats.org/drawingml/2006/main">
          <a:graphicData uri="http://schemas.openxmlformats.org/drawingml/2006/table">
            <a:tbl>
              <a:tblPr firstRow="1" bandRow="1"/>
              <a:tblGrid>
                <a:gridCol w="1381125"/>
                <a:gridCol w="4429125"/>
                <a:gridCol w="2619375"/>
                <a:gridCol w="2771775"/>
              </a:tblGrid>
              <a:tr h="704850">
                <a:tc>
                  <a:txBody>
                    <a:bodyPr/>
                    <a:lstStyle/>
                    <a:p>
                      <a:r>
                        <a:rPr sz="1125" b="1">
                          <a:solidFill>
                            <a:srgbClr val="FFFFFF"/>
                          </a:solidFill>
                          <a:latin typeface="Arial"/>
                          <a:ea typeface="Arial"/>
                          <a:cs typeface="Arial"/>
                        </a:rPr>
                        <a:t>Nhánh</a:t>
                      </a:r>
                    </a:p>
                  </a:txBody>
                  <a:tcPr marL="76200" marR="76200" marT="66675" marB="66675">
                    <a:solidFill>
                      <a:srgbClr val="1859A9"/>
                    </a:solidFill>
                  </a:tcPr>
                </a:tc>
                <a:tc>
                  <a:txBody>
                    <a:bodyPr/>
                    <a:lstStyle/>
                    <a:p>
                      <a:r>
                        <a:rPr sz="1125" b="1">
                          <a:solidFill>
                            <a:srgbClr val="FFFFFF"/>
                          </a:solidFill>
                          <a:latin typeface="Arial"/>
                          <a:ea typeface="Arial"/>
                          <a:cs typeface="Arial"/>
                        </a:rPr>
                        <a:t>Ví dụ đặc trưng</a:t>
                      </a:r>
                    </a:p>
                  </a:txBody>
                  <a:tcPr marL="76200" marR="76200" marT="66675" marB="66675">
                    <a:solidFill>
                      <a:srgbClr val="1859A9"/>
                    </a:solidFill>
                  </a:tcPr>
                </a:tc>
                <a:tc>
                  <a:txBody>
                    <a:bodyPr/>
                    <a:lstStyle/>
                    <a:p>
                      <a:r>
                        <a:rPr sz="1125" b="1">
                          <a:solidFill>
                            <a:srgbClr val="FFFFFF"/>
                          </a:solidFill>
                          <a:latin typeface="Arial"/>
                          <a:ea typeface="Arial"/>
                          <a:cs typeface="Arial"/>
                        </a:rPr>
                        <a:t>Dùng cho</a:t>
                      </a:r>
                    </a:p>
                  </a:txBody>
                  <a:tcPr marL="76200" marR="76200" marT="66675" marB="66675">
                    <a:solidFill>
                      <a:srgbClr val="1859A9"/>
                    </a:solidFill>
                  </a:tcPr>
                </a:tc>
                <a:tc>
                  <a:txBody>
                    <a:bodyPr/>
                    <a:lstStyle/>
                    <a:p>
                      <a:r>
                        <a:rPr sz="1125" b="1">
                          <a:solidFill>
                            <a:srgbClr val="FFFFFF"/>
                          </a:solidFill>
                          <a:latin typeface="Arial"/>
                          <a:ea typeface="Arial"/>
                          <a:cs typeface="Arial"/>
                        </a:rPr>
                        <a:t>Không được suy diễn</a:t>
                      </a:r>
                    </a:p>
                  </a:txBody>
                  <a:tcPr marL="76200" marR="76200" marT="66675" marB="66675">
                    <a:solidFill>
                      <a:srgbClr val="1859A9"/>
                    </a:solidFill>
                  </a:tcPr>
                </a:tc>
              </a:tr>
              <a:tr h="704850">
                <a:tc>
                  <a:txBody>
                    <a:bodyPr/>
                    <a:lstStyle/>
                    <a:p>
                      <a:r>
                        <a:rPr sz="1125">
                          <a:solidFill>
                            <a:srgbClr val="111827"/>
                          </a:solidFill>
                          <a:latin typeface="Arial"/>
                          <a:ea typeface="Arial"/>
                          <a:cs typeface="Arial"/>
                        </a:rPr>
                        <a:t>Audio</a:t>
                      </a:r>
                    </a:p>
                  </a:txBody>
                  <a:tcPr marL="76200" marR="76200" marT="66675" marB="66675"/>
                </a:tc>
                <a:tc>
                  <a:txBody>
                    <a:bodyPr/>
                    <a:lstStyle/>
                    <a:p>
                      <a:r>
                        <a:rPr sz="1125">
                          <a:solidFill>
                            <a:srgbClr val="111827"/>
                          </a:solidFill>
                          <a:latin typeface="Arial"/>
                          <a:ea typeface="Arial"/>
                          <a:cs typeface="Arial"/>
                        </a:rPr>
                        <a:t>Duration, voiced ratio, pause, articulation rate, F0/rhythm</a:t>
                      </a:r>
                    </a:p>
                  </a:txBody>
                  <a:tcPr marL="76200" marR="76200" marT="66675" marB="66675"/>
                </a:tc>
                <a:tc>
                  <a:txBody>
                    <a:bodyPr/>
                    <a:lstStyle/>
                    <a:p>
                      <a:r>
                        <a:rPr sz="1125">
                          <a:solidFill>
                            <a:srgbClr val="111827"/>
                          </a:solidFill>
                          <a:latin typeface="Arial"/>
                          <a:ea typeface="Arial"/>
                          <a:cs typeface="Arial"/>
                        </a:rPr>
                        <a:t>Fluency, Phonology, quality</a:t>
                      </a:r>
                    </a:p>
                  </a:txBody>
                  <a:tcPr marL="76200" marR="76200" marT="66675" marB="66675"/>
                </a:tc>
                <a:tc>
                  <a:txBody>
                    <a:bodyPr/>
                    <a:lstStyle/>
                    <a:p>
                      <a:r>
                        <a:rPr sz="1125">
                          <a:solidFill>
                            <a:srgbClr val="111827"/>
                          </a:solidFill>
                          <a:latin typeface="Arial"/>
                          <a:ea typeface="Arial"/>
                          <a:cs typeface="Arial"/>
                        </a:rPr>
                        <a:t>Giới tính, cảm xúc, tính cách</a:t>
                      </a:r>
                    </a:p>
                  </a:txBody>
                  <a:tcPr marL="76200" marR="76200" marT="66675" marB="66675"/>
                </a:tc>
              </a:tr>
              <a:tr h="704850">
                <a:tc>
                  <a:txBody>
                    <a:bodyPr/>
                    <a:lstStyle/>
                    <a:p>
                      <a:r>
                        <a:rPr sz="1125">
                          <a:solidFill>
                            <a:srgbClr val="111827"/>
                          </a:solidFill>
                          <a:latin typeface="Arial"/>
                          <a:ea typeface="Arial"/>
                          <a:cs typeface="Arial"/>
                        </a:rPr>
                        <a:t>Text</a:t>
                      </a:r>
                    </a:p>
                  </a:txBody>
                  <a:tcPr marL="76200" marR="76200" marT="66675" marB="66675"/>
                </a:tc>
                <a:tc>
                  <a:txBody>
                    <a:bodyPr/>
                    <a:lstStyle/>
                    <a:p>
                      <a:r>
                        <a:rPr sz="1125">
                          <a:solidFill>
                            <a:srgbClr val="111827"/>
                          </a:solidFill>
                          <a:latin typeface="Arial"/>
                          <a:ea typeface="Arial"/>
                          <a:cs typeface="Arial"/>
                        </a:rPr>
                        <a:t>Từ vựng, cấu trúc, lỗi, từ nối, semantic relevance</a:t>
                      </a:r>
                    </a:p>
                  </a:txBody>
                  <a:tcPr marL="76200" marR="76200" marT="66675" marB="66675"/>
                </a:tc>
                <a:tc>
                  <a:txBody>
                    <a:bodyPr/>
                    <a:lstStyle/>
                    <a:p>
                      <a:r>
                        <a:rPr sz="1125">
                          <a:solidFill>
                            <a:srgbClr val="111827"/>
                          </a:solidFill>
                          <a:latin typeface="Arial"/>
                          <a:ea typeface="Arial"/>
                          <a:cs typeface="Arial"/>
                        </a:rPr>
                        <a:t>Range, Accuracy, Coherence</a:t>
                      </a:r>
                    </a:p>
                  </a:txBody>
                  <a:tcPr marL="76200" marR="76200" marT="66675" marB="66675"/>
                </a:tc>
                <a:tc>
                  <a:txBody>
                    <a:bodyPr/>
                    <a:lstStyle/>
                    <a:p>
                      <a:r>
                        <a:rPr sz="1125">
                          <a:solidFill>
                            <a:srgbClr val="111827"/>
                          </a:solidFill>
                          <a:latin typeface="Arial"/>
                          <a:ea typeface="Arial"/>
                          <a:cs typeface="Arial"/>
                        </a:rPr>
                        <a:t>Coi transcript ASR là ground truth</a:t>
                      </a:r>
                    </a:p>
                  </a:txBody>
                  <a:tcPr marL="76200" marR="76200" marT="66675" marB="66675"/>
                </a:tc>
              </a:tr>
              <a:tr h="704850">
                <a:tc>
                  <a:txBody>
                    <a:bodyPr/>
                    <a:lstStyle/>
                    <a:p>
                      <a:r>
                        <a:rPr sz="1125">
                          <a:solidFill>
                            <a:srgbClr val="111827"/>
                          </a:solidFill>
                          <a:latin typeface="Arial"/>
                          <a:ea typeface="Arial"/>
                          <a:cs typeface="Arial"/>
                        </a:rPr>
                        <a:t>Interaction</a:t>
                      </a:r>
                    </a:p>
                  </a:txBody>
                  <a:tcPr marL="76200" marR="76200" marT="66675" marB="66675"/>
                </a:tc>
                <a:tc>
                  <a:txBody>
                    <a:bodyPr/>
                    <a:lstStyle/>
                    <a:p>
                      <a:r>
                        <a:rPr sz="1125">
                          <a:solidFill>
                            <a:srgbClr val="111827"/>
                          </a:solidFill>
                          <a:latin typeface="Arial"/>
                          <a:ea typeface="Arial"/>
                          <a:cs typeface="Arial"/>
                        </a:rPr>
                        <a:t>Turn count, latency, clarification, follow-up, balance</a:t>
                      </a:r>
                    </a:p>
                  </a:txBody>
                  <a:tcPr marL="76200" marR="76200" marT="66675" marB="66675"/>
                </a:tc>
                <a:tc>
                  <a:txBody>
                    <a:bodyPr/>
                    <a:lstStyle/>
                    <a:p>
                      <a:r>
                        <a:rPr sz="1125">
                          <a:solidFill>
                            <a:srgbClr val="111827"/>
                          </a:solidFill>
                          <a:latin typeface="Arial"/>
                          <a:ea typeface="Arial"/>
                          <a:cs typeface="Arial"/>
                        </a:rPr>
                        <a:t>Interaction, task completion</a:t>
                      </a:r>
                    </a:p>
                  </a:txBody>
                  <a:tcPr marL="76200" marR="76200" marT="66675" marB="66675"/>
                </a:tc>
                <a:tc>
                  <a:txBody>
                    <a:bodyPr/>
                    <a:lstStyle/>
                    <a:p>
                      <a:r>
                        <a:rPr sz="1125">
                          <a:solidFill>
                            <a:srgbClr val="111827"/>
                          </a:solidFill>
                          <a:latin typeface="Arial"/>
                          <a:ea typeface="Arial"/>
                          <a:cs typeface="Arial"/>
                        </a:rPr>
                        <a:t>Chấm khi không có dialogue task</a:t>
                      </a:r>
                    </a:p>
                  </a:txBody>
                  <a:tcPr marL="76200" marR="76200" marT="66675" marB="66675"/>
                </a:tc>
              </a:tr>
              <a:tr h="704850">
                <a:tc>
                  <a:txBody>
                    <a:bodyPr/>
                    <a:lstStyle/>
                    <a:p>
                      <a:r>
                        <a:rPr sz="1125">
                          <a:solidFill>
                            <a:srgbClr val="111827"/>
                          </a:solidFill>
                          <a:latin typeface="Arial"/>
                          <a:ea typeface="Arial"/>
                          <a:cs typeface="Arial"/>
                        </a:rPr>
                        <a:t>Quality</a:t>
                      </a:r>
                    </a:p>
                  </a:txBody>
                  <a:tcPr marL="76200" marR="76200" marT="66675" marB="66675"/>
                </a:tc>
                <a:tc>
                  <a:txBody>
                    <a:bodyPr/>
                    <a:lstStyle/>
                    <a:p>
                      <a:r>
                        <a:rPr sz="1125">
                          <a:solidFill>
                            <a:srgbClr val="111827"/>
                          </a:solidFill>
                          <a:latin typeface="Arial"/>
                          <a:ea typeface="Arial"/>
                          <a:cs typeface="Arial"/>
                        </a:rPr>
                        <a:t>Noise proxy, clipping, silence, ASR risk</a:t>
                      </a:r>
                    </a:p>
                  </a:txBody>
                  <a:tcPr marL="76200" marR="76200" marT="66675" marB="66675"/>
                </a:tc>
                <a:tc>
                  <a:txBody>
                    <a:bodyPr/>
                    <a:lstStyle/>
                    <a:p>
                      <a:r>
                        <a:rPr sz="1125">
                          <a:solidFill>
                            <a:srgbClr val="111827"/>
                          </a:solidFill>
                          <a:latin typeface="Arial"/>
                          <a:ea typeface="Arial"/>
                          <a:cs typeface="Arial"/>
                        </a:rPr>
                        <a:t>Reject/review và error analysis</a:t>
                      </a:r>
                    </a:p>
                  </a:txBody>
                  <a:tcPr marL="76200" marR="76200" marT="66675" marB="66675"/>
                </a:tc>
                <a:tc>
                  <a:txBody>
                    <a:bodyPr/>
                    <a:lstStyle/>
                    <a:p>
                      <a:r>
                        <a:rPr sz="1125">
                          <a:solidFill>
                            <a:srgbClr val="111827"/>
                          </a:solidFill>
                          <a:latin typeface="Arial"/>
                          <a:ea typeface="Arial"/>
                          <a:cs typeface="Arial"/>
                        </a:rPr>
                        <a:t>Dùng trực tiếp làm điểm năng lực</a:t>
                      </a:r>
                    </a:p>
                  </a:txBody>
                  <a:tcPr marL="76200" marR="76200" marT="66675" marB="66675"/>
                </a:tc>
              </a:tr>
            </a:tbl>
          </a:graphicData>
        </a:graphic>
      </p:graphicFrame>
      <p:sp>
        <p:nvSpPr>
          <p:cNvPr id="8" name="callout-es5qn">
            <a:extLst xmlns:a="http://schemas.openxmlformats.org/drawingml/2006/main">
              <a:ext uri="{FF2B5EF4-FFF2-40B4-BE49-F238E27FC236}">
                <a16:creationId xmlns:a16="http://schemas.microsoft.com/office/drawing/2014/main" id="{1A6387C9-DF06-4DAF-B7E8-A719EEDDDBFD}"/>
              </a:ext>
            </a:extLst>
          </p:cNvPr>
          <p:cNvSpPr>
            <a:spLocks xmlns:a="http://schemas.openxmlformats.org/drawingml/2006/main" noGrp="1"/>
          </p:cNvSpPr>
          <p:nvPr/>
        </p:nvSpPr>
        <p:spPr>
          <a:xfrm xmlns:a="http://schemas.openxmlformats.org/drawingml/2006/main">
            <a:off x="495300" y="5619750"/>
            <a:ext cx="11201400" cy="552450"/>
          </a:xfrm>
          <a:prstGeom xmlns:a="http://schemas.openxmlformats.org/drawingml/2006/main" prst="roundRect">
            <a:avLst>
              <a:gd name="adj" fmla="val 10345"/>
            </a:avLst>
          </a:prstGeom>
          <a:solidFill xmlns:a="http://schemas.openxmlformats.org/drawingml/2006/main">
            <a:srgbClr val="EAF5FB"/>
          </a:solidFill>
          <a:ln xmlns:a="http://schemas.openxmlformats.org/drawingml/2006/main" w="9525">
            <a:solidFill>
              <a:srgbClr val="3D8DFF"/>
            </a:solidFill>
            <a:prstDash val="solid"/>
          </a:ln>
        </p:spPr>
      </p:sp>
      <p:sp>
        <p:nvSpPr>
          <p:cNvPr id="9" name="callout-text">
            <a:extLst xmlns:a="http://schemas.openxmlformats.org/drawingml/2006/main">
              <a:ext uri="{FF2B5EF4-FFF2-40B4-BE49-F238E27FC236}">
                <a16:creationId xmlns:a16="http://schemas.microsoft.com/office/drawing/2014/main" id="{D5A9235F-A65A-45D0-AA51-3689D3607297}"/>
              </a:ext>
            </a:extLst>
          </p:cNvPr>
          <p:cNvSpPr>
            <a:spLocks xmlns:a="http://schemas.openxmlformats.org/drawingml/2006/main" noGrp="1"/>
          </p:cNvSpPr>
          <p:nvPr/>
        </p:nvSpPr>
        <p:spPr>
          <a:xfrm xmlns:a="http://schemas.openxmlformats.org/drawingml/2006/main">
            <a:off x="666750" y="575310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859A9"/>
                </a:solidFill>
                <a:latin typeface="Arial"/>
                <a:ea typeface="Arial"/>
                <a:cs typeface="Arial"/>
              </a:defRPr>
            </a:pPr>
            <a:r>
              <a:rPr sz="1500" b="1" i="0">
                <a:solidFill>
                  <a:srgbClr val="1859A9"/>
                </a:solidFill>
                <a:latin typeface="Arial"/>
                <a:ea typeface="Arial"/>
                <a:cs typeface="Arial"/>
              </a:rPr>
              <a:t>Mỗi feature cần có version để thí nghiệm có thể chạy lại.</a:t>
            </a:r>
          </a:p>
        </p:txBody>
      </p:sp>
    </p:spTree>
    <p:extLst>
      <p:ext uri="{BB962C8B-B14F-4D97-AF65-F5344CB8AC3E}">
        <p14:creationId xmlns:p14="http://schemas.microsoft.com/office/powerpoint/2010/main" val="14033147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4B2C7109-F4E6-4622-BFFF-66EFE8BCDD3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BƯỚC 4 • MÔ HÌNH CHẤM</a:t>
            </a:r>
          </a:p>
        </p:txBody>
      </p:sp>
      <p:sp>
        <p:nvSpPr>
          <p:cNvPr id="2" name="slide-title">
            <a:extLst xmlns:a="http://schemas.openxmlformats.org/drawingml/2006/main">
              <a:ext uri="{FF2B5EF4-FFF2-40B4-BE49-F238E27FC236}">
                <a16:creationId xmlns:a16="http://schemas.microsoft.com/office/drawing/2014/main" id="{DEAA60B5-306F-47E7-900E-B22FD82E6C01}"/>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Mỗi tiêu chí nên trả xác suất thay vì một nhãn cứng</a:t>
            </a:r>
          </a:p>
        </p:txBody>
      </p:sp>
      <p:sp>
        <p:nvSpPr>
          <p:cNvPr id="3" name="rule">
            <a:extLst xmlns:a="http://schemas.openxmlformats.org/drawingml/2006/main">
              <a:ext uri="{FF2B5EF4-FFF2-40B4-BE49-F238E27FC236}">
                <a16:creationId xmlns:a16="http://schemas.microsoft.com/office/drawing/2014/main" id="{4B03A629-F41E-4E7A-8964-050CC2FC9E37}"/>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4ADC7930-53B8-4094-A14A-E779D802C0BE}"/>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BƯỚC 4 • MÔ HÌNH CHẤM</a:t>
            </a:r>
          </a:p>
        </p:txBody>
      </p:sp>
      <p:sp>
        <p:nvSpPr>
          <p:cNvPr id="5" name="footer-number">
            <a:extLst xmlns:a="http://schemas.openxmlformats.org/drawingml/2006/main">
              <a:ext uri="{FF2B5EF4-FFF2-40B4-BE49-F238E27FC236}">
                <a16:creationId xmlns:a16="http://schemas.microsoft.com/office/drawing/2014/main" id="{1AACA453-77F4-45F7-A25B-F31C41E86812}"/>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16</a:t>
            </a:r>
          </a:p>
        </p:txBody>
      </p:sp>
      <p:sp>
        <p:nvSpPr>
          <p:cNvPr id="6" name="rule">
            <a:extLst xmlns:a="http://schemas.openxmlformats.org/drawingml/2006/main">
              <a:ext uri="{FF2B5EF4-FFF2-40B4-BE49-F238E27FC236}">
                <a16:creationId xmlns:a16="http://schemas.microsoft.com/office/drawing/2014/main" id="{B664874B-1177-4D22-8576-E2ECE97EF5D7}"/>
              </a:ext>
            </a:extLst>
          </p:cNvPr>
          <p:cNvSpPr>
            <a:spLocks xmlns:a="http://schemas.openxmlformats.org/drawingml/2006/main" noGrp="1"/>
          </p:cNvSpPr>
          <p:nvPr/>
        </p:nvSpPr>
        <p:spPr>
          <a:xfrm xmlns:a="http://schemas.openxmlformats.org/drawingml/2006/main">
            <a:off x="6096000" y="1581150"/>
            <a:ext cx="19050" cy="0"/>
          </a:xfrm>
          <a:prstGeom xmlns:a="http://schemas.openxmlformats.org/drawingml/2006/main" prst="rect">
            <a:avLst/>
          </a:prstGeom>
          <a:ln xmlns:a="http://schemas.openxmlformats.org/drawingml/2006/main" w="0">
            <a:prstDash val="solid"/>
          </a:ln>
        </p:spPr>
      </p:sp>
      <p:sp>
        <p:nvSpPr>
          <p:cNvPr id="7" name="rule">
            <a:extLst xmlns:a="http://schemas.openxmlformats.org/drawingml/2006/main">
              <a:ext uri="{FF2B5EF4-FFF2-40B4-BE49-F238E27FC236}">
                <a16:creationId xmlns:a16="http://schemas.microsoft.com/office/drawing/2014/main" id="{BA150D35-0BB0-4A96-B396-31FDAEF8546C}"/>
              </a:ext>
            </a:extLst>
          </p:cNvPr>
          <p:cNvSpPr>
            <a:spLocks xmlns:a="http://schemas.openxmlformats.org/drawingml/2006/main" noGrp="1"/>
          </p:cNvSpPr>
          <p:nvPr/>
        </p:nvSpPr>
        <p:spPr>
          <a:xfrm xmlns:a="http://schemas.openxmlformats.org/drawingml/2006/main">
            <a:off x="495300" y="3486150"/>
            <a:ext cx="11201400" cy="0"/>
          </a:xfrm>
          <a:prstGeom xmlns:a="http://schemas.openxmlformats.org/drawingml/2006/main" prst="rect">
            <a:avLst/>
          </a:prstGeom>
          <a:ln xmlns:a="http://schemas.openxmlformats.org/drawingml/2006/main" w="0">
            <a:prstDash val="solid"/>
          </a:ln>
        </p:spPr>
      </p:sp>
      <p:sp>
        <p:nvSpPr>
          <p:cNvPr id="8" name="text-gcxm1k">
            <a:extLst xmlns:a="http://schemas.openxmlformats.org/drawingml/2006/main">
              <a:ext uri="{FF2B5EF4-FFF2-40B4-BE49-F238E27FC236}">
                <a16:creationId xmlns:a16="http://schemas.microsoft.com/office/drawing/2014/main" id="{6A73BCDB-CA8E-4AEB-A9DF-6E9D2A0C05BF}"/>
              </a:ext>
            </a:extLst>
          </p:cNvPr>
          <p:cNvSpPr>
            <a:spLocks xmlns:a="http://schemas.openxmlformats.org/drawingml/2006/main" noGrp="1"/>
          </p:cNvSpPr>
          <p:nvPr/>
        </p:nvSpPr>
        <p:spPr>
          <a:xfrm xmlns:a="http://schemas.openxmlformats.org/drawingml/2006/main">
            <a:off x="4953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Ví dụ cho Fluency</a:t>
            </a:r>
          </a:p>
        </p:txBody>
      </p:sp>
      <p:sp>
        <p:nvSpPr>
          <p:cNvPr id="9" name="text-tdo7aj">
            <a:extLst xmlns:a="http://schemas.openxmlformats.org/drawingml/2006/main">
              <a:ext uri="{FF2B5EF4-FFF2-40B4-BE49-F238E27FC236}">
                <a16:creationId xmlns:a16="http://schemas.microsoft.com/office/drawing/2014/main" id="{1E622F5F-34B7-438D-8B5A-D79A75AA9D76}"/>
              </a:ext>
            </a:extLst>
          </p:cNvPr>
          <p:cNvSpPr>
            <a:spLocks xmlns:a="http://schemas.openxmlformats.org/drawingml/2006/main" noGrp="1"/>
          </p:cNvSpPr>
          <p:nvPr/>
        </p:nvSpPr>
        <p:spPr>
          <a:xfrm xmlns:a="http://schemas.openxmlformats.org/drawingml/2006/main">
            <a:off x="4953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A2 = 10%</a:t>
            </a:r>
          </a:p>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B1 = 70%</a:t>
            </a:r>
          </a:p>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B2 = 20%</a:t>
            </a:r>
          </a:p>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 nghiêng về B1 nhưng vẫn có bất định.</a:t>
            </a:r>
          </a:p>
        </p:txBody>
      </p:sp>
      <p:sp>
        <p:nvSpPr>
          <p:cNvPr id="10" name="text-vqdrb1">
            <a:extLst xmlns:a="http://schemas.openxmlformats.org/drawingml/2006/main">
              <a:ext uri="{FF2B5EF4-FFF2-40B4-BE49-F238E27FC236}">
                <a16:creationId xmlns:a16="http://schemas.microsoft.com/office/drawing/2014/main" id="{145471D3-D35F-4096-B6C0-95A418E7E678}"/>
              </a:ext>
            </a:extLst>
          </p:cNvPr>
          <p:cNvSpPr>
            <a:spLocks xmlns:a="http://schemas.openxmlformats.org/drawingml/2006/main" noGrp="1"/>
          </p:cNvSpPr>
          <p:nvPr/>
        </p:nvSpPr>
        <p:spPr>
          <a:xfrm xmlns:a="http://schemas.openxmlformats.org/drawingml/2006/main">
            <a:off x="62865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Không lấy trung bình máy móc</a:t>
            </a:r>
          </a:p>
        </p:txBody>
      </p:sp>
      <p:sp>
        <p:nvSpPr>
          <p:cNvPr id="11" name="text-22hkqc">
            <a:extLst xmlns:a="http://schemas.openxmlformats.org/drawingml/2006/main">
              <a:ext uri="{FF2B5EF4-FFF2-40B4-BE49-F238E27FC236}">
                <a16:creationId xmlns:a16="http://schemas.microsoft.com/office/drawing/2014/main" id="{CA930D0D-EECC-406E-A08F-1431541AFA26}"/>
              </a:ext>
            </a:extLst>
          </p:cNvPr>
          <p:cNvSpPr>
            <a:spLocks xmlns:a="http://schemas.openxmlformats.org/drawingml/2006/main" noGrp="1"/>
          </p:cNvSpPr>
          <p:nvPr/>
        </p:nvSpPr>
        <p:spPr>
          <a:xfrm xmlns:a="http://schemas.openxmlformats.org/drawingml/2006/main">
            <a:off x="62865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Overall không nhất thiết bằng trung bình sáu tiêu chí; có thể dùng best-fit hoặc mô hình ordinal được hiệu chỉnh.</a:t>
            </a:r>
          </a:p>
        </p:txBody>
      </p:sp>
      <p:sp>
        <p:nvSpPr>
          <p:cNvPr id="12" name="text-a03swo">
            <a:extLst xmlns:a="http://schemas.openxmlformats.org/drawingml/2006/main">
              <a:ext uri="{FF2B5EF4-FFF2-40B4-BE49-F238E27FC236}">
                <a16:creationId xmlns:a16="http://schemas.microsoft.com/office/drawing/2014/main" id="{729CF746-9F35-4974-9408-35B085C52DBB}"/>
              </a:ext>
            </a:extLst>
          </p:cNvPr>
          <p:cNvSpPr>
            <a:spLocks xmlns:a="http://schemas.openxmlformats.org/drawingml/2006/main" noGrp="1"/>
          </p:cNvSpPr>
          <p:nvPr/>
        </p:nvSpPr>
        <p:spPr>
          <a:xfrm xmlns:a="http://schemas.openxmlformats.org/drawingml/2006/main">
            <a:off x="4953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Giữ missing là missing</a:t>
            </a:r>
          </a:p>
        </p:txBody>
      </p:sp>
      <p:sp>
        <p:nvSpPr>
          <p:cNvPr id="13" name="text-wy8ow2">
            <a:extLst xmlns:a="http://schemas.openxmlformats.org/drawingml/2006/main">
              <a:ext uri="{FF2B5EF4-FFF2-40B4-BE49-F238E27FC236}">
                <a16:creationId xmlns:a16="http://schemas.microsoft.com/office/drawing/2014/main" id="{27A6A0B0-EDF0-43DC-9258-AC328F90B207}"/>
              </a:ext>
            </a:extLst>
          </p:cNvPr>
          <p:cNvSpPr>
            <a:spLocks xmlns:a="http://schemas.openxmlformats.org/drawingml/2006/main" noGrp="1"/>
          </p:cNvSpPr>
          <p:nvPr/>
        </p:nvSpPr>
        <p:spPr>
          <a:xfrm xmlns:a="http://schemas.openxmlformats.org/drawingml/2006/main">
            <a:off x="4953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Không có Task C thì Interaction không được điền 0 vì 0 mang nghĩa năng lực thấp.</a:t>
            </a:r>
          </a:p>
        </p:txBody>
      </p:sp>
      <p:sp>
        <p:nvSpPr>
          <p:cNvPr id="14" name="text-tdq5en">
            <a:extLst xmlns:a="http://schemas.openxmlformats.org/drawingml/2006/main">
              <a:ext uri="{FF2B5EF4-FFF2-40B4-BE49-F238E27FC236}">
                <a16:creationId xmlns:a16="http://schemas.microsoft.com/office/drawing/2014/main" id="{5FB69913-416D-46AF-A197-7DEE4586DDEF}"/>
              </a:ext>
            </a:extLst>
          </p:cNvPr>
          <p:cNvSpPr>
            <a:spLocks xmlns:a="http://schemas.openxmlformats.org/drawingml/2006/main" noGrp="1"/>
          </p:cNvSpPr>
          <p:nvPr/>
        </p:nvSpPr>
        <p:spPr>
          <a:xfrm xmlns:a="http://schemas.openxmlformats.org/drawingml/2006/main">
            <a:off x="62865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Ưu tiên mô hình đơn giản</a:t>
            </a:r>
          </a:p>
        </p:txBody>
      </p:sp>
      <p:sp>
        <p:nvSpPr>
          <p:cNvPr id="15" name="text-sokwqo">
            <a:extLst xmlns:a="http://schemas.openxmlformats.org/drawingml/2006/main">
              <a:ext uri="{FF2B5EF4-FFF2-40B4-BE49-F238E27FC236}">
                <a16:creationId xmlns:a16="http://schemas.microsoft.com/office/drawing/2014/main" id="{CB0D41AD-8054-4611-8057-306A2674125B}"/>
              </a:ext>
            </a:extLst>
          </p:cNvPr>
          <p:cNvSpPr>
            <a:spLocks xmlns:a="http://schemas.openxmlformats.org/drawingml/2006/main" noGrp="1"/>
          </p:cNvSpPr>
          <p:nvPr/>
        </p:nvSpPr>
        <p:spPr>
          <a:xfrm xmlns:a="http://schemas.openxmlformats.org/drawingml/2006/main">
            <a:off x="62865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Dữ liệu nhỏ nên logistic/ordinal model hoặc late fusion dễ kiểm soát hơn deep transformer lớn.</a:t>
            </a:r>
          </a:p>
        </p:txBody>
      </p:sp>
    </p:spTree>
    <p:extLst>
      <p:ext uri="{BB962C8B-B14F-4D97-AF65-F5344CB8AC3E}">
        <p14:creationId xmlns:p14="http://schemas.microsoft.com/office/powerpoint/2010/main" val="20487514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label">
            <a:extLst xmlns:a="http://schemas.openxmlformats.org/drawingml/2006/main">
              <a:ext uri="{FF2B5EF4-FFF2-40B4-BE49-F238E27FC236}">
                <a16:creationId xmlns:a16="http://schemas.microsoft.com/office/drawing/2014/main" id="{BA1C56E6-A267-41DE-A3B6-260E6DC1B3B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BƯỚC 5 • CALIBRATION VÀ HUMAN REVIEW</a:t>
            </a:r>
          </a:p>
        </p:txBody>
      </p:sp>
      <p:sp>
        <p:nvSpPr>
          <p:cNvPr id="2" name="slide-title">
            <a:extLst xmlns:a="http://schemas.openxmlformats.org/drawingml/2006/main">
              <a:ext uri="{FF2B5EF4-FFF2-40B4-BE49-F238E27FC236}">
                <a16:creationId xmlns:a16="http://schemas.microsoft.com/office/drawing/2014/main" id="{3F3096AE-26C1-4BEB-8740-0FC9EC313F1F}"/>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AI phải biết mức độ chắc chắn của chính mình</a:t>
            </a:r>
          </a:p>
        </p:txBody>
      </p:sp>
      <p:sp>
        <p:nvSpPr>
          <p:cNvPr id="3" name="rule">
            <a:extLst xmlns:a="http://schemas.openxmlformats.org/drawingml/2006/main">
              <a:ext uri="{FF2B5EF4-FFF2-40B4-BE49-F238E27FC236}">
                <a16:creationId xmlns:a16="http://schemas.microsoft.com/office/drawing/2014/main" id="{6220F841-2C07-419E-A4DE-831F2DA2666D}"/>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744E7FC4-4B38-4F8F-9F22-83FB28AF50A2}"/>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BƯỚC 5 • CALIBRATION VÀ HUMAN REVIEW</a:t>
            </a:r>
          </a:p>
        </p:txBody>
      </p:sp>
      <p:sp>
        <p:nvSpPr>
          <p:cNvPr id="5" name="footer-number">
            <a:extLst xmlns:a="http://schemas.openxmlformats.org/drawingml/2006/main">
              <a:ext uri="{FF2B5EF4-FFF2-40B4-BE49-F238E27FC236}">
                <a16:creationId xmlns:a16="http://schemas.microsoft.com/office/drawing/2014/main" id="{93D1A6E1-CC62-43F2-A97E-E8E3B4B32FA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17</a:t>
            </a:r>
          </a:p>
        </p:txBody>
      </p:sp>
      <p:sp>
        <p:nvSpPr>
          <p:cNvPr id="6" name="edge-1">
            <a:extLst xmlns:a="http://schemas.openxmlformats.org/drawingml/2006/main">
              <a:ext uri="{FF2B5EF4-FFF2-40B4-BE49-F238E27FC236}">
                <a16:creationId xmlns:a16="http://schemas.microsoft.com/office/drawing/2014/main" id="{504527D9-12B6-48C5-A88F-787D71F37494}"/>
              </a:ext>
            </a:extLst>
          </p:cNvPr>
          <p:cNvSpPr>
            <a:spLocks xmlns:a="http://schemas.openxmlformats.org/drawingml/2006/main" noGrp="1"/>
          </p:cNvSpPr>
          <p:nvPr/>
        </p:nvSpPr>
        <p:spPr>
          <a:xfrm xmlns:a="http://schemas.openxmlformats.org/drawingml/2006/main">
            <a:off x="3109913"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7" name="edge-2">
            <a:extLst xmlns:a="http://schemas.openxmlformats.org/drawingml/2006/main">
              <a:ext uri="{FF2B5EF4-FFF2-40B4-BE49-F238E27FC236}">
                <a16:creationId xmlns:a16="http://schemas.microsoft.com/office/drawing/2014/main" id="{23864E6A-4404-4494-B194-0336805CE836}"/>
              </a:ext>
            </a:extLst>
          </p:cNvPr>
          <p:cNvSpPr>
            <a:spLocks xmlns:a="http://schemas.openxmlformats.org/drawingml/2006/main" noGrp="1"/>
          </p:cNvSpPr>
          <p:nvPr/>
        </p:nvSpPr>
        <p:spPr>
          <a:xfrm xmlns:a="http://schemas.openxmlformats.org/drawingml/2006/main">
            <a:off x="5981700"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8" name="edge-3">
            <a:extLst xmlns:a="http://schemas.openxmlformats.org/drawingml/2006/main">
              <a:ext uri="{FF2B5EF4-FFF2-40B4-BE49-F238E27FC236}">
                <a16:creationId xmlns:a16="http://schemas.microsoft.com/office/drawing/2014/main" id="{381778FE-A4F8-4290-A57B-C1BE03D5C0C6}"/>
              </a:ext>
            </a:extLst>
          </p:cNvPr>
          <p:cNvSpPr>
            <a:spLocks xmlns:a="http://schemas.openxmlformats.org/drawingml/2006/main" noGrp="1"/>
          </p:cNvSpPr>
          <p:nvPr/>
        </p:nvSpPr>
        <p:spPr>
          <a:xfrm xmlns:a="http://schemas.openxmlformats.org/drawingml/2006/main">
            <a:off x="8853488"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9" name="process-node-liexu">
            <a:extLst xmlns:a="http://schemas.openxmlformats.org/drawingml/2006/main">
              <a:ext uri="{FF2B5EF4-FFF2-40B4-BE49-F238E27FC236}">
                <a16:creationId xmlns:a16="http://schemas.microsoft.com/office/drawing/2014/main" id="{D4FCA37A-520D-442B-A7D2-FE19B199AF43}"/>
              </a:ext>
            </a:extLst>
          </p:cNvPr>
          <p:cNvSpPr>
            <a:spLocks xmlns:a="http://schemas.openxmlformats.org/drawingml/2006/main" noGrp="1"/>
          </p:cNvSpPr>
          <p:nvPr/>
        </p:nvSpPr>
        <p:spPr>
          <a:xfrm xmlns:a="http://schemas.openxmlformats.org/drawingml/2006/main">
            <a:off x="495300" y="2000250"/>
            <a:ext cx="2586038" cy="2286000"/>
          </a:xfrm>
          <a:prstGeom xmlns:a="http://schemas.openxmlformats.org/drawingml/2006/main" prst="roundRect">
            <a:avLst>
              <a:gd name="adj" fmla="val 2500"/>
            </a:avLst>
          </a:prstGeom>
          <a:solidFill xmlns:a="http://schemas.openxmlformats.org/drawingml/2006/main">
            <a:srgbClr val="F5F7F9"/>
          </a:solidFill>
          <a:ln xmlns:a="http://schemas.openxmlformats.org/drawingml/2006/main" w="9525">
            <a:solidFill>
              <a:srgbClr val="B8BCC4"/>
            </a:solidFill>
            <a:prstDash val="solid"/>
          </a:ln>
        </p:spPr>
      </p:sp>
      <p:sp>
        <p:nvSpPr>
          <p:cNvPr id="10" name="text-9u2j43">
            <a:extLst xmlns:a="http://schemas.openxmlformats.org/drawingml/2006/main">
              <a:ext uri="{FF2B5EF4-FFF2-40B4-BE49-F238E27FC236}">
                <a16:creationId xmlns:a16="http://schemas.microsoft.com/office/drawing/2014/main" id="{BB5AEB6D-725B-4CAF-BED8-CF7A9E403412}"/>
              </a:ext>
            </a:extLst>
          </p:cNvPr>
          <p:cNvSpPr>
            <a:spLocks xmlns:a="http://schemas.openxmlformats.org/drawingml/2006/main" noGrp="1"/>
          </p:cNvSpPr>
          <p:nvPr/>
        </p:nvSpPr>
        <p:spPr>
          <a:xfrm xmlns:a="http://schemas.openxmlformats.org/drawingml/2006/main">
            <a:off x="64770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01</a:t>
            </a:r>
          </a:p>
        </p:txBody>
      </p:sp>
      <p:sp>
        <p:nvSpPr>
          <p:cNvPr id="11" name="text-mnxys9">
            <a:extLst xmlns:a="http://schemas.openxmlformats.org/drawingml/2006/main">
              <a:ext uri="{FF2B5EF4-FFF2-40B4-BE49-F238E27FC236}">
                <a16:creationId xmlns:a16="http://schemas.microsoft.com/office/drawing/2014/main" id="{DD0E033E-1022-47D2-AF48-3D581DEC4D91}"/>
              </a:ext>
            </a:extLst>
          </p:cNvPr>
          <p:cNvSpPr>
            <a:spLocks xmlns:a="http://schemas.openxmlformats.org/drawingml/2006/main" noGrp="1"/>
          </p:cNvSpPr>
          <p:nvPr/>
        </p:nvSpPr>
        <p:spPr>
          <a:xfrm xmlns:a="http://schemas.openxmlformats.org/drawingml/2006/main">
            <a:off x="647700" y="2514600"/>
            <a:ext cx="2281238"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Dự đoán</a:t>
            </a:r>
          </a:p>
        </p:txBody>
      </p:sp>
      <p:sp>
        <p:nvSpPr>
          <p:cNvPr id="12" name="text-6cke25">
            <a:extLst xmlns:a="http://schemas.openxmlformats.org/drawingml/2006/main">
              <a:ext uri="{FF2B5EF4-FFF2-40B4-BE49-F238E27FC236}">
                <a16:creationId xmlns:a16="http://schemas.microsoft.com/office/drawing/2014/main" id="{A85418F8-1465-4398-8CEC-FB779BACD990}"/>
              </a:ext>
            </a:extLst>
          </p:cNvPr>
          <p:cNvSpPr>
            <a:spLocks xmlns:a="http://schemas.openxmlformats.org/drawingml/2006/main" noGrp="1"/>
          </p:cNvSpPr>
          <p:nvPr/>
        </p:nvSpPr>
        <p:spPr>
          <a:xfrm xmlns:a="http://schemas.openxmlformats.org/drawingml/2006/main">
            <a:off x="647700" y="3162300"/>
            <a:ext cx="2281238"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Mô hình tạo xác suất cho từng band và từng tiêu chí.</a:t>
            </a:r>
          </a:p>
        </p:txBody>
      </p:sp>
      <p:sp>
        <p:nvSpPr>
          <p:cNvPr id="13" name="process-node-kgz9v">
            <a:extLst xmlns:a="http://schemas.openxmlformats.org/drawingml/2006/main">
              <a:ext uri="{FF2B5EF4-FFF2-40B4-BE49-F238E27FC236}">
                <a16:creationId xmlns:a16="http://schemas.microsoft.com/office/drawing/2014/main" id="{A758B278-3B69-4472-B4AF-DEEE2E54587F}"/>
              </a:ext>
            </a:extLst>
          </p:cNvPr>
          <p:cNvSpPr>
            <a:spLocks xmlns:a="http://schemas.openxmlformats.org/drawingml/2006/main" noGrp="1"/>
          </p:cNvSpPr>
          <p:nvPr/>
        </p:nvSpPr>
        <p:spPr>
          <a:xfrm xmlns:a="http://schemas.openxmlformats.org/drawingml/2006/main">
            <a:off x="3367088" y="2000250"/>
            <a:ext cx="2586038" cy="2286000"/>
          </a:xfrm>
          <a:prstGeom xmlns:a="http://schemas.openxmlformats.org/drawingml/2006/main" prst="roundRect">
            <a:avLst>
              <a:gd name="adj" fmla="val 2500"/>
            </a:avLst>
          </a:prstGeom>
          <a:solidFill xmlns:a="http://schemas.openxmlformats.org/drawingml/2006/main">
            <a:srgbClr val="F5F7F9"/>
          </a:solidFill>
          <a:ln xmlns:a="http://schemas.openxmlformats.org/drawingml/2006/main" w="9525">
            <a:solidFill>
              <a:srgbClr val="B8BCC4"/>
            </a:solidFill>
            <a:prstDash val="solid"/>
          </a:ln>
        </p:spPr>
      </p:sp>
      <p:sp>
        <p:nvSpPr>
          <p:cNvPr id="14" name="text-2166wa">
            <a:extLst xmlns:a="http://schemas.openxmlformats.org/drawingml/2006/main">
              <a:ext uri="{FF2B5EF4-FFF2-40B4-BE49-F238E27FC236}">
                <a16:creationId xmlns:a16="http://schemas.microsoft.com/office/drawing/2014/main" id="{85EBD761-7D7D-427A-9790-996B4C926DD6}"/>
              </a:ext>
            </a:extLst>
          </p:cNvPr>
          <p:cNvSpPr>
            <a:spLocks xmlns:a="http://schemas.openxmlformats.org/drawingml/2006/main" noGrp="1"/>
          </p:cNvSpPr>
          <p:nvPr/>
        </p:nvSpPr>
        <p:spPr>
          <a:xfrm xmlns:a="http://schemas.openxmlformats.org/drawingml/2006/main">
            <a:off x="3519488"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02</a:t>
            </a:r>
          </a:p>
        </p:txBody>
      </p:sp>
      <p:sp>
        <p:nvSpPr>
          <p:cNvPr id="15" name="text-ko8hoi">
            <a:extLst xmlns:a="http://schemas.openxmlformats.org/drawingml/2006/main">
              <a:ext uri="{FF2B5EF4-FFF2-40B4-BE49-F238E27FC236}">
                <a16:creationId xmlns:a16="http://schemas.microsoft.com/office/drawing/2014/main" id="{A3B4A217-4C45-43C9-8FBF-94636886F31F}"/>
              </a:ext>
            </a:extLst>
          </p:cNvPr>
          <p:cNvSpPr>
            <a:spLocks xmlns:a="http://schemas.openxmlformats.org/drawingml/2006/main" noGrp="1"/>
          </p:cNvSpPr>
          <p:nvPr/>
        </p:nvSpPr>
        <p:spPr>
          <a:xfrm xmlns:a="http://schemas.openxmlformats.org/drawingml/2006/main">
            <a:off x="3519488" y="2514600"/>
            <a:ext cx="2281238"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Hiệu chỉnh</a:t>
            </a:r>
          </a:p>
        </p:txBody>
      </p:sp>
      <p:sp>
        <p:nvSpPr>
          <p:cNvPr id="16" name="text-8zr5d8">
            <a:extLst xmlns:a="http://schemas.openxmlformats.org/drawingml/2006/main">
              <a:ext uri="{FF2B5EF4-FFF2-40B4-BE49-F238E27FC236}">
                <a16:creationId xmlns:a16="http://schemas.microsoft.com/office/drawing/2014/main" id="{3226B681-BBC1-40B1-8C73-AC434D656D1F}"/>
              </a:ext>
            </a:extLst>
          </p:cNvPr>
          <p:cNvSpPr>
            <a:spLocks xmlns:a="http://schemas.openxmlformats.org/drawingml/2006/main" noGrp="1"/>
          </p:cNvSpPr>
          <p:nvPr/>
        </p:nvSpPr>
        <p:spPr>
          <a:xfrm xmlns:a="http://schemas.openxmlformats.org/drawingml/2006/main">
            <a:off x="3519488" y="3162300"/>
            <a:ext cx="2281238"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Dùng dev set để xác suất phản ánh gần đúng tỷ lệ đúng thực tế.</a:t>
            </a:r>
          </a:p>
        </p:txBody>
      </p:sp>
      <p:sp>
        <p:nvSpPr>
          <p:cNvPr id="17" name="process-node-cka33">
            <a:extLst xmlns:a="http://schemas.openxmlformats.org/drawingml/2006/main">
              <a:ext uri="{FF2B5EF4-FFF2-40B4-BE49-F238E27FC236}">
                <a16:creationId xmlns:a16="http://schemas.microsoft.com/office/drawing/2014/main" id="{ED43B918-A5BD-4EA5-825A-04A83B618399}"/>
              </a:ext>
            </a:extLst>
          </p:cNvPr>
          <p:cNvSpPr>
            <a:spLocks xmlns:a="http://schemas.openxmlformats.org/drawingml/2006/main" noGrp="1"/>
          </p:cNvSpPr>
          <p:nvPr/>
        </p:nvSpPr>
        <p:spPr>
          <a:xfrm xmlns:a="http://schemas.openxmlformats.org/drawingml/2006/main">
            <a:off x="6238875" y="2000250"/>
            <a:ext cx="2586038" cy="2286000"/>
          </a:xfrm>
          <a:prstGeom xmlns:a="http://schemas.openxmlformats.org/drawingml/2006/main" prst="roundRect">
            <a:avLst>
              <a:gd name="adj" fmla="val 2500"/>
            </a:avLst>
          </a:prstGeom>
          <a:solidFill xmlns:a="http://schemas.openxmlformats.org/drawingml/2006/main">
            <a:srgbClr val="F5F7F9"/>
          </a:solidFill>
          <a:ln xmlns:a="http://schemas.openxmlformats.org/drawingml/2006/main" w="9525">
            <a:solidFill>
              <a:srgbClr val="B8BCC4"/>
            </a:solidFill>
            <a:prstDash val="solid"/>
          </a:ln>
        </p:spPr>
      </p:sp>
      <p:sp>
        <p:nvSpPr>
          <p:cNvPr id="18" name="text-anlir1">
            <a:extLst xmlns:a="http://schemas.openxmlformats.org/drawingml/2006/main">
              <a:ext uri="{FF2B5EF4-FFF2-40B4-BE49-F238E27FC236}">
                <a16:creationId xmlns:a16="http://schemas.microsoft.com/office/drawing/2014/main" id="{9D225813-6CA2-41A5-A924-7E1250A0BA3E}"/>
              </a:ext>
            </a:extLst>
          </p:cNvPr>
          <p:cNvSpPr>
            <a:spLocks xmlns:a="http://schemas.openxmlformats.org/drawingml/2006/main" noGrp="1"/>
          </p:cNvSpPr>
          <p:nvPr/>
        </p:nvSpPr>
        <p:spPr>
          <a:xfrm xmlns:a="http://schemas.openxmlformats.org/drawingml/2006/main">
            <a:off x="6391275"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03</a:t>
            </a:r>
          </a:p>
        </p:txBody>
      </p:sp>
      <p:sp>
        <p:nvSpPr>
          <p:cNvPr id="19" name="text-9fiiqp">
            <a:extLst xmlns:a="http://schemas.openxmlformats.org/drawingml/2006/main">
              <a:ext uri="{FF2B5EF4-FFF2-40B4-BE49-F238E27FC236}">
                <a16:creationId xmlns:a16="http://schemas.microsoft.com/office/drawing/2014/main" id="{484A94CF-D5E0-4868-B61D-3CDA7BE2D1DD}"/>
              </a:ext>
            </a:extLst>
          </p:cNvPr>
          <p:cNvSpPr>
            <a:spLocks xmlns:a="http://schemas.openxmlformats.org/drawingml/2006/main" noGrp="1"/>
          </p:cNvSpPr>
          <p:nvPr/>
        </p:nvSpPr>
        <p:spPr>
          <a:xfrm xmlns:a="http://schemas.openxmlformats.org/drawingml/2006/main">
            <a:off x="6391275" y="2514600"/>
            <a:ext cx="2281238"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Áp ngưỡng</a:t>
            </a:r>
          </a:p>
        </p:txBody>
      </p:sp>
      <p:sp>
        <p:nvSpPr>
          <p:cNvPr id="20" name="text-ashnbj">
            <a:extLst xmlns:a="http://schemas.openxmlformats.org/drawingml/2006/main">
              <a:ext uri="{FF2B5EF4-FFF2-40B4-BE49-F238E27FC236}">
                <a16:creationId xmlns:a16="http://schemas.microsoft.com/office/drawing/2014/main" id="{573579FA-A899-4145-B294-FED8DC4D54B2}"/>
              </a:ext>
            </a:extLst>
          </p:cNvPr>
          <p:cNvSpPr>
            <a:spLocks xmlns:a="http://schemas.openxmlformats.org/drawingml/2006/main" noGrp="1"/>
          </p:cNvSpPr>
          <p:nvPr/>
        </p:nvSpPr>
        <p:spPr>
          <a:xfrm xmlns:a="http://schemas.openxmlformats.org/drawingml/2006/main">
            <a:off x="6391275" y="3162300"/>
            <a:ext cx="2281238"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Confidence thấp, ASR risk hoặc criterion conflict → review.</a:t>
            </a:r>
          </a:p>
        </p:txBody>
      </p:sp>
      <p:sp>
        <p:nvSpPr>
          <p:cNvPr id="21" name="process-node-7f0zr">
            <a:extLst xmlns:a="http://schemas.openxmlformats.org/drawingml/2006/main">
              <a:ext uri="{FF2B5EF4-FFF2-40B4-BE49-F238E27FC236}">
                <a16:creationId xmlns:a16="http://schemas.microsoft.com/office/drawing/2014/main" id="{619163B1-075E-46BF-9486-249A5D4837C5}"/>
              </a:ext>
            </a:extLst>
          </p:cNvPr>
          <p:cNvSpPr>
            <a:spLocks xmlns:a="http://schemas.openxmlformats.org/drawingml/2006/main" noGrp="1"/>
          </p:cNvSpPr>
          <p:nvPr/>
        </p:nvSpPr>
        <p:spPr>
          <a:xfrm xmlns:a="http://schemas.openxmlformats.org/drawingml/2006/main">
            <a:off x="9110663" y="2000250"/>
            <a:ext cx="2586038" cy="2286000"/>
          </a:xfrm>
          <a:prstGeom xmlns:a="http://schemas.openxmlformats.org/drawingml/2006/main" prst="roundRect">
            <a:avLst>
              <a:gd name="adj" fmla="val 2500"/>
            </a:avLst>
          </a:prstGeom>
          <a:solidFill xmlns:a="http://schemas.openxmlformats.org/drawingml/2006/main">
            <a:srgbClr val="EAF5FB"/>
          </a:solidFill>
          <a:ln xmlns:a="http://schemas.openxmlformats.org/drawingml/2006/main" w="9525">
            <a:solidFill>
              <a:srgbClr val="3D8DFF"/>
            </a:solidFill>
            <a:prstDash val="solid"/>
          </a:ln>
        </p:spPr>
      </p:sp>
      <p:sp>
        <p:nvSpPr>
          <p:cNvPr id="22" name="text-yil418">
            <a:extLst xmlns:a="http://schemas.openxmlformats.org/drawingml/2006/main">
              <a:ext uri="{FF2B5EF4-FFF2-40B4-BE49-F238E27FC236}">
                <a16:creationId xmlns:a16="http://schemas.microsoft.com/office/drawing/2014/main" id="{49B8874C-4929-420C-99FA-C6F1988DC7C1}"/>
              </a:ext>
            </a:extLst>
          </p:cNvPr>
          <p:cNvSpPr>
            <a:spLocks xmlns:a="http://schemas.openxmlformats.org/drawingml/2006/main" noGrp="1"/>
          </p:cNvSpPr>
          <p:nvPr/>
        </p:nvSpPr>
        <p:spPr>
          <a:xfrm xmlns:a="http://schemas.openxmlformats.org/drawingml/2006/main">
            <a:off x="9263063"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04</a:t>
            </a:r>
          </a:p>
        </p:txBody>
      </p:sp>
      <p:sp>
        <p:nvSpPr>
          <p:cNvPr id="23" name="text-3kmksc">
            <a:extLst xmlns:a="http://schemas.openxmlformats.org/drawingml/2006/main">
              <a:ext uri="{FF2B5EF4-FFF2-40B4-BE49-F238E27FC236}">
                <a16:creationId xmlns:a16="http://schemas.microsoft.com/office/drawing/2014/main" id="{2C31C755-D050-48E2-8003-7065A70213FF}"/>
              </a:ext>
            </a:extLst>
          </p:cNvPr>
          <p:cNvSpPr>
            <a:spLocks xmlns:a="http://schemas.openxmlformats.org/drawingml/2006/main" noGrp="1"/>
          </p:cNvSpPr>
          <p:nvPr/>
        </p:nvSpPr>
        <p:spPr>
          <a:xfrm xmlns:a="http://schemas.openxmlformats.org/drawingml/2006/main">
            <a:off x="9263063" y="2514600"/>
            <a:ext cx="2281238"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Giảng viên duyệt</a:t>
            </a:r>
          </a:p>
        </p:txBody>
      </p:sp>
      <p:sp>
        <p:nvSpPr>
          <p:cNvPr id="24" name="text-4kz6wu">
            <a:extLst xmlns:a="http://schemas.openxmlformats.org/drawingml/2006/main">
              <a:ext uri="{FF2B5EF4-FFF2-40B4-BE49-F238E27FC236}">
                <a16:creationId xmlns:a16="http://schemas.microsoft.com/office/drawing/2014/main" id="{A82F3190-AC6F-42B0-9B96-7D1D95B7FA6C}"/>
              </a:ext>
            </a:extLst>
          </p:cNvPr>
          <p:cNvSpPr>
            <a:spLocks xmlns:a="http://schemas.openxmlformats.org/drawingml/2006/main" noGrp="1"/>
          </p:cNvSpPr>
          <p:nvPr/>
        </p:nvSpPr>
        <p:spPr>
          <a:xfrm xmlns:a="http://schemas.openxmlformats.org/drawingml/2006/main">
            <a:off x="9263063" y="3162300"/>
            <a:ext cx="2281238"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Nghe audio, xem evidence, xác nhận/sửa và ghi lý do.</a:t>
            </a:r>
          </a:p>
        </p:txBody>
      </p:sp>
      <p:sp>
        <p:nvSpPr>
          <p:cNvPr id="25" name="callout-6sqic">
            <a:extLst xmlns:a="http://schemas.openxmlformats.org/drawingml/2006/main">
              <a:ext uri="{FF2B5EF4-FFF2-40B4-BE49-F238E27FC236}">
                <a16:creationId xmlns:a16="http://schemas.microsoft.com/office/drawing/2014/main" id="{8243C016-7984-416F-AD80-863B208AA3BB}"/>
              </a:ext>
            </a:extLst>
          </p:cNvPr>
          <p:cNvSpPr>
            <a:spLocks xmlns:a="http://schemas.openxmlformats.org/drawingml/2006/main" noGrp="1"/>
          </p:cNvSpPr>
          <p:nvPr/>
        </p:nvSpPr>
        <p:spPr>
          <a:xfrm xmlns:a="http://schemas.openxmlformats.org/drawingml/2006/main">
            <a:off x="495300" y="5219700"/>
            <a:ext cx="11201400" cy="762000"/>
          </a:xfrm>
          <a:prstGeom xmlns:a="http://schemas.openxmlformats.org/drawingml/2006/main" prst="roundRect">
            <a:avLst>
              <a:gd name="adj" fmla="val 7500"/>
            </a:avLst>
          </a:prstGeom>
          <a:solidFill xmlns:a="http://schemas.openxmlformats.org/drawingml/2006/main">
            <a:srgbClr val="E9F6EF"/>
          </a:solidFill>
          <a:ln xmlns:a="http://schemas.openxmlformats.org/drawingml/2006/main" w="9525">
            <a:solidFill>
              <a:srgbClr val="2E8B57"/>
            </a:solidFill>
            <a:prstDash val="solid"/>
          </a:ln>
        </p:spPr>
      </p:sp>
      <p:sp>
        <p:nvSpPr>
          <p:cNvPr id="26" name="callout-text">
            <a:extLst xmlns:a="http://schemas.openxmlformats.org/drawingml/2006/main">
              <a:ext uri="{FF2B5EF4-FFF2-40B4-BE49-F238E27FC236}">
                <a16:creationId xmlns:a16="http://schemas.microsoft.com/office/drawing/2014/main" id="{BA3377C4-8F47-4B76-9CC4-EC91215F0474}"/>
              </a:ext>
            </a:extLst>
          </p:cNvPr>
          <p:cNvSpPr>
            <a:spLocks xmlns:a="http://schemas.openxmlformats.org/drawingml/2006/main" noGrp="1"/>
          </p:cNvSpPr>
          <p:nvPr/>
        </p:nvSpPr>
        <p:spPr>
          <a:xfrm xmlns:a="http://schemas.openxmlformats.org/drawingml/2006/main">
            <a:off x="666750" y="535305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2E8B57"/>
                </a:solidFill>
                <a:latin typeface="Arial"/>
                <a:ea typeface="Arial"/>
                <a:cs typeface="Arial"/>
              </a:defRPr>
            </a:pPr>
            <a:r>
              <a:rPr sz="1500" b="1" i="0">
                <a:solidFill>
                  <a:srgbClr val="2E8B57"/>
                </a:solidFill>
                <a:latin typeface="Arial"/>
                <a:ea typeface="Arial"/>
                <a:cs typeface="Arial"/>
              </a:rPr>
              <a:t>Human review không phải xử lý lỗi tạm thời; đây là một phần chính thức của kiến trúc an toàn.</a:t>
            </a:r>
          </a:p>
        </p:txBody>
      </p:sp>
    </p:spTree>
    <p:extLst>
      <p:ext uri="{BB962C8B-B14F-4D97-AF65-F5344CB8AC3E}">
        <p14:creationId xmlns:p14="http://schemas.microsoft.com/office/powerpoint/2010/main" val="1910057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label">
            <a:extLst xmlns:a="http://schemas.openxmlformats.org/drawingml/2006/main">
              <a:ext uri="{FF2B5EF4-FFF2-40B4-BE49-F238E27FC236}">
                <a16:creationId xmlns:a16="http://schemas.microsoft.com/office/drawing/2014/main" id="{88C732E8-C4C0-4E4E-8F9F-9AC6D48322D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VÍ DỤ TỪ ĐẦU ĐẾN CUỐI</a:t>
            </a:r>
          </a:p>
        </p:txBody>
      </p:sp>
      <p:sp>
        <p:nvSpPr>
          <p:cNvPr id="2" name="slide-title">
            <a:extLst xmlns:a="http://schemas.openxmlformats.org/drawingml/2006/main">
              <a:ext uri="{FF2B5EF4-FFF2-40B4-BE49-F238E27FC236}">
                <a16:creationId xmlns:a16="http://schemas.microsoft.com/office/drawing/2014/main" id="{94BA9F5A-002D-4EB7-8D22-CAE9067684E6}"/>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Một bài nói được xử lý như thế nào?</a:t>
            </a:r>
          </a:p>
        </p:txBody>
      </p:sp>
      <p:sp>
        <p:nvSpPr>
          <p:cNvPr id="3" name="rule">
            <a:extLst xmlns:a="http://schemas.openxmlformats.org/drawingml/2006/main">
              <a:ext uri="{FF2B5EF4-FFF2-40B4-BE49-F238E27FC236}">
                <a16:creationId xmlns:a16="http://schemas.microsoft.com/office/drawing/2014/main" id="{C90C3CB2-71A0-4135-92F3-CE18C651CEA3}"/>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F748E7B3-AA93-416C-A5CC-AB689FF20721}"/>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VÍ DỤ TỪ ĐẦU ĐẾN CUỐI</a:t>
            </a:r>
          </a:p>
        </p:txBody>
      </p:sp>
      <p:sp>
        <p:nvSpPr>
          <p:cNvPr id="5" name="footer-number">
            <a:extLst xmlns:a="http://schemas.openxmlformats.org/drawingml/2006/main">
              <a:ext uri="{FF2B5EF4-FFF2-40B4-BE49-F238E27FC236}">
                <a16:creationId xmlns:a16="http://schemas.microsoft.com/office/drawing/2014/main" id="{1F1ACD77-1D4C-4716-A9D2-85B703DB25EC}"/>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18</a:t>
            </a:r>
          </a:p>
        </p:txBody>
      </p:sp>
      <p:sp>
        <p:nvSpPr>
          <p:cNvPr id="6" name="edge-1">
            <a:extLst xmlns:a="http://schemas.openxmlformats.org/drawingml/2006/main">
              <a:ext uri="{FF2B5EF4-FFF2-40B4-BE49-F238E27FC236}">
                <a16:creationId xmlns:a16="http://schemas.microsoft.com/office/drawing/2014/main" id="{1C8818CC-F86A-4BBE-ACD4-7B8914EA5BA7}"/>
              </a:ext>
            </a:extLst>
          </p:cNvPr>
          <p:cNvSpPr>
            <a:spLocks xmlns:a="http://schemas.openxmlformats.org/drawingml/2006/main" noGrp="1"/>
          </p:cNvSpPr>
          <p:nvPr/>
        </p:nvSpPr>
        <p:spPr>
          <a:xfrm xmlns:a="http://schemas.openxmlformats.org/drawingml/2006/main">
            <a:off x="253555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7" name="edge-2">
            <a:extLst xmlns:a="http://schemas.openxmlformats.org/drawingml/2006/main">
              <a:ext uri="{FF2B5EF4-FFF2-40B4-BE49-F238E27FC236}">
                <a16:creationId xmlns:a16="http://schemas.microsoft.com/office/drawing/2014/main" id="{C1CB116A-350E-47A6-8F83-5FAB5C34D12F}"/>
              </a:ext>
            </a:extLst>
          </p:cNvPr>
          <p:cNvSpPr>
            <a:spLocks xmlns:a="http://schemas.openxmlformats.org/drawingml/2006/main" noGrp="1"/>
          </p:cNvSpPr>
          <p:nvPr/>
        </p:nvSpPr>
        <p:spPr>
          <a:xfrm xmlns:a="http://schemas.openxmlformats.org/drawingml/2006/main">
            <a:off x="483298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8" name="edge-3">
            <a:extLst xmlns:a="http://schemas.openxmlformats.org/drawingml/2006/main">
              <a:ext uri="{FF2B5EF4-FFF2-40B4-BE49-F238E27FC236}">
                <a16:creationId xmlns:a16="http://schemas.microsoft.com/office/drawing/2014/main" id="{E2D12203-A187-4D3A-B370-D9ECAD869BEC}"/>
              </a:ext>
            </a:extLst>
          </p:cNvPr>
          <p:cNvSpPr>
            <a:spLocks xmlns:a="http://schemas.openxmlformats.org/drawingml/2006/main" noGrp="1"/>
          </p:cNvSpPr>
          <p:nvPr/>
        </p:nvSpPr>
        <p:spPr>
          <a:xfrm xmlns:a="http://schemas.openxmlformats.org/drawingml/2006/main">
            <a:off x="713041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9" name="edge-4">
            <a:extLst xmlns:a="http://schemas.openxmlformats.org/drawingml/2006/main">
              <a:ext uri="{FF2B5EF4-FFF2-40B4-BE49-F238E27FC236}">
                <a16:creationId xmlns:a16="http://schemas.microsoft.com/office/drawing/2014/main" id="{674CD1F2-F87A-45B8-AACA-FF244E038355}"/>
              </a:ext>
            </a:extLst>
          </p:cNvPr>
          <p:cNvSpPr>
            <a:spLocks xmlns:a="http://schemas.openxmlformats.org/drawingml/2006/main" noGrp="1"/>
          </p:cNvSpPr>
          <p:nvPr/>
        </p:nvSpPr>
        <p:spPr>
          <a:xfrm xmlns:a="http://schemas.openxmlformats.org/drawingml/2006/main">
            <a:off x="942784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10" name="process-node-kdms9">
            <a:extLst xmlns:a="http://schemas.openxmlformats.org/drawingml/2006/main">
              <a:ext uri="{FF2B5EF4-FFF2-40B4-BE49-F238E27FC236}">
                <a16:creationId xmlns:a16="http://schemas.microsoft.com/office/drawing/2014/main" id="{34EBC8F2-DF4A-45E3-BC72-78C981DF0818}"/>
              </a:ext>
            </a:extLst>
          </p:cNvPr>
          <p:cNvSpPr>
            <a:spLocks xmlns:a="http://schemas.openxmlformats.org/drawingml/2006/main" noGrp="1"/>
          </p:cNvSpPr>
          <p:nvPr/>
        </p:nvSpPr>
        <p:spPr>
          <a:xfrm xmlns:a="http://schemas.openxmlformats.org/drawingml/2006/main">
            <a:off x="49530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1" name="text-ypb908">
            <a:extLst xmlns:a="http://schemas.openxmlformats.org/drawingml/2006/main">
              <a:ext uri="{FF2B5EF4-FFF2-40B4-BE49-F238E27FC236}">
                <a16:creationId xmlns:a16="http://schemas.microsoft.com/office/drawing/2014/main" id="{7DC0740D-1488-41CE-BE1D-FD4722BA33D5}"/>
              </a:ext>
            </a:extLst>
          </p:cNvPr>
          <p:cNvSpPr>
            <a:spLocks xmlns:a="http://schemas.openxmlformats.org/drawingml/2006/main" noGrp="1"/>
          </p:cNvSpPr>
          <p:nvPr/>
        </p:nvSpPr>
        <p:spPr>
          <a:xfrm xmlns:a="http://schemas.openxmlformats.org/drawingml/2006/main">
            <a:off x="64770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01</a:t>
            </a:r>
          </a:p>
        </p:txBody>
      </p:sp>
      <p:sp>
        <p:nvSpPr>
          <p:cNvPr id="12" name="text-abxy47">
            <a:extLst xmlns:a="http://schemas.openxmlformats.org/drawingml/2006/main">
              <a:ext uri="{FF2B5EF4-FFF2-40B4-BE49-F238E27FC236}">
                <a16:creationId xmlns:a16="http://schemas.microsoft.com/office/drawing/2014/main" id="{EABFF67A-8195-4842-A862-3B336F5CFC39}"/>
              </a:ext>
            </a:extLst>
          </p:cNvPr>
          <p:cNvSpPr>
            <a:spLocks xmlns:a="http://schemas.openxmlformats.org/drawingml/2006/main" noGrp="1"/>
          </p:cNvSpPr>
          <p:nvPr/>
        </p:nvSpPr>
        <p:spPr>
          <a:xfrm xmlns:a="http://schemas.openxmlformats.org/drawingml/2006/main">
            <a:off x="64770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Audio 102 giây</a:t>
            </a:r>
          </a:p>
        </p:txBody>
      </p:sp>
      <p:sp>
        <p:nvSpPr>
          <p:cNvPr id="13" name="text-fum1ub">
            <a:extLst xmlns:a="http://schemas.openxmlformats.org/drawingml/2006/main">
              <a:ext uri="{FF2B5EF4-FFF2-40B4-BE49-F238E27FC236}">
                <a16:creationId xmlns:a16="http://schemas.microsoft.com/office/drawing/2014/main" id="{33DD49CD-FE18-4270-8358-AFE4501BC320}"/>
              </a:ext>
            </a:extLst>
          </p:cNvPr>
          <p:cNvSpPr>
            <a:spLocks xmlns:a="http://schemas.openxmlformats.org/drawingml/2006/main" noGrp="1"/>
          </p:cNvSpPr>
          <p:nvPr/>
        </p:nvSpPr>
        <p:spPr>
          <a:xfrm xmlns:a="http://schemas.openxmlformats.org/drawingml/2006/main">
            <a:off x="64770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Task B: nêu quan điểm về học trực tuyến.</a:t>
            </a:r>
          </a:p>
        </p:txBody>
      </p:sp>
      <p:sp>
        <p:nvSpPr>
          <p:cNvPr id="14" name="process-node-7xvn2">
            <a:extLst xmlns:a="http://schemas.openxmlformats.org/drawingml/2006/main">
              <a:ext uri="{FF2B5EF4-FFF2-40B4-BE49-F238E27FC236}">
                <a16:creationId xmlns:a16="http://schemas.microsoft.com/office/drawing/2014/main" id="{2A3F516A-5C41-43AC-BD29-E5B0EC970B7B}"/>
              </a:ext>
            </a:extLst>
          </p:cNvPr>
          <p:cNvSpPr>
            <a:spLocks xmlns:a="http://schemas.openxmlformats.org/drawingml/2006/main" noGrp="1"/>
          </p:cNvSpPr>
          <p:nvPr/>
        </p:nvSpPr>
        <p:spPr>
          <a:xfrm xmlns:a="http://schemas.openxmlformats.org/drawingml/2006/main">
            <a:off x="279273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5" name="text-5p2af7">
            <a:extLst xmlns:a="http://schemas.openxmlformats.org/drawingml/2006/main">
              <a:ext uri="{FF2B5EF4-FFF2-40B4-BE49-F238E27FC236}">
                <a16:creationId xmlns:a16="http://schemas.microsoft.com/office/drawing/2014/main" id="{8621624A-BD6F-492B-A0F2-74E27ED8DF11}"/>
              </a:ext>
            </a:extLst>
          </p:cNvPr>
          <p:cNvSpPr>
            <a:spLocks xmlns:a="http://schemas.openxmlformats.org/drawingml/2006/main" noGrp="1"/>
          </p:cNvSpPr>
          <p:nvPr/>
        </p:nvSpPr>
        <p:spPr>
          <a:xfrm xmlns:a="http://schemas.openxmlformats.org/drawingml/2006/main">
            <a:off x="294513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02</a:t>
            </a:r>
          </a:p>
        </p:txBody>
      </p:sp>
      <p:sp>
        <p:nvSpPr>
          <p:cNvPr id="16" name="text-2axb2z">
            <a:extLst xmlns:a="http://schemas.openxmlformats.org/drawingml/2006/main">
              <a:ext uri="{FF2B5EF4-FFF2-40B4-BE49-F238E27FC236}">
                <a16:creationId xmlns:a16="http://schemas.microsoft.com/office/drawing/2014/main" id="{0A1D5083-44F0-4600-8168-F6588AA16CEE}"/>
              </a:ext>
            </a:extLst>
          </p:cNvPr>
          <p:cNvSpPr>
            <a:spLocks xmlns:a="http://schemas.openxmlformats.org/drawingml/2006/main" noGrp="1"/>
          </p:cNvSpPr>
          <p:nvPr/>
        </p:nvSpPr>
        <p:spPr>
          <a:xfrm xmlns:a="http://schemas.openxmlformats.org/drawingml/2006/main">
            <a:off x="294513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QC đạt</a:t>
            </a:r>
          </a:p>
        </p:txBody>
      </p:sp>
      <p:sp>
        <p:nvSpPr>
          <p:cNvPr id="17" name="text-3mlxw8">
            <a:extLst xmlns:a="http://schemas.openxmlformats.org/drawingml/2006/main">
              <a:ext uri="{FF2B5EF4-FFF2-40B4-BE49-F238E27FC236}">
                <a16:creationId xmlns:a16="http://schemas.microsoft.com/office/drawing/2014/main" id="{DE60987F-97CC-4FAC-BDC4-DF0C0B105DFF}"/>
              </a:ext>
            </a:extLst>
          </p:cNvPr>
          <p:cNvSpPr>
            <a:spLocks xmlns:a="http://schemas.openxmlformats.org/drawingml/2006/main" noGrp="1"/>
          </p:cNvSpPr>
          <p:nvPr/>
        </p:nvSpPr>
        <p:spPr>
          <a:xfrm xmlns:a="http://schemas.openxmlformats.org/drawingml/2006/main">
            <a:off x="294513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Âm thanh rõ; có hai khoảng im lặng dài.</a:t>
            </a:r>
          </a:p>
        </p:txBody>
      </p:sp>
      <p:sp>
        <p:nvSpPr>
          <p:cNvPr id="18" name="process-node-rtymr">
            <a:extLst xmlns:a="http://schemas.openxmlformats.org/drawingml/2006/main">
              <a:ext uri="{FF2B5EF4-FFF2-40B4-BE49-F238E27FC236}">
                <a16:creationId xmlns:a16="http://schemas.microsoft.com/office/drawing/2014/main" id="{EBCC5AEF-176A-4BAA-BFE9-7FF3F388EF2C}"/>
              </a:ext>
            </a:extLst>
          </p:cNvPr>
          <p:cNvSpPr>
            <a:spLocks xmlns:a="http://schemas.openxmlformats.org/drawingml/2006/main" noGrp="1"/>
          </p:cNvSpPr>
          <p:nvPr/>
        </p:nvSpPr>
        <p:spPr>
          <a:xfrm xmlns:a="http://schemas.openxmlformats.org/drawingml/2006/main">
            <a:off x="509016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9" name="text-mwoyry">
            <a:extLst xmlns:a="http://schemas.openxmlformats.org/drawingml/2006/main">
              <a:ext uri="{FF2B5EF4-FFF2-40B4-BE49-F238E27FC236}">
                <a16:creationId xmlns:a16="http://schemas.microsoft.com/office/drawing/2014/main" id="{A310E199-AA14-47D1-A631-02FCC4D8FD50}"/>
              </a:ext>
            </a:extLst>
          </p:cNvPr>
          <p:cNvSpPr>
            <a:spLocks xmlns:a="http://schemas.openxmlformats.org/drawingml/2006/main" noGrp="1"/>
          </p:cNvSpPr>
          <p:nvPr/>
        </p:nvSpPr>
        <p:spPr>
          <a:xfrm xmlns:a="http://schemas.openxmlformats.org/drawingml/2006/main">
            <a:off x="524256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03</a:t>
            </a:r>
          </a:p>
        </p:txBody>
      </p:sp>
      <p:sp>
        <p:nvSpPr>
          <p:cNvPr id="20" name="text-etne28">
            <a:extLst xmlns:a="http://schemas.openxmlformats.org/drawingml/2006/main">
              <a:ext uri="{FF2B5EF4-FFF2-40B4-BE49-F238E27FC236}">
                <a16:creationId xmlns:a16="http://schemas.microsoft.com/office/drawing/2014/main" id="{877CA991-DA2D-4960-ACB1-CE7DF3CFB143}"/>
              </a:ext>
            </a:extLst>
          </p:cNvPr>
          <p:cNvSpPr>
            <a:spLocks xmlns:a="http://schemas.openxmlformats.org/drawingml/2006/main" noGrp="1"/>
          </p:cNvSpPr>
          <p:nvPr/>
        </p:nvSpPr>
        <p:spPr>
          <a:xfrm xmlns:a="http://schemas.openxmlformats.org/drawingml/2006/main">
            <a:off x="524256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ASR + evidence</a:t>
            </a:r>
          </a:p>
        </p:txBody>
      </p:sp>
      <p:sp>
        <p:nvSpPr>
          <p:cNvPr id="21" name="text-7pt9a9">
            <a:extLst xmlns:a="http://schemas.openxmlformats.org/drawingml/2006/main">
              <a:ext uri="{FF2B5EF4-FFF2-40B4-BE49-F238E27FC236}">
                <a16:creationId xmlns:a16="http://schemas.microsoft.com/office/drawing/2014/main" id="{316122BF-5E63-49E6-87BA-745A191AC800}"/>
              </a:ext>
            </a:extLst>
          </p:cNvPr>
          <p:cNvSpPr>
            <a:spLocks xmlns:a="http://schemas.openxmlformats.org/drawingml/2006/main" noGrp="1"/>
          </p:cNvSpPr>
          <p:nvPr/>
        </p:nvSpPr>
        <p:spPr>
          <a:xfrm xmlns:a="http://schemas.openxmlformats.org/drawingml/2006/main">
            <a:off x="524256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Transcript khá rõ; một đoạn confidence thấp ở 00:42.</a:t>
            </a:r>
          </a:p>
        </p:txBody>
      </p:sp>
      <p:sp>
        <p:nvSpPr>
          <p:cNvPr id="22" name="process-node-u7tge">
            <a:extLst xmlns:a="http://schemas.openxmlformats.org/drawingml/2006/main">
              <a:ext uri="{FF2B5EF4-FFF2-40B4-BE49-F238E27FC236}">
                <a16:creationId xmlns:a16="http://schemas.microsoft.com/office/drawing/2014/main" id="{FD6DEBEF-FBA5-4DA0-9958-A5CAF4525E12}"/>
              </a:ext>
            </a:extLst>
          </p:cNvPr>
          <p:cNvSpPr>
            <a:spLocks xmlns:a="http://schemas.openxmlformats.org/drawingml/2006/main" noGrp="1"/>
          </p:cNvSpPr>
          <p:nvPr/>
        </p:nvSpPr>
        <p:spPr>
          <a:xfrm xmlns:a="http://schemas.openxmlformats.org/drawingml/2006/main">
            <a:off x="738759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23" name="text-8w3dv4">
            <a:extLst xmlns:a="http://schemas.openxmlformats.org/drawingml/2006/main">
              <a:ext uri="{FF2B5EF4-FFF2-40B4-BE49-F238E27FC236}">
                <a16:creationId xmlns:a16="http://schemas.microsoft.com/office/drawing/2014/main" id="{5A0D8316-3B1A-4D8C-A004-80AAF119590C}"/>
              </a:ext>
            </a:extLst>
          </p:cNvPr>
          <p:cNvSpPr>
            <a:spLocks xmlns:a="http://schemas.openxmlformats.org/drawingml/2006/main" noGrp="1"/>
          </p:cNvSpPr>
          <p:nvPr/>
        </p:nvSpPr>
        <p:spPr>
          <a:xfrm xmlns:a="http://schemas.openxmlformats.org/drawingml/2006/main">
            <a:off x="753999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04</a:t>
            </a:r>
          </a:p>
        </p:txBody>
      </p:sp>
      <p:sp>
        <p:nvSpPr>
          <p:cNvPr id="24" name="text-m3df3y">
            <a:extLst xmlns:a="http://schemas.openxmlformats.org/drawingml/2006/main">
              <a:ext uri="{FF2B5EF4-FFF2-40B4-BE49-F238E27FC236}">
                <a16:creationId xmlns:a16="http://schemas.microsoft.com/office/drawing/2014/main" id="{A4635B8F-C936-479E-8BFD-88A099E2BF70}"/>
              </a:ext>
            </a:extLst>
          </p:cNvPr>
          <p:cNvSpPr>
            <a:spLocks xmlns:a="http://schemas.openxmlformats.org/drawingml/2006/main" noGrp="1"/>
          </p:cNvSpPr>
          <p:nvPr/>
        </p:nvSpPr>
        <p:spPr>
          <a:xfrm xmlns:a="http://schemas.openxmlformats.org/drawingml/2006/main">
            <a:off x="753999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Điểm tiêu chí</a:t>
            </a:r>
          </a:p>
        </p:txBody>
      </p:sp>
      <p:sp>
        <p:nvSpPr>
          <p:cNvPr id="25" name="text-b5w4n5">
            <a:extLst xmlns:a="http://schemas.openxmlformats.org/drawingml/2006/main">
              <a:ext uri="{FF2B5EF4-FFF2-40B4-BE49-F238E27FC236}">
                <a16:creationId xmlns:a16="http://schemas.microsoft.com/office/drawing/2014/main" id="{954A14E5-BB83-40F1-9719-B369446A027F}"/>
              </a:ext>
            </a:extLst>
          </p:cNvPr>
          <p:cNvSpPr>
            <a:spLocks xmlns:a="http://schemas.openxmlformats.org/drawingml/2006/main" noGrp="1"/>
          </p:cNvSpPr>
          <p:nvPr/>
        </p:nvSpPr>
        <p:spPr>
          <a:xfrm xmlns:a="http://schemas.openxmlformats.org/drawingml/2006/main">
            <a:off x="753999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Range B1, Accuracy B1, Fluency A2/B1, Coherence B1.</a:t>
            </a:r>
          </a:p>
        </p:txBody>
      </p:sp>
      <p:sp>
        <p:nvSpPr>
          <p:cNvPr id="26" name="process-node-3rcgl">
            <a:extLst xmlns:a="http://schemas.openxmlformats.org/drawingml/2006/main">
              <a:ext uri="{FF2B5EF4-FFF2-40B4-BE49-F238E27FC236}">
                <a16:creationId xmlns:a16="http://schemas.microsoft.com/office/drawing/2014/main" id="{232A9FDC-2B59-412A-9AA3-AFACA1ADE867}"/>
              </a:ext>
            </a:extLst>
          </p:cNvPr>
          <p:cNvSpPr>
            <a:spLocks xmlns:a="http://schemas.openxmlformats.org/drawingml/2006/main" noGrp="1"/>
          </p:cNvSpPr>
          <p:nvPr/>
        </p:nvSpPr>
        <p:spPr>
          <a:xfrm xmlns:a="http://schemas.openxmlformats.org/drawingml/2006/main">
            <a:off x="9685020" y="2000250"/>
            <a:ext cx="2011680" cy="2286000"/>
          </a:xfrm>
          <a:prstGeom xmlns:a="http://schemas.openxmlformats.org/drawingml/2006/main" prst="roundRect">
            <a:avLst>
              <a:gd name="adj" fmla="val 2841"/>
            </a:avLst>
          </a:prstGeom>
          <a:solidFill xmlns:a="http://schemas.openxmlformats.org/drawingml/2006/main">
            <a:srgbClr val="EAF5FB"/>
          </a:solidFill>
          <a:ln xmlns:a="http://schemas.openxmlformats.org/drawingml/2006/main" w="9525">
            <a:solidFill>
              <a:srgbClr val="3D8DFF"/>
            </a:solidFill>
            <a:prstDash val="solid"/>
          </a:ln>
        </p:spPr>
      </p:sp>
      <p:sp>
        <p:nvSpPr>
          <p:cNvPr id="27" name="text-zze71p">
            <a:extLst xmlns:a="http://schemas.openxmlformats.org/drawingml/2006/main">
              <a:ext uri="{FF2B5EF4-FFF2-40B4-BE49-F238E27FC236}">
                <a16:creationId xmlns:a16="http://schemas.microsoft.com/office/drawing/2014/main" id="{B06D76FD-18BA-4927-BF83-491B13FF88BA}"/>
              </a:ext>
            </a:extLst>
          </p:cNvPr>
          <p:cNvSpPr>
            <a:spLocks xmlns:a="http://schemas.openxmlformats.org/drawingml/2006/main" noGrp="1"/>
          </p:cNvSpPr>
          <p:nvPr/>
        </p:nvSpPr>
        <p:spPr>
          <a:xfrm xmlns:a="http://schemas.openxmlformats.org/drawingml/2006/main">
            <a:off x="983742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05</a:t>
            </a:r>
          </a:p>
        </p:txBody>
      </p:sp>
      <p:sp>
        <p:nvSpPr>
          <p:cNvPr id="28" name="text-l47jb5">
            <a:extLst xmlns:a="http://schemas.openxmlformats.org/drawingml/2006/main">
              <a:ext uri="{FF2B5EF4-FFF2-40B4-BE49-F238E27FC236}">
                <a16:creationId xmlns:a16="http://schemas.microsoft.com/office/drawing/2014/main" id="{0AF5F988-E0E7-4A28-BDEC-36E3FB079545}"/>
              </a:ext>
            </a:extLst>
          </p:cNvPr>
          <p:cNvSpPr>
            <a:spLocks xmlns:a="http://schemas.openxmlformats.org/drawingml/2006/main" noGrp="1"/>
          </p:cNvSpPr>
          <p:nvPr/>
        </p:nvSpPr>
        <p:spPr>
          <a:xfrm xmlns:a="http://schemas.openxmlformats.org/drawingml/2006/main">
            <a:off x="983742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Kết quả</a:t>
            </a:r>
          </a:p>
        </p:txBody>
      </p:sp>
      <p:sp>
        <p:nvSpPr>
          <p:cNvPr id="29" name="text-5yfyid">
            <a:extLst xmlns:a="http://schemas.openxmlformats.org/drawingml/2006/main">
              <a:ext uri="{FF2B5EF4-FFF2-40B4-BE49-F238E27FC236}">
                <a16:creationId xmlns:a16="http://schemas.microsoft.com/office/drawing/2014/main" id="{8FCDE50E-5666-4995-8EAD-3764B1417543}"/>
              </a:ext>
            </a:extLst>
          </p:cNvPr>
          <p:cNvSpPr>
            <a:spLocks xmlns:a="http://schemas.openxmlformats.org/drawingml/2006/main" noGrp="1"/>
          </p:cNvSpPr>
          <p:nvPr/>
        </p:nvSpPr>
        <p:spPr>
          <a:xfrm xmlns:a="http://schemas.openxmlformats.org/drawingml/2006/main">
            <a:off x="983742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Overall B1; cờ review vì ASR risk ở đoạn bằng chứng.</a:t>
            </a:r>
          </a:p>
        </p:txBody>
      </p:sp>
      <p:sp>
        <p:nvSpPr>
          <p:cNvPr id="30" name="callout-faqdz">
            <a:extLst xmlns:a="http://schemas.openxmlformats.org/drawingml/2006/main">
              <a:ext uri="{FF2B5EF4-FFF2-40B4-BE49-F238E27FC236}">
                <a16:creationId xmlns:a16="http://schemas.microsoft.com/office/drawing/2014/main" id="{3D354178-C8C7-4743-90AA-48FF22FDC2C5}"/>
              </a:ext>
            </a:extLst>
          </p:cNvPr>
          <p:cNvSpPr>
            <a:spLocks xmlns:a="http://schemas.openxmlformats.org/drawingml/2006/main" noGrp="1"/>
          </p:cNvSpPr>
          <p:nvPr/>
        </p:nvSpPr>
        <p:spPr>
          <a:xfrm xmlns:a="http://schemas.openxmlformats.org/drawingml/2006/main">
            <a:off x="495300" y="5219700"/>
            <a:ext cx="11201400" cy="762000"/>
          </a:xfrm>
          <a:prstGeom xmlns:a="http://schemas.openxmlformats.org/drawingml/2006/main" prst="roundRect">
            <a:avLst>
              <a:gd name="adj" fmla="val 7500"/>
            </a:avLst>
          </a:prstGeom>
          <a:solidFill xmlns:a="http://schemas.openxmlformats.org/drawingml/2006/main">
            <a:srgbClr val="FFF3D6"/>
          </a:solidFill>
          <a:ln xmlns:a="http://schemas.openxmlformats.org/drawingml/2006/main" w="9525">
            <a:solidFill>
              <a:srgbClr val="A66A00"/>
            </a:solidFill>
            <a:prstDash val="solid"/>
          </a:ln>
        </p:spPr>
      </p:sp>
      <p:sp>
        <p:nvSpPr>
          <p:cNvPr id="31" name="callout-text">
            <a:extLst xmlns:a="http://schemas.openxmlformats.org/drawingml/2006/main">
              <a:ext uri="{FF2B5EF4-FFF2-40B4-BE49-F238E27FC236}">
                <a16:creationId xmlns:a16="http://schemas.microsoft.com/office/drawing/2014/main" id="{5C322D59-DA6D-4604-8C7B-39C60F7C59BB}"/>
              </a:ext>
            </a:extLst>
          </p:cNvPr>
          <p:cNvSpPr>
            <a:spLocks xmlns:a="http://schemas.openxmlformats.org/drawingml/2006/main" noGrp="1"/>
          </p:cNvSpPr>
          <p:nvPr/>
        </p:nvSpPr>
        <p:spPr>
          <a:xfrm xmlns:a="http://schemas.openxmlformats.org/drawingml/2006/main">
            <a:off x="666750" y="535305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A66A00"/>
                </a:solidFill>
                <a:latin typeface="Arial"/>
                <a:ea typeface="Arial"/>
                <a:cs typeface="Arial"/>
              </a:defRPr>
            </a:pPr>
            <a:r>
              <a:rPr sz="1500" b="1" i="0">
                <a:solidFill>
                  <a:srgbClr val="A66A00"/>
                </a:solidFill>
                <a:latin typeface="Arial"/>
                <a:ea typeface="Arial"/>
                <a:cs typeface="Arial"/>
              </a:rPr>
              <a:t>Ví dụ minh họa – không phải kết quả thực nghiệm thật.</a:t>
            </a:r>
          </a:p>
        </p:txBody>
      </p:sp>
    </p:spTree>
    <p:extLst>
      <p:ext uri="{BB962C8B-B14F-4D97-AF65-F5344CB8AC3E}">
        <p14:creationId xmlns:p14="http://schemas.microsoft.com/office/powerpoint/2010/main" val="32714936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section-label">
            <a:extLst xmlns:a="http://schemas.openxmlformats.org/drawingml/2006/main">
              <a:ext uri="{FF2B5EF4-FFF2-40B4-BE49-F238E27FC236}">
                <a16:creationId xmlns:a16="http://schemas.microsoft.com/office/drawing/2014/main" id="{6C1017A7-1911-46CD-B742-E82C9022AF7E}"/>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ĐẦU RA CHO NGƯỜI HỌC</a:t>
            </a:r>
          </a:p>
        </p:txBody>
      </p:sp>
      <p:sp>
        <p:nvSpPr>
          <p:cNvPr id="2" name="slide-title">
            <a:extLst xmlns:a="http://schemas.openxmlformats.org/drawingml/2006/main">
              <a:ext uri="{FF2B5EF4-FFF2-40B4-BE49-F238E27FC236}">
                <a16:creationId xmlns:a16="http://schemas.microsoft.com/office/drawing/2014/main" id="{0EFB4A46-3987-4B3E-B3F2-DD91195CAE22}"/>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Báo cáo phải trả lời: mức nào, vì sao và nên làm gì tiếp theo</a:t>
            </a:r>
          </a:p>
        </p:txBody>
      </p:sp>
      <p:sp>
        <p:nvSpPr>
          <p:cNvPr id="3" name="slide-subtitle">
            <a:extLst xmlns:a="http://schemas.openxmlformats.org/drawingml/2006/main">
              <a:ext uri="{FF2B5EF4-FFF2-40B4-BE49-F238E27FC236}">
                <a16:creationId xmlns:a16="http://schemas.microsoft.com/office/drawing/2014/main" id="{1FD3F34B-CA9F-4B0E-84FD-ABD88B015DF5}"/>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Ví dụ minh họa – số liệu không phải kết quả thực nghiệm.</a:t>
            </a:r>
          </a:p>
        </p:txBody>
      </p:sp>
      <p:sp>
        <p:nvSpPr>
          <p:cNvPr id="4" name="rule">
            <a:extLst xmlns:a="http://schemas.openxmlformats.org/drawingml/2006/main">
              <a:ext uri="{FF2B5EF4-FFF2-40B4-BE49-F238E27FC236}">
                <a16:creationId xmlns:a16="http://schemas.microsoft.com/office/drawing/2014/main" id="{43F2FECB-C3E4-4EF8-A649-9CB2AC78C445}"/>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3AB47F4F-474D-4518-82BC-0B0360E30930}"/>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ĐẦU RA CHO NGƯỜI HỌC</a:t>
            </a:r>
          </a:p>
        </p:txBody>
      </p:sp>
      <p:sp>
        <p:nvSpPr>
          <p:cNvPr id="6" name="footer-number">
            <a:extLst xmlns:a="http://schemas.openxmlformats.org/drawingml/2006/main">
              <a:ext uri="{FF2B5EF4-FFF2-40B4-BE49-F238E27FC236}">
                <a16:creationId xmlns:a16="http://schemas.microsoft.com/office/drawing/2014/main" id="{71B7E35D-37E9-448E-A101-756FADFAE66F}"/>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19</a:t>
            </a:r>
          </a:p>
        </p:txBody>
      </p:sp>
      <p:sp>
        <p:nvSpPr>
          <p:cNvPr id="7" name="overall-report-z3m11">
            <a:extLst xmlns:a="http://schemas.openxmlformats.org/drawingml/2006/main">
              <a:ext uri="{FF2B5EF4-FFF2-40B4-BE49-F238E27FC236}">
                <a16:creationId xmlns:a16="http://schemas.microsoft.com/office/drawing/2014/main" id="{8A04BC1E-803D-4509-855B-61E3DDC36F27}"/>
              </a:ext>
            </a:extLst>
          </p:cNvPr>
          <p:cNvSpPr>
            <a:spLocks xmlns:a="http://schemas.openxmlformats.org/drawingml/2006/main" noGrp="1"/>
          </p:cNvSpPr>
          <p:nvPr/>
        </p:nvSpPr>
        <p:spPr>
          <a:xfrm xmlns:a="http://schemas.openxmlformats.org/drawingml/2006/main">
            <a:off x="495300" y="1809750"/>
            <a:ext cx="3143250" cy="4000500"/>
          </a:xfrm>
          <a:prstGeom xmlns:a="http://schemas.openxmlformats.org/drawingml/2006/main" prst="roundRect">
            <a:avLst>
              <a:gd name="adj" fmla="val 1818"/>
            </a:avLst>
          </a:prstGeom>
          <a:solidFill xmlns:a="http://schemas.openxmlformats.org/drawingml/2006/main">
            <a:srgbClr val="EAF5FB"/>
          </a:solidFill>
          <a:ln xmlns:a="http://schemas.openxmlformats.org/drawingml/2006/main" w="9525">
            <a:solidFill>
              <a:srgbClr val="3D8DFF"/>
            </a:solidFill>
            <a:prstDash val="solid"/>
          </a:ln>
        </p:spPr>
      </p:sp>
      <p:sp>
        <p:nvSpPr>
          <p:cNvPr id="8" name="text-4x12bb">
            <a:extLst xmlns:a="http://schemas.openxmlformats.org/drawingml/2006/main">
              <a:ext uri="{FF2B5EF4-FFF2-40B4-BE49-F238E27FC236}">
                <a16:creationId xmlns:a16="http://schemas.microsoft.com/office/drawing/2014/main" id="{9E2CABC8-F147-4A1E-823D-C512C1693B79}"/>
              </a:ext>
            </a:extLst>
          </p:cNvPr>
          <p:cNvSpPr>
            <a:spLocks xmlns:a="http://schemas.openxmlformats.org/drawingml/2006/main" noGrp="1"/>
          </p:cNvSpPr>
          <p:nvPr/>
        </p:nvSpPr>
        <p:spPr>
          <a:xfrm xmlns:a="http://schemas.openxmlformats.org/drawingml/2006/main">
            <a:off x="742950" y="209550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MỨC ƯỚC LƯỢNG</a:t>
            </a:r>
          </a:p>
        </p:txBody>
      </p:sp>
      <p:sp>
        <p:nvSpPr>
          <p:cNvPr id="9" name="text-xja55q">
            <a:extLst xmlns:a="http://schemas.openxmlformats.org/drawingml/2006/main">
              <a:ext uri="{FF2B5EF4-FFF2-40B4-BE49-F238E27FC236}">
                <a16:creationId xmlns:a16="http://schemas.microsoft.com/office/drawing/2014/main" id="{DF0D736D-4BE2-4EE1-A740-3316B852837C}"/>
              </a:ext>
            </a:extLst>
          </p:cNvPr>
          <p:cNvSpPr>
            <a:spLocks xmlns:a="http://schemas.openxmlformats.org/drawingml/2006/main" noGrp="1"/>
          </p:cNvSpPr>
          <p:nvPr/>
        </p:nvSpPr>
        <p:spPr>
          <a:xfrm xmlns:a="http://schemas.openxmlformats.org/drawingml/2006/main">
            <a:off x="742950" y="2476500"/>
            <a:ext cx="152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250" b="1" i="0">
                <a:solidFill>
                  <a:srgbClr val="1859A9"/>
                </a:solidFill>
                <a:latin typeface="Arial"/>
                <a:ea typeface="Arial"/>
                <a:cs typeface="Arial"/>
              </a:defRPr>
            </a:pPr>
            <a:r>
              <a:rPr sz="5250" b="1" i="0">
                <a:solidFill>
                  <a:srgbClr val="1859A9"/>
                </a:solidFill>
                <a:latin typeface="Arial"/>
                <a:ea typeface="Arial"/>
                <a:cs typeface="Arial"/>
              </a:rPr>
              <a:t>B1</a:t>
            </a:r>
          </a:p>
        </p:txBody>
      </p:sp>
      <p:sp>
        <p:nvSpPr>
          <p:cNvPr id="10" name="text-hyhcx6">
            <a:extLst xmlns:a="http://schemas.openxmlformats.org/drawingml/2006/main">
              <a:ext uri="{FF2B5EF4-FFF2-40B4-BE49-F238E27FC236}">
                <a16:creationId xmlns:a16="http://schemas.microsoft.com/office/drawing/2014/main" id="{196CCFBD-F410-414D-B892-6D078C4D495B}"/>
              </a:ext>
            </a:extLst>
          </p:cNvPr>
          <p:cNvSpPr>
            <a:spLocks xmlns:a="http://schemas.openxmlformats.org/drawingml/2006/main" noGrp="1"/>
          </p:cNvSpPr>
          <p:nvPr/>
        </p:nvSpPr>
        <p:spPr>
          <a:xfrm xmlns:a="http://schemas.openxmlformats.org/drawingml/2006/main">
            <a:off x="742950" y="3333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11827"/>
                </a:solidFill>
                <a:latin typeface="Arial"/>
                <a:ea typeface="Arial"/>
                <a:cs typeface="Arial"/>
              </a:defRPr>
            </a:pPr>
            <a:r>
              <a:rPr sz="1650" b="1" i="0">
                <a:solidFill>
                  <a:srgbClr val="111827"/>
                </a:solidFill>
                <a:latin typeface="Arial"/>
                <a:ea typeface="Arial"/>
                <a:cs typeface="Arial"/>
              </a:rPr>
              <a:t>Độ tin cậy 72%</a:t>
            </a:r>
          </a:p>
        </p:txBody>
      </p:sp>
      <p:sp>
        <p:nvSpPr>
          <p:cNvPr id="11" name="text-vw8b3a">
            <a:extLst xmlns:a="http://schemas.openxmlformats.org/drawingml/2006/main">
              <a:ext uri="{FF2B5EF4-FFF2-40B4-BE49-F238E27FC236}">
                <a16:creationId xmlns:a16="http://schemas.microsoft.com/office/drawing/2014/main" id="{FEF2B9D4-CE55-4647-A671-469AD7F0227D}"/>
              </a:ext>
            </a:extLst>
          </p:cNvPr>
          <p:cNvSpPr>
            <a:spLocks xmlns:a="http://schemas.openxmlformats.org/drawingml/2006/main" noGrp="1"/>
          </p:cNvSpPr>
          <p:nvPr/>
        </p:nvSpPr>
        <p:spPr>
          <a:xfrm xmlns:a="http://schemas.openxmlformats.org/drawingml/2006/main">
            <a:off x="742950" y="3905250"/>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B33A3A"/>
                </a:solidFill>
                <a:latin typeface="Arial"/>
                <a:ea typeface="Arial"/>
                <a:cs typeface="Arial"/>
              </a:defRPr>
            </a:pPr>
            <a:r>
              <a:rPr sz="1425" b="0" i="0">
                <a:solidFill>
                  <a:srgbClr val="B33A3A"/>
                </a:solidFill>
                <a:latin typeface="Arial"/>
                <a:ea typeface="Arial"/>
                <a:cs typeface="Arial"/>
              </a:rPr>
              <a:t>Cần giảng viên duyệt</a:t>
            </a:r>
          </a:p>
          <a:p xmlns:a="http://schemas.openxmlformats.org/drawingml/2006/main">
            <a:pPr algn="l">
              <a:defRPr sz="1425" b="0" i="0">
                <a:solidFill>
                  <a:srgbClr val="B33A3A"/>
                </a:solidFill>
                <a:latin typeface="Arial"/>
                <a:ea typeface="Arial"/>
                <a:cs typeface="Arial"/>
              </a:defRPr>
            </a:pPr>
            <a:r>
              <a:rPr sz="1425" b="0" i="0">
                <a:solidFill>
                  <a:srgbClr val="B33A3A"/>
                </a:solidFill>
                <a:latin typeface="Arial"/>
                <a:ea typeface="Arial"/>
                <a:cs typeface="Arial"/>
              </a:rPr>
              <a:t>vì ASR có rủi ro ở 00:42–00:49</a:t>
            </a:r>
          </a:p>
        </p:txBody>
      </p:sp>
      <p:sp>
        <p:nvSpPr>
          <p:cNvPr id="12" name="text-onek6l">
            <a:extLst xmlns:a="http://schemas.openxmlformats.org/drawingml/2006/main">
              <a:ext uri="{FF2B5EF4-FFF2-40B4-BE49-F238E27FC236}">
                <a16:creationId xmlns:a16="http://schemas.microsoft.com/office/drawing/2014/main" id="{0F76582B-7308-4CFE-A4F6-04133A4ECB39}"/>
              </a:ext>
            </a:extLst>
          </p:cNvPr>
          <p:cNvSpPr>
            <a:spLocks xmlns:a="http://schemas.openxmlformats.org/drawingml/2006/main" noGrp="1"/>
          </p:cNvSpPr>
          <p:nvPr/>
        </p:nvSpPr>
        <p:spPr>
          <a:xfrm xmlns:a="http://schemas.openxmlformats.org/drawingml/2006/main">
            <a:off x="742950" y="49530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2E8B57"/>
                </a:solidFill>
                <a:latin typeface="Arial"/>
                <a:ea typeface="Arial"/>
                <a:cs typeface="Arial"/>
              </a:defRPr>
            </a:pPr>
            <a:r>
              <a:rPr sz="1350" b="1" i="0">
                <a:solidFill>
                  <a:srgbClr val="2E8B57"/>
                </a:solidFill>
                <a:latin typeface="Arial"/>
                <a:ea typeface="Arial"/>
                <a:cs typeface="Arial"/>
              </a:rPr>
              <a:t>Ưu tiên luyện tiếp</a:t>
            </a:r>
          </a:p>
        </p:txBody>
      </p:sp>
      <p:sp>
        <p:nvSpPr>
          <p:cNvPr id="13" name="text-s7rpa6">
            <a:extLst xmlns:a="http://schemas.openxmlformats.org/drawingml/2006/main">
              <a:ext uri="{FF2B5EF4-FFF2-40B4-BE49-F238E27FC236}">
                <a16:creationId xmlns:a16="http://schemas.microsoft.com/office/drawing/2014/main" id="{C1E3FC42-AC3E-429A-A419-DB1B57442DAA}"/>
              </a:ext>
            </a:extLst>
          </p:cNvPr>
          <p:cNvSpPr>
            <a:spLocks xmlns:a="http://schemas.openxmlformats.org/drawingml/2006/main" noGrp="1"/>
          </p:cNvSpPr>
          <p:nvPr/>
        </p:nvSpPr>
        <p:spPr>
          <a:xfrm xmlns:a="http://schemas.openxmlformats.org/drawingml/2006/main">
            <a:off x="742950" y="52768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111827"/>
                </a:solidFill>
                <a:latin typeface="Arial"/>
                <a:ea typeface="Arial"/>
                <a:cs typeface="Arial"/>
              </a:defRPr>
            </a:pPr>
            <a:r>
              <a:rPr sz="1275" b="0" i="0">
                <a:solidFill>
                  <a:srgbClr val="111827"/>
                </a:solidFill>
                <a:latin typeface="Arial"/>
                <a:ea typeface="Arial"/>
                <a:cs typeface="Arial"/>
              </a:rPr>
              <a:t>Giảm khoảng dừng dài và hoàn thành câu trước khi chuyển ý.</a:t>
            </a:r>
          </a:p>
        </p:txBody>
      </p:sp>
      <p:sp>
        <p:nvSpPr>
          <p:cNvPr id="14" name="text-39uok0">
            <a:extLst xmlns:a="http://schemas.openxmlformats.org/drawingml/2006/main">
              <a:ext uri="{FF2B5EF4-FFF2-40B4-BE49-F238E27FC236}">
                <a16:creationId xmlns:a16="http://schemas.microsoft.com/office/drawing/2014/main" id="{1B39B3C3-65F5-4B89-A114-52C11C7F9F22}"/>
              </a:ext>
            </a:extLst>
          </p:cNvPr>
          <p:cNvSpPr>
            <a:spLocks xmlns:a="http://schemas.openxmlformats.org/drawingml/2006/main" noGrp="1"/>
          </p:cNvSpPr>
          <p:nvPr/>
        </p:nvSpPr>
        <p:spPr>
          <a:xfrm xmlns:a="http://schemas.openxmlformats.org/drawingml/2006/main">
            <a:off x="4095750" y="18097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Sáu tiêu chí</a:t>
            </a:r>
          </a:p>
        </p:txBody>
      </p:sp>
      <p:sp>
        <p:nvSpPr>
          <p:cNvPr id="15" name="text-3hydo1">
            <a:extLst xmlns:a="http://schemas.openxmlformats.org/drawingml/2006/main">
              <a:ext uri="{FF2B5EF4-FFF2-40B4-BE49-F238E27FC236}">
                <a16:creationId xmlns:a16="http://schemas.microsoft.com/office/drawing/2014/main" id="{E828D2D8-B2C0-45F1-9936-4FCE0054DF56}"/>
              </a:ext>
            </a:extLst>
          </p:cNvPr>
          <p:cNvSpPr>
            <a:spLocks xmlns:a="http://schemas.openxmlformats.org/drawingml/2006/main" noGrp="1"/>
          </p:cNvSpPr>
          <p:nvPr/>
        </p:nvSpPr>
        <p:spPr>
          <a:xfrm xmlns:a="http://schemas.openxmlformats.org/drawingml/2006/main">
            <a:off x="4095750" y="2324100"/>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827"/>
                </a:solidFill>
                <a:latin typeface="Arial"/>
                <a:ea typeface="Arial"/>
                <a:cs typeface="Arial"/>
              </a:defRPr>
            </a:pPr>
            <a:r>
              <a:rPr sz="1350" b="1" i="0">
                <a:solidFill>
                  <a:srgbClr val="111827"/>
                </a:solidFill>
                <a:latin typeface="Arial"/>
                <a:ea typeface="Arial"/>
                <a:cs typeface="Arial"/>
              </a:rPr>
              <a:t>Range</a:t>
            </a:r>
          </a:p>
        </p:txBody>
      </p:sp>
      <p:sp>
        <p:nvSpPr>
          <p:cNvPr id="16" name="bar-bg-ixe84">
            <a:extLst xmlns:a="http://schemas.openxmlformats.org/drawingml/2006/main">
              <a:ext uri="{FF2B5EF4-FFF2-40B4-BE49-F238E27FC236}">
                <a16:creationId xmlns:a16="http://schemas.microsoft.com/office/drawing/2014/main" id="{508B1ECA-7754-4D59-A899-E3392A5031C8}"/>
              </a:ext>
            </a:extLst>
          </p:cNvPr>
          <p:cNvSpPr>
            <a:spLocks xmlns:a="http://schemas.openxmlformats.org/drawingml/2006/main" noGrp="1"/>
          </p:cNvSpPr>
          <p:nvPr/>
        </p:nvSpPr>
        <p:spPr>
          <a:xfrm xmlns:a="http://schemas.openxmlformats.org/drawingml/2006/main">
            <a:off x="5524500" y="2362200"/>
            <a:ext cx="49530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7" name="bar-value-y94h6">
            <a:extLst xmlns:a="http://schemas.openxmlformats.org/drawingml/2006/main">
              <a:ext uri="{FF2B5EF4-FFF2-40B4-BE49-F238E27FC236}">
                <a16:creationId xmlns:a16="http://schemas.microsoft.com/office/drawing/2014/main" id="{8A1F0CEE-5F5C-4268-AFF8-66184CE9F5D4}"/>
              </a:ext>
            </a:extLst>
          </p:cNvPr>
          <p:cNvSpPr>
            <a:spLocks xmlns:a="http://schemas.openxmlformats.org/drawingml/2006/main" noGrp="1"/>
          </p:cNvSpPr>
          <p:nvPr/>
        </p:nvSpPr>
        <p:spPr>
          <a:xfrm xmlns:a="http://schemas.openxmlformats.org/drawingml/2006/main">
            <a:off x="5524500" y="2362200"/>
            <a:ext cx="336804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text-xrrstz">
            <a:extLst xmlns:a="http://schemas.openxmlformats.org/drawingml/2006/main">
              <a:ext uri="{FF2B5EF4-FFF2-40B4-BE49-F238E27FC236}">
                <a16:creationId xmlns:a16="http://schemas.microsoft.com/office/drawing/2014/main" id="{C33A5955-D5C0-4BDA-B506-79586361BCB1}"/>
              </a:ext>
            </a:extLst>
          </p:cNvPr>
          <p:cNvSpPr>
            <a:spLocks xmlns:a="http://schemas.openxmlformats.org/drawingml/2006/main" noGrp="1"/>
          </p:cNvSpPr>
          <p:nvPr/>
        </p:nvSpPr>
        <p:spPr>
          <a:xfrm xmlns:a="http://schemas.openxmlformats.org/drawingml/2006/main">
            <a:off x="10572750" y="23050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111827"/>
                </a:solidFill>
                <a:latin typeface="Arial"/>
                <a:ea typeface="Arial"/>
                <a:cs typeface="Arial"/>
              </a:defRPr>
            </a:pPr>
            <a:r>
              <a:rPr sz="1275" b="1" i="0">
                <a:solidFill>
                  <a:srgbClr val="111827"/>
                </a:solidFill>
                <a:latin typeface="Arial"/>
                <a:ea typeface="Arial"/>
                <a:cs typeface="Arial"/>
              </a:rPr>
              <a:t>68%</a:t>
            </a:r>
          </a:p>
        </p:txBody>
      </p:sp>
      <p:sp>
        <p:nvSpPr>
          <p:cNvPr id="19" name="text-tbnh8p">
            <a:extLst xmlns:a="http://schemas.openxmlformats.org/drawingml/2006/main">
              <a:ext uri="{FF2B5EF4-FFF2-40B4-BE49-F238E27FC236}">
                <a16:creationId xmlns:a16="http://schemas.microsoft.com/office/drawing/2014/main" id="{AE1D0FD4-7206-4646-83C5-B200CF819B57}"/>
              </a:ext>
            </a:extLst>
          </p:cNvPr>
          <p:cNvSpPr>
            <a:spLocks xmlns:a="http://schemas.openxmlformats.org/drawingml/2006/main" noGrp="1"/>
          </p:cNvSpPr>
          <p:nvPr/>
        </p:nvSpPr>
        <p:spPr>
          <a:xfrm xmlns:a="http://schemas.openxmlformats.org/drawingml/2006/main">
            <a:off x="4095750" y="2838450"/>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827"/>
                </a:solidFill>
                <a:latin typeface="Arial"/>
                <a:ea typeface="Arial"/>
                <a:cs typeface="Arial"/>
              </a:defRPr>
            </a:pPr>
            <a:r>
              <a:rPr sz="1350" b="1" i="0">
                <a:solidFill>
                  <a:srgbClr val="111827"/>
                </a:solidFill>
                <a:latin typeface="Arial"/>
                <a:ea typeface="Arial"/>
                <a:cs typeface="Arial"/>
              </a:rPr>
              <a:t>Accuracy</a:t>
            </a:r>
          </a:p>
        </p:txBody>
      </p:sp>
      <p:sp>
        <p:nvSpPr>
          <p:cNvPr id="20" name="bar-bg-gy9sp">
            <a:extLst xmlns:a="http://schemas.openxmlformats.org/drawingml/2006/main">
              <a:ext uri="{FF2B5EF4-FFF2-40B4-BE49-F238E27FC236}">
                <a16:creationId xmlns:a16="http://schemas.microsoft.com/office/drawing/2014/main" id="{37244AA7-4250-4003-8EDF-AB7BC797B3AF}"/>
              </a:ext>
            </a:extLst>
          </p:cNvPr>
          <p:cNvSpPr>
            <a:spLocks xmlns:a="http://schemas.openxmlformats.org/drawingml/2006/main" noGrp="1"/>
          </p:cNvSpPr>
          <p:nvPr/>
        </p:nvSpPr>
        <p:spPr>
          <a:xfrm xmlns:a="http://schemas.openxmlformats.org/drawingml/2006/main">
            <a:off x="5524500" y="2876550"/>
            <a:ext cx="49530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1" name="bar-value-kxhlu">
            <a:extLst xmlns:a="http://schemas.openxmlformats.org/drawingml/2006/main">
              <a:ext uri="{FF2B5EF4-FFF2-40B4-BE49-F238E27FC236}">
                <a16:creationId xmlns:a16="http://schemas.microsoft.com/office/drawing/2014/main" id="{A75BAAAC-9D7D-4000-9F91-4713786A40A8}"/>
              </a:ext>
            </a:extLst>
          </p:cNvPr>
          <p:cNvSpPr>
            <a:spLocks xmlns:a="http://schemas.openxmlformats.org/drawingml/2006/main" noGrp="1"/>
          </p:cNvSpPr>
          <p:nvPr/>
        </p:nvSpPr>
        <p:spPr>
          <a:xfrm xmlns:a="http://schemas.openxmlformats.org/drawingml/2006/main">
            <a:off x="5524500" y="2876550"/>
            <a:ext cx="307086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text-yu80r6">
            <a:extLst xmlns:a="http://schemas.openxmlformats.org/drawingml/2006/main">
              <a:ext uri="{FF2B5EF4-FFF2-40B4-BE49-F238E27FC236}">
                <a16:creationId xmlns:a16="http://schemas.microsoft.com/office/drawing/2014/main" id="{B523E9DD-2AF0-4FFC-9F3E-9A8866C6A374}"/>
              </a:ext>
            </a:extLst>
          </p:cNvPr>
          <p:cNvSpPr>
            <a:spLocks xmlns:a="http://schemas.openxmlformats.org/drawingml/2006/main" noGrp="1"/>
          </p:cNvSpPr>
          <p:nvPr/>
        </p:nvSpPr>
        <p:spPr>
          <a:xfrm xmlns:a="http://schemas.openxmlformats.org/drawingml/2006/main">
            <a:off x="10572750" y="2819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111827"/>
                </a:solidFill>
                <a:latin typeface="Arial"/>
                <a:ea typeface="Arial"/>
                <a:cs typeface="Arial"/>
              </a:defRPr>
            </a:pPr>
            <a:r>
              <a:rPr sz="1275" b="1" i="0">
                <a:solidFill>
                  <a:srgbClr val="111827"/>
                </a:solidFill>
                <a:latin typeface="Arial"/>
                <a:ea typeface="Arial"/>
                <a:cs typeface="Arial"/>
              </a:rPr>
              <a:t>62%</a:t>
            </a:r>
          </a:p>
        </p:txBody>
      </p:sp>
      <p:sp>
        <p:nvSpPr>
          <p:cNvPr id="23" name="text-05anm9">
            <a:extLst xmlns:a="http://schemas.openxmlformats.org/drawingml/2006/main">
              <a:ext uri="{FF2B5EF4-FFF2-40B4-BE49-F238E27FC236}">
                <a16:creationId xmlns:a16="http://schemas.microsoft.com/office/drawing/2014/main" id="{0C87F329-5C60-4B98-B992-5A2905FA63FB}"/>
              </a:ext>
            </a:extLst>
          </p:cNvPr>
          <p:cNvSpPr>
            <a:spLocks xmlns:a="http://schemas.openxmlformats.org/drawingml/2006/main" noGrp="1"/>
          </p:cNvSpPr>
          <p:nvPr/>
        </p:nvSpPr>
        <p:spPr>
          <a:xfrm xmlns:a="http://schemas.openxmlformats.org/drawingml/2006/main">
            <a:off x="4095750" y="3352800"/>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827"/>
                </a:solidFill>
                <a:latin typeface="Arial"/>
                <a:ea typeface="Arial"/>
                <a:cs typeface="Arial"/>
              </a:defRPr>
            </a:pPr>
            <a:r>
              <a:rPr sz="1350" b="1" i="0">
                <a:solidFill>
                  <a:srgbClr val="111827"/>
                </a:solidFill>
                <a:latin typeface="Arial"/>
                <a:ea typeface="Arial"/>
                <a:cs typeface="Arial"/>
              </a:rPr>
              <a:t>Fluency</a:t>
            </a:r>
          </a:p>
        </p:txBody>
      </p:sp>
      <p:sp>
        <p:nvSpPr>
          <p:cNvPr id="24" name="bar-bg-2cxfq">
            <a:extLst xmlns:a="http://schemas.openxmlformats.org/drawingml/2006/main">
              <a:ext uri="{FF2B5EF4-FFF2-40B4-BE49-F238E27FC236}">
                <a16:creationId xmlns:a16="http://schemas.microsoft.com/office/drawing/2014/main" id="{7891F505-FF9C-4CE4-8DEA-7642E3B46326}"/>
              </a:ext>
            </a:extLst>
          </p:cNvPr>
          <p:cNvSpPr>
            <a:spLocks xmlns:a="http://schemas.openxmlformats.org/drawingml/2006/main" noGrp="1"/>
          </p:cNvSpPr>
          <p:nvPr/>
        </p:nvSpPr>
        <p:spPr>
          <a:xfrm xmlns:a="http://schemas.openxmlformats.org/drawingml/2006/main">
            <a:off x="5524500" y="3390900"/>
            <a:ext cx="49530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5" name="bar-value-qxzql">
            <a:extLst xmlns:a="http://schemas.openxmlformats.org/drawingml/2006/main">
              <a:ext uri="{FF2B5EF4-FFF2-40B4-BE49-F238E27FC236}">
                <a16:creationId xmlns:a16="http://schemas.microsoft.com/office/drawing/2014/main" id="{11E5906F-15D8-4A5D-BDFA-6F3C9F364258}"/>
              </a:ext>
            </a:extLst>
          </p:cNvPr>
          <p:cNvSpPr>
            <a:spLocks xmlns:a="http://schemas.openxmlformats.org/drawingml/2006/main" noGrp="1"/>
          </p:cNvSpPr>
          <p:nvPr/>
        </p:nvSpPr>
        <p:spPr>
          <a:xfrm xmlns:a="http://schemas.openxmlformats.org/drawingml/2006/main">
            <a:off x="5524500" y="3390900"/>
            <a:ext cx="2377440" cy="171450"/>
          </a:xfrm>
          <a:prstGeom xmlns:a="http://schemas.openxmlformats.org/drawingml/2006/main" prst="rect">
            <a:avLst/>
          </a:prstGeom>
          <a:solidFill xmlns:a="http://schemas.openxmlformats.org/drawingml/2006/main">
            <a:srgbClr val="A66A00"/>
          </a:solidFill>
          <a:ln xmlns:a="http://schemas.openxmlformats.org/drawingml/2006/main" w="0">
            <a:noFill/>
            <a:prstDash val="solid"/>
          </a:ln>
        </p:spPr>
      </p:sp>
      <p:sp>
        <p:nvSpPr>
          <p:cNvPr id="26" name="text-ivkp6p">
            <a:extLst xmlns:a="http://schemas.openxmlformats.org/drawingml/2006/main">
              <a:ext uri="{FF2B5EF4-FFF2-40B4-BE49-F238E27FC236}">
                <a16:creationId xmlns:a16="http://schemas.microsoft.com/office/drawing/2014/main" id="{6B4293C1-500F-49BD-AAE3-6D0FFC12112E}"/>
              </a:ext>
            </a:extLst>
          </p:cNvPr>
          <p:cNvSpPr>
            <a:spLocks xmlns:a="http://schemas.openxmlformats.org/drawingml/2006/main" noGrp="1"/>
          </p:cNvSpPr>
          <p:nvPr/>
        </p:nvSpPr>
        <p:spPr>
          <a:xfrm xmlns:a="http://schemas.openxmlformats.org/drawingml/2006/main">
            <a:off x="10572750" y="33337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111827"/>
                </a:solidFill>
                <a:latin typeface="Arial"/>
                <a:ea typeface="Arial"/>
                <a:cs typeface="Arial"/>
              </a:defRPr>
            </a:pPr>
            <a:r>
              <a:rPr sz="1275" b="1" i="0">
                <a:solidFill>
                  <a:srgbClr val="111827"/>
                </a:solidFill>
                <a:latin typeface="Arial"/>
                <a:ea typeface="Arial"/>
                <a:cs typeface="Arial"/>
              </a:rPr>
              <a:t>48%</a:t>
            </a:r>
          </a:p>
        </p:txBody>
      </p:sp>
      <p:sp>
        <p:nvSpPr>
          <p:cNvPr id="27" name="text-a7yaqg">
            <a:extLst xmlns:a="http://schemas.openxmlformats.org/drawingml/2006/main">
              <a:ext uri="{FF2B5EF4-FFF2-40B4-BE49-F238E27FC236}">
                <a16:creationId xmlns:a16="http://schemas.microsoft.com/office/drawing/2014/main" id="{207EBF0A-9780-4949-AB93-6CC442A87878}"/>
              </a:ext>
            </a:extLst>
          </p:cNvPr>
          <p:cNvSpPr>
            <a:spLocks xmlns:a="http://schemas.openxmlformats.org/drawingml/2006/main" noGrp="1"/>
          </p:cNvSpPr>
          <p:nvPr/>
        </p:nvSpPr>
        <p:spPr>
          <a:xfrm xmlns:a="http://schemas.openxmlformats.org/drawingml/2006/main">
            <a:off x="4095750" y="3867150"/>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827"/>
                </a:solidFill>
                <a:latin typeface="Arial"/>
                <a:ea typeface="Arial"/>
                <a:cs typeface="Arial"/>
              </a:defRPr>
            </a:pPr>
            <a:r>
              <a:rPr sz="1350" b="1" i="0">
                <a:solidFill>
                  <a:srgbClr val="111827"/>
                </a:solidFill>
                <a:latin typeface="Arial"/>
                <a:ea typeface="Arial"/>
                <a:cs typeface="Arial"/>
              </a:rPr>
              <a:t>Interaction</a:t>
            </a:r>
          </a:p>
        </p:txBody>
      </p:sp>
      <p:sp>
        <p:nvSpPr>
          <p:cNvPr id="28" name="bar-bg-vrvlo">
            <a:extLst xmlns:a="http://schemas.openxmlformats.org/drawingml/2006/main">
              <a:ext uri="{FF2B5EF4-FFF2-40B4-BE49-F238E27FC236}">
                <a16:creationId xmlns:a16="http://schemas.microsoft.com/office/drawing/2014/main" id="{6DD826DC-B8E0-49A6-99BF-E09A392F633F}"/>
              </a:ext>
            </a:extLst>
          </p:cNvPr>
          <p:cNvSpPr>
            <a:spLocks xmlns:a="http://schemas.openxmlformats.org/drawingml/2006/main" noGrp="1"/>
          </p:cNvSpPr>
          <p:nvPr/>
        </p:nvSpPr>
        <p:spPr>
          <a:xfrm xmlns:a="http://schemas.openxmlformats.org/drawingml/2006/main">
            <a:off x="5524500" y="3905250"/>
            <a:ext cx="49530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9" name="bar-value-od9pq">
            <a:extLst xmlns:a="http://schemas.openxmlformats.org/drawingml/2006/main">
              <a:ext uri="{FF2B5EF4-FFF2-40B4-BE49-F238E27FC236}">
                <a16:creationId xmlns:a16="http://schemas.microsoft.com/office/drawing/2014/main" id="{FCEFE24D-2296-48D8-8EE5-C31D4936BC91}"/>
              </a:ext>
            </a:extLst>
          </p:cNvPr>
          <p:cNvSpPr>
            <a:spLocks xmlns:a="http://schemas.openxmlformats.org/drawingml/2006/main" noGrp="1"/>
          </p:cNvSpPr>
          <p:nvPr/>
        </p:nvSpPr>
        <p:spPr>
          <a:xfrm xmlns:a="http://schemas.openxmlformats.org/drawingml/2006/main">
            <a:off x="5524500" y="3905250"/>
            <a:ext cx="27241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0" name="text-mqtco5">
            <a:extLst xmlns:a="http://schemas.openxmlformats.org/drawingml/2006/main">
              <a:ext uri="{FF2B5EF4-FFF2-40B4-BE49-F238E27FC236}">
                <a16:creationId xmlns:a16="http://schemas.microsoft.com/office/drawing/2014/main" id="{9BF898F4-E34F-49B9-A369-BAED12B2049F}"/>
              </a:ext>
            </a:extLst>
          </p:cNvPr>
          <p:cNvSpPr>
            <a:spLocks xmlns:a="http://schemas.openxmlformats.org/drawingml/2006/main" noGrp="1"/>
          </p:cNvSpPr>
          <p:nvPr/>
        </p:nvSpPr>
        <p:spPr>
          <a:xfrm xmlns:a="http://schemas.openxmlformats.org/drawingml/2006/main">
            <a:off x="10572750" y="38481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111827"/>
                </a:solidFill>
                <a:latin typeface="Arial"/>
                <a:ea typeface="Arial"/>
                <a:cs typeface="Arial"/>
              </a:defRPr>
            </a:pPr>
            <a:r>
              <a:rPr sz="1275" b="1" i="0">
                <a:solidFill>
                  <a:srgbClr val="111827"/>
                </a:solidFill>
                <a:latin typeface="Arial"/>
                <a:ea typeface="Arial"/>
                <a:cs typeface="Arial"/>
              </a:rPr>
              <a:t>55%</a:t>
            </a:r>
          </a:p>
        </p:txBody>
      </p:sp>
      <p:sp>
        <p:nvSpPr>
          <p:cNvPr id="31" name="text-g6t0lq">
            <a:extLst xmlns:a="http://schemas.openxmlformats.org/drawingml/2006/main">
              <a:ext uri="{FF2B5EF4-FFF2-40B4-BE49-F238E27FC236}">
                <a16:creationId xmlns:a16="http://schemas.microsoft.com/office/drawing/2014/main" id="{957D0CC0-4905-4EE8-8098-FA6F1BB3B447}"/>
              </a:ext>
            </a:extLst>
          </p:cNvPr>
          <p:cNvSpPr>
            <a:spLocks xmlns:a="http://schemas.openxmlformats.org/drawingml/2006/main" noGrp="1"/>
          </p:cNvSpPr>
          <p:nvPr/>
        </p:nvSpPr>
        <p:spPr>
          <a:xfrm xmlns:a="http://schemas.openxmlformats.org/drawingml/2006/main">
            <a:off x="4095750" y="4381500"/>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827"/>
                </a:solidFill>
                <a:latin typeface="Arial"/>
                <a:ea typeface="Arial"/>
                <a:cs typeface="Arial"/>
              </a:defRPr>
            </a:pPr>
            <a:r>
              <a:rPr sz="1350" b="1" i="0">
                <a:solidFill>
                  <a:srgbClr val="111827"/>
                </a:solidFill>
                <a:latin typeface="Arial"/>
                <a:ea typeface="Arial"/>
                <a:cs typeface="Arial"/>
              </a:rPr>
              <a:t>Coherence</a:t>
            </a:r>
          </a:p>
        </p:txBody>
      </p:sp>
      <p:sp>
        <p:nvSpPr>
          <p:cNvPr id="32" name="bar-bg-rwy7z">
            <a:extLst xmlns:a="http://schemas.openxmlformats.org/drawingml/2006/main">
              <a:ext uri="{FF2B5EF4-FFF2-40B4-BE49-F238E27FC236}">
                <a16:creationId xmlns:a16="http://schemas.microsoft.com/office/drawing/2014/main" id="{D9140AF1-CFD2-4AAB-B72A-DA087C0F9FFE}"/>
              </a:ext>
            </a:extLst>
          </p:cNvPr>
          <p:cNvSpPr>
            <a:spLocks xmlns:a="http://schemas.openxmlformats.org/drawingml/2006/main" noGrp="1"/>
          </p:cNvSpPr>
          <p:nvPr/>
        </p:nvSpPr>
        <p:spPr>
          <a:xfrm xmlns:a="http://schemas.openxmlformats.org/drawingml/2006/main">
            <a:off x="5524500" y="4419600"/>
            <a:ext cx="49530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3" name="bar-value-s5wky">
            <a:extLst xmlns:a="http://schemas.openxmlformats.org/drawingml/2006/main">
              <a:ext uri="{FF2B5EF4-FFF2-40B4-BE49-F238E27FC236}">
                <a16:creationId xmlns:a16="http://schemas.microsoft.com/office/drawing/2014/main" id="{C725797E-3A3E-41F9-9B2F-4CCA5010BF88}"/>
              </a:ext>
            </a:extLst>
          </p:cNvPr>
          <p:cNvSpPr>
            <a:spLocks xmlns:a="http://schemas.openxmlformats.org/drawingml/2006/main" noGrp="1"/>
          </p:cNvSpPr>
          <p:nvPr/>
        </p:nvSpPr>
        <p:spPr>
          <a:xfrm xmlns:a="http://schemas.openxmlformats.org/drawingml/2006/main">
            <a:off x="5524500" y="4419600"/>
            <a:ext cx="356616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4" name="text-5ez5mt">
            <a:extLst xmlns:a="http://schemas.openxmlformats.org/drawingml/2006/main">
              <a:ext uri="{FF2B5EF4-FFF2-40B4-BE49-F238E27FC236}">
                <a16:creationId xmlns:a16="http://schemas.microsoft.com/office/drawing/2014/main" id="{917C5C27-0A85-43E5-BC61-E314882C06AF}"/>
              </a:ext>
            </a:extLst>
          </p:cNvPr>
          <p:cNvSpPr>
            <a:spLocks xmlns:a="http://schemas.openxmlformats.org/drawingml/2006/main" noGrp="1"/>
          </p:cNvSpPr>
          <p:nvPr/>
        </p:nvSpPr>
        <p:spPr>
          <a:xfrm xmlns:a="http://schemas.openxmlformats.org/drawingml/2006/main">
            <a:off x="10572750" y="4362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111827"/>
                </a:solidFill>
                <a:latin typeface="Arial"/>
                <a:ea typeface="Arial"/>
                <a:cs typeface="Arial"/>
              </a:defRPr>
            </a:pPr>
            <a:r>
              <a:rPr sz="1275" b="1" i="0">
                <a:solidFill>
                  <a:srgbClr val="111827"/>
                </a:solidFill>
                <a:latin typeface="Arial"/>
                <a:ea typeface="Arial"/>
                <a:cs typeface="Arial"/>
              </a:rPr>
              <a:t>72%</a:t>
            </a:r>
          </a:p>
        </p:txBody>
      </p:sp>
      <p:sp>
        <p:nvSpPr>
          <p:cNvPr id="35" name="text-gtrmdx">
            <a:extLst xmlns:a="http://schemas.openxmlformats.org/drawingml/2006/main">
              <a:ext uri="{FF2B5EF4-FFF2-40B4-BE49-F238E27FC236}">
                <a16:creationId xmlns:a16="http://schemas.microsoft.com/office/drawing/2014/main" id="{8D509192-CE6A-42C4-AC8F-211A7A26D7BE}"/>
              </a:ext>
            </a:extLst>
          </p:cNvPr>
          <p:cNvSpPr>
            <a:spLocks xmlns:a="http://schemas.openxmlformats.org/drawingml/2006/main" noGrp="1"/>
          </p:cNvSpPr>
          <p:nvPr/>
        </p:nvSpPr>
        <p:spPr>
          <a:xfrm xmlns:a="http://schemas.openxmlformats.org/drawingml/2006/main">
            <a:off x="4095750" y="4895850"/>
            <a:ext cx="138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827"/>
                </a:solidFill>
                <a:latin typeface="Arial"/>
                <a:ea typeface="Arial"/>
                <a:cs typeface="Arial"/>
              </a:defRPr>
            </a:pPr>
            <a:r>
              <a:rPr sz="1350" b="1" i="0">
                <a:solidFill>
                  <a:srgbClr val="111827"/>
                </a:solidFill>
                <a:latin typeface="Arial"/>
                <a:ea typeface="Arial"/>
                <a:cs typeface="Arial"/>
              </a:rPr>
              <a:t>Phonology</a:t>
            </a:r>
          </a:p>
        </p:txBody>
      </p:sp>
      <p:sp>
        <p:nvSpPr>
          <p:cNvPr id="36" name="bar-bg-f95xs">
            <a:extLst xmlns:a="http://schemas.openxmlformats.org/drawingml/2006/main">
              <a:ext uri="{FF2B5EF4-FFF2-40B4-BE49-F238E27FC236}">
                <a16:creationId xmlns:a16="http://schemas.microsoft.com/office/drawing/2014/main" id="{CB4ECE60-BBAB-4E01-808F-F39FF2D36B3F}"/>
              </a:ext>
            </a:extLst>
          </p:cNvPr>
          <p:cNvSpPr>
            <a:spLocks xmlns:a="http://schemas.openxmlformats.org/drawingml/2006/main" noGrp="1"/>
          </p:cNvSpPr>
          <p:nvPr/>
        </p:nvSpPr>
        <p:spPr>
          <a:xfrm xmlns:a="http://schemas.openxmlformats.org/drawingml/2006/main">
            <a:off x="5524500" y="4933950"/>
            <a:ext cx="49530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7" name="bar-value-cvse6">
            <a:extLst xmlns:a="http://schemas.openxmlformats.org/drawingml/2006/main">
              <a:ext uri="{FF2B5EF4-FFF2-40B4-BE49-F238E27FC236}">
                <a16:creationId xmlns:a16="http://schemas.microsoft.com/office/drawing/2014/main" id="{F98E4BFC-74B5-4914-A354-7FD09ACE3A69}"/>
              </a:ext>
            </a:extLst>
          </p:cNvPr>
          <p:cNvSpPr>
            <a:spLocks xmlns:a="http://schemas.openxmlformats.org/drawingml/2006/main" noGrp="1"/>
          </p:cNvSpPr>
          <p:nvPr/>
        </p:nvSpPr>
        <p:spPr>
          <a:xfrm xmlns:a="http://schemas.openxmlformats.org/drawingml/2006/main">
            <a:off x="5524500" y="4933950"/>
            <a:ext cx="316992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8" name="text-p838hf">
            <a:extLst xmlns:a="http://schemas.openxmlformats.org/drawingml/2006/main">
              <a:ext uri="{FF2B5EF4-FFF2-40B4-BE49-F238E27FC236}">
                <a16:creationId xmlns:a16="http://schemas.microsoft.com/office/drawing/2014/main" id="{7554FC52-F67C-464B-B336-8C2EDBB900E0}"/>
              </a:ext>
            </a:extLst>
          </p:cNvPr>
          <p:cNvSpPr>
            <a:spLocks xmlns:a="http://schemas.openxmlformats.org/drawingml/2006/main" noGrp="1"/>
          </p:cNvSpPr>
          <p:nvPr/>
        </p:nvSpPr>
        <p:spPr>
          <a:xfrm xmlns:a="http://schemas.openxmlformats.org/drawingml/2006/main">
            <a:off x="10572750" y="48768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111827"/>
                </a:solidFill>
                <a:latin typeface="Arial"/>
                <a:ea typeface="Arial"/>
                <a:cs typeface="Arial"/>
              </a:defRPr>
            </a:pPr>
            <a:r>
              <a:rPr sz="1275" b="1" i="0">
                <a:solidFill>
                  <a:srgbClr val="111827"/>
                </a:solidFill>
                <a:latin typeface="Arial"/>
                <a:ea typeface="Arial"/>
                <a:cs typeface="Arial"/>
              </a:rPr>
              <a:t>64%</a:t>
            </a:r>
          </a:p>
        </p:txBody>
      </p:sp>
      <p:sp>
        <p:nvSpPr>
          <p:cNvPr id="39" name="callout-9ice5">
            <a:extLst xmlns:a="http://schemas.openxmlformats.org/drawingml/2006/main">
              <a:ext uri="{FF2B5EF4-FFF2-40B4-BE49-F238E27FC236}">
                <a16:creationId xmlns:a16="http://schemas.microsoft.com/office/drawing/2014/main" id="{D01572B3-0048-4C17-A63A-507208E25975}"/>
              </a:ext>
            </a:extLst>
          </p:cNvPr>
          <p:cNvSpPr>
            <a:spLocks xmlns:a="http://schemas.openxmlformats.org/drawingml/2006/main" noGrp="1"/>
          </p:cNvSpPr>
          <p:nvPr/>
        </p:nvSpPr>
        <p:spPr>
          <a:xfrm xmlns:a="http://schemas.openxmlformats.org/drawingml/2006/main">
            <a:off x="4095750" y="5562600"/>
            <a:ext cx="7239000" cy="590550"/>
          </a:xfrm>
          <a:prstGeom xmlns:a="http://schemas.openxmlformats.org/drawingml/2006/main" prst="roundRect">
            <a:avLst>
              <a:gd name="adj" fmla="val 9677"/>
            </a:avLst>
          </a:prstGeom>
          <a:solidFill xmlns:a="http://schemas.openxmlformats.org/drawingml/2006/main">
            <a:srgbClr val="EAF5FB"/>
          </a:solidFill>
          <a:ln xmlns:a="http://schemas.openxmlformats.org/drawingml/2006/main" w="9525">
            <a:solidFill>
              <a:srgbClr val="3D8DFF"/>
            </a:solidFill>
            <a:prstDash val="solid"/>
          </a:ln>
        </p:spPr>
      </p:sp>
      <p:sp>
        <p:nvSpPr>
          <p:cNvPr id="40" name="callout-text">
            <a:extLst xmlns:a="http://schemas.openxmlformats.org/drawingml/2006/main">
              <a:ext uri="{FF2B5EF4-FFF2-40B4-BE49-F238E27FC236}">
                <a16:creationId xmlns:a16="http://schemas.microsoft.com/office/drawing/2014/main" id="{BCD3F826-626F-4F7F-B2B8-76ED0CCFF962}"/>
              </a:ext>
            </a:extLst>
          </p:cNvPr>
          <p:cNvSpPr>
            <a:spLocks xmlns:a="http://schemas.openxmlformats.org/drawingml/2006/main" noGrp="1"/>
          </p:cNvSpPr>
          <p:nvPr/>
        </p:nvSpPr>
        <p:spPr>
          <a:xfrm xmlns:a="http://schemas.openxmlformats.org/drawingml/2006/main">
            <a:off x="4267200" y="5695950"/>
            <a:ext cx="689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859A9"/>
                </a:solidFill>
                <a:latin typeface="Arial"/>
                <a:ea typeface="Arial"/>
                <a:cs typeface="Arial"/>
              </a:defRPr>
            </a:pPr>
            <a:r>
              <a:rPr sz="1500" b="1" i="0">
                <a:solidFill>
                  <a:srgbClr val="1859A9"/>
                </a:solidFill>
                <a:latin typeface="Arial"/>
                <a:ea typeface="Arial"/>
                <a:cs typeface="Arial"/>
              </a:rPr>
              <a:t>Báo cáo tốt không chỉ nêu điểm; phải có evidence, confidence, version và lý do chuyển review.</a:t>
            </a:r>
          </a:p>
        </p:txBody>
      </p:sp>
    </p:spTree>
    <p:extLst>
      <p:ext uri="{BB962C8B-B14F-4D97-AF65-F5344CB8AC3E}">
        <p14:creationId xmlns:p14="http://schemas.microsoft.com/office/powerpoint/2010/main" val="8302536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F86FC0FD-2F13-41A6-A1D9-3F804EAE3081}"/>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LỰA CHỌN MÔ HÌNH</a:t>
            </a:r>
          </a:p>
        </p:txBody>
      </p:sp>
      <p:sp>
        <p:nvSpPr>
          <p:cNvPr id="2" name="slide-title">
            <a:extLst xmlns:a="http://schemas.openxmlformats.org/drawingml/2006/main">
              <a:ext uri="{FF2B5EF4-FFF2-40B4-BE49-F238E27FC236}">
                <a16:creationId xmlns:a16="http://schemas.microsoft.com/office/drawing/2014/main" id="{CC6C1D71-BE19-469B-BCB2-49352C413B9B}"/>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Vì sao không chỉ đưa transcript cho ChatGPT chấm?</a:t>
            </a:r>
          </a:p>
        </p:txBody>
      </p:sp>
      <p:sp>
        <p:nvSpPr>
          <p:cNvPr id="3" name="rule">
            <a:extLst xmlns:a="http://schemas.openxmlformats.org/drawingml/2006/main">
              <a:ext uri="{FF2B5EF4-FFF2-40B4-BE49-F238E27FC236}">
                <a16:creationId xmlns:a16="http://schemas.microsoft.com/office/drawing/2014/main" id="{A0BCED9B-6ED4-4D00-927C-C299A2C7DD2E}"/>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AA2FE47C-8452-432D-AAFA-846FAD7CF303}"/>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LỰA CHỌN MÔ HÌNH</a:t>
            </a:r>
          </a:p>
        </p:txBody>
      </p:sp>
      <p:sp>
        <p:nvSpPr>
          <p:cNvPr id="5" name="footer-number">
            <a:extLst xmlns:a="http://schemas.openxmlformats.org/drawingml/2006/main">
              <a:ext uri="{FF2B5EF4-FFF2-40B4-BE49-F238E27FC236}">
                <a16:creationId xmlns:a16="http://schemas.microsoft.com/office/drawing/2014/main" id="{EDF2FC50-E584-45D8-BB63-092D682C053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20</a:t>
            </a:r>
          </a:p>
        </p:txBody>
      </p:sp>
      <p:sp>
        <p:nvSpPr>
          <p:cNvPr id="6" name="text-1eirf9">
            <a:extLst xmlns:a="http://schemas.openxmlformats.org/drawingml/2006/main">
              <a:ext uri="{FF2B5EF4-FFF2-40B4-BE49-F238E27FC236}">
                <a16:creationId xmlns:a16="http://schemas.microsoft.com/office/drawing/2014/main" id="{56A19B78-3BED-4D15-AE6C-4C35D8818597}"/>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Transcript-only nhìn thấy</a:t>
            </a:r>
          </a:p>
        </p:txBody>
      </p:sp>
      <p:sp>
        <p:nvSpPr>
          <p:cNvPr id="7" name="text-xtkc7o">
            <a:extLst xmlns:a="http://schemas.openxmlformats.org/drawingml/2006/main">
              <a:ext uri="{FF2B5EF4-FFF2-40B4-BE49-F238E27FC236}">
                <a16:creationId xmlns:a16="http://schemas.microsoft.com/office/drawing/2014/main" id="{8DB3B33B-0237-4352-A64A-B650B17DA11A}"/>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Từ vựng và nội dung đã được ASR ghi lại.</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Một phần cấu trúc câu và từ nối.</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Khả năng bám rubric nếu prompt được khóa.</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Có thể dùng làm baseline B3.</a:t>
            </a:r>
          </a:p>
        </p:txBody>
      </p:sp>
      <p:sp>
        <p:nvSpPr>
          <p:cNvPr id="8" name="rule">
            <a:extLst xmlns:a="http://schemas.openxmlformats.org/drawingml/2006/main">
              <a:ext uri="{FF2B5EF4-FFF2-40B4-BE49-F238E27FC236}">
                <a16:creationId xmlns:a16="http://schemas.microsoft.com/office/drawing/2014/main" id="{B91E3802-A948-4CAE-83AC-895E185244F0}"/>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r2e5xy">
            <a:extLst xmlns:a="http://schemas.openxmlformats.org/drawingml/2006/main">
              <a:ext uri="{FF2B5EF4-FFF2-40B4-BE49-F238E27FC236}">
                <a16:creationId xmlns:a16="http://schemas.microsoft.com/office/drawing/2014/main" id="{87AE0DCF-42A8-4C96-9C97-9FF21F05FC05}"/>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Transcript-only không nghe thấy</a:t>
            </a:r>
          </a:p>
        </p:txBody>
      </p:sp>
      <p:sp>
        <p:nvSpPr>
          <p:cNvPr id="10" name="text-6vz8h6">
            <a:extLst xmlns:a="http://schemas.openxmlformats.org/drawingml/2006/main">
              <a:ext uri="{FF2B5EF4-FFF2-40B4-BE49-F238E27FC236}">
                <a16:creationId xmlns:a16="http://schemas.microsoft.com/office/drawing/2014/main" id="{80478368-2FC4-4FA5-B6F5-6C72E599B96F}"/>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Phát âm có dễ hiểu hay không.</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Prosody, nhịp và khoảng dừng.</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Tốc độ phản hồi và timing hội thoại.</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Lỗi transcript đến từ Whisper hay người học.</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Bằng chứng âm thanh tại timestamp cụ thể.</a:t>
            </a:r>
          </a:p>
        </p:txBody>
      </p:sp>
      <p:sp>
        <p:nvSpPr>
          <p:cNvPr id="11" name="callout-rkjeg">
            <a:extLst xmlns:a="http://schemas.openxmlformats.org/drawingml/2006/main">
              <a:ext uri="{FF2B5EF4-FFF2-40B4-BE49-F238E27FC236}">
                <a16:creationId xmlns:a16="http://schemas.microsoft.com/office/drawing/2014/main" id="{44AE8B83-DF38-495B-96D5-08ED5D04B115}"/>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FFF3D6"/>
          </a:solidFill>
          <a:ln xmlns:a="http://schemas.openxmlformats.org/drawingml/2006/main" w="9525">
            <a:solidFill>
              <a:srgbClr val="A66A00"/>
            </a:solidFill>
            <a:prstDash val="solid"/>
          </a:ln>
        </p:spPr>
      </p:sp>
      <p:sp>
        <p:nvSpPr>
          <p:cNvPr id="12" name="callout-text">
            <a:extLst xmlns:a="http://schemas.openxmlformats.org/drawingml/2006/main">
              <a:ext uri="{FF2B5EF4-FFF2-40B4-BE49-F238E27FC236}">
                <a16:creationId xmlns:a16="http://schemas.microsoft.com/office/drawing/2014/main" id="{40648792-2C94-48D0-9F8C-8063D5EA5281}"/>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A66A00"/>
                </a:solidFill>
                <a:latin typeface="Arial"/>
                <a:ea typeface="Arial"/>
                <a:cs typeface="Arial"/>
              </a:defRPr>
            </a:pPr>
            <a:r>
              <a:rPr sz="1500" b="1" i="0">
                <a:solidFill>
                  <a:srgbClr val="A66A00"/>
                </a:solidFill>
                <a:latin typeface="Arial"/>
                <a:ea typeface="Arial"/>
                <a:cs typeface="Arial"/>
              </a:rPr>
              <a:t>LLM có thể hỗ trợ diễn giải evidence; điểm chính phải tái lập được và được kiểm định với nhãn giảng viên.</a:t>
            </a:r>
          </a:p>
        </p:txBody>
      </p:sp>
    </p:spTree>
    <p:extLst>
      <p:ext uri="{BB962C8B-B14F-4D97-AF65-F5344CB8AC3E}">
        <p14:creationId xmlns:p14="http://schemas.microsoft.com/office/powerpoint/2010/main" val="14378847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17F9A690-D2D8-4FE9-BEE4-C8C5CF9452F8}"/>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SẢN PHẨM VÀ NGHIÊN CỨU TƯƠNG TỰ</a:t>
            </a:r>
          </a:p>
        </p:txBody>
      </p:sp>
      <p:sp>
        <p:nvSpPr>
          <p:cNvPr id="2" name="slide-title">
            <a:extLst xmlns:a="http://schemas.openxmlformats.org/drawingml/2006/main">
              <a:ext uri="{FF2B5EF4-FFF2-40B4-BE49-F238E27FC236}">
                <a16:creationId xmlns:a16="http://schemas.microsoft.com/office/drawing/2014/main" id="{53CF4D76-6509-4B21-BD55-1F367D118870}"/>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Đề tài không bắt đầu từ số 0 – nhưng vẫn có khoảng trống rõ</a:t>
            </a:r>
          </a:p>
        </p:txBody>
      </p:sp>
      <p:sp>
        <p:nvSpPr>
          <p:cNvPr id="3" name="slide-subtitle">
            <a:extLst xmlns:a="http://schemas.openxmlformats.org/drawingml/2006/main">
              <a:ext uri="{FF2B5EF4-FFF2-40B4-BE49-F238E27FC236}">
                <a16:creationId xmlns:a16="http://schemas.microsoft.com/office/drawing/2014/main" id="{9635EAAB-67C2-40F5-8A91-94D3B1BFF0B2}"/>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So sánh theo loại bằng chứng, độ mở và mức phù hợp với người Việt.</a:t>
            </a:r>
          </a:p>
        </p:txBody>
      </p:sp>
      <p:sp>
        <p:nvSpPr>
          <p:cNvPr id="4" name="rule">
            <a:extLst xmlns:a="http://schemas.openxmlformats.org/drawingml/2006/main">
              <a:ext uri="{FF2B5EF4-FFF2-40B4-BE49-F238E27FC236}">
                <a16:creationId xmlns:a16="http://schemas.microsoft.com/office/drawing/2014/main" id="{CA6042BC-D40F-4CB5-A8FB-EA379485CAD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01352AD4-F49E-4A09-BB4A-E997C5E94D94}"/>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SẢN PHẨM VÀ NGHIÊN CỨU TƯƠNG TỰ</a:t>
            </a:r>
          </a:p>
        </p:txBody>
      </p:sp>
      <p:sp>
        <p:nvSpPr>
          <p:cNvPr id="6" name="footer-number">
            <a:extLst xmlns:a="http://schemas.openxmlformats.org/drawingml/2006/main">
              <a:ext uri="{FF2B5EF4-FFF2-40B4-BE49-F238E27FC236}">
                <a16:creationId xmlns:a16="http://schemas.microsoft.com/office/drawing/2014/main" id="{A7B461C3-EB51-4B08-9017-BDEDEE756BF1}"/>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21</a:t>
            </a:r>
          </a:p>
        </p:txBody>
      </p:sp>
      <p:graphicFrame>
        <p:nvGraphicFramePr>
          <p:cNvPr id="16" name=""/>
          <p:cNvGraphicFramePr/>
          <p:nvPr/>
        </p:nvGraphicFramePr>
        <p:xfrm>
          <a:off xmlns:a="http://schemas.openxmlformats.org/drawingml/2006/main" x="495300" y="1885950"/>
          <a:ext xmlns:a="http://schemas.openxmlformats.org/drawingml/2006/main" cx="11201400" cy="3762375"/>
        </p:xfrm>
        <a:graphic xmlns:a="http://schemas.openxmlformats.org/drawingml/2006/main">
          <a:graphicData uri="http://schemas.openxmlformats.org/drawingml/2006/table">
            <a:tbl>
              <a:tblPr firstRow="1" bandRow="1"/>
              <a:tblGrid>
                <a:gridCol w="1666875"/>
                <a:gridCol w="3143250"/>
                <a:gridCol w="2952750"/>
                <a:gridCol w="3438525"/>
              </a:tblGrid>
              <a:tr h="752475">
                <a:tc>
                  <a:txBody>
                    <a:bodyPr/>
                    <a:lstStyle/>
                    <a:p>
                      <a:r>
                        <a:rPr sz="1050" b="1">
                          <a:solidFill>
                            <a:srgbClr val="FFFFFF"/>
                          </a:solidFill>
                          <a:latin typeface="Arial"/>
                          <a:ea typeface="Arial"/>
                          <a:cs typeface="Arial"/>
                        </a:rPr>
                        <a:t>Hệ thống</a:t>
                      </a:r>
                    </a:p>
                  </a:txBody>
                  <a:tcPr marL="76200" marR="76200" marT="66675" marB="66675">
                    <a:solidFill>
                      <a:srgbClr val="1859A9"/>
                    </a:solidFill>
                  </a:tcPr>
                </a:tc>
                <a:tc>
                  <a:txBody>
                    <a:bodyPr/>
                    <a:lstStyle/>
                    <a:p>
                      <a:r>
                        <a:rPr sz="1050" b="1">
                          <a:solidFill>
                            <a:srgbClr val="FFFFFF"/>
                          </a:solidFill>
                          <a:latin typeface="Arial"/>
                          <a:ea typeface="Arial"/>
                          <a:cs typeface="Arial"/>
                        </a:rPr>
                        <a:t>Cách tiếp cận</a:t>
                      </a:r>
                    </a:p>
                  </a:txBody>
                  <a:tcPr marL="76200" marR="76200" marT="66675" marB="66675">
                    <a:solidFill>
                      <a:srgbClr val="1859A9"/>
                    </a:solidFill>
                  </a:tcPr>
                </a:tc>
                <a:tc>
                  <a:txBody>
                    <a:bodyPr/>
                    <a:lstStyle/>
                    <a:p>
                      <a:r>
                        <a:rPr sz="1050" b="1">
                          <a:solidFill>
                            <a:srgbClr val="FFFFFF"/>
                          </a:solidFill>
                          <a:latin typeface="Arial"/>
                          <a:ea typeface="Arial"/>
                          <a:cs typeface="Arial"/>
                        </a:rPr>
                        <a:t>Điểm mạnh</a:t>
                      </a:r>
                    </a:p>
                  </a:txBody>
                  <a:tcPr marL="76200" marR="76200" marT="66675" marB="66675">
                    <a:solidFill>
                      <a:srgbClr val="1859A9"/>
                    </a:solidFill>
                  </a:tcPr>
                </a:tc>
                <a:tc>
                  <a:txBody>
                    <a:bodyPr/>
                    <a:lstStyle/>
                    <a:p>
                      <a:r>
                        <a:rPr sz="1050" b="1">
                          <a:solidFill>
                            <a:srgbClr val="FFFFFF"/>
                          </a:solidFill>
                          <a:latin typeface="Arial"/>
                          <a:ea typeface="Arial"/>
                          <a:cs typeface="Arial"/>
                        </a:rPr>
                        <a:t>Khoảng trống với đề tài</a:t>
                      </a:r>
                    </a:p>
                  </a:txBody>
                  <a:tcPr marL="76200" marR="76200" marT="66675" marB="66675">
                    <a:solidFill>
                      <a:srgbClr val="1859A9"/>
                    </a:solidFill>
                  </a:tcPr>
                </a:tc>
              </a:tr>
              <a:tr h="752475">
                <a:tc>
                  <a:txBody>
                    <a:bodyPr/>
                    <a:lstStyle/>
                    <a:p>
                      <a:r>
                        <a:rPr sz="1050">
                          <a:solidFill>
                            <a:srgbClr val="111827"/>
                          </a:solidFill>
                          <a:latin typeface="Arial"/>
                          <a:ea typeface="Arial"/>
                          <a:cs typeface="Arial"/>
                        </a:rPr>
                        <a:t>ETS SpeechRater</a:t>
                      </a:r>
                    </a:p>
                  </a:txBody>
                  <a:tcPr marL="76200" marR="76200" marT="66675" marB="66675"/>
                </a:tc>
                <a:tc>
                  <a:txBody>
                    <a:bodyPr/>
                    <a:lstStyle/>
                    <a:p>
                      <a:r>
                        <a:rPr sz="1050">
                          <a:solidFill>
                            <a:srgbClr val="111827"/>
                          </a:solidFill>
                          <a:latin typeface="Arial"/>
                          <a:ea typeface="Arial"/>
                          <a:cs typeface="Arial"/>
                        </a:rPr>
                        <a:t>ASR + feature phát âm, fluency, từ vựng, grammar</a:t>
                      </a:r>
                    </a:p>
                  </a:txBody>
                  <a:tcPr marL="76200" marR="76200" marT="66675" marB="66675"/>
                </a:tc>
                <a:tc>
                  <a:txBody>
                    <a:bodyPr/>
                    <a:lstStyle/>
                    <a:p>
                      <a:r>
                        <a:rPr sz="1050">
                          <a:solidFill>
                            <a:srgbClr val="111827"/>
                          </a:solidFill>
                          <a:latin typeface="Arial"/>
                          <a:ea typeface="Arial"/>
                          <a:cs typeface="Arial"/>
                        </a:rPr>
                        <a:t>Có lịch sử vận hành và validity research</a:t>
                      </a:r>
                    </a:p>
                  </a:txBody>
                  <a:tcPr marL="76200" marR="76200" marT="66675" marB="66675"/>
                </a:tc>
                <a:tc>
                  <a:txBody>
                    <a:bodyPr/>
                    <a:lstStyle/>
                    <a:p>
                      <a:r>
                        <a:rPr sz="1050">
                          <a:solidFill>
                            <a:srgbClr val="111827"/>
                          </a:solidFill>
                          <a:latin typeface="Arial"/>
                          <a:ea typeface="Arial"/>
                          <a:cs typeface="Arial"/>
                        </a:rPr>
                        <a:t>Đóng; ngữ cảnh TOEFL; khó tái lập A2–B2 Việt Nam</a:t>
                      </a:r>
                    </a:p>
                  </a:txBody>
                  <a:tcPr marL="76200" marR="76200" marT="66675" marB="66675"/>
                </a:tc>
              </a:tr>
              <a:tr h="752475">
                <a:tc>
                  <a:txBody>
                    <a:bodyPr/>
                    <a:lstStyle/>
                    <a:p>
                      <a:r>
                        <a:rPr sz="1050">
                          <a:solidFill>
                            <a:srgbClr val="111827"/>
                          </a:solidFill>
                          <a:latin typeface="Arial"/>
                          <a:ea typeface="Arial"/>
                          <a:cs typeface="Arial"/>
                        </a:rPr>
                        <a:t>Speak &amp; Improve</a:t>
                      </a:r>
                    </a:p>
                  </a:txBody>
                  <a:tcPr marL="76200" marR="76200" marT="66675" marB="66675"/>
                </a:tc>
                <a:tc>
                  <a:txBody>
                    <a:bodyPr/>
                    <a:lstStyle/>
                    <a:p>
                      <a:r>
                        <a:rPr sz="1050">
                          <a:solidFill>
                            <a:srgbClr val="111827"/>
                          </a:solidFill>
                          <a:latin typeface="Arial"/>
                          <a:ea typeface="Arial"/>
                          <a:cs typeface="Arial"/>
                        </a:rPr>
                        <a:t>Người học trả lời bài nói và nhận CEFR grade</a:t>
                      </a:r>
                    </a:p>
                  </a:txBody>
                  <a:tcPr marL="76200" marR="76200" marT="66675" marB="66675"/>
                </a:tc>
                <a:tc>
                  <a:txBody>
                    <a:bodyPr/>
                    <a:lstStyle/>
                    <a:p>
                      <a:r>
                        <a:rPr sz="1050">
                          <a:solidFill>
                            <a:srgbClr val="111827"/>
                          </a:solidFill>
                          <a:latin typeface="Arial"/>
                          <a:ea typeface="Arial"/>
                          <a:cs typeface="Arial"/>
                        </a:rPr>
                        <a:t>Trải nghiệm hoàn chỉnh; corpus nghiên cứu lớn</a:t>
                      </a:r>
                    </a:p>
                  </a:txBody>
                  <a:tcPr marL="76200" marR="76200" marT="66675" marB="66675"/>
                </a:tc>
                <a:tc>
                  <a:txBody>
                    <a:bodyPr/>
                    <a:lstStyle/>
                    <a:p>
                      <a:r>
                        <a:rPr sz="1050">
                          <a:solidFill>
                            <a:srgbClr val="111827"/>
                          </a:solidFill>
                          <a:latin typeface="Arial"/>
                          <a:ea typeface="Arial"/>
                          <a:cs typeface="Arial"/>
                        </a:rPr>
                        <a:t>Model đóng; subset người Việt và điều kiện sử dụng hạn chế</a:t>
                      </a:r>
                    </a:p>
                  </a:txBody>
                  <a:tcPr marL="76200" marR="76200" marT="66675" marB="66675"/>
                </a:tc>
              </a:tr>
              <a:tr h="752475">
                <a:tc>
                  <a:txBody>
                    <a:bodyPr/>
                    <a:lstStyle/>
                    <a:p>
                      <a:r>
                        <a:rPr sz="1050">
                          <a:solidFill>
                            <a:srgbClr val="111827"/>
                          </a:solidFill>
                          <a:latin typeface="Arial"/>
                          <a:ea typeface="Arial"/>
                          <a:cs typeface="Arial"/>
                        </a:rPr>
                        <a:t>Azure / SpeechAce</a:t>
                      </a:r>
                    </a:p>
                  </a:txBody>
                  <a:tcPr marL="76200" marR="76200" marT="66675" marB="66675"/>
                </a:tc>
                <a:tc>
                  <a:txBody>
                    <a:bodyPr/>
                    <a:lstStyle/>
                    <a:p>
                      <a:r>
                        <a:rPr sz="1050">
                          <a:solidFill>
                            <a:srgbClr val="111827"/>
                          </a:solidFill>
                          <a:latin typeface="Arial"/>
                          <a:ea typeface="Arial"/>
                          <a:cs typeface="Arial"/>
                        </a:rPr>
                        <a:t>Pronunciation, fluency và một số feature</a:t>
                      </a:r>
                    </a:p>
                  </a:txBody>
                  <a:tcPr marL="76200" marR="76200" marT="66675" marB="66675"/>
                </a:tc>
                <a:tc>
                  <a:txBody>
                    <a:bodyPr/>
                    <a:lstStyle/>
                    <a:p>
                      <a:r>
                        <a:rPr sz="1050">
                          <a:solidFill>
                            <a:srgbClr val="111827"/>
                          </a:solidFill>
                          <a:latin typeface="Arial"/>
                          <a:ea typeface="Arial"/>
                          <a:cs typeface="Arial"/>
                        </a:rPr>
                        <a:t>API rõ, dễ tích hợp</a:t>
                      </a:r>
                    </a:p>
                  </a:txBody>
                  <a:tcPr marL="76200" marR="76200" marT="66675" marB="66675"/>
                </a:tc>
                <a:tc>
                  <a:txBody>
                    <a:bodyPr/>
                    <a:lstStyle/>
                    <a:p>
                      <a:r>
                        <a:rPr sz="1050">
                          <a:solidFill>
                            <a:srgbClr val="111827"/>
                          </a:solidFill>
                          <a:latin typeface="Arial"/>
                          <a:ea typeface="Arial"/>
                          <a:cs typeface="Arial"/>
                        </a:rPr>
                        <a:t>Tập trung phát âm; không thay holistic CEFR 6 tiêu chí</a:t>
                      </a:r>
                    </a:p>
                  </a:txBody>
                  <a:tcPr marL="76200" marR="76200" marT="66675" marB="66675"/>
                </a:tc>
              </a:tr>
              <a:tr h="752475">
                <a:tc>
                  <a:txBody>
                    <a:bodyPr/>
                    <a:lstStyle/>
                    <a:p>
                      <a:r>
                        <a:rPr sz="1050">
                          <a:solidFill>
                            <a:srgbClr val="111827"/>
                          </a:solidFill>
                          <a:latin typeface="Arial"/>
                          <a:ea typeface="Arial"/>
                          <a:cs typeface="Arial"/>
                        </a:rPr>
                        <a:t>EvalYaks</a:t>
                      </a:r>
                    </a:p>
                  </a:txBody>
                  <a:tcPr marL="76200" marR="76200" marT="66675" marB="66675"/>
                </a:tc>
                <a:tc>
                  <a:txBody>
                    <a:bodyPr/>
                    <a:lstStyle/>
                    <a:p>
                      <a:r>
                        <a:rPr sz="1050">
                          <a:solidFill>
                            <a:srgbClr val="111827"/>
                          </a:solidFill>
                          <a:latin typeface="Arial"/>
                          <a:ea typeface="Arial"/>
                          <a:cs typeface="Arial"/>
                        </a:rPr>
                        <a:t>LLM chấm transcript B2</a:t>
                      </a:r>
                    </a:p>
                  </a:txBody>
                  <a:tcPr marL="76200" marR="76200" marT="66675" marB="66675"/>
                </a:tc>
                <a:tc>
                  <a:txBody>
                    <a:bodyPr/>
                    <a:lstStyle/>
                    <a:p>
                      <a:r>
                        <a:rPr sz="1050">
                          <a:solidFill>
                            <a:srgbClr val="111827"/>
                          </a:solidFill>
                          <a:latin typeface="Arial"/>
                          <a:ea typeface="Arial"/>
                          <a:cs typeface="Arial"/>
                        </a:rPr>
                        <a:t>Có repo và dữ liệu instruction tuning</a:t>
                      </a:r>
                    </a:p>
                  </a:txBody>
                  <a:tcPr marL="76200" marR="76200" marT="66675" marB="66675"/>
                </a:tc>
                <a:tc>
                  <a:txBody>
                    <a:bodyPr/>
                    <a:lstStyle/>
                    <a:p>
                      <a:r>
                        <a:rPr sz="1050">
                          <a:solidFill>
                            <a:srgbClr val="111827"/>
                          </a:solidFill>
                          <a:latin typeface="Arial"/>
                          <a:ea typeface="Arial"/>
                          <a:cs typeface="Arial"/>
                        </a:rPr>
                        <a:t>Chỉ transcript/B2; không audio, interaction, calibration người Việt</a:t>
                      </a:r>
                    </a:p>
                  </a:txBody>
                  <a:tcPr marL="76200" marR="76200" marT="66675" marB="66675"/>
                </a:tc>
              </a:tr>
            </a:tbl>
          </a:graphicData>
        </a:graphic>
      </p:graphicFrame>
      <p:sp>
        <p:nvSpPr>
          <p:cNvPr id="8" name="callout-aouw2">
            <a:extLst xmlns:a="http://schemas.openxmlformats.org/drawingml/2006/main">
              <a:ext uri="{FF2B5EF4-FFF2-40B4-BE49-F238E27FC236}">
                <a16:creationId xmlns:a16="http://schemas.microsoft.com/office/drawing/2014/main" id="{99F006E2-6635-4017-820F-1A4BD33F004F}"/>
              </a:ext>
            </a:extLst>
          </p:cNvPr>
          <p:cNvSpPr>
            <a:spLocks xmlns:a="http://schemas.openxmlformats.org/drawingml/2006/main" noGrp="1"/>
          </p:cNvSpPr>
          <p:nvPr/>
        </p:nvSpPr>
        <p:spPr>
          <a:xfrm xmlns:a="http://schemas.openxmlformats.org/drawingml/2006/main">
            <a:off x="495300" y="5791200"/>
            <a:ext cx="11201400" cy="476250"/>
          </a:xfrm>
          <a:prstGeom xmlns:a="http://schemas.openxmlformats.org/drawingml/2006/main" prst="roundRect">
            <a:avLst>
              <a:gd name="adj" fmla="val 12000"/>
            </a:avLst>
          </a:prstGeom>
          <a:solidFill xmlns:a="http://schemas.openxmlformats.org/drawingml/2006/main">
            <a:srgbClr val="E9F6EF"/>
          </a:solidFill>
          <a:ln xmlns:a="http://schemas.openxmlformats.org/drawingml/2006/main" w="9525">
            <a:solidFill>
              <a:srgbClr val="2E8B57"/>
            </a:solidFill>
            <a:prstDash val="solid"/>
          </a:ln>
        </p:spPr>
      </p:sp>
      <p:sp>
        <p:nvSpPr>
          <p:cNvPr id="9" name="callout-text">
            <a:extLst xmlns:a="http://schemas.openxmlformats.org/drawingml/2006/main">
              <a:ext uri="{FF2B5EF4-FFF2-40B4-BE49-F238E27FC236}">
                <a16:creationId xmlns:a16="http://schemas.microsoft.com/office/drawing/2014/main" id="{89ADC412-1B17-4B50-8373-9A214C651929}"/>
              </a:ext>
            </a:extLst>
          </p:cNvPr>
          <p:cNvSpPr>
            <a:spLocks xmlns:a="http://schemas.openxmlformats.org/drawingml/2006/main" noGrp="1"/>
          </p:cNvSpPr>
          <p:nvPr/>
        </p:nvSpPr>
        <p:spPr>
          <a:xfrm xmlns:a="http://schemas.openxmlformats.org/drawingml/2006/main">
            <a:off x="666750" y="59245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2E8B57"/>
                </a:solidFill>
                <a:latin typeface="Arial"/>
                <a:ea typeface="Arial"/>
                <a:cs typeface="Arial"/>
              </a:defRPr>
            </a:pPr>
            <a:r>
              <a:rPr sz="1500" b="1" i="0">
                <a:solidFill>
                  <a:srgbClr val="2E8B57"/>
                </a:solidFill>
                <a:latin typeface="Arial"/>
                <a:ea typeface="Arial"/>
                <a:cs typeface="Arial"/>
              </a:rPr>
              <a:t>Khoảng trống bảo vệ: hệ thống mở, tái lập, kiểm định trên người Việt A2–B2 và có human review.</a:t>
            </a:r>
          </a:p>
        </p:txBody>
      </p:sp>
    </p:spTree>
    <p:extLst>
      <p:ext uri="{BB962C8B-B14F-4D97-AF65-F5344CB8AC3E}">
        <p14:creationId xmlns:p14="http://schemas.microsoft.com/office/powerpoint/2010/main" val="1734637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5726EF5-41D4-4B47-A037-DDDA6854A3EF}"/>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CHIẾN LƯỢC DỮ LIỆU</a:t>
            </a:r>
          </a:p>
        </p:txBody>
      </p:sp>
      <p:sp>
        <p:nvSpPr>
          <p:cNvPr id="2" name="slide-title">
            <a:extLst xmlns:a="http://schemas.openxmlformats.org/drawingml/2006/main">
              <a:ext uri="{FF2B5EF4-FFF2-40B4-BE49-F238E27FC236}">
                <a16:creationId xmlns:a16="http://schemas.microsoft.com/office/drawing/2014/main" id="{FD1669BA-00C0-4E14-92F3-F3195614E960}"/>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Dữ liệu công khai hỗ trợ pipeline – nhưng không đủ làm gold validation</a:t>
            </a:r>
          </a:p>
        </p:txBody>
      </p:sp>
      <p:sp>
        <p:nvSpPr>
          <p:cNvPr id="3" name="slide-subtitle">
            <a:extLst xmlns:a="http://schemas.openxmlformats.org/drawingml/2006/main">
              <a:ext uri="{FF2B5EF4-FFF2-40B4-BE49-F238E27FC236}">
                <a16:creationId xmlns:a16="http://schemas.microsoft.com/office/drawing/2014/main" id="{E53FAD41-2AB0-460E-865E-75149CE37792}"/>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Mỗi bộ dữ liệu có giấy phép, nhãn và đối tượng khác nhau.</a:t>
            </a:r>
          </a:p>
        </p:txBody>
      </p:sp>
      <p:sp>
        <p:nvSpPr>
          <p:cNvPr id="4" name="rule">
            <a:extLst xmlns:a="http://schemas.openxmlformats.org/drawingml/2006/main">
              <a:ext uri="{FF2B5EF4-FFF2-40B4-BE49-F238E27FC236}">
                <a16:creationId xmlns:a16="http://schemas.microsoft.com/office/drawing/2014/main" id="{C525E6E9-B96B-4921-BDE6-C99DE7B08A4B}"/>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20038721-8123-40C1-8142-F0406588D1EA}"/>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CHIẾN LƯỢC DỮ LIỆU</a:t>
            </a:r>
          </a:p>
        </p:txBody>
      </p:sp>
      <p:sp>
        <p:nvSpPr>
          <p:cNvPr id="6" name="footer-number">
            <a:extLst xmlns:a="http://schemas.openxmlformats.org/drawingml/2006/main">
              <a:ext uri="{FF2B5EF4-FFF2-40B4-BE49-F238E27FC236}">
                <a16:creationId xmlns:a16="http://schemas.microsoft.com/office/drawing/2014/main" id="{4960BCD5-CE3A-4CC1-BC13-8F32F64DD531}"/>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22</a:t>
            </a:r>
          </a:p>
        </p:txBody>
      </p:sp>
      <p:graphicFrame>
        <p:nvGraphicFramePr>
          <p:cNvPr id="14" name=""/>
          <p:cNvGraphicFramePr/>
          <p:nvPr/>
        </p:nvGraphicFramePr>
        <p:xfrm>
          <a:off xmlns:a="http://schemas.openxmlformats.org/drawingml/2006/main" x="495300" y="1885950"/>
          <a:ext xmlns:a="http://schemas.openxmlformats.org/drawingml/2006/main" cx="11201400" cy="3905250"/>
        </p:xfrm>
        <a:graphic xmlns:a="http://schemas.openxmlformats.org/drawingml/2006/main">
          <a:graphicData uri="http://schemas.openxmlformats.org/drawingml/2006/table">
            <a:tbl>
              <a:tblPr firstRow="1" bandRow="1"/>
              <a:tblGrid>
                <a:gridCol w="1714500"/>
                <a:gridCol w="2381250"/>
                <a:gridCol w="3429000"/>
                <a:gridCol w="3676650"/>
              </a:tblGrid>
              <a:tr h="650875">
                <a:tc>
                  <a:txBody>
                    <a:bodyPr/>
                    <a:lstStyle/>
                    <a:p>
                      <a:r>
                        <a:rPr sz="1050" b="1">
                          <a:solidFill>
                            <a:srgbClr val="FFFFFF"/>
                          </a:solidFill>
                          <a:latin typeface="Arial"/>
                          <a:ea typeface="Arial"/>
                          <a:cs typeface="Arial"/>
                        </a:rPr>
                        <a:t>Nguồn</a:t>
                      </a:r>
                    </a:p>
                  </a:txBody>
                  <a:tcPr marL="76200" marR="76200" marT="66675" marB="66675">
                    <a:solidFill>
                      <a:srgbClr val="1859A9"/>
                    </a:solidFill>
                  </a:tcPr>
                </a:tc>
                <a:tc>
                  <a:txBody>
                    <a:bodyPr/>
                    <a:lstStyle/>
                    <a:p>
                      <a:r>
                        <a:rPr sz="1050" b="1">
                          <a:solidFill>
                            <a:srgbClr val="FFFFFF"/>
                          </a:solidFill>
                          <a:latin typeface="Arial"/>
                          <a:ea typeface="Arial"/>
                          <a:cs typeface="Arial"/>
                        </a:rPr>
                        <a:t>Có người Việt?</a:t>
                      </a:r>
                    </a:p>
                  </a:txBody>
                  <a:tcPr marL="76200" marR="76200" marT="66675" marB="66675">
                    <a:solidFill>
                      <a:srgbClr val="1859A9"/>
                    </a:solidFill>
                  </a:tcPr>
                </a:tc>
                <a:tc>
                  <a:txBody>
                    <a:bodyPr/>
                    <a:lstStyle/>
                    <a:p>
                      <a:r>
                        <a:rPr sz="1050" b="1">
                          <a:solidFill>
                            <a:srgbClr val="FFFFFF"/>
                          </a:solidFill>
                          <a:latin typeface="Arial"/>
                          <a:ea typeface="Arial"/>
                          <a:cs typeface="Arial"/>
                        </a:rPr>
                        <a:t>Có nhãn gì?</a:t>
                      </a:r>
                    </a:p>
                  </a:txBody>
                  <a:tcPr marL="76200" marR="76200" marT="66675" marB="66675">
                    <a:solidFill>
                      <a:srgbClr val="1859A9"/>
                    </a:solidFill>
                  </a:tcPr>
                </a:tc>
                <a:tc>
                  <a:txBody>
                    <a:bodyPr/>
                    <a:lstStyle/>
                    <a:p>
                      <a:r>
                        <a:rPr sz="1050" b="1">
                          <a:solidFill>
                            <a:srgbClr val="FFFFFF"/>
                          </a:solidFill>
                          <a:latin typeface="Arial"/>
                          <a:ea typeface="Arial"/>
                          <a:cs typeface="Arial"/>
                        </a:rPr>
                        <a:t>Vai trò phù hợp</a:t>
                      </a:r>
                    </a:p>
                  </a:txBody>
                  <a:tcPr marL="76200" marR="76200" marT="66675" marB="66675">
                    <a:solidFill>
                      <a:srgbClr val="1859A9"/>
                    </a:solidFill>
                  </a:tcPr>
                </a:tc>
              </a:tr>
              <a:tr h="650875">
                <a:tc>
                  <a:txBody>
                    <a:bodyPr/>
                    <a:lstStyle/>
                    <a:p>
                      <a:r>
                        <a:rPr sz="1050">
                          <a:solidFill>
                            <a:srgbClr val="111827"/>
                          </a:solidFill>
                          <a:latin typeface="Arial"/>
                          <a:ea typeface="Arial"/>
                          <a:cs typeface="Arial"/>
                        </a:rPr>
                        <a:t>L2-ARCTIC</a:t>
                      </a:r>
                    </a:p>
                  </a:txBody>
                  <a:tcPr marL="76200" marR="76200" marT="66675" marB="66675"/>
                </a:tc>
                <a:tc>
                  <a:txBody>
                    <a:bodyPr/>
                    <a:lstStyle/>
                    <a:p>
                      <a:r>
                        <a:rPr sz="1050">
                          <a:solidFill>
                            <a:srgbClr val="111827"/>
                          </a:solidFill>
                          <a:latin typeface="Arial"/>
                          <a:ea typeface="Arial"/>
                          <a:cs typeface="Arial"/>
                        </a:rPr>
                        <a:t>Có 4 người Việt trong 24 người</a:t>
                      </a:r>
                    </a:p>
                  </a:txBody>
                  <a:tcPr marL="76200" marR="76200" marT="66675" marB="66675"/>
                </a:tc>
                <a:tc>
                  <a:txBody>
                    <a:bodyPr/>
                    <a:lstStyle/>
                    <a:p>
                      <a:r>
                        <a:rPr sz="1050">
                          <a:solidFill>
                            <a:srgbClr val="111827"/>
                          </a:solidFill>
                          <a:latin typeface="Arial"/>
                          <a:ea typeface="Arial"/>
                          <a:cs typeface="Arial"/>
                        </a:rPr>
                        <a:t>Transcript và lỗi phát âm; không CEFR</a:t>
                      </a:r>
                    </a:p>
                  </a:txBody>
                  <a:tcPr marL="76200" marR="76200" marT="66675" marB="66675"/>
                </a:tc>
                <a:tc>
                  <a:txBody>
                    <a:bodyPr/>
                    <a:lstStyle/>
                    <a:p>
                      <a:r>
                        <a:rPr sz="1050">
                          <a:solidFill>
                            <a:srgbClr val="111827"/>
                          </a:solidFill>
                          <a:latin typeface="Arial"/>
                          <a:ea typeface="Arial"/>
                          <a:cs typeface="Arial"/>
                        </a:rPr>
                        <a:t>Kiểm tra ASR/accent và pronunciation</a:t>
                      </a:r>
                    </a:p>
                  </a:txBody>
                  <a:tcPr marL="76200" marR="76200" marT="66675" marB="66675"/>
                </a:tc>
              </a:tr>
              <a:tr h="650875">
                <a:tc>
                  <a:txBody>
                    <a:bodyPr/>
                    <a:lstStyle/>
                    <a:p>
                      <a:r>
                        <a:rPr sz="1050">
                          <a:solidFill>
                            <a:srgbClr val="111827"/>
                          </a:solidFill>
                          <a:latin typeface="Arial"/>
                          <a:ea typeface="Arial"/>
                          <a:cs typeface="Arial"/>
                        </a:rPr>
                        <a:t>Speech Accent Archive</a:t>
                      </a:r>
                    </a:p>
                  </a:txBody>
                  <a:tcPr marL="76200" marR="76200" marT="66675" marB="66675"/>
                </a:tc>
                <a:tc>
                  <a:txBody>
                    <a:bodyPr/>
                    <a:lstStyle/>
                    <a:p>
                      <a:r>
                        <a:rPr sz="1050">
                          <a:solidFill>
                            <a:srgbClr val="111827"/>
                          </a:solidFill>
                          <a:latin typeface="Arial"/>
                          <a:ea typeface="Arial"/>
                          <a:cs typeface="Arial"/>
                        </a:rPr>
                        <a:t>Có mẫu Vietnamese L1</a:t>
                      </a:r>
                    </a:p>
                  </a:txBody>
                  <a:tcPr marL="76200" marR="76200" marT="66675" marB="66675"/>
                </a:tc>
                <a:tc>
                  <a:txBody>
                    <a:bodyPr/>
                    <a:lstStyle/>
                    <a:p>
                      <a:r>
                        <a:rPr sz="1050">
                          <a:solidFill>
                            <a:srgbClr val="111827"/>
                          </a:solidFill>
                          <a:latin typeface="Arial"/>
                          <a:ea typeface="Arial"/>
                          <a:cs typeface="Arial"/>
                        </a:rPr>
                        <a:t>Metadata và phonetic text</a:t>
                      </a:r>
                    </a:p>
                  </a:txBody>
                  <a:tcPr marL="76200" marR="76200" marT="66675" marB="66675"/>
                </a:tc>
                <a:tc>
                  <a:txBody>
                    <a:bodyPr/>
                    <a:lstStyle/>
                    <a:p>
                      <a:r>
                        <a:rPr sz="1050">
                          <a:solidFill>
                            <a:srgbClr val="111827"/>
                          </a:solidFill>
                          <a:latin typeface="Arial"/>
                          <a:ea typeface="Arial"/>
                          <a:cs typeface="Arial"/>
                        </a:rPr>
                        <a:t>External accent check</a:t>
                      </a:r>
                    </a:p>
                  </a:txBody>
                  <a:tcPr marL="76200" marR="76200" marT="66675" marB="66675"/>
                </a:tc>
              </a:tr>
              <a:tr h="650875">
                <a:tc>
                  <a:txBody>
                    <a:bodyPr/>
                    <a:lstStyle/>
                    <a:p>
                      <a:r>
                        <a:rPr sz="1050">
                          <a:solidFill>
                            <a:srgbClr val="111827"/>
                          </a:solidFill>
                          <a:latin typeface="Arial"/>
                          <a:ea typeface="Arial"/>
                          <a:cs typeface="Arial"/>
                        </a:rPr>
                        <a:t>ICNALE Spoken</a:t>
                      </a:r>
                    </a:p>
                  </a:txBody>
                  <a:tcPr marL="76200" marR="76200" marT="66675" marB="66675"/>
                </a:tc>
                <a:tc>
                  <a:txBody>
                    <a:bodyPr/>
                    <a:lstStyle/>
                    <a:p>
                      <a:r>
                        <a:rPr sz="1050">
                          <a:solidFill>
                            <a:srgbClr val="111827"/>
                          </a:solidFill>
                          <a:latin typeface="Arial"/>
                          <a:ea typeface="Arial"/>
                          <a:cs typeface="Arial"/>
                        </a:rPr>
                        <a:t>Có người Việt trong corpus</a:t>
                      </a:r>
                    </a:p>
                  </a:txBody>
                  <a:tcPr marL="76200" marR="76200" marT="66675" marB="66675"/>
                </a:tc>
                <a:tc>
                  <a:txBody>
                    <a:bodyPr/>
                    <a:lstStyle/>
                    <a:p>
                      <a:r>
                        <a:rPr sz="1050">
                          <a:solidFill>
                            <a:srgbClr val="111827"/>
                          </a:solidFill>
                          <a:latin typeface="Arial"/>
                          <a:ea typeface="Arial"/>
                          <a:cs typeface="Arial"/>
                        </a:rPr>
                        <a:t>Proficiency metadata theo thiết kế corpus</a:t>
                      </a:r>
                    </a:p>
                  </a:txBody>
                  <a:tcPr marL="76200" marR="76200" marT="66675" marB="66675"/>
                </a:tc>
                <a:tc>
                  <a:txBody>
                    <a:bodyPr/>
                    <a:lstStyle/>
                    <a:p>
                      <a:r>
                        <a:rPr sz="1050">
                          <a:solidFill>
                            <a:srgbClr val="111827"/>
                          </a:solidFill>
                          <a:latin typeface="Arial"/>
                          <a:ea typeface="Arial"/>
                          <a:cs typeface="Arial"/>
                        </a:rPr>
                        <a:t>Related research; kiểm tra điều kiện truy cập</a:t>
                      </a:r>
                    </a:p>
                  </a:txBody>
                  <a:tcPr marL="76200" marR="76200" marT="66675" marB="66675"/>
                </a:tc>
              </a:tr>
              <a:tr h="650875">
                <a:tc>
                  <a:txBody>
                    <a:bodyPr/>
                    <a:lstStyle/>
                    <a:p>
                      <a:r>
                        <a:rPr sz="1050">
                          <a:solidFill>
                            <a:srgbClr val="111827"/>
                          </a:solidFill>
                          <a:latin typeface="Arial"/>
                          <a:ea typeface="Arial"/>
                          <a:cs typeface="Arial"/>
                        </a:rPr>
                        <a:t>Speak &amp; Improve Corpus</a:t>
                      </a:r>
                    </a:p>
                  </a:txBody>
                  <a:tcPr marL="76200" marR="76200" marT="66675" marB="66675"/>
                </a:tc>
                <a:tc>
                  <a:txBody>
                    <a:bodyPr/>
                    <a:lstStyle/>
                    <a:p>
                      <a:r>
                        <a:rPr sz="1050">
                          <a:solidFill>
                            <a:srgbClr val="111827"/>
                          </a:solidFill>
                          <a:latin typeface="Arial"/>
                          <a:ea typeface="Arial"/>
                          <a:cs typeface="Arial"/>
                        </a:rPr>
                        <a:t>Nhiều L1; cần kiểm tra subset</a:t>
                      </a:r>
                    </a:p>
                  </a:txBody>
                  <a:tcPr marL="76200" marR="76200" marT="66675" marB="66675"/>
                </a:tc>
                <a:tc>
                  <a:txBody>
                    <a:bodyPr/>
                    <a:lstStyle/>
                    <a:p>
                      <a:r>
                        <a:rPr sz="1050">
                          <a:solidFill>
                            <a:srgbClr val="111827"/>
                          </a:solidFill>
                          <a:latin typeface="Arial"/>
                          <a:ea typeface="Arial"/>
                          <a:cs typeface="Arial"/>
                        </a:rPr>
                        <a:t>Holistic score; transcript/error subset</a:t>
                      </a:r>
                    </a:p>
                  </a:txBody>
                  <a:tcPr marL="76200" marR="76200" marT="66675" marB="66675"/>
                </a:tc>
                <a:tc>
                  <a:txBody>
                    <a:bodyPr/>
                    <a:lstStyle/>
                    <a:p>
                      <a:r>
                        <a:rPr sz="1050">
                          <a:solidFill>
                            <a:srgbClr val="111827"/>
                          </a:solidFill>
                          <a:latin typeface="Arial"/>
                          <a:ea typeface="Arial"/>
                          <a:cs typeface="Arial"/>
                        </a:rPr>
                        <a:t>Benchmark hoặc pretraining theo license</a:t>
                      </a:r>
                    </a:p>
                  </a:txBody>
                  <a:tcPr marL="76200" marR="76200" marT="66675" marB="66675"/>
                </a:tc>
              </a:tr>
              <a:tr h="650875">
                <a:tc>
                  <a:txBody>
                    <a:bodyPr/>
                    <a:lstStyle/>
                    <a:p>
                      <a:r>
                        <a:rPr sz="1050">
                          <a:solidFill>
                            <a:srgbClr val="111827"/>
                          </a:solidFill>
                          <a:latin typeface="Arial"/>
                          <a:ea typeface="Arial"/>
                          <a:cs typeface="Arial"/>
                        </a:rPr>
                        <a:t>SpeechOcean762</a:t>
                      </a:r>
                    </a:p>
                  </a:txBody>
                  <a:tcPr marL="76200" marR="76200" marT="66675" marB="66675"/>
                </a:tc>
                <a:tc>
                  <a:txBody>
                    <a:bodyPr/>
                    <a:lstStyle/>
                    <a:p>
                      <a:r>
                        <a:rPr sz="1050">
                          <a:solidFill>
                            <a:srgbClr val="111827"/>
                          </a:solidFill>
                          <a:latin typeface="Arial"/>
                          <a:ea typeface="Arial"/>
                          <a:cs typeface="Arial"/>
                        </a:rPr>
                        <a:t>Chủ yếu Mandarin L1</a:t>
                      </a:r>
                    </a:p>
                  </a:txBody>
                  <a:tcPr marL="76200" marR="76200" marT="66675" marB="66675"/>
                </a:tc>
                <a:tc>
                  <a:txBody>
                    <a:bodyPr/>
                    <a:lstStyle/>
                    <a:p>
                      <a:r>
                        <a:rPr sz="1050">
                          <a:solidFill>
                            <a:srgbClr val="111827"/>
                          </a:solidFill>
                          <a:latin typeface="Arial"/>
                          <a:ea typeface="Arial"/>
                          <a:cs typeface="Arial"/>
                        </a:rPr>
                        <a:t>Điểm phát âm phone/word/utterance</a:t>
                      </a:r>
                    </a:p>
                  </a:txBody>
                  <a:tcPr marL="76200" marR="76200" marT="66675" marB="66675"/>
                </a:tc>
                <a:tc>
                  <a:txBody>
                    <a:bodyPr/>
                    <a:lstStyle/>
                    <a:p>
                      <a:r>
                        <a:rPr sz="1050">
                          <a:solidFill>
                            <a:srgbClr val="111827"/>
                          </a:solidFill>
                          <a:latin typeface="Arial"/>
                          <a:ea typeface="Arial"/>
                          <a:cs typeface="Arial"/>
                        </a:rPr>
                        <a:t>Pronunciation baseline; không đại diện người Việt</a:t>
                      </a:r>
                    </a:p>
                  </a:txBody>
                  <a:tcPr marL="76200" marR="76200" marT="66675" marB="66675"/>
                </a:tc>
              </a:tr>
            </a:tbl>
          </a:graphicData>
        </a:graphic>
      </p:graphicFrame>
    </p:spTree>
    <p:extLst>
      <p:ext uri="{BB962C8B-B14F-4D97-AF65-F5344CB8AC3E}">
        <p14:creationId xmlns:p14="http://schemas.microsoft.com/office/powerpoint/2010/main" val="4569265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EA2E0324-76D7-4ECA-9F84-7B1C1B621D2B}"/>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DỮ LIỆU PHẢI TỰ THU</a:t>
            </a:r>
          </a:p>
        </p:txBody>
      </p:sp>
      <p:sp>
        <p:nvSpPr>
          <p:cNvPr id="2" name="slide-title">
            <a:extLst xmlns:a="http://schemas.openxmlformats.org/drawingml/2006/main">
              <a:ext uri="{FF2B5EF4-FFF2-40B4-BE49-F238E27FC236}">
                <a16:creationId xmlns:a16="http://schemas.microsoft.com/office/drawing/2014/main" id="{9AA1B504-87D3-4030-96FA-DCEFDDA6A817}"/>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Tập dữ liệu nhỏ nhưng có thiết kế chặt sẽ có giá trị hơn tập lớn thiếu nhãn</a:t>
            </a:r>
          </a:p>
        </p:txBody>
      </p:sp>
      <p:sp>
        <p:nvSpPr>
          <p:cNvPr id="3" name="rule">
            <a:extLst xmlns:a="http://schemas.openxmlformats.org/drawingml/2006/main">
              <a:ext uri="{FF2B5EF4-FFF2-40B4-BE49-F238E27FC236}">
                <a16:creationId xmlns:a16="http://schemas.microsoft.com/office/drawing/2014/main" id="{5D084529-865A-415D-A070-B9661FDB7FCA}"/>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5193A72B-4488-47C8-A2EC-A79D97DA2296}"/>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DỮ LIỆU PHẢI TỰ THU</a:t>
            </a:r>
          </a:p>
        </p:txBody>
      </p:sp>
      <p:sp>
        <p:nvSpPr>
          <p:cNvPr id="5" name="footer-number">
            <a:extLst xmlns:a="http://schemas.openxmlformats.org/drawingml/2006/main">
              <a:ext uri="{FF2B5EF4-FFF2-40B4-BE49-F238E27FC236}">
                <a16:creationId xmlns:a16="http://schemas.microsoft.com/office/drawing/2014/main" id="{179F5164-E14D-476A-A5A4-12895E35DD25}"/>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23</a:t>
            </a:r>
          </a:p>
        </p:txBody>
      </p:sp>
      <p:sp>
        <p:nvSpPr>
          <p:cNvPr id="6" name="rule">
            <a:extLst xmlns:a="http://schemas.openxmlformats.org/drawingml/2006/main">
              <a:ext uri="{FF2B5EF4-FFF2-40B4-BE49-F238E27FC236}">
                <a16:creationId xmlns:a16="http://schemas.microsoft.com/office/drawing/2014/main" id="{D798E0AF-C3A0-4A57-B063-B164F51E91FD}"/>
              </a:ext>
            </a:extLst>
          </p:cNvPr>
          <p:cNvSpPr>
            <a:spLocks xmlns:a="http://schemas.openxmlformats.org/drawingml/2006/main" noGrp="1"/>
          </p:cNvSpPr>
          <p:nvPr/>
        </p:nvSpPr>
        <p:spPr>
          <a:xfrm xmlns:a="http://schemas.openxmlformats.org/drawingml/2006/main">
            <a:off x="6096000" y="1581150"/>
            <a:ext cx="19050" cy="0"/>
          </a:xfrm>
          <a:prstGeom xmlns:a="http://schemas.openxmlformats.org/drawingml/2006/main" prst="rect">
            <a:avLst/>
          </a:prstGeom>
          <a:ln xmlns:a="http://schemas.openxmlformats.org/drawingml/2006/main" w="0">
            <a:prstDash val="solid"/>
          </a:ln>
        </p:spPr>
      </p:sp>
      <p:sp>
        <p:nvSpPr>
          <p:cNvPr id="7" name="rule">
            <a:extLst xmlns:a="http://schemas.openxmlformats.org/drawingml/2006/main">
              <a:ext uri="{FF2B5EF4-FFF2-40B4-BE49-F238E27FC236}">
                <a16:creationId xmlns:a16="http://schemas.microsoft.com/office/drawing/2014/main" id="{CC76FC77-9C47-40E6-B362-909EDDBCEA4E}"/>
              </a:ext>
            </a:extLst>
          </p:cNvPr>
          <p:cNvSpPr>
            <a:spLocks xmlns:a="http://schemas.openxmlformats.org/drawingml/2006/main" noGrp="1"/>
          </p:cNvSpPr>
          <p:nvPr/>
        </p:nvSpPr>
        <p:spPr>
          <a:xfrm xmlns:a="http://schemas.openxmlformats.org/drawingml/2006/main">
            <a:off x="495300" y="3486150"/>
            <a:ext cx="11201400" cy="0"/>
          </a:xfrm>
          <a:prstGeom xmlns:a="http://schemas.openxmlformats.org/drawingml/2006/main" prst="rect">
            <a:avLst/>
          </a:prstGeom>
          <a:ln xmlns:a="http://schemas.openxmlformats.org/drawingml/2006/main" w="0">
            <a:prstDash val="solid"/>
          </a:ln>
        </p:spPr>
      </p:sp>
      <p:sp>
        <p:nvSpPr>
          <p:cNvPr id="8" name="text-7ooi8u">
            <a:extLst xmlns:a="http://schemas.openxmlformats.org/drawingml/2006/main">
              <a:ext uri="{FF2B5EF4-FFF2-40B4-BE49-F238E27FC236}">
                <a16:creationId xmlns:a16="http://schemas.microsoft.com/office/drawing/2014/main" id="{F63A2F75-B742-44A2-9BDF-EB0D3E6E734E}"/>
              </a:ext>
            </a:extLst>
          </p:cNvPr>
          <p:cNvSpPr>
            <a:spLocks xmlns:a="http://schemas.openxmlformats.org/drawingml/2006/main" noGrp="1"/>
          </p:cNvSpPr>
          <p:nvPr/>
        </p:nvSpPr>
        <p:spPr>
          <a:xfrm xmlns:a="http://schemas.openxmlformats.org/drawingml/2006/main">
            <a:off x="4953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40–60 người học</a:t>
            </a:r>
          </a:p>
        </p:txBody>
      </p:sp>
      <p:sp>
        <p:nvSpPr>
          <p:cNvPr id="9" name="text-r13kzk">
            <a:extLst xmlns:a="http://schemas.openxmlformats.org/drawingml/2006/main">
              <a:ext uri="{FF2B5EF4-FFF2-40B4-BE49-F238E27FC236}">
                <a16:creationId xmlns:a16="http://schemas.microsoft.com/office/drawing/2014/main" id="{4AB37545-E823-4262-BF79-AC94045430EF}"/>
              </a:ext>
            </a:extLst>
          </p:cNvPr>
          <p:cNvSpPr>
            <a:spLocks xmlns:a="http://schemas.openxmlformats.org/drawingml/2006/main" noGrp="1"/>
          </p:cNvSpPr>
          <p:nvPr/>
        </p:nvSpPr>
        <p:spPr>
          <a:xfrm xmlns:a="http://schemas.openxmlformats.org/drawingml/2006/main">
            <a:off x="4953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Người Việt từ 18 tuổi; quota mềm A2/B1/B2; không ép cân bằng bằng nhân tạo sau khi chia tập.</a:t>
            </a:r>
          </a:p>
        </p:txBody>
      </p:sp>
      <p:sp>
        <p:nvSpPr>
          <p:cNvPr id="10" name="text-0kxyei">
            <a:extLst xmlns:a="http://schemas.openxmlformats.org/drawingml/2006/main">
              <a:ext uri="{FF2B5EF4-FFF2-40B4-BE49-F238E27FC236}">
                <a16:creationId xmlns:a16="http://schemas.microsoft.com/office/drawing/2014/main" id="{B4449007-C63F-4E29-8BB0-520CCC9F0CD0}"/>
              </a:ext>
            </a:extLst>
          </p:cNvPr>
          <p:cNvSpPr>
            <a:spLocks xmlns:a="http://schemas.openxmlformats.org/drawingml/2006/main" noGrp="1"/>
          </p:cNvSpPr>
          <p:nvPr/>
        </p:nvSpPr>
        <p:spPr>
          <a:xfrm xmlns:a="http://schemas.openxmlformats.org/drawingml/2006/main">
            <a:off x="62865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100–150 responses</a:t>
            </a:r>
          </a:p>
        </p:txBody>
      </p:sp>
      <p:sp>
        <p:nvSpPr>
          <p:cNvPr id="11" name="text-wfg9bo">
            <a:extLst xmlns:a="http://schemas.openxmlformats.org/drawingml/2006/main">
              <a:ext uri="{FF2B5EF4-FFF2-40B4-BE49-F238E27FC236}">
                <a16:creationId xmlns:a16="http://schemas.microsoft.com/office/drawing/2014/main" id="{FF0E94ED-66FF-4755-B90A-DFEDA8EBB6FC}"/>
              </a:ext>
            </a:extLst>
          </p:cNvPr>
          <p:cNvSpPr>
            <a:spLocks xmlns:a="http://schemas.openxmlformats.org/drawingml/2006/main" noGrp="1"/>
          </p:cNvSpPr>
          <p:nvPr/>
        </p:nvSpPr>
        <p:spPr>
          <a:xfrm xmlns:a="http://schemas.openxmlformats.org/drawingml/2006/main">
            <a:off x="62865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Mỗi người Task A + B; Task C cho 20–30 người nếu pilot ổn định.</a:t>
            </a:r>
          </a:p>
        </p:txBody>
      </p:sp>
      <p:sp>
        <p:nvSpPr>
          <p:cNvPr id="12" name="text-zaztgw">
            <a:extLst xmlns:a="http://schemas.openxmlformats.org/drawingml/2006/main">
              <a:ext uri="{FF2B5EF4-FFF2-40B4-BE49-F238E27FC236}">
                <a16:creationId xmlns:a16="http://schemas.microsoft.com/office/drawing/2014/main" id="{C030F6AC-B6CF-4A4B-AE76-9E7C00E2D7E6}"/>
              </a:ext>
            </a:extLst>
          </p:cNvPr>
          <p:cNvSpPr>
            <a:spLocks xmlns:a="http://schemas.openxmlformats.org/drawingml/2006/main" noGrp="1"/>
          </p:cNvSpPr>
          <p:nvPr/>
        </p:nvSpPr>
        <p:spPr>
          <a:xfrm xmlns:a="http://schemas.openxmlformats.org/drawingml/2006/main">
            <a:off x="4953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Hai giảng viên chấm</a:t>
            </a:r>
          </a:p>
        </p:txBody>
      </p:sp>
      <p:sp>
        <p:nvSpPr>
          <p:cNvPr id="13" name="text-i7pj4h">
            <a:extLst xmlns:a="http://schemas.openxmlformats.org/drawingml/2006/main">
              <a:ext uri="{FF2B5EF4-FFF2-40B4-BE49-F238E27FC236}">
                <a16:creationId xmlns:a16="http://schemas.microsoft.com/office/drawing/2014/main" id="{79A9588D-A02F-41EF-8D42-625C0301D00E}"/>
              </a:ext>
            </a:extLst>
          </p:cNvPr>
          <p:cNvSpPr>
            <a:spLocks xmlns:a="http://schemas.openxmlformats.org/drawingml/2006/main" noGrp="1"/>
          </p:cNvSpPr>
          <p:nvPr/>
        </p:nvSpPr>
        <p:spPr>
          <a:xfrm xmlns:a="http://schemas.openxmlformats.org/drawingml/2006/main">
            <a:off x="4953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Chấm độc lập; toàn bộ test và tối thiểu 30% train được chấm kép.</a:t>
            </a:r>
          </a:p>
        </p:txBody>
      </p:sp>
      <p:sp>
        <p:nvSpPr>
          <p:cNvPr id="14" name="text-c7gw45">
            <a:extLst xmlns:a="http://schemas.openxmlformats.org/drawingml/2006/main">
              <a:ext uri="{FF2B5EF4-FFF2-40B4-BE49-F238E27FC236}">
                <a16:creationId xmlns:a16="http://schemas.microsoft.com/office/drawing/2014/main" id="{2BE05185-DB37-4CE1-BA39-DCF542801676}"/>
              </a:ext>
            </a:extLst>
          </p:cNvPr>
          <p:cNvSpPr>
            <a:spLocks xmlns:a="http://schemas.openxmlformats.org/drawingml/2006/main" noGrp="1"/>
          </p:cNvSpPr>
          <p:nvPr/>
        </p:nvSpPr>
        <p:spPr>
          <a:xfrm xmlns:a="http://schemas.openxmlformats.org/drawingml/2006/main">
            <a:off x="62865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Split theo speaker</a:t>
            </a:r>
          </a:p>
        </p:txBody>
      </p:sp>
      <p:sp>
        <p:nvSpPr>
          <p:cNvPr id="15" name="text-qjdbkq">
            <a:extLst xmlns:a="http://schemas.openxmlformats.org/drawingml/2006/main">
              <a:ext uri="{FF2B5EF4-FFF2-40B4-BE49-F238E27FC236}">
                <a16:creationId xmlns:a16="http://schemas.microsoft.com/office/drawing/2014/main" id="{26AFA77B-97FF-488B-A063-300562F1F8A3}"/>
              </a:ext>
            </a:extLst>
          </p:cNvPr>
          <p:cNvSpPr>
            <a:spLocks xmlns:a="http://schemas.openxmlformats.org/drawingml/2006/main" noGrp="1"/>
          </p:cNvSpPr>
          <p:nvPr/>
        </p:nvSpPr>
        <p:spPr>
          <a:xfrm xmlns:a="http://schemas.openxmlformats.org/drawingml/2006/main">
            <a:off x="62865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Audio của cùng một người không được xuất hiện ở cả train và test; tránh học thuộc giọng.</a:t>
            </a:r>
          </a:p>
        </p:txBody>
      </p:sp>
    </p:spTree>
    <p:extLst>
      <p:ext uri="{BB962C8B-B14F-4D97-AF65-F5344CB8AC3E}">
        <p14:creationId xmlns:p14="http://schemas.microsoft.com/office/powerpoint/2010/main" val="14756849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label">
            <a:extLst xmlns:a="http://schemas.openxmlformats.org/drawingml/2006/main">
              <a:ext uri="{FF2B5EF4-FFF2-40B4-BE49-F238E27FC236}">
                <a16:creationId xmlns:a16="http://schemas.microsoft.com/office/drawing/2014/main" id="{5C2FDBFB-684D-4734-B01F-E388CA7F3BB0}"/>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TẠO NHÃN CHUẨN</a:t>
            </a:r>
          </a:p>
        </p:txBody>
      </p:sp>
      <p:sp>
        <p:nvSpPr>
          <p:cNvPr id="2" name="slide-title">
            <a:extLst xmlns:a="http://schemas.openxmlformats.org/drawingml/2006/main">
              <a:ext uri="{FF2B5EF4-FFF2-40B4-BE49-F238E27FC236}">
                <a16:creationId xmlns:a16="http://schemas.microsoft.com/office/drawing/2014/main" id="{E4BDE789-8D15-4289-90C1-2E14ED4E5F2C}"/>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Trước khi đo AI, phải kiểm tra con người có chấm ổn định không</a:t>
            </a:r>
          </a:p>
        </p:txBody>
      </p:sp>
      <p:sp>
        <p:nvSpPr>
          <p:cNvPr id="3" name="rule">
            <a:extLst xmlns:a="http://schemas.openxmlformats.org/drawingml/2006/main">
              <a:ext uri="{FF2B5EF4-FFF2-40B4-BE49-F238E27FC236}">
                <a16:creationId xmlns:a16="http://schemas.microsoft.com/office/drawing/2014/main" id="{5D84F235-2C21-484E-A7F2-C0F23C9DEAE7}"/>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5BE862F0-EB71-4E14-8EE0-07E0FD6C2FF8}"/>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TẠO NHÃN CHUẨN</a:t>
            </a:r>
          </a:p>
        </p:txBody>
      </p:sp>
      <p:sp>
        <p:nvSpPr>
          <p:cNvPr id="5" name="footer-number">
            <a:extLst xmlns:a="http://schemas.openxmlformats.org/drawingml/2006/main">
              <a:ext uri="{FF2B5EF4-FFF2-40B4-BE49-F238E27FC236}">
                <a16:creationId xmlns:a16="http://schemas.microsoft.com/office/drawing/2014/main" id="{FF52FF3D-3B38-4BCA-910C-473FCA694001}"/>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24</a:t>
            </a:r>
          </a:p>
        </p:txBody>
      </p:sp>
      <p:sp>
        <p:nvSpPr>
          <p:cNvPr id="6" name="edge-1">
            <a:extLst xmlns:a="http://schemas.openxmlformats.org/drawingml/2006/main">
              <a:ext uri="{FF2B5EF4-FFF2-40B4-BE49-F238E27FC236}">
                <a16:creationId xmlns:a16="http://schemas.microsoft.com/office/drawing/2014/main" id="{CE669BD7-3A0E-46EA-BD8A-931778718FBA}"/>
              </a:ext>
            </a:extLst>
          </p:cNvPr>
          <p:cNvSpPr>
            <a:spLocks xmlns:a="http://schemas.openxmlformats.org/drawingml/2006/main" noGrp="1"/>
          </p:cNvSpPr>
          <p:nvPr/>
        </p:nvSpPr>
        <p:spPr>
          <a:xfrm xmlns:a="http://schemas.openxmlformats.org/drawingml/2006/main">
            <a:off x="253555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7" name="edge-2">
            <a:extLst xmlns:a="http://schemas.openxmlformats.org/drawingml/2006/main">
              <a:ext uri="{FF2B5EF4-FFF2-40B4-BE49-F238E27FC236}">
                <a16:creationId xmlns:a16="http://schemas.microsoft.com/office/drawing/2014/main" id="{9B0B80BF-8D32-490C-88D6-98608B5BFD7C}"/>
              </a:ext>
            </a:extLst>
          </p:cNvPr>
          <p:cNvSpPr>
            <a:spLocks xmlns:a="http://schemas.openxmlformats.org/drawingml/2006/main" noGrp="1"/>
          </p:cNvSpPr>
          <p:nvPr/>
        </p:nvSpPr>
        <p:spPr>
          <a:xfrm xmlns:a="http://schemas.openxmlformats.org/drawingml/2006/main">
            <a:off x="483298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8" name="edge-3">
            <a:extLst xmlns:a="http://schemas.openxmlformats.org/drawingml/2006/main">
              <a:ext uri="{FF2B5EF4-FFF2-40B4-BE49-F238E27FC236}">
                <a16:creationId xmlns:a16="http://schemas.microsoft.com/office/drawing/2014/main" id="{FAB1668A-9053-46DF-850F-7065FC595340}"/>
              </a:ext>
            </a:extLst>
          </p:cNvPr>
          <p:cNvSpPr>
            <a:spLocks xmlns:a="http://schemas.openxmlformats.org/drawingml/2006/main" noGrp="1"/>
          </p:cNvSpPr>
          <p:nvPr/>
        </p:nvSpPr>
        <p:spPr>
          <a:xfrm xmlns:a="http://schemas.openxmlformats.org/drawingml/2006/main">
            <a:off x="713041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9" name="edge-4">
            <a:extLst xmlns:a="http://schemas.openxmlformats.org/drawingml/2006/main">
              <a:ext uri="{FF2B5EF4-FFF2-40B4-BE49-F238E27FC236}">
                <a16:creationId xmlns:a16="http://schemas.microsoft.com/office/drawing/2014/main" id="{78F0E4A0-D9DE-4385-83AB-8CFACC499100}"/>
              </a:ext>
            </a:extLst>
          </p:cNvPr>
          <p:cNvSpPr>
            <a:spLocks xmlns:a="http://schemas.openxmlformats.org/drawingml/2006/main" noGrp="1"/>
          </p:cNvSpPr>
          <p:nvPr/>
        </p:nvSpPr>
        <p:spPr>
          <a:xfrm xmlns:a="http://schemas.openxmlformats.org/drawingml/2006/main">
            <a:off x="9427845" y="2971800"/>
            <a:ext cx="228600" cy="2095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10" name="process-node-1meqf">
            <a:extLst xmlns:a="http://schemas.openxmlformats.org/drawingml/2006/main">
              <a:ext uri="{FF2B5EF4-FFF2-40B4-BE49-F238E27FC236}">
                <a16:creationId xmlns:a16="http://schemas.microsoft.com/office/drawing/2014/main" id="{6F4A4FE1-7807-4C91-89E5-0F06FA6DA6FB}"/>
              </a:ext>
            </a:extLst>
          </p:cNvPr>
          <p:cNvSpPr>
            <a:spLocks xmlns:a="http://schemas.openxmlformats.org/drawingml/2006/main" noGrp="1"/>
          </p:cNvSpPr>
          <p:nvPr/>
        </p:nvSpPr>
        <p:spPr>
          <a:xfrm xmlns:a="http://schemas.openxmlformats.org/drawingml/2006/main">
            <a:off x="49530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1" name="text-h9k654">
            <a:extLst xmlns:a="http://schemas.openxmlformats.org/drawingml/2006/main">
              <a:ext uri="{FF2B5EF4-FFF2-40B4-BE49-F238E27FC236}">
                <a16:creationId xmlns:a16="http://schemas.microsoft.com/office/drawing/2014/main" id="{18E4520B-2908-4D24-89A3-746D05D46739}"/>
              </a:ext>
            </a:extLst>
          </p:cNvPr>
          <p:cNvSpPr>
            <a:spLocks xmlns:a="http://schemas.openxmlformats.org/drawingml/2006/main" noGrp="1"/>
          </p:cNvSpPr>
          <p:nvPr/>
        </p:nvSpPr>
        <p:spPr>
          <a:xfrm xmlns:a="http://schemas.openxmlformats.org/drawingml/2006/main">
            <a:off x="64770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01</a:t>
            </a:r>
          </a:p>
        </p:txBody>
      </p:sp>
      <p:sp>
        <p:nvSpPr>
          <p:cNvPr id="12" name="text-xmsfyx">
            <a:extLst xmlns:a="http://schemas.openxmlformats.org/drawingml/2006/main">
              <a:ext uri="{FF2B5EF4-FFF2-40B4-BE49-F238E27FC236}">
                <a16:creationId xmlns:a16="http://schemas.microsoft.com/office/drawing/2014/main" id="{A963C537-EA66-4A1D-B600-29BAD455D658}"/>
              </a:ext>
            </a:extLst>
          </p:cNvPr>
          <p:cNvSpPr>
            <a:spLocks xmlns:a="http://schemas.openxmlformats.org/drawingml/2006/main" noGrp="1"/>
          </p:cNvSpPr>
          <p:nvPr/>
        </p:nvSpPr>
        <p:spPr>
          <a:xfrm xmlns:a="http://schemas.openxmlformats.org/drawingml/2006/main">
            <a:off x="64770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Viết rubric</a:t>
            </a:r>
          </a:p>
        </p:txBody>
      </p:sp>
      <p:sp>
        <p:nvSpPr>
          <p:cNvPr id="13" name="text-fc5wia">
            <a:extLst xmlns:a="http://schemas.openxmlformats.org/drawingml/2006/main">
              <a:ext uri="{FF2B5EF4-FFF2-40B4-BE49-F238E27FC236}">
                <a16:creationId xmlns:a16="http://schemas.microsoft.com/office/drawing/2014/main" id="{63A371C5-5E54-44E8-8AEB-C7180DC422FF}"/>
              </a:ext>
            </a:extLst>
          </p:cNvPr>
          <p:cNvSpPr>
            <a:spLocks xmlns:a="http://schemas.openxmlformats.org/drawingml/2006/main" noGrp="1"/>
          </p:cNvSpPr>
          <p:nvPr/>
        </p:nvSpPr>
        <p:spPr>
          <a:xfrm xmlns:a="http://schemas.openxmlformats.org/drawingml/2006/main">
            <a:off x="64770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Mô tả A2/B1/B2 cho 6 tiêu chí; có evidence guide và reason codes.</a:t>
            </a:r>
          </a:p>
        </p:txBody>
      </p:sp>
      <p:sp>
        <p:nvSpPr>
          <p:cNvPr id="14" name="process-node-npys3">
            <a:extLst xmlns:a="http://schemas.openxmlformats.org/drawingml/2006/main">
              <a:ext uri="{FF2B5EF4-FFF2-40B4-BE49-F238E27FC236}">
                <a16:creationId xmlns:a16="http://schemas.microsoft.com/office/drawing/2014/main" id="{F1B5D2CF-2C98-41E8-96B6-D7B4B51296FE}"/>
              </a:ext>
            </a:extLst>
          </p:cNvPr>
          <p:cNvSpPr>
            <a:spLocks xmlns:a="http://schemas.openxmlformats.org/drawingml/2006/main" noGrp="1"/>
          </p:cNvSpPr>
          <p:nvPr/>
        </p:nvSpPr>
        <p:spPr>
          <a:xfrm xmlns:a="http://schemas.openxmlformats.org/drawingml/2006/main">
            <a:off x="279273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5" name="text-0sy72e">
            <a:extLst xmlns:a="http://schemas.openxmlformats.org/drawingml/2006/main">
              <a:ext uri="{FF2B5EF4-FFF2-40B4-BE49-F238E27FC236}">
                <a16:creationId xmlns:a16="http://schemas.microsoft.com/office/drawing/2014/main" id="{C53BC6A8-7B64-4C5D-B69F-4DB04EDA2776}"/>
              </a:ext>
            </a:extLst>
          </p:cNvPr>
          <p:cNvSpPr>
            <a:spLocks xmlns:a="http://schemas.openxmlformats.org/drawingml/2006/main" noGrp="1"/>
          </p:cNvSpPr>
          <p:nvPr/>
        </p:nvSpPr>
        <p:spPr>
          <a:xfrm xmlns:a="http://schemas.openxmlformats.org/drawingml/2006/main">
            <a:off x="294513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02</a:t>
            </a:r>
          </a:p>
        </p:txBody>
      </p:sp>
      <p:sp>
        <p:nvSpPr>
          <p:cNvPr id="16" name="text-cwac1y">
            <a:extLst xmlns:a="http://schemas.openxmlformats.org/drawingml/2006/main">
              <a:ext uri="{FF2B5EF4-FFF2-40B4-BE49-F238E27FC236}">
                <a16:creationId xmlns:a16="http://schemas.microsoft.com/office/drawing/2014/main" id="{906D5DE1-BEBB-4C10-B65B-6DD04C2286AA}"/>
              </a:ext>
            </a:extLst>
          </p:cNvPr>
          <p:cNvSpPr>
            <a:spLocks xmlns:a="http://schemas.openxmlformats.org/drawingml/2006/main" noGrp="1"/>
          </p:cNvSpPr>
          <p:nvPr/>
        </p:nvSpPr>
        <p:spPr>
          <a:xfrm xmlns:a="http://schemas.openxmlformats.org/drawingml/2006/main">
            <a:off x="294513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Calibration</a:t>
            </a:r>
          </a:p>
        </p:txBody>
      </p:sp>
      <p:sp>
        <p:nvSpPr>
          <p:cNvPr id="17" name="text-whxi2c">
            <a:extLst xmlns:a="http://schemas.openxmlformats.org/drawingml/2006/main">
              <a:ext uri="{FF2B5EF4-FFF2-40B4-BE49-F238E27FC236}">
                <a16:creationId xmlns:a16="http://schemas.microsoft.com/office/drawing/2014/main" id="{7ECBDEC9-E29A-43F8-A4E0-BA684D393F9F}"/>
              </a:ext>
            </a:extLst>
          </p:cNvPr>
          <p:cNvSpPr>
            <a:spLocks xmlns:a="http://schemas.openxmlformats.org/drawingml/2006/main" noGrp="1"/>
          </p:cNvSpPr>
          <p:nvPr/>
        </p:nvSpPr>
        <p:spPr>
          <a:xfrm xmlns:a="http://schemas.openxmlformats.org/drawingml/2006/main">
            <a:off x="294513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Hai rater chấm anchor, thảo luận cách hiểu và thống nhất quy tắc.</a:t>
            </a:r>
          </a:p>
        </p:txBody>
      </p:sp>
      <p:sp>
        <p:nvSpPr>
          <p:cNvPr id="18" name="process-node-boe2a">
            <a:extLst xmlns:a="http://schemas.openxmlformats.org/drawingml/2006/main">
              <a:ext uri="{FF2B5EF4-FFF2-40B4-BE49-F238E27FC236}">
                <a16:creationId xmlns:a16="http://schemas.microsoft.com/office/drawing/2014/main" id="{17C7363E-F246-493C-9144-A2A7FA680D20}"/>
              </a:ext>
            </a:extLst>
          </p:cNvPr>
          <p:cNvSpPr>
            <a:spLocks xmlns:a="http://schemas.openxmlformats.org/drawingml/2006/main" noGrp="1"/>
          </p:cNvSpPr>
          <p:nvPr/>
        </p:nvSpPr>
        <p:spPr>
          <a:xfrm xmlns:a="http://schemas.openxmlformats.org/drawingml/2006/main">
            <a:off x="509016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19" name="text-875jcg">
            <a:extLst xmlns:a="http://schemas.openxmlformats.org/drawingml/2006/main">
              <a:ext uri="{FF2B5EF4-FFF2-40B4-BE49-F238E27FC236}">
                <a16:creationId xmlns:a16="http://schemas.microsoft.com/office/drawing/2014/main" id="{9EF5AB23-FCD1-43C0-A52C-4E810E04A452}"/>
              </a:ext>
            </a:extLst>
          </p:cNvPr>
          <p:cNvSpPr>
            <a:spLocks xmlns:a="http://schemas.openxmlformats.org/drawingml/2006/main" noGrp="1"/>
          </p:cNvSpPr>
          <p:nvPr/>
        </p:nvSpPr>
        <p:spPr>
          <a:xfrm xmlns:a="http://schemas.openxmlformats.org/drawingml/2006/main">
            <a:off x="524256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03</a:t>
            </a:r>
          </a:p>
        </p:txBody>
      </p:sp>
      <p:sp>
        <p:nvSpPr>
          <p:cNvPr id="20" name="text-703udp">
            <a:extLst xmlns:a="http://schemas.openxmlformats.org/drawingml/2006/main">
              <a:ext uri="{FF2B5EF4-FFF2-40B4-BE49-F238E27FC236}">
                <a16:creationId xmlns:a16="http://schemas.microsoft.com/office/drawing/2014/main" id="{D5059328-0D30-4742-8F53-B2F23F53C1FC}"/>
              </a:ext>
            </a:extLst>
          </p:cNvPr>
          <p:cNvSpPr>
            <a:spLocks xmlns:a="http://schemas.openxmlformats.org/drawingml/2006/main" noGrp="1"/>
          </p:cNvSpPr>
          <p:nvPr/>
        </p:nvSpPr>
        <p:spPr>
          <a:xfrm xmlns:a="http://schemas.openxmlformats.org/drawingml/2006/main">
            <a:off x="524256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Chấm mù</a:t>
            </a:r>
          </a:p>
        </p:txBody>
      </p:sp>
      <p:sp>
        <p:nvSpPr>
          <p:cNvPr id="21" name="text-jzl4y1">
            <a:extLst xmlns:a="http://schemas.openxmlformats.org/drawingml/2006/main">
              <a:ext uri="{FF2B5EF4-FFF2-40B4-BE49-F238E27FC236}">
                <a16:creationId xmlns:a16="http://schemas.microsoft.com/office/drawing/2014/main" id="{E92465FC-1B3B-462C-B38A-E6B9A3932452}"/>
              </a:ext>
            </a:extLst>
          </p:cNvPr>
          <p:cNvSpPr>
            <a:spLocks xmlns:a="http://schemas.openxmlformats.org/drawingml/2006/main" noGrp="1"/>
          </p:cNvSpPr>
          <p:nvPr/>
        </p:nvSpPr>
        <p:spPr>
          <a:xfrm xmlns:a="http://schemas.openxmlformats.org/drawingml/2006/main">
            <a:off x="524256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Rater không thấy điểm AI; thứ tự bài được random hóa.</a:t>
            </a:r>
          </a:p>
        </p:txBody>
      </p:sp>
      <p:sp>
        <p:nvSpPr>
          <p:cNvPr id="22" name="process-node-ttp5q">
            <a:extLst xmlns:a="http://schemas.openxmlformats.org/drawingml/2006/main">
              <a:ext uri="{FF2B5EF4-FFF2-40B4-BE49-F238E27FC236}">
                <a16:creationId xmlns:a16="http://schemas.microsoft.com/office/drawing/2014/main" id="{ACE57553-A299-490C-A7D6-336CA100C6A6}"/>
              </a:ext>
            </a:extLst>
          </p:cNvPr>
          <p:cNvSpPr>
            <a:spLocks xmlns:a="http://schemas.openxmlformats.org/drawingml/2006/main" noGrp="1"/>
          </p:cNvSpPr>
          <p:nvPr/>
        </p:nvSpPr>
        <p:spPr>
          <a:xfrm xmlns:a="http://schemas.openxmlformats.org/drawingml/2006/main">
            <a:off x="7387590" y="2000250"/>
            <a:ext cx="2011680" cy="2286000"/>
          </a:xfrm>
          <a:prstGeom xmlns:a="http://schemas.openxmlformats.org/drawingml/2006/main" prst="roundRect">
            <a:avLst>
              <a:gd name="adj" fmla="val 2841"/>
            </a:avLst>
          </a:prstGeom>
          <a:solidFill xmlns:a="http://schemas.openxmlformats.org/drawingml/2006/main">
            <a:srgbClr val="F5F7F9"/>
          </a:solidFill>
          <a:ln xmlns:a="http://schemas.openxmlformats.org/drawingml/2006/main" w="9525">
            <a:solidFill>
              <a:srgbClr val="B8BCC4"/>
            </a:solidFill>
            <a:prstDash val="solid"/>
          </a:ln>
        </p:spPr>
      </p:sp>
      <p:sp>
        <p:nvSpPr>
          <p:cNvPr id="23" name="text-yz5r2r">
            <a:extLst xmlns:a="http://schemas.openxmlformats.org/drawingml/2006/main">
              <a:ext uri="{FF2B5EF4-FFF2-40B4-BE49-F238E27FC236}">
                <a16:creationId xmlns:a16="http://schemas.microsoft.com/office/drawing/2014/main" id="{06558F41-C1F3-428A-9568-D268C912AF06}"/>
              </a:ext>
            </a:extLst>
          </p:cNvPr>
          <p:cNvSpPr>
            <a:spLocks xmlns:a="http://schemas.openxmlformats.org/drawingml/2006/main" noGrp="1"/>
          </p:cNvSpPr>
          <p:nvPr/>
        </p:nvSpPr>
        <p:spPr>
          <a:xfrm xmlns:a="http://schemas.openxmlformats.org/drawingml/2006/main">
            <a:off x="753999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04</a:t>
            </a:r>
          </a:p>
        </p:txBody>
      </p:sp>
      <p:sp>
        <p:nvSpPr>
          <p:cNvPr id="24" name="text-4oi2bb">
            <a:extLst xmlns:a="http://schemas.openxmlformats.org/drawingml/2006/main">
              <a:ext uri="{FF2B5EF4-FFF2-40B4-BE49-F238E27FC236}">
                <a16:creationId xmlns:a16="http://schemas.microsoft.com/office/drawing/2014/main" id="{D0774787-2740-404D-A7CB-5E37D7C07F8C}"/>
              </a:ext>
            </a:extLst>
          </p:cNvPr>
          <p:cNvSpPr>
            <a:spLocks xmlns:a="http://schemas.openxmlformats.org/drawingml/2006/main" noGrp="1"/>
          </p:cNvSpPr>
          <p:nvPr/>
        </p:nvSpPr>
        <p:spPr>
          <a:xfrm xmlns:a="http://schemas.openxmlformats.org/drawingml/2006/main">
            <a:off x="753999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Đo agreement</a:t>
            </a:r>
          </a:p>
        </p:txBody>
      </p:sp>
      <p:sp>
        <p:nvSpPr>
          <p:cNvPr id="25" name="text-fq7uss">
            <a:extLst xmlns:a="http://schemas.openxmlformats.org/drawingml/2006/main">
              <a:ext uri="{FF2B5EF4-FFF2-40B4-BE49-F238E27FC236}">
                <a16:creationId xmlns:a16="http://schemas.microsoft.com/office/drawing/2014/main" id="{4A476B8F-531E-425E-9401-CEBA777E4DA1}"/>
              </a:ext>
            </a:extLst>
          </p:cNvPr>
          <p:cNvSpPr>
            <a:spLocks xmlns:a="http://schemas.openxmlformats.org/drawingml/2006/main" noGrp="1"/>
          </p:cNvSpPr>
          <p:nvPr/>
        </p:nvSpPr>
        <p:spPr>
          <a:xfrm xmlns:a="http://schemas.openxmlformats.org/drawingml/2006/main">
            <a:off x="753999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Tính QWK/ICC overall và từng tiêu chí; xem ca lệch lớn.</a:t>
            </a:r>
          </a:p>
        </p:txBody>
      </p:sp>
      <p:sp>
        <p:nvSpPr>
          <p:cNvPr id="26" name="process-node-8yrlh">
            <a:extLst xmlns:a="http://schemas.openxmlformats.org/drawingml/2006/main">
              <a:ext uri="{FF2B5EF4-FFF2-40B4-BE49-F238E27FC236}">
                <a16:creationId xmlns:a16="http://schemas.microsoft.com/office/drawing/2014/main" id="{B3EDC97F-E02B-432A-A322-166F92807AA1}"/>
              </a:ext>
            </a:extLst>
          </p:cNvPr>
          <p:cNvSpPr>
            <a:spLocks xmlns:a="http://schemas.openxmlformats.org/drawingml/2006/main" noGrp="1"/>
          </p:cNvSpPr>
          <p:nvPr/>
        </p:nvSpPr>
        <p:spPr>
          <a:xfrm xmlns:a="http://schemas.openxmlformats.org/drawingml/2006/main">
            <a:off x="9685020" y="2000250"/>
            <a:ext cx="2011680" cy="2286000"/>
          </a:xfrm>
          <a:prstGeom xmlns:a="http://schemas.openxmlformats.org/drawingml/2006/main" prst="roundRect">
            <a:avLst>
              <a:gd name="adj" fmla="val 2841"/>
            </a:avLst>
          </a:prstGeom>
          <a:solidFill xmlns:a="http://schemas.openxmlformats.org/drawingml/2006/main">
            <a:srgbClr val="EAF5FB"/>
          </a:solidFill>
          <a:ln xmlns:a="http://schemas.openxmlformats.org/drawingml/2006/main" w="9525">
            <a:solidFill>
              <a:srgbClr val="3D8DFF"/>
            </a:solidFill>
            <a:prstDash val="solid"/>
          </a:ln>
        </p:spPr>
      </p:sp>
      <p:sp>
        <p:nvSpPr>
          <p:cNvPr id="27" name="text-58nw2e">
            <a:extLst xmlns:a="http://schemas.openxmlformats.org/drawingml/2006/main">
              <a:ext uri="{FF2B5EF4-FFF2-40B4-BE49-F238E27FC236}">
                <a16:creationId xmlns:a16="http://schemas.microsoft.com/office/drawing/2014/main" id="{4A704EC9-6E7E-4F67-9E68-988C39E6845F}"/>
              </a:ext>
            </a:extLst>
          </p:cNvPr>
          <p:cNvSpPr>
            <a:spLocks xmlns:a="http://schemas.openxmlformats.org/drawingml/2006/main" noGrp="1"/>
          </p:cNvSpPr>
          <p:nvPr/>
        </p:nvSpPr>
        <p:spPr>
          <a:xfrm xmlns:a="http://schemas.openxmlformats.org/drawingml/2006/main">
            <a:off x="9837420" y="215265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05</a:t>
            </a:r>
          </a:p>
        </p:txBody>
      </p:sp>
      <p:sp>
        <p:nvSpPr>
          <p:cNvPr id="28" name="text-7aqsw5">
            <a:extLst xmlns:a="http://schemas.openxmlformats.org/drawingml/2006/main">
              <a:ext uri="{FF2B5EF4-FFF2-40B4-BE49-F238E27FC236}">
                <a16:creationId xmlns:a16="http://schemas.microsoft.com/office/drawing/2014/main" id="{FC44A5D5-240C-4308-9BA7-5C1803E19C64}"/>
              </a:ext>
            </a:extLst>
          </p:cNvPr>
          <p:cNvSpPr>
            <a:spLocks xmlns:a="http://schemas.openxmlformats.org/drawingml/2006/main" noGrp="1"/>
          </p:cNvSpPr>
          <p:nvPr/>
        </p:nvSpPr>
        <p:spPr>
          <a:xfrm xmlns:a="http://schemas.openxmlformats.org/drawingml/2006/main">
            <a:off x="9837420" y="2514600"/>
            <a:ext cx="170688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Adjudication</a:t>
            </a:r>
          </a:p>
        </p:txBody>
      </p:sp>
      <p:sp>
        <p:nvSpPr>
          <p:cNvPr id="29" name="text-eowhlz">
            <a:extLst xmlns:a="http://schemas.openxmlformats.org/drawingml/2006/main">
              <a:ext uri="{FF2B5EF4-FFF2-40B4-BE49-F238E27FC236}">
                <a16:creationId xmlns:a16="http://schemas.microsoft.com/office/drawing/2014/main" id="{957375F0-493D-40C6-8B02-225CA852A2D6}"/>
              </a:ext>
            </a:extLst>
          </p:cNvPr>
          <p:cNvSpPr>
            <a:spLocks xmlns:a="http://schemas.openxmlformats.org/drawingml/2006/main" noGrp="1"/>
          </p:cNvSpPr>
          <p:nvPr/>
        </p:nvSpPr>
        <p:spPr>
          <a:xfrm xmlns:a="http://schemas.openxmlformats.org/drawingml/2006/main">
            <a:off x="9837420" y="3162300"/>
            <a:ext cx="170688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E6B78"/>
                </a:solidFill>
                <a:latin typeface="Arial"/>
                <a:ea typeface="Arial"/>
                <a:cs typeface="Arial"/>
              </a:defRPr>
            </a:pPr>
            <a:r>
              <a:rPr sz="1200" b="0" i="0">
                <a:solidFill>
                  <a:srgbClr val="5E6B78"/>
                </a:solidFill>
                <a:latin typeface="Arial"/>
                <a:ea typeface="Arial"/>
                <a:cs typeface="Arial"/>
              </a:rPr>
              <a:t>Giải quyết ca lệch bằng lý do và bằng chứng, không lấy trung bình máy móc.</a:t>
            </a:r>
          </a:p>
        </p:txBody>
      </p:sp>
      <p:sp>
        <p:nvSpPr>
          <p:cNvPr id="30" name="callout-g3jqk">
            <a:extLst xmlns:a="http://schemas.openxmlformats.org/drawingml/2006/main">
              <a:ext uri="{FF2B5EF4-FFF2-40B4-BE49-F238E27FC236}">
                <a16:creationId xmlns:a16="http://schemas.microsoft.com/office/drawing/2014/main" id="{5FB3826A-CAF8-473A-AD6D-47695A050340}"/>
              </a:ext>
            </a:extLst>
          </p:cNvPr>
          <p:cNvSpPr>
            <a:spLocks xmlns:a="http://schemas.openxmlformats.org/drawingml/2006/main" noGrp="1"/>
          </p:cNvSpPr>
          <p:nvPr/>
        </p:nvSpPr>
        <p:spPr>
          <a:xfrm xmlns:a="http://schemas.openxmlformats.org/drawingml/2006/main">
            <a:off x="495300" y="5219700"/>
            <a:ext cx="11201400" cy="762000"/>
          </a:xfrm>
          <a:prstGeom xmlns:a="http://schemas.openxmlformats.org/drawingml/2006/main" prst="roundRect">
            <a:avLst>
              <a:gd name="adj" fmla="val 7500"/>
            </a:avLst>
          </a:prstGeom>
          <a:solidFill xmlns:a="http://schemas.openxmlformats.org/drawingml/2006/main">
            <a:srgbClr val="FCEAEA"/>
          </a:solidFill>
          <a:ln xmlns:a="http://schemas.openxmlformats.org/drawingml/2006/main" w="9525">
            <a:solidFill>
              <a:srgbClr val="B33A3A"/>
            </a:solidFill>
            <a:prstDash val="solid"/>
          </a:ln>
        </p:spPr>
      </p:sp>
      <p:sp>
        <p:nvSpPr>
          <p:cNvPr id="31" name="callout-text">
            <a:extLst xmlns:a="http://schemas.openxmlformats.org/drawingml/2006/main">
              <a:ext uri="{FF2B5EF4-FFF2-40B4-BE49-F238E27FC236}">
                <a16:creationId xmlns:a16="http://schemas.microsoft.com/office/drawing/2014/main" id="{D31E352F-3CBA-4EDD-B1E1-9140AC322E34}"/>
              </a:ext>
            </a:extLst>
          </p:cNvPr>
          <p:cNvSpPr>
            <a:spLocks xmlns:a="http://schemas.openxmlformats.org/drawingml/2006/main" noGrp="1"/>
          </p:cNvSpPr>
          <p:nvPr/>
        </p:nvSpPr>
        <p:spPr>
          <a:xfrm xmlns:a="http://schemas.openxmlformats.org/drawingml/2006/main">
            <a:off x="666750" y="535305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B33A3A"/>
                </a:solidFill>
                <a:latin typeface="Arial"/>
                <a:ea typeface="Arial"/>
                <a:cs typeface="Arial"/>
              </a:defRPr>
            </a:pPr>
            <a:r>
              <a:rPr sz="1500" b="1" i="0">
                <a:solidFill>
                  <a:srgbClr val="B33A3A"/>
                </a:solidFill>
                <a:latin typeface="Arial"/>
                <a:ea typeface="Arial"/>
                <a:cs typeface="Arial"/>
              </a:rPr>
              <a:t>Nếu human–human agreement thấp, chưa được phép tuyên bố AI chấm kém hay tốt; phải sửa rubric trước.</a:t>
            </a:r>
          </a:p>
        </p:txBody>
      </p:sp>
    </p:spTree>
    <p:extLst>
      <p:ext uri="{BB962C8B-B14F-4D97-AF65-F5344CB8AC3E}">
        <p14:creationId xmlns:p14="http://schemas.microsoft.com/office/powerpoint/2010/main" val="10972665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BFB4884-D354-48B7-984A-AA8B0DD78C3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THIẾT KẾ THÍ NGHIỆM</a:t>
            </a:r>
          </a:p>
        </p:txBody>
      </p:sp>
      <p:sp>
        <p:nvSpPr>
          <p:cNvPr id="2" name="slide-title">
            <a:extLst xmlns:a="http://schemas.openxmlformats.org/drawingml/2006/main">
              <a:ext uri="{FF2B5EF4-FFF2-40B4-BE49-F238E27FC236}">
                <a16:creationId xmlns:a16="http://schemas.microsoft.com/office/drawing/2014/main" id="{0B0A3E95-B99C-4BED-8A45-35A545E48637}"/>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Mô hình chính chỉ có ý nghĩa khi được so với baseline rõ ràng</a:t>
            </a:r>
          </a:p>
        </p:txBody>
      </p:sp>
      <p:sp>
        <p:nvSpPr>
          <p:cNvPr id="3" name="slide-subtitle">
            <a:extLst xmlns:a="http://schemas.openxmlformats.org/drawingml/2006/main">
              <a:ext uri="{FF2B5EF4-FFF2-40B4-BE49-F238E27FC236}">
                <a16:creationId xmlns:a16="http://schemas.microsoft.com/office/drawing/2014/main" id="{D6F4097F-3509-45F2-B190-ED6F49CE0FAC}"/>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Mọi mô hình phải dùng cùng speaker split, seed và test set khóa.</a:t>
            </a:r>
          </a:p>
        </p:txBody>
      </p:sp>
      <p:sp>
        <p:nvSpPr>
          <p:cNvPr id="4" name="rule">
            <a:extLst xmlns:a="http://schemas.openxmlformats.org/drawingml/2006/main">
              <a:ext uri="{FF2B5EF4-FFF2-40B4-BE49-F238E27FC236}">
                <a16:creationId xmlns:a16="http://schemas.microsoft.com/office/drawing/2014/main" id="{ACB1B3B3-AB37-422C-A0CD-80F61590F01D}"/>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FEE5F36F-C77F-430B-B5E3-4EA2B10C220D}"/>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THIẾT KẾ THÍ NGHIỆM</a:t>
            </a:r>
          </a:p>
        </p:txBody>
      </p:sp>
      <p:sp>
        <p:nvSpPr>
          <p:cNvPr id="6" name="footer-number">
            <a:extLst xmlns:a="http://schemas.openxmlformats.org/drawingml/2006/main">
              <a:ext uri="{FF2B5EF4-FFF2-40B4-BE49-F238E27FC236}">
                <a16:creationId xmlns:a16="http://schemas.microsoft.com/office/drawing/2014/main" id="{EFF86AEB-94C1-4743-B9D2-A1EF98BA91AC}"/>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25</a:t>
            </a:r>
          </a:p>
        </p:txBody>
      </p:sp>
      <p:graphicFrame>
        <p:nvGraphicFramePr>
          <p:cNvPr id="14" name=""/>
          <p:cNvGraphicFramePr/>
          <p:nvPr/>
        </p:nvGraphicFramePr>
        <p:xfrm>
          <a:off xmlns:a="http://schemas.openxmlformats.org/drawingml/2006/main" x="495300" y="1885950"/>
          <a:ext xmlns:a="http://schemas.openxmlformats.org/drawingml/2006/main" cx="11201400" cy="4000500"/>
        </p:xfrm>
        <a:graphic xmlns:a="http://schemas.openxmlformats.org/drawingml/2006/main">
          <a:graphicData uri="http://schemas.openxmlformats.org/drawingml/2006/table">
            <a:tbl>
              <a:tblPr firstRow="1" bandRow="1"/>
              <a:tblGrid>
                <a:gridCol w="952500"/>
                <a:gridCol w="4381500"/>
                <a:gridCol w="5867400"/>
              </a:tblGrid>
              <a:tr h="571500">
                <a:tc>
                  <a:txBody>
                    <a:bodyPr/>
                    <a:lstStyle/>
                    <a:p>
                      <a:r>
                        <a:rPr sz="1200" b="1">
                          <a:solidFill>
                            <a:srgbClr val="FFFFFF"/>
                          </a:solidFill>
                          <a:latin typeface="Arial"/>
                          <a:ea typeface="Arial"/>
                          <a:cs typeface="Arial"/>
                        </a:rPr>
                        <a:t>Mã</a:t>
                      </a:r>
                    </a:p>
                  </a:txBody>
                  <a:tcPr marL="76200" marR="76200" marT="66675" marB="66675">
                    <a:solidFill>
                      <a:srgbClr val="1859A9"/>
                    </a:solidFill>
                  </a:tcPr>
                </a:tc>
                <a:tc>
                  <a:txBody>
                    <a:bodyPr/>
                    <a:lstStyle/>
                    <a:p>
                      <a:r>
                        <a:rPr sz="1200" b="1">
                          <a:solidFill>
                            <a:srgbClr val="FFFFFF"/>
                          </a:solidFill>
                          <a:latin typeface="Arial"/>
                          <a:ea typeface="Arial"/>
                          <a:cs typeface="Arial"/>
                        </a:rPr>
                        <a:t>Mô hình</a:t>
                      </a:r>
                    </a:p>
                  </a:txBody>
                  <a:tcPr marL="76200" marR="76200" marT="66675" marB="66675">
                    <a:solidFill>
                      <a:srgbClr val="1859A9"/>
                    </a:solidFill>
                  </a:tcPr>
                </a:tc>
                <a:tc>
                  <a:txBody>
                    <a:bodyPr/>
                    <a:lstStyle/>
                    <a:p>
                      <a:r>
                        <a:rPr sz="1200" b="1">
                          <a:solidFill>
                            <a:srgbClr val="FFFFFF"/>
                          </a:solidFill>
                          <a:latin typeface="Arial"/>
                          <a:ea typeface="Arial"/>
                          <a:cs typeface="Arial"/>
                        </a:rPr>
                        <a:t>Mục đích trả lời</a:t>
                      </a:r>
                    </a:p>
                  </a:txBody>
                  <a:tcPr marL="76200" marR="76200" marT="66675" marB="66675">
                    <a:solidFill>
                      <a:srgbClr val="1859A9"/>
                    </a:solidFill>
                  </a:tcPr>
                </a:tc>
              </a:tr>
              <a:tr h="571500">
                <a:tc>
                  <a:txBody>
                    <a:bodyPr/>
                    <a:lstStyle/>
                    <a:p>
                      <a:r>
                        <a:rPr sz="1200">
                          <a:solidFill>
                            <a:srgbClr val="111827"/>
                          </a:solidFill>
                          <a:latin typeface="Arial"/>
                          <a:ea typeface="Arial"/>
                          <a:cs typeface="Arial"/>
                        </a:rPr>
                        <a:t>B0</a:t>
                      </a:r>
                    </a:p>
                  </a:txBody>
                  <a:tcPr marL="76200" marR="76200" marT="66675" marB="66675"/>
                </a:tc>
                <a:tc>
                  <a:txBody>
                    <a:bodyPr/>
                    <a:lstStyle/>
                    <a:p>
                      <a:r>
                        <a:rPr sz="1200">
                          <a:solidFill>
                            <a:srgbClr val="111827"/>
                          </a:solidFill>
                          <a:latin typeface="Arial"/>
                          <a:ea typeface="Arial"/>
                          <a:cs typeface="Arial"/>
                        </a:rPr>
                        <a:t>Đoán lớp phổ biến / stratified</a:t>
                      </a:r>
                    </a:p>
                  </a:txBody>
                  <a:tcPr marL="76200" marR="76200" marT="66675" marB="66675"/>
                </a:tc>
                <a:tc>
                  <a:txBody>
                    <a:bodyPr/>
                    <a:lstStyle/>
                    <a:p>
                      <a:r>
                        <a:rPr sz="1200">
                          <a:solidFill>
                            <a:srgbClr val="111827"/>
                          </a:solidFill>
                          <a:latin typeface="Arial"/>
                          <a:ea typeface="Arial"/>
                          <a:cs typeface="Arial"/>
                        </a:rPr>
                        <a:t>AI có vượt cách đoán đơn giản không?</a:t>
                      </a:r>
                    </a:p>
                  </a:txBody>
                  <a:tcPr marL="76200" marR="76200" marT="66675" marB="66675"/>
                </a:tc>
              </a:tr>
              <a:tr h="571500">
                <a:tc>
                  <a:txBody>
                    <a:bodyPr/>
                    <a:lstStyle/>
                    <a:p>
                      <a:r>
                        <a:rPr sz="1200">
                          <a:solidFill>
                            <a:srgbClr val="111827"/>
                          </a:solidFill>
                          <a:latin typeface="Arial"/>
                          <a:ea typeface="Arial"/>
                          <a:cs typeface="Arial"/>
                        </a:rPr>
                        <a:t>B1</a:t>
                      </a:r>
                    </a:p>
                  </a:txBody>
                  <a:tcPr marL="76200" marR="76200" marT="66675" marB="66675"/>
                </a:tc>
                <a:tc>
                  <a:txBody>
                    <a:bodyPr/>
                    <a:lstStyle/>
                    <a:p>
                      <a:r>
                        <a:rPr sz="1200">
                          <a:solidFill>
                            <a:srgbClr val="111827"/>
                          </a:solidFill>
                          <a:latin typeface="Arial"/>
                          <a:ea typeface="Arial"/>
                          <a:cs typeface="Arial"/>
                        </a:rPr>
                        <a:t>Audio-only</a:t>
                      </a:r>
                    </a:p>
                  </a:txBody>
                  <a:tcPr marL="76200" marR="76200" marT="66675" marB="66675"/>
                </a:tc>
                <a:tc>
                  <a:txBody>
                    <a:bodyPr/>
                    <a:lstStyle/>
                    <a:p>
                      <a:r>
                        <a:rPr sz="1200">
                          <a:solidFill>
                            <a:srgbClr val="111827"/>
                          </a:solidFill>
                          <a:latin typeface="Arial"/>
                          <a:ea typeface="Arial"/>
                          <a:cs typeface="Arial"/>
                        </a:rPr>
                        <a:t>Audio chứa bao nhiêu tín hiệu về Fluency/Phonology?</a:t>
                      </a:r>
                    </a:p>
                  </a:txBody>
                  <a:tcPr marL="76200" marR="76200" marT="66675" marB="66675"/>
                </a:tc>
              </a:tr>
              <a:tr h="571500">
                <a:tc>
                  <a:txBody>
                    <a:bodyPr/>
                    <a:lstStyle/>
                    <a:p>
                      <a:r>
                        <a:rPr sz="1200">
                          <a:solidFill>
                            <a:srgbClr val="111827"/>
                          </a:solidFill>
                          <a:latin typeface="Arial"/>
                          <a:ea typeface="Arial"/>
                          <a:cs typeface="Arial"/>
                        </a:rPr>
                        <a:t>B2</a:t>
                      </a:r>
                    </a:p>
                  </a:txBody>
                  <a:tcPr marL="76200" marR="76200" marT="66675" marB="66675"/>
                </a:tc>
                <a:tc>
                  <a:txBody>
                    <a:bodyPr/>
                    <a:lstStyle/>
                    <a:p>
                      <a:r>
                        <a:rPr sz="1200">
                          <a:solidFill>
                            <a:srgbClr val="111827"/>
                          </a:solidFill>
                          <a:latin typeface="Arial"/>
                          <a:ea typeface="Arial"/>
                          <a:cs typeface="Arial"/>
                        </a:rPr>
                        <a:t>Transcript-only</a:t>
                      </a:r>
                    </a:p>
                  </a:txBody>
                  <a:tcPr marL="76200" marR="76200" marT="66675" marB="66675"/>
                </a:tc>
                <a:tc>
                  <a:txBody>
                    <a:bodyPr/>
                    <a:lstStyle/>
                    <a:p>
                      <a:r>
                        <a:rPr sz="1200">
                          <a:solidFill>
                            <a:srgbClr val="111827"/>
                          </a:solidFill>
                          <a:latin typeface="Arial"/>
                          <a:ea typeface="Arial"/>
                          <a:cs typeface="Arial"/>
                        </a:rPr>
                        <a:t>Text đóng góp gì cho Range/Accuracy/Coherence?</a:t>
                      </a:r>
                    </a:p>
                  </a:txBody>
                  <a:tcPr marL="76200" marR="76200" marT="66675" marB="66675"/>
                </a:tc>
              </a:tr>
              <a:tr h="571500">
                <a:tc>
                  <a:txBody>
                    <a:bodyPr/>
                    <a:lstStyle/>
                    <a:p>
                      <a:r>
                        <a:rPr sz="1200">
                          <a:solidFill>
                            <a:srgbClr val="111827"/>
                          </a:solidFill>
                          <a:latin typeface="Arial"/>
                          <a:ea typeface="Arial"/>
                          <a:cs typeface="Arial"/>
                        </a:rPr>
                        <a:t>B3</a:t>
                      </a:r>
                    </a:p>
                  </a:txBody>
                  <a:tcPr marL="76200" marR="76200" marT="66675" marB="66675"/>
                </a:tc>
                <a:tc>
                  <a:txBody>
                    <a:bodyPr/>
                    <a:lstStyle/>
                    <a:p>
                      <a:r>
                        <a:rPr sz="1200">
                          <a:solidFill>
                            <a:srgbClr val="111827"/>
                          </a:solidFill>
                          <a:latin typeface="Arial"/>
                          <a:ea typeface="Arial"/>
                          <a:cs typeface="Arial"/>
                        </a:rPr>
                        <a:t>Frozen rubric LLM</a:t>
                      </a:r>
                    </a:p>
                  </a:txBody>
                  <a:tcPr marL="76200" marR="76200" marT="66675" marB="66675"/>
                </a:tc>
                <a:tc>
                  <a:txBody>
                    <a:bodyPr/>
                    <a:lstStyle/>
                    <a:p>
                      <a:r>
                        <a:rPr sz="1200">
                          <a:solidFill>
                            <a:srgbClr val="111827"/>
                          </a:solidFill>
                          <a:latin typeface="Arial"/>
                          <a:ea typeface="Arial"/>
                          <a:cs typeface="Arial"/>
                        </a:rPr>
                        <a:t>LLM transcript-only mạnh đến đâu khi không fine-tune?</a:t>
                      </a:r>
                    </a:p>
                  </a:txBody>
                  <a:tcPr marL="76200" marR="76200" marT="66675" marB="66675"/>
                </a:tc>
              </a:tr>
              <a:tr h="571500">
                <a:tc>
                  <a:txBody>
                    <a:bodyPr/>
                    <a:lstStyle/>
                    <a:p>
                      <a:r>
                        <a:rPr sz="1200">
                          <a:solidFill>
                            <a:srgbClr val="111827"/>
                          </a:solidFill>
                          <a:latin typeface="Arial"/>
                          <a:ea typeface="Arial"/>
                          <a:cs typeface="Arial"/>
                        </a:rPr>
                        <a:t>M1</a:t>
                      </a:r>
                    </a:p>
                  </a:txBody>
                  <a:tcPr marL="76200" marR="76200" marT="66675" marB="66675"/>
                </a:tc>
                <a:tc>
                  <a:txBody>
                    <a:bodyPr/>
                    <a:lstStyle/>
                    <a:p>
                      <a:r>
                        <a:rPr sz="1200">
                          <a:solidFill>
                            <a:srgbClr val="111827"/>
                          </a:solidFill>
                          <a:latin typeface="Arial"/>
                          <a:ea typeface="Arial"/>
                          <a:cs typeface="Arial"/>
                        </a:rPr>
                        <a:t>Late fusion audio + text + interaction + calibration</a:t>
                      </a:r>
                    </a:p>
                  </a:txBody>
                  <a:tcPr marL="76200" marR="76200" marT="66675" marB="66675"/>
                </a:tc>
                <a:tc>
                  <a:txBody>
                    <a:bodyPr/>
                    <a:lstStyle/>
                    <a:p>
                      <a:r>
                        <a:rPr sz="1200">
                          <a:solidFill>
                            <a:srgbClr val="111827"/>
                          </a:solidFill>
                          <a:latin typeface="Arial"/>
                          <a:ea typeface="Arial"/>
                          <a:cs typeface="Arial"/>
                        </a:rPr>
                        <a:t>Kết hợp đa nguồn có cải thiện và ổn định hơn không?</a:t>
                      </a:r>
                    </a:p>
                  </a:txBody>
                  <a:tcPr marL="76200" marR="76200" marT="66675" marB="66675"/>
                </a:tc>
              </a:tr>
              <a:tr h="571500">
                <a:tc>
                  <a:txBody>
                    <a:bodyPr/>
                    <a:lstStyle/>
                    <a:p>
                      <a:r>
                        <a:rPr sz="1200">
                          <a:solidFill>
                            <a:srgbClr val="111827"/>
                          </a:solidFill>
                          <a:latin typeface="Arial"/>
                          <a:ea typeface="Arial"/>
                          <a:cs typeface="Arial"/>
                        </a:rPr>
                        <a:t>Ablation</a:t>
                      </a:r>
                    </a:p>
                  </a:txBody>
                  <a:tcPr marL="76200" marR="76200" marT="66675" marB="66675"/>
                </a:tc>
                <a:tc>
                  <a:txBody>
                    <a:bodyPr/>
                    <a:lstStyle/>
                    <a:p>
                      <a:r>
                        <a:rPr sz="1200">
                          <a:solidFill>
                            <a:srgbClr val="111827"/>
                          </a:solidFill>
                          <a:latin typeface="Arial"/>
                          <a:ea typeface="Arial"/>
                          <a:cs typeface="Arial"/>
                        </a:rPr>
                        <a:t>Bỏ từng nhánh hoặc shortcut feature</a:t>
                      </a:r>
                    </a:p>
                  </a:txBody>
                  <a:tcPr marL="76200" marR="76200" marT="66675" marB="66675"/>
                </a:tc>
                <a:tc>
                  <a:txBody>
                    <a:bodyPr/>
                    <a:lstStyle/>
                    <a:p>
                      <a:r>
                        <a:rPr sz="1200">
                          <a:solidFill>
                            <a:srgbClr val="111827"/>
                          </a:solidFill>
                          <a:latin typeface="Arial"/>
                          <a:ea typeface="Arial"/>
                          <a:cs typeface="Arial"/>
                        </a:rPr>
                        <a:t>Model thực sự dùng bằng chứng nào?</a:t>
                      </a:r>
                    </a:p>
                  </a:txBody>
                  <a:tcPr marL="76200" marR="76200" marT="66675" marB="66675"/>
                </a:tc>
              </a:tr>
            </a:tbl>
          </a:graphicData>
        </a:graphic>
      </p:graphicFrame>
    </p:spTree>
    <p:extLst>
      <p:ext uri="{BB962C8B-B14F-4D97-AF65-F5344CB8AC3E}">
        <p14:creationId xmlns:p14="http://schemas.microsoft.com/office/powerpoint/2010/main" val="2509117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3123942-3A10-462E-81EC-B1A4ACEF30A0}"/>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CÁCH ĐÁNH GIÁ KẾT QUẢ</a:t>
            </a:r>
          </a:p>
        </p:txBody>
      </p:sp>
      <p:sp>
        <p:nvSpPr>
          <p:cNvPr id="2" name="slide-title">
            <a:extLst xmlns:a="http://schemas.openxmlformats.org/drawingml/2006/main">
              <a:ext uri="{FF2B5EF4-FFF2-40B4-BE49-F238E27FC236}">
                <a16:creationId xmlns:a16="http://schemas.microsoft.com/office/drawing/2014/main" id="{D285D7A5-F76C-42B1-8C8C-EC155916584D}"/>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Mỗi metric trả lời một câu hỏi khác nhau</a:t>
            </a:r>
          </a:p>
        </p:txBody>
      </p:sp>
      <p:sp>
        <p:nvSpPr>
          <p:cNvPr id="3" name="slide-subtitle">
            <a:extLst xmlns:a="http://schemas.openxmlformats.org/drawingml/2006/main">
              <a:ext uri="{FF2B5EF4-FFF2-40B4-BE49-F238E27FC236}">
                <a16:creationId xmlns:a16="http://schemas.microsoft.com/office/drawing/2014/main" id="{62902649-FD46-4CDA-A53E-9E55BF738364}"/>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Các ngưỡng dưới đây là mục tiêu quản trị đề xuất, không phải chuẩn do Council of Europe ban hành.</a:t>
            </a:r>
          </a:p>
        </p:txBody>
      </p:sp>
      <p:sp>
        <p:nvSpPr>
          <p:cNvPr id="4" name="rule">
            <a:extLst xmlns:a="http://schemas.openxmlformats.org/drawingml/2006/main">
              <a:ext uri="{FF2B5EF4-FFF2-40B4-BE49-F238E27FC236}">
                <a16:creationId xmlns:a16="http://schemas.microsoft.com/office/drawing/2014/main" id="{5CC75721-7B66-4CEE-8313-0A6A8F741875}"/>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22590B3F-9A56-443C-A4D3-CA566F95CBF1}"/>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CÁCH ĐÁNH GIÁ KẾT QUẢ</a:t>
            </a:r>
          </a:p>
        </p:txBody>
      </p:sp>
      <p:sp>
        <p:nvSpPr>
          <p:cNvPr id="6" name="footer-number">
            <a:extLst xmlns:a="http://schemas.openxmlformats.org/drawingml/2006/main">
              <a:ext uri="{FF2B5EF4-FFF2-40B4-BE49-F238E27FC236}">
                <a16:creationId xmlns:a16="http://schemas.microsoft.com/office/drawing/2014/main" id="{49145595-9C12-4DA6-839E-75F288524C9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26</a:t>
            </a:r>
          </a:p>
        </p:txBody>
      </p:sp>
      <p:graphicFrame>
        <p:nvGraphicFramePr>
          <p:cNvPr id="14" name=""/>
          <p:cNvGraphicFramePr/>
          <p:nvPr/>
        </p:nvGraphicFramePr>
        <p:xfrm>
          <a:off xmlns:a="http://schemas.openxmlformats.org/drawingml/2006/main" x="495300" y="1885950"/>
          <a:ext xmlns:a="http://schemas.openxmlformats.org/drawingml/2006/main" cx="11201400" cy="4095750"/>
        </p:xfrm>
        <a:graphic xmlns:a="http://schemas.openxmlformats.org/drawingml/2006/main">
          <a:graphicData uri="http://schemas.openxmlformats.org/drawingml/2006/table">
            <a:tbl>
              <a:tblPr firstRow="1" bandRow="1"/>
              <a:tblGrid>
                <a:gridCol w="1714500"/>
                <a:gridCol w="4762500"/>
                <a:gridCol w="4724400"/>
              </a:tblGrid>
              <a:tr h="585107">
                <a:tc>
                  <a:txBody>
                    <a:bodyPr/>
                    <a:lstStyle/>
                    <a:p>
                      <a:r>
                        <a:rPr sz="1050" b="1">
                          <a:solidFill>
                            <a:srgbClr val="FFFFFF"/>
                          </a:solidFill>
                          <a:latin typeface="Arial"/>
                          <a:ea typeface="Arial"/>
                          <a:cs typeface="Arial"/>
                        </a:rPr>
                        <a:t>Metric</a:t>
                      </a:r>
                    </a:p>
                  </a:txBody>
                  <a:tcPr marL="76200" marR="76200" marT="66675" marB="66675">
                    <a:solidFill>
                      <a:srgbClr val="1859A9"/>
                    </a:solidFill>
                  </a:tcPr>
                </a:tc>
                <a:tc>
                  <a:txBody>
                    <a:bodyPr/>
                    <a:lstStyle/>
                    <a:p>
                      <a:r>
                        <a:rPr sz="1050" b="1">
                          <a:solidFill>
                            <a:srgbClr val="FFFFFF"/>
                          </a:solidFill>
                          <a:latin typeface="Arial"/>
                          <a:ea typeface="Arial"/>
                          <a:cs typeface="Arial"/>
                        </a:rPr>
                        <a:t>Nói dễ hiểu</a:t>
                      </a:r>
                    </a:p>
                  </a:txBody>
                  <a:tcPr marL="76200" marR="76200" marT="66675" marB="66675">
                    <a:solidFill>
                      <a:srgbClr val="1859A9"/>
                    </a:solidFill>
                  </a:tcPr>
                </a:tc>
                <a:tc>
                  <a:txBody>
                    <a:bodyPr/>
                    <a:lstStyle/>
                    <a:p>
                      <a:r>
                        <a:rPr sz="1050" b="1">
                          <a:solidFill>
                            <a:srgbClr val="FFFFFF"/>
                          </a:solidFill>
                          <a:latin typeface="Arial"/>
                          <a:ea typeface="Arial"/>
                          <a:cs typeface="Arial"/>
                        </a:rPr>
                        <a:t>Cách dùng trong đề tài</a:t>
                      </a:r>
                    </a:p>
                  </a:txBody>
                  <a:tcPr marL="76200" marR="76200" marT="66675" marB="66675">
                    <a:solidFill>
                      <a:srgbClr val="1859A9"/>
                    </a:solidFill>
                  </a:tcPr>
                </a:tc>
              </a:tr>
              <a:tr h="585107">
                <a:tc>
                  <a:txBody>
                    <a:bodyPr/>
                    <a:lstStyle/>
                    <a:p>
                      <a:r>
                        <a:rPr sz="1050">
                          <a:solidFill>
                            <a:srgbClr val="111827"/>
                          </a:solidFill>
                          <a:latin typeface="Arial"/>
                          <a:ea typeface="Arial"/>
                          <a:cs typeface="Arial"/>
                        </a:rPr>
                        <a:t>QWK</a:t>
                      </a:r>
                    </a:p>
                  </a:txBody>
                  <a:tcPr marL="76200" marR="76200" marT="66675" marB="66675"/>
                </a:tc>
                <a:tc>
                  <a:txBody>
                    <a:bodyPr/>
                    <a:lstStyle/>
                    <a:p>
                      <a:r>
                        <a:rPr sz="1050">
                          <a:solidFill>
                            <a:srgbClr val="111827"/>
                          </a:solidFill>
                          <a:latin typeface="Arial"/>
                          <a:ea typeface="Arial"/>
                          <a:cs typeface="Arial"/>
                        </a:rPr>
                        <a:t>AI và giảng viên đồng thuận đến đâu, có xét thứ tự A2&lt;B1&lt;B2</a:t>
                      </a:r>
                    </a:p>
                  </a:txBody>
                  <a:tcPr marL="76200" marR="76200" marT="66675" marB="66675"/>
                </a:tc>
                <a:tc>
                  <a:txBody>
                    <a:bodyPr/>
                    <a:lstStyle/>
                    <a:p>
                      <a:r>
                        <a:rPr sz="1050">
                          <a:solidFill>
                            <a:srgbClr val="111827"/>
                          </a:solidFill>
                          <a:latin typeface="Arial"/>
                          <a:ea typeface="Arial"/>
                          <a:cs typeface="Arial"/>
                        </a:rPr>
                        <a:t>So AI-human và human-human; báo 95% CI</a:t>
                      </a:r>
                    </a:p>
                  </a:txBody>
                  <a:tcPr marL="76200" marR="76200" marT="66675" marB="66675"/>
                </a:tc>
              </a:tr>
              <a:tr h="585107">
                <a:tc>
                  <a:txBody>
                    <a:bodyPr/>
                    <a:lstStyle/>
                    <a:p>
                      <a:r>
                        <a:rPr sz="1050">
                          <a:solidFill>
                            <a:srgbClr val="111827"/>
                          </a:solidFill>
                          <a:latin typeface="Arial"/>
                          <a:ea typeface="Arial"/>
                          <a:cs typeface="Arial"/>
                        </a:rPr>
                        <a:t>MAE band</a:t>
                      </a:r>
                    </a:p>
                  </a:txBody>
                  <a:tcPr marL="76200" marR="76200" marT="66675" marB="66675"/>
                </a:tc>
                <a:tc>
                  <a:txBody>
                    <a:bodyPr/>
                    <a:lstStyle/>
                    <a:p>
                      <a:r>
                        <a:rPr sz="1050">
                          <a:solidFill>
                            <a:srgbClr val="111827"/>
                          </a:solidFill>
                          <a:latin typeface="Arial"/>
                          <a:ea typeface="Arial"/>
                          <a:cs typeface="Arial"/>
                        </a:rPr>
                        <a:t>Trung bình lệch bao nhiêu mức</a:t>
                      </a:r>
                    </a:p>
                  </a:txBody>
                  <a:tcPr marL="76200" marR="76200" marT="66675" marB="66675"/>
                </a:tc>
                <a:tc>
                  <a:txBody>
                    <a:bodyPr/>
                    <a:lstStyle/>
                    <a:p>
                      <a:r>
                        <a:rPr sz="1050">
                          <a:solidFill>
                            <a:srgbClr val="111827"/>
                          </a:solidFill>
                          <a:latin typeface="Arial"/>
                          <a:ea typeface="Arial"/>
                          <a:cs typeface="Arial"/>
                        </a:rPr>
                        <a:t>Mục tiêu đề xuất ≤0,50; phân tích lỗi lệch 2 band</a:t>
                      </a:r>
                    </a:p>
                  </a:txBody>
                  <a:tcPr marL="76200" marR="76200" marT="66675" marB="66675"/>
                </a:tc>
              </a:tr>
              <a:tr h="585107">
                <a:tc>
                  <a:txBody>
                    <a:bodyPr/>
                    <a:lstStyle/>
                    <a:p>
                      <a:r>
                        <a:rPr sz="1050">
                          <a:solidFill>
                            <a:srgbClr val="111827"/>
                          </a:solidFill>
                          <a:latin typeface="Arial"/>
                          <a:ea typeface="Arial"/>
                          <a:cs typeface="Arial"/>
                        </a:rPr>
                        <a:t>Macro-F1</a:t>
                      </a:r>
                    </a:p>
                  </a:txBody>
                  <a:tcPr marL="76200" marR="76200" marT="66675" marB="66675"/>
                </a:tc>
                <a:tc>
                  <a:txBody>
                    <a:bodyPr/>
                    <a:lstStyle/>
                    <a:p>
                      <a:r>
                        <a:rPr sz="1050">
                          <a:solidFill>
                            <a:srgbClr val="111827"/>
                          </a:solidFill>
                          <a:latin typeface="Arial"/>
                          <a:ea typeface="Arial"/>
                          <a:cs typeface="Arial"/>
                        </a:rPr>
                        <a:t>Có chấm tốt cho cả band ít mẫu không</a:t>
                      </a:r>
                    </a:p>
                  </a:txBody>
                  <a:tcPr marL="76200" marR="76200" marT="66675" marB="66675"/>
                </a:tc>
                <a:tc>
                  <a:txBody>
                    <a:bodyPr/>
                    <a:lstStyle/>
                    <a:p>
                      <a:r>
                        <a:rPr sz="1050">
                          <a:solidFill>
                            <a:srgbClr val="111827"/>
                          </a:solidFill>
                          <a:latin typeface="Arial"/>
                          <a:ea typeface="Arial"/>
                          <a:cs typeface="Arial"/>
                        </a:rPr>
                        <a:t>Tránh chỉ báo accuracy khi dữ liệu lệch</a:t>
                      </a:r>
                    </a:p>
                  </a:txBody>
                  <a:tcPr marL="76200" marR="76200" marT="66675" marB="66675"/>
                </a:tc>
              </a:tr>
              <a:tr h="585107">
                <a:tc>
                  <a:txBody>
                    <a:bodyPr/>
                    <a:lstStyle/>
                    <a:p>
                      <a:r>
                        <a:rPr sz="1050">
                          <a:solidFill>
                            <a:srgbClr val="111827"/>
                          </a:solidFill>
                          <a:latin typeface="Arial"/>
                          <a:ea typeface="Arial"/>
                          <a:cs typeface="Arial"/>
                        </a:rPr>
                        <a:t>Adjacent accuracy</a:t>
                      </a:r>
                    </a:p>
                  </a:txBody>
                  <a:tcPr marL="76200" marR="76200" marT="66675" marB="66675"/>
                </a:tc>
                <a:tc>
                  <a:txBody>
                    <a:bodyPr/>
                    <a:lstStyle/>
                    <a:p>
                      <a:r>
                        <a:rPr sz="1050">
                          <a:solidFill>
                            <a:srgbClr val="111827"/>
                          </a:solidFill>
                          <a:latin typeface="Arial"/>
                          <a:ea typeface="Arial"/>
                          <a:cs typeface="Arial"/>
                        </a:rPr>
                        <a:t>Đúng hoặc chỉ lệch một band</a:t>
                      </a:r>
                    </a:p>
                  </a:txBody>
                  <a:tcPr marL="76200" marR="76200" marT="66675" marB="66675"/>
                </a:tc>
                <a:tc>
                  <a:txBody>
                    <a:bodyPr/>
                    <a:lstStyle/>
                    <a:p>
                      <a:r>
                        <a:rPr sz="1050">
                          <a:solidFill>
                            <a:srgbClr val="111827"/>
                          </a:solidFill>
                          <a:latin typeface="Arial"/>
                          <a:ea typeface="Arial"/>
                          <a:cs typeface="Arial"/>
                        </a:rPr>
                        <a:t>Mục tiêu đề xuất ≥80%</a:t>
                      </a:r>
                    </a:p>
                  </a:txBody>
                  <a:tcPr marL="76200" marR="76200" marT="66675" marB="66675"/>
                </a:tc>
              </a:tr>
              <a:tr h="585107">
                <a:tc>
                  <a:txBody>
                    <a:bodyPr/>
                    <a:lstStyle/>
                    <a:p>
                      <a:r>
                        <a:rPr sz="1050">
                          <a:solidFill>
                            <a:srgbClr val="111827"/>
                          </a:solidFill>
                          <a:latin typeface="Arial"/>
                          <a:ea typeface="Arial"/>
                          <a:cs typeface="Arial"/>
                        </a:rPr>
                        <a:t>Calibration / ECE</a:t>
                      </a:r>
                    </a:p>
                  </a:txBody>
                  <a:tcPr marL="76200" marR="76200" marT="66675" marB="66675"/>
                </a:tc>
                <a:tc>
                  <a:txBody>
                    <a:bodyPr/>
                    <a:lstStyle/>
                    <a:p>
                      <a:r>
                        <a:rPr sz="1050">
                          <a:solidFill>
                            <a:srgbClr val="111827"/>
                          </a:solidFill>
                          <a:latin typeface="Arial"/>
                          <a:ea typeface="Arial"/>
                          <a:cs typeface="Arial"/>
                        </a:rPr>
                        <a:t>Xác suất tự tin có đúng như lời nói không</a:t>
                      </a:r>
                    </a:p>
                  </a:txBody>
                  <a:tcPr marL="76200" marR="76200" marT="66675" marB="66675"/>
                </a:tc>
                <a:tc>
                  <a:txBody>
                    <a:bodyPr/>
                    <a:lstStyle/>
                    <a:p>
                      <a:r>
                        <a:rPr sz="1050">
                          <a:solidFill>
                            <a:srgbClr val="111827"/>
                          </a:solidFill>
                          <a:latin typeface="Arial"/>
                          <a:ea typeface="Arial"/>
                          <a:cs typeface="Arial"/>
                        </a:rPr>
                        <a:t>Dùng threshold để chuyển teacher review</a:t>
                      </a:r>
                    </a:p>
                  </a:txBody>
                  <a:tcPr marL="76200" marR="76200" marT="66675" marB="66675"/>
                </a:tc>
              </a:tr>
              <a:tr h="585107">
                <a:tc>
                  <a:txBody>
                    <a:bodyPr/>
                    <a:lstStyle/>
                    <a:p>
                      <a:r>
                        <a:rPr sz="1050">
                          <a:solidFill>
                            <a:srgbClr val="111827"/>
                          </a:solidFill>
                          <a:latin typeface="Arial"/>
                          <a:ea typeface="Arial"/>
                          <a:cs typeface="Arial"/>
                        </a:rPr>
                        <a:t>WER + error analysis</a:t>
                      </a:r>
                    </a:p>
                  </a:txBody>
                  <a:tcPr marL="76200" marR="76200" marT="66675" marB="66675"/>
                </a:tc>
                <a:tc>
                  <a:txBody>
                    <a:bodyPr/>
                    <a:lstStyle/>
                    <a:p>
                      <a:r>
                        <a:rPr sz="1050">
                          <a:solidFill>
                            <a:srgbClr val="111827"/>
                          </a:solidFill>
                          <a:latin typeface="Arial"/>
                          <a:ea typeface="Arial"/>
                          <a:cs typeface="Arial"/>
                        </a:rPr>
                        <a:t>Whisper nhận sai bao nhiêu từ và làm sai điểm thế nào</a:t>
                      </a:r>
                    </a:p>
                  </a:txBody>
                  <a:tcPr marL="76200" marR="76200" marT="66675" marB="66675"/>
                </a:tc>
                <a:tc>
                  <a:txBody>
                    <a:bodyPr/>
                    <a:lstStyle/>
                    <a:p>
                      <a:r>
                        <a:rPr sz="1050">
                          <a:solidFill>
                            <a:srgbClr val="111827"/>
                          </a:solidFill>
                          <a:latin typeface="Arial"/>
                          <a:ea typeface="Arial"/>
                          <a:cs typeface="Arial"/>
                        </a:rPr>
                        <a:t>Đo trên manual transcript subset</a:t>
                      </a:r>
                    </a:p>
                  </a:txBody>
                  <a:tcPr marL="76200" marR="76200" marT="66675" marB="66675"/>
                </a:tc>
              </a:tr>
            </a:tbl>
          </a:graphicData>
        </a:graphic>
      </p:graphicFrame>
    </p:spTree>
    <p:extLst>
      <p:ext uri="{BB962C8B-B14F-4D97-AF65-F5344CB8AC3E}">
        <p14:creationId xmlns:p14="http://schemas.microsoft.com/office/powerpoint/2010/main" val="4700465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9FF82CD-006D-42A8-88D2-C0AA83577AA0}"/>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KIẾN TRÚC KỸ THUẬT</a:t>
            </a:r>
          </a:p>
        </p:txBody>
      </p:sp>
      <p:sp>
        <p:nvSpPr>
          <p:cNvPr id="2" name="slide-title">
            <a:extLst xmlns:a="http://schemas.openxmlformats.org/drawingml/2006/main">
              <a:ext uri="{FF2B5EF4-FFF2-40B4-BE49-F238E27FC236}">
                <a16:creationId xmlns:a16="http://schemas.microsoft.com/office/drawing/2014/main" id="{260918C7-9431-4178-BE45-697FBF653AE2}"/>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Bằng chứng trước – diễn giải sau</a:t>
            </a:r>
          </a:p>
        </p:txBody>
      </p:sp>
      <p:sp>
        <p:nvSpPr>
          <p:cNvPr id="3" name="slide-subtitle">
            <a:extLst xmlns:a="http://schemas.openxmlformats.org/drawingml/2006/main">
              <a:ext uri="{FF2B5EF4-FFF2-40B4-BE49-F238E27FC236}">
                <a16:creationId xmlns:a16="http://schemas.microsoft.com/office/drawing/2014/main" id="{3CFE53FC-70F8-442E-9EC2-79C4C09E04E2}"/>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MVP dùng modular monolith để giảm chi phí tích hợp nhưng vẫn tách rõ module và version.</a:t>
            </a:r>
          </a:p>
        </p:txBody>
      </p:sp>
      <p:sp>
        <p:nvSpPr>
          <p:cNvPr id="4" name="rule">
            <a:extLst xmlns:a="http://schemas.openxmlformats.org/drawingml/2006/main">
              <a:ext uri="{FF2B5EF4-FFF2-40B4-BE49-F238E27FC236}">
                <a16:creationId xmlns:a16="http://schemas.microsoft.com/office/drawing/2014/main" id="{1FDA1F43-3817-49A0-B5DB-2622991BB52B}"/>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33791C0A-7497-4B4C-B764-1B875AF02679}"/>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KIẾN TRÚC KỸ THUẬT</a:t>
            </a:r>
          </a:p>
        </p:txBody>
      </p:sp>
      <p:sp>
        <p:nvSpPr>
          <p:cNvPr id="6" name="footer-number">
            <a:extLst xmlns:a="http://schemas.openxmlformats.org/drawingml/2006/main">
              <a:ext uri="{FF2B5EF4-FFF2-40B4-BE49-F238E27FC236}">
                <a16:creationId xmlns:a16="http://schemas.microsoft.com/office/drawing/2014/main" id="{6F040902-A9E9-4E8D-94AE-E3DA290D3441}"/>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1828b194db49f1"/>
          <a:stretch xmlns:a="http://schemas.openxmlformats.org/drawingml/2006/main"/>
        </p:blipFill>
        <p:spPr>
          <a:xfrm xmlns:a="http://schemas.openxmlformats.org/drawingml/2006/main">
            <a:off x="2264617" y="1762125"/>
            <a:ext cx="7662765" cy="4171950"/>
          </a:xfrm>
          <a:prstGeom xmlns:a="http://schemas.openxmlformats.org/drawingml/2006/main" prst="rect">
            <a:avLst/>
          </a:prstGeom>
        </p:spPr>
      </p:pic>
    </p:spTree>
    <p:extLst>
      <p:ext uri="{BB962C8B-B14F-4D97-AF65-F5344CB8AC3E}">
        <p14:creationId xmlns:p14="http://schemas.microsoft.com/office/powerpoint/2010/main" val="8458135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18475BB5-6437-4C79-B80A-58DAFE84F04E}"/>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TECH STACK</a:t>
            </a:r>
          </a:p>
        </p:txBody>
      </p:sp>
      <p:sp>
        <p:nvSpPr>
          <p:cNvPr id="2" name="slide-title">
            <a:extLst xmlns:a="http://schemas.openxmlformats.org/drawingml/2006/main">
              <a:ext uri="{FF2B5EF4-FFF2-40B4-BE49-F238E27FC236}">
                <a16:creationId xmlns:a16="http://schemas.microsoft.com/office/drawing/2014/main" id="{AF1601CB-905A-4950-8485-DF91F65A27E9}"/>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Chọn công nghệ theo nguyên tắc: nhanh để làm MVP, dễ tái lập để bảo vệ</a:t>
            </a:r>
          </a:p>
        </p:txBody>
      </p:sp>
      <p:sp>
        <p:nvSpPr>
          <p:cNvPr id="3" name="slide-subtitle">
            <a:extLst xmlns:a="http://schemas.openxmlformats.org/drawingml/2006/main">
              <a:ext uri="{FF2B5EF4-FFF2-40B4-BE49-F238E27FC236}">
                <a16:creationId xmlns:a16="http://schemas.microsoft.com/office/drawing/2014/main" id="{2A506A0D-10C2-482D-B177-27DF91986BBC}"/>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Không tách microservices hoặc thêm cloud phức tạp trong 10 tuần.</a:t>
            </a:r>
          </a:p>
        </p:txBody>
      </p:sp>
      <p:sp>
        <p:nvSpPr>
          <p:cNvPr id="4" name="rule">
            <a:extLst xmlns:a="http://schemas.openxmlformats.org/drawingml/2006/main">
              <a:ext uri="{FF2B5EF4-FFF2-40B4-BE49-F238E27FC236}">
                <a16:creationId xmlns:a16="http://schemas.microsoft.com/office/drawing/2014/main" id="{82466F24-39C1-4EDF-A168-6C1CE179B91C}"/>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9194FB99-848D-4C3C-84C2-61151DC90B0D}"/>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TECH STACK</a:t>
            </a:r>
          </a:p>
        </p:txBody>
      </p:sp>
      <p:sp>
        <p:nvSpPr>
          <p:cNvPr id="6" name="footer-number">
            <a:extLst xmlns:a="http://schemas.openxmlformats.org/drawingml/2006/main">
              <a:ext uri="{FF2B5EF4-FFF2-40B4-BE49-F238E27FC236}">
                <a16:creationId xmlns:a16="http://schemas.microsoft.com/office/drawing/2014/main" id="{698D684C-B8AD-4E8A-BC1E-3A939CD49623}"/>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28</a:t>
            </a:r>
          </a:p>
        </p:txBody>
      </p:sp>
      <p:graphicFrame>
        <p:nvGraphicFramePr>
          <p:cNvPr id="14" name=""/>
          <p:cNvGraphicFramePr/>
          <p:nvPr/>
        </p:nvGraphicFramePr>
        <p:xfrm>
          <a:off xmlns:a="http://schemas.openxmlformats.org/drawingml/2006/main" x="495300" y="1885950"/>
          <a:ext xmlns:a="http://schemas.openxmlformats.org/drawingml/2006/main" cx="11201400" cy="4143375"/>
        </p:xfrm>
        <a:graphic xmlns:a="http://schemas.openxmlformats.org/drawingml/2006/main">
          <a:graphicData uri="http://schemas.openxmlformats.org/drawingml/2006/table">
            <a:tbl>
              <a:tblPr firstRow="1" bandRow="1"/>
              <a:tblGrid>
                <a:gridCol w="1190625"/>
                <a:gridCol w="2524125"/>
                <a:gridCol w="4762500"/>
                <a:gridCol w="2724150"/>
              </a:tblGrid>
              <a:tr h="517922">
                <a:tc>
                  <a:txBody>
                    <a:bodyPr/>
                    <a:lstStyle/>
                    <a:p>
                      <a:r>
                        <a:rPr sz="975" b="1">
                          <a:solidFill>
                            <a:srgbClr val="FFFFFF"/>
                          </a:solidFill>
                          <a:latin typeface="Arial"/>
                          <a:ea typeface="Arial"/>
                          <a:cs typeface="Arial"/>
                        </a:rPr>
                        <a:t>Lớp</a:t>
                      </a:r>
                    </a:p>
                  </a:txBody>
                  <a:tcPr marL="76200" marR="76200" marT="66675" marB="66675">
                    <a:solidFill>
                      <a:srgbClr val="1859A9"/>
                    </a:solidFill>
                  </a:tcPr>
                </a:tc>
                <a:tc>
                  <a:txBody>
                    <a:bodyPr/>
                    <a:lstStyle/>
                    <a:p>
                      <a:r>
                        <a:rPr sz="975" b="1">
                          <a:solidFill>
                            <a:srgbClr val="FFFFFF"/>
                          </a:solidFill>
                          <a:latin typeface="Arial"/>
                          <a:ea typeface="Arial"/>
                          <a:cs typeface="Arial"/>
                        </a:rPr>
                        <a:t>Công nghệ chốt</a:t>
                      </a:r>
                    </a:p>
                  </a:txBody>
                  <a:tcPr marL="76200" marR="76200" marT="66675" marB="66675">
                    <a:solidFill>
                      <a:srgbClr val="1859A9"/>
                    </a:solidFill>
                  </a:tcPr>
                </a:tc>
                <a:tc>
                  <a:txBody>
                    <a:bodyPr/>
                    <a:lstStyle/>
                    <a:p>
                      <a:r>
                        <a:rPr sz="975" b="1">
                          <a:solidFill>
                            <a:srgbClr val="FFFFFF"/>
                          </a:solidFill>
                          <a:latin typeface="Arial"/>
                          <a:ea typeface="Arial"/>
                          <a:cs typeface="Arial"/>
                        </a:rPr>
                        <a:t>Lý do chọn</a:t>
                      </a:r>
                    </a:p>
                  </a:txBody>
                  <a:tcPr marL="76200" marR="76200" marT="66675" marB="66675">
                    <a:solidFill>
                      <a:srgbClr val="1859A9"/>
                    </a:solidFill>
                  </a:tcPr>
                </a:tc>
                <a:tc>
                  <a:txBody>
                    <a:bodyPr/>
                    <a:lstStyle/>
                    <a:p>
                      <a:r>
                        <a:rPr sz="975" b="1">
                          <a:solidFill>
                            <a:srgbClr val="FFFFFF"/>
                          </a:solidFill>
                          <a:latin typeface="Arial"/>
                          <a:ea typeface="Arial"/>
                          <a:cs typeface="Arial"/>
                        </a:rPr>
                        <a:t>Dự phòng</a:t>
                      </a:r>
                    </a:p>
                  </a:txBody>
                  <a:tcPr marL="76200" marR="76200" marT="66675" marB="66675">
                    <a:solidFill>
                      <a:srgbClr val="1859A9"/>
                    </a:solidFill>
                  </a:tcPr>
                </a:tc>
              </a:tr>
              <a:tr h="517922">
                <a:tc>
                  <a:txBody>
                    <a:bodyPr/>
                    <a:lstStyle/>
                    <a:p>
                      <a:r>
                        <a:rPr sz="975">
                          <a:solidFill>
                            <a:srgbClr val="111827"/>
                          </a:solidFill>
                          <a:latin typeface="Arial"/>
                          <a:ea typeface="Arial"/>
                          <a:cs typeface="Arial"/>
                        </a:rPr>
                        <a:t>API</a:t>
                      </a:r>
                    </a:p>
                  </a:txBody>
                  <a:tcPr marL="76200" marR="76200" marT="66675" marB="66675"/>
                </a:tc>
                <a:tc>
                  <a:txBody>
                    <a:bodyPr/>
                    <a:lstStyle/>
                    <a:p>
                      <a:r>
                        <a:rPr sz="975">
                          <a:solidFill>
                            <a:srgbClr val="111827"/>
                          </a:solidFill>
                          <a:latin typeface="Arial"/>
                          <a:ea typeface="Arial"/>
                          <a:cs typeface="Arial"/>
                        </a:rPr>
                        <a:t>FastAPI + Pydantic</a:t>
                      </a:r>
                    </a:p>
                  </a:txBody>
                  <a:tcPr marL="76200" marR="76200" marT="66675" marB="66675"/>
                </a:tc>
                <a:tc>
                  <a:txBody>
                    <a:bodyPr/>
                    <a:lstStyle/>
                    <a:p>
                      <a:r>
                        <a:rPr sz="975">
                          <a:solidFill>
                            <a:srgbClr val="111827"/>
                          </a:solidFill>
                          <a:latin typeface="Arial"/>
                          <a:ea typeface="Arial"/>
                          <a:cs typeface="Arial"/>
                        </a:rPr>
                        <a:t>Python, validation và OpenAPI; phù hợp ML</a:t>
                      </a:r>
                    </a:p>
                  </a:txBody>
                  <a:tcPr marL="76200" marR="76200" marT="66675" marB="66675"/>
                </a:tc>
                <a:tc>
                  <a:txBody>
                    <a:bodyPr/>
                    <a:lstStyle/>
                    <a:p>
                      <a:r>
                        <a:rPr sz="975">
                          <a:solidFill>
                            <a:srgbClr val="111827"/>
                          </a:solidFill>
                          <a:latin typeface="Arial"/>
                          <a:ea typeface="Arial"/>
                          <a:cs typeface="Arial"/>
                        </a:rPr>
                        <a:t>Batch script nếu UI/API trễ</a:t>
                      </a:r>
                    </a:p>
                  </a:txBody>
                  <a:tcPr marL="76200" marR="76200" marT="66675" marB="66675"/>
                </a:tc>
              </a:tr>
              <a:tr h="517922">
                <a:tc>
                  <a:txBody>
                    <a:bodyPr/>
                    <a:lstStyle/>
                    <a:p>
                      <a:r>
                        <a:rPr sz="975">
                          <a:solidFill>
                            <a:srgbClr val="111827"/>
                          </a:solidFill>
                          <a:latin typeface="Arial"/>
                          <a:ea typeface="Arial"/>
                          <a:cs typeface="Arial"/>
                        </a:rPr>
                        <a:t>ASR</a:t>
                      </a:r>
                    </a:p>
                  </a:txBody>
                  <a:tcPr marL="76200" marR="76200" marT="66675" marB="66675"/>
                </a:tc>
                <a:tc>
                  <a:txBody>
                    <a:bodyPr/>
                    <a:lstStyle/>
                    <a:p>
                      <a:r>
                        <a:rPr sz="975">
                          <a:solidFill>
                            <a:srgbClr val="111827"/>
                          </a:solidFill>
                          <a:latin typeface="Arial"/>
                          <a:ea typeface="Arial"/>
                          <a:cs typeface="Arial"/>
                        </a:rPr>
                        <a:t>Silero VAD + faster-whisper</a:t>
                      </a:r>
                    </a:p>
                  </a:txBody>
                  <a:tcPr marL="76200" marR="76200" marT="66675" marB="66675"/>
                </a:tc>
                <a:tc>
                  <a:txBody>
                    <a:bodyPr/>
                    <a:lstStyle/>
                    <a:p>
                      <a:r>
                        <a:rPr sz="975">
                          <a:solidFill>
                            <a:srgbClr val="111827"/>
                          </a:solidFill>
                          <a:latin typeface="Arial"/>
                          <a:ea typeface="Arial"/>
                          <a:cs typeface="Arial"/>
                        </a:rPr>
                        <a:t>Timestamp, nhiều cấu hình CPU/GPU</a:t>
                      </a:r>
                    </a:p>
                  </a:txBody>
                  <a:tcPr marL="76200" marR="76200" marT="66675" marB="66675"/>
                </a:tc>
                <a:tc>
                  <a:txBody>
                    <a:bodyPr/>
                    <a:lstStyle/>
                    <a:p>
                      <a:r>
                        <a:rPr sz="975">
                          <a:solidFill>
                            <a:srgbClr val="111827"/>
                          </a:solidFill>
                          <a:latin typeface="Arial"/>
                          <a:ea typeface="Arial"/>
                          <a:cs typeface="Arial"/>
                        </a:rPr>
                        <a:t>Whisper nhỏ/API đã được phép</a:t>
                      </a:r>
                    </a:p>
                  </a:txBody>
                  <a:tcPr marL="76200" marR="76200" marT="66675" marB="66675"/>
                </a:tc>
              </a:tr>
              <a:tr h="517922">
                <a:tc>
                  <a:txBody>
                    <a:bodyPr/>
                    <a:lstStyle/>
                    <a:p>
                      <a:r>
                        <a:rPr sz="975">
                          <a:solidFill>
                            <a:srgbClr val="111827"/>
                          </a:solidFill>
                          <a:latin typeface="Arial"/>
                          <a:ea typeface="Arial"/>
                          <a:cs typeface="Arial"/>
                        </a:rPr>
                        <a:t>Features</a:t>
                      </a:r>
                    </a:p>
                  </a:txBody>
                  <a:tcPr marL="76200" marR="76200" marT="66675" marB="66675"/>
                </a:tc>
                <a:tc>
                  <a:txBody>
                    <a:bodyPr/>
                    <a:lstStyle/>
                    <a:p>
                      <a:r>
                        <a:rPr sz="975">
                          <a:solidFill>
                            <a:srgbClr val="111827"/>
                          </a:solidFill>
                          <a:latin typeface="Arial"/>
                          <a:ea typeface="Arial"/>
                          <a:cs typeface="Arial"/>
                        </a:rPr>
                        <a:t>librosa/Parselmouth + spaCy/Stanza</a:t>
                      </a:r>
                    </a:p>
                  </a:txBody>
                  <a:tcPr marL="76200" marR="76200" marT="66675" marB="66675"/>
                </a:tc>
                <a:tc>
                  <a:txBody>
                    <a:bodyPr/>
                    <a:lstStyle/>
                    <a:p>
                      <a:r>
                        <a:rPr sz="975">
                          <a:solidFill>
                            <a:srgbClr val="111827"/>
                          </a:solidFill>
                          <a:latin typeface="Arial"/>
                          <a:ea typeface="Arial"/>
                          <a:cs typeface="Arial"/>
                        </a:rPr>
                        <a:t>Audio + text feature minh bạch</a:t>
                      </a:r>
                    </a:p>
                  </a:txBody>
                  <a:tcPr marL="76200" marR="76200" marT="66675" marB="66675"/>
                </a:tc>
                <a:tc>
                  <a:txBody>
                    <a:bodyPr/>
                    <a:lstStyle/>
                    <a:p>
                      <a:r>
                        <a:rPr sz="975">
                          <a:solidFill>
                            <a:srgbClr val="111827"/>
                          </a:solidFill>
                          <a:latin typeface="Arial"/>
                          <a:ea typeface="Arial"/>
                          <a:cs typeface="Arial"/>
                        </a:rPr>
                        <a:t>Feature tối thiểu nếu dependency lỗi</a:t>
                      </a:r>
                    </a:p>
                  </a:txBody>
                  <a:tcPr marL="76200" marR="76200" marT="66675" marB="66675"/>
                </a:tc>
              </a:tr>
              <a:tr h="517922">
                <a:tc>
                  <a:txBody>
                    <a:bodyPr/>
                    <a:lstStyle/>
                    <a:p>
                      <a:r>
                        <a:rPr sz="975">
                          <a:solidFill>
                            <a:srgbClr val="111827"/>
                          </a:solidFill>
                          <a:latin typeface="Arial"/>
                          <a:ea typeface="Arial"/>
                          <a:cs typeface="Arial"/>
                        </a:rPr>
                        <a:t>Scoring</a:t>
                      </a:r>
                    </a:p>
                  </a:txBody>
                  <a:tcPr marL="76200" marR="76200" marT="66675" marB="66675"/>
                </a:tc>
                <a:tc>
                  <a:txBody>
                    <a:bodyPr/>
                    <a:lstStyle/>
                    <a:p>
                      <a:r>
                        <a:rPr sz="975">
                          <a:solidFill>
                            <a:srgbClr val="111827"/>
                          </a:solidFill>
                          <a:latin typeface="Arial"/>
                          <a:ea typeface="Arial"/>
                          <a:cs typeface="Arial"/>
                        </a:rPr>
                        <a:t>scikit-learn + statsmodels/PyTorch</a:t>
                      </a:r>
                    </a:p>
                  </a:txBody>
                  <a:tcPr marL="76200" marR="76200" marT="66675" marB="66675"/>
                </a:tc>
                <a:tc>
                  <a:txBody>
                    <a:bodyPr/>
                    <a:lstStyle/>
                    <a:p>
                      <a:r>
                        <a:rPr sz="975">
                          <a:solidFill>
                            <a:srgbClr val="111827"/>
                          </a:solidFill>
                          <a:latin typeface="Arial"/>
                          <a:ea typeface="Arial"/>
                          <a:cs typeface="Arial"/>
                        </a:rPr>
                        <a:t>Baseline mạnh với dữ liệu nhỏ; ordinal/calibration</a:t>
                      </a:r>
                    </a:p>
                  </a:txBody>
                  <a:tcPr marL="76200" marR="76200" marT="66675" marB="66675"/>
                </a:tc>
                <a:tc>
                  <a:txBody>
                    <a:bodyPr/>
                    <a:lstStyle/>
                    <a:p>
                      <a:r>
                        <a:rPr sz="975">
                          <a:solidFill>
                            <a:srgbClr val="111827"/>
                          </a:solidFill>
                          <a:latin typeface="Arial"/>
                          <a:ea typeface="Arial"/>
                          <a:cs typeface="Arial"/>
                        </a:rPr>
                        <a:t>Mô hình đơn giản tốt nhất</a:t>
                      </a:r>
                    </a:p>
                  </a:txBody>
                  <a:tcPr marL="76200" marR="76200" marT="66675" marB="66675"/>
                </a:tc>
              </a:tr>
              <a:tr h="517922">
                <a:tc>
                  <a:txBody>
                    <a:bodyPr/>
                    <a:lstStyle/>
                    <a:p>
                      <a:r>
                        <a:rPr sz="975">
                          <a:solidFill>
                            <a:srgbClr val="111827"/>
                          </a:solidFill>
                          <a:latin typeface="Arial"/>
                          <a:ea typeface="Arial"/>
                          <a:cs typeface="Arial"/>
                        </a:rPr>
                        <a:t>UI</a:t>
                      </a:r>
                    </a:p>
                  </a:txBody>
                  <a:tcPr marL="76200" marR="76200" marT="66675" marB="66675"/>
                </a:tc>
                <a:tc>
                  <a:txBody>
                    <a:bodyPr/>
                    <a:lstStyle/>
                    <a:p>
                      <a:r>
                        <a:rPr sz="975">
                          <a:solidFill>
                            <a:srgbClr val="111827"/>
                          </a:solidFill>
                          <a:latin typeface="Arial"/>
                          <a:ea typeface="Arial"/>
                          <a:cs typeface="Arial"/>
                        </a:rPr>
                        <a:t>Streamlit</a:t>
                      </a:r>
                    </a:p>
                  </a:txBody>
                  <a:tcPr marL="76200" marR="76200" marT="66675" marB="66675"/>
                </a:tc>
                <a:tc>
                  <a:txBody>
                    <a:bodyPr/>
                    <a:lstStyle/>
                    <a:p>
                      <a:r>
                        <a:rPr sz="975">
                          <a:solidFill>
                            <a:srgbClr val="111827"/>
                          </a:solidFill>
                          <a:latin typeface="Arial"/>
                          <a:ea typeface="Arial"/>
                          <a:cs typeface="Arial"/>
                        </a:rPr>
                        <a:t>Nhanh tạo recorder, report, teacher queue</a:t>
                      </a:r>
                    </a:p>
                  </a:txBody>
                  <a:tcPr marL="76200" marR="76200" marT="66675" marB="66675"/>
                </a:tc>
                <a:tc>
                  <a:txBody>
                    <a:bodyPr/>
                    <a:lstStyle/>
                    <a:p>
                      <a:r>
                        <a:rPr sz="975">
                          <a:solidFill>
                            <a:srgbClr val="111827"/>
                          </a:solidFill>
                          <a:latin typeface="Arial"/>
                          <a:ea typeface="Arial"/>
                          <a:cs typeface="Arial"/>
                        </a:rPr>
                        <a:t>Gradio hoặc HTML tối giản</a:t>
                      </a:r>
                    </a:p>
                  </a:txBody>
                  <a:tcPr marL="76200" marR="76200" marT="66675" marB="66675"/>
                </a:tc>
              </a:tr>
              <a:tr h="517922">
                <a:tc>
                  <a:txBody>
                    <a:bodyPr/>
                    <a:lstStyle/>
                    <a:p>
                      <a:r>
                        <a:rPr sz="975">
                          <a:solidFill>
                            <a:srgbClr val="111827"/>
                          </a:solidFill>
                          <a:latin typeface="Arial"/>
                          <a:ea typeface="Arial"/>
                          <a:cs typeface="Arial"/>
                        </a:rPr>
                        <a:t>Storage</a:t>
                      </a:r>
                    </a:p>
                  </a:txBody>
                  <a:tcPr marL="76200" marR="76200" marT="66675" marB="66675"/>
                </a:tc>
                <a:tc>
                  <a:txBody>
                    <a:bodyPr/>
                    <a:lstStyle/>
                    <a:p>
                      <a:r>
                        <a:rPr sz="975">
                          <a:solidFill>
                            <a:srgbClr val="111827"/>
                          </a:solidFill>
                          <a:latin typeface="Arial"/>
                          <a:ea typeface="Arial"/>
                          <a:cs typeface="Arial"/>
                        </a:rPr>
                        <a:t>SQLite + encrypted filesystem</a:t>
                      </a:r>
                    </a:p>
                  </a:txBody>
                  <a:tcPr marL="76200" marR="76200" marT="66675" marB="66675"/>
                </a:tc>
                <a:tc>
                  <a:txBody>
                    <a:bodyPr/>
                    <a:lstStyle/>
                    <a:p>
                      <a:r>
                        <a:rPr sz="975">
                          <a:solidFill>
                            <a:srgbClr val="111827"/>
                          </a:solidFill>
                          <a:latin typeface="Arial"/>
                          <a:ea typeface="Arial"/>
                          <a:cs typeface="Arial"/>
                        </a:rPr>
                        <a:t>Đủ cho nhóm nhỏ; audio tách metadata</a:t>
                      </a:r>
                    </a:p>
                  </a:txBody>
                  <a:tcPr marL="76200" marR="76200" marT="66675" marB="66675"/>
                </a:tc>
                <a:tc>
                  <a:txBody>
                    <a:bodyPr/>
                    <a:lstStyle/>
                    <a:p>
                      <a:r>
                        <a:rPr sz="975">
                          <a:solidFill>
                            <a:srgbClr val="111827"/>
                          </a:solidFill>
                          <a:latin typeface="Arial"/>
                          <a:ea typeface="Arial"/>
                          <a:cs typeface="Arial"/>
                        </a:rPr>
                        <a:t>PostgreSQL/MinIO khi mở rộng</a:t>
                      </a:r>
                    </a:p>
                  </a:txBody>
                  <a:tcPr marL="76200" marR="76200" marT="66675" marB="66675"/>
                </a:tc>
              </a:tr>
              <a:tr h="517922">
                <a:tc>
                  <a:txBody>
                    <a:bodyPr/>
                    <a:lstStyle/>
                    <a:p>
                      <a:r>
                        <a:rPr sz="975">
                          <a:solidFill>
                            <a:srgbClr val="111827"/>
                          </a:solidFill>
                          <a:latin typeface="Arial"/>
                          <a:ea typeface="Arial"/>
                          <a:cs typeface="Arial"/>
                        </a:rPr>
                        <a:t>Tracking</a:t>
                      </a:r>
                    </a:p>
                  </a:txBody>
                  <a:tcPr marL="76200" marR="76200" marT="66675" marB="66675"/>
                </a:tc>
                <a:tc>
                  <a:txBody>
                    <a:bodyPr/>
                    <a:lstStyle/>
                    <a:p>
                      <a:r>
                        <a:rPr sz="975">
                          <a:solidFill>
                            <a:srgbClr val="111827"/>
                          </a:solidFill>
                          <a:latin typeface="Arial"/>
                          <a:ea typeface="Arial"/>
                          <a:cs typeface="Arial"/>
                        </a:rPr>
                        <a:t>MLflow + manifest/checksum</a:t>
                      </a:r>
                    </a:p>
                  </a:txBody>
                  <a:tcPr marL="76200" marR="76200" marT="66675" marB="66675"/>
                </a:tc>
                <a:tc>
                  <a:txBody>
                    <a:bodyPr/>
                    <a:lstStyle/>
                    <a:p>
                      <a:r>
                        <a:rPr sz="975">
                          <a:solidFill>
                            <a:srgbClr val="111827"/>
                          </a:solidFill>
                          <a:latin typeface="Arial"/>
                          <a:ea typeface="Arial"/>
                          <a:cs typeface="Arial"/>
                        </a:rPr>
                        <a:t>Lưu config, metric, artifact, dataset version</a:t>
                      </a:r>
                    </a:p>
                  </a:txBody>
                  <a:tcPr marL="76200" marR="76200" marT="66675" marB="66675"/>
                </a:tc>
                <a:tc>
                  <a:txBody>
                    <a:bodyPr/>
                    <a:lstStyle/>
                    <a:p>
                      <a:r>
                        <a:rPr sz="975">
                          <a:solidFill>
                            <a:srgbClr val="111827"/>
                          </a:solidFill>
                          <a:latin typeface="Arial"/>
                          <a:ea typeface="Arial"/>
                          <a:cs typeface="Arial"/>
                        </a:rPr>
                        <a:t>CSV/JSON versioned</a:t>
                      </a:r>
                    </a:p>
                  </a:txBody>
                  <a:tcPr marL="76200" marR="76200" marT="66675" marB="66675"/>
                </a:tc>
              </a:tr>
            </a:tbl>
          </a:graphicData>
        </a:graphic>
      </p:graphicFrame>
    </p:spTree>
    <p:extLst>
      <p:ext uri="{BB962C8B-B14F-4D97-AF65-F5344CB8AC3E}">
        <p14:creationId xmlns:p14="http://schemas.microsoft.com/office/powerpoint/2010/main" val="39365797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C8671F87-DB9D-4E3B-B4AD-0731A34D1052}"/>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PHÁP LÝ VÀ ĐẠO ĐỨC</a:t>
            </a:r>
          </a:p>
        </p:txBody>
      </p:sp>
      <p:sp>
        <p:nvSpPr>
          <p:cNvPr id="2" name="slide-title">
            <a:extLst xmlns:a="http://schemas.openxmlformats.org/drawingml/2006/main">
              <a:ext uri="{FF2B5EF4-FFF2-40B4-BE49-F238E27FC236}">
                <a16:creationId xmlns:a16="http://schemas.microsoft.com/office/drawing/2014/main" id="{C9C30981-3F75-41B3-902C-854DE5D3EE1E}"/>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Giọng nói và transcript phải được xử lý như dữ liệu cá nhân nhạy cảm</a:t>
            </a:r>
          </a:p>
        </p:txBody>
      </p:sp>
      <p:sp>
        <p:nvSpPr>
          <p:cNvPr id="3" name="rule">
            <a:extLst xmlns:a="http://schemas.openxmlformats.org/drawingml/2006/main">
              <a:ext uri="{FF2B5EF4-FFF2-40B4-BE49-F238E27FC236}">
                <a16:creationId xmlns:a16="http://schemas.microsoft.com/office/drawing/2014/main" id="{E737AB5D-E822-4D19-BF99-0DEC66A8FDD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13836309-2DBB-4AA1-9D3C-79492109D047}"/>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PHÁP LÝ VÀ ĐẠO ĐỨC</a:t>
            </a:r>
          </a:p>
        </p:txBody>
      </p:sp>
      <p:sp>
        <p:nvSpPr>
          <p:cNvPr id="5" name="footer-number">
            <a:extLst xmlns:a="http://schemas.openxmlformats.org/drawingml/2006/main">
              <a:ext uri="{FF2B5EF4-FFF2-40B4-BE49-F238E27FC236}">
                <a16:creationId xmlns:a16="http://schemas.microsoft.com/office/drawing/2014/main" id="{31A87BBF-E790-49E1-A926-3D69B31F5EE4}"/>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29</a:t>
            </a:r>
          </a:p>
        </p:txBody>
      </p:sp>
      <p:sp>
        <p:nvSpPr>
          <p:cNvPr id="6" name="text-f7xa7a">
            <a:extLst xmlns:a="http://schemas.openxmlformats.org/drawingml/2006/main">
              <a:ext uri="{FF2B5EF4-FFF2-40B4-BE49-F238E27FC236}">
                <a16:creationId xmlns:a16="http://schemas.microsoft.com/office/drawing/2014/main" id="{9B46CD53-5D30-4FF6-90F5-9B002C683013}"/>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Quy trình tối thiểu</a:t>
            </a:r>
          </a:p>
        </p:txBody>
      </p:sp>
      <p:sp>
        <p:nvSpPr>
          <p:cNvPr id="7" name="text-sbiacn">
            <a:extLst xmlns:a="http://schemas.openxmlformats.org/drawingml/2006/main">
              <a:ext uri="{FF2B5EF4-FFF2-40B4-BE49-F238E27FC236}">
                <a16:creationId xmlns:a16="http://schemas.microsoft.com/office/drawing/2014/main" id="{98762678-754A-40B8-BC23-FEFD0FDE67CE}"/>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Consent nêu đúng mục đích thu và chấm Speaking.</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Mã giả danh; bảng liên hệ tách khỏi audio.</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Lưu local-first, mã hóa và phân quyền.</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Có retention, quyền rút và quy trình xóa.</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Không đưa audio/identity vào Git hoặc repo công khai.</a:t>
            </a:r>
          </a:p>
        </p:txBody>
      </p:sp>
      <p:sp>
        <p:nvSpPr>
          <p:cNvPr id="8" name="rule">
            <a:extLst xmlns:a="http://schemas.openxmlformats.org/drawingml/2006/main">
              <a:ext uri="{FF2B5EF4-FFF2-40B4-BE49-F238E27FC236}">
                <a16:creationId xmlns:a16="http://schemas.microsoft.com/office/drawing/2014/main" id="{585F8A61-B8D4-4F50-9625-2225BD14B00F}"/>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eip3lc">
            <a:extLst xmlns:a="http://schemas.openxmlformats.org/drawingml/2006/main">
              <a:ext uri="{FF2B5EF4-FFF2-40B4-BE49-F238E27FC236}">
                <a16:creationId xmlns:a16="http://schemas.microsoft.com/office/drawing/2014/main" id="{16E29A2E-4CA7-49D6-AAB0-B220D89F7F3E}"/>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Giới hạn đạo đức</a:t>
            </a:r>
          </a:p>
        </p:txBody>
      </p:sp>
      <p:sp>
        <p:nvSpPr>
          <p:cNvPr id="10" name="text-i2u9l7">
            <a:extLst xmlns:a="http://schemas.openxmlformats.org/drawingml/2006/main">
              <a:ext uri="{FF2B5EF4-FFF2-40B4-BE49-F238E27FC236}">
                <a16:creationId xmlns:a16="http://schemas.microsoft.com/office/drawing/2014/main" id="{ED0C954E-126A-42BA-A35B-E6F5BE0E181F}"/>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Không dùng cho chứng chỉ hoặc quyết định high-stakes.</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Không phạt accent nếu lời nói vẫn dễ hiểu.</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Không suy diễn giới tính, sức khỏe, cảm xúc, tính cách.</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Rater phải chấm mù với điểm AI.</a:t>
            </a:r>
          </a:p>
          <a:p xmlns:a="http://schemas.openxmlformats.org/drawingml/2006/main">
            <a:pPr algn="l">
              <a:defRPr sz="1500" b="0" i="0">
                <a:solidFill>
                  <a:srgbClr val="111827"/>
                </a:solidFill>
                <a:latin typeface="Arial"/>
                <a:ea typeface="Arial"/>
                <a:cs typeface="Arial"/>
              </a:defRPr>
            </a:pPr>
            <a:r>
              <a:rPr sz="1500" b="0" i="0">
                <a:solidFill>
                  <a:srgbClr val="111827"/>
                </a:solidFill>
                <a:latin typeface="Arial"/>
                <a:ea typeface="Arial"/>
                <a:cs typeface="Arial"/>
              </a:rPr>
              <a:t>• Công bố population, failure modes và ca cần người duyệt.</a:t>
            </a:r>
          </a:p>
        </p:txBody>
      </p:sp>
      <p:sp>
        <p:nvSpPr>
          <p:cNvPr id="11" name="callout-5wbq4">
            <a:extLst xmlns:a="http://schemas.openxmlformats.org/drawingml/2006/main">
              <a:ext uri="{FF2B5EF4-FFF2-40B4-BE49-F238E27FC236}">
                <a16:creationId xmlns:a16="http://schemas.microsoft.com/office/drawing/2014/main" id="{5CF6E1B2-FE98-457B-BA4C-ED592508C7C9}"/>
              </a:ext>
            </a:extLst>
          </p:cNvPr>
          <p:cNvSpPr>
            <a:spLocks xmlns:a="http://schemas.openxmlformats.org/drawingml/2006/main" noGrp="1"/>
          </p:cNvSpPr>
          <p:nvPr/>
        </p:nvSpPr>
        <p:spPr>
          <a:xfrm xmlns:a="http://schemas.openxmlformats.org/drawingml/2006/main">
            <a:off x="495300" y="5524500"/>
            <a:ext cx="11201400" cy="628650"/>
          </a:xfrm>
          <a:prstGeom xmlns:a="http://schemas.openxmlformats.org/drawingml/2006/main" prst="roundRect">
            <a:avLst>
              <a:gd name="adj" fmla="val 9091"/>
            </a:avLst>
          </a:prstGeom>
          <a:solidFill xmlns:a="http://schemas.openxmlformats.org/drawingml/2006/main">
            <a:srgbClr val="FCEAEA"/>
          </a:solidFill>
          <a:ln xmlns:a="http://schemas.openxmlformats.org/drawingml/2006/main" w="9525">
            <a:solidFill>
              <a:srgbClr val="B33A3A"/>
            </a:solidFill>
            <a:prstDash val="solid"/>
          </a:ln>
        </p:spPr>
      </p:sp>
      <p:sp>
        <p:nvSpPr>
          <p:cNvPr id="12" name="callout-text">
            <a:extLst xmlns:a="http://schemas.openxmlformats.org/drawingml/2006/main">
              <a:ext uri="{FF2B5EF4-FFF2-40B4-BE49-F238E27FC236}">
                <a16:creationId xmlns:a16="http://schemas.microsoft.com/office/drawing/2014/main" id="{15C94F58-67A5-4626-A1EC-2F173B88B3FF}"/>
              </a:ext>
            </a:extLst>
          </p:cNvPr>
          <p:cNvSpPr>
            <a:spLocks xmlns:a="http://schemas.openxmlformats.org/drawingml/2006/main" noGrp="1"/>
          </p:cNvSpPr>
          <p:nvPr/>
        </p:nvSpPr>
        <p:spPr>
          <a:xfrm xmlns:a="http://schemas.openxmlformats.org/drawingml/2006/main">
            <a:off x="666750" y="56578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B33A3A"/>
                </a:solidFill>
                <a:latin typeface="Arial"/>
                <a:ea typeface="Arial"/>
                <a:cs typeface="Arial"/>
              </a:defRPr>
            </a:pPr>
            <a:r>
              <a:rPr sz="1500" b="1" i="0">
                <a:solidFill>
                  <a:srgbClr val="B33A3A"/>
                </a:solidFill>
                <a:latin typeface="Arial"/>
                <a:ea typeface="Arial"/>
                <a:cs typeface="Arial"/>
              </a:rPr>
              <a:t>Trước khi thu main data cần có chấp thuận theo quy trình của trường; nội dung này không thay thế tư vấn pháp lý.</a:t>
            </a:r>
          </a:p>
        </p:txBody>
      </p:sp>
    </p:spTree>
    <p:extLst>
      <p:ext uri="{BB962C8B-B14F-4D97-AF65-F5344CB8AC3E}">
        <p14:creationId xmlns:p14="http://schemas.microsoft.com/office/powerpoint/2010/main" val="37708554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B7E228F-CE76-4BC4-A9F5-AA58D521B6A0}"/>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KẾ HOẠCH 10 TUẦN</a:t>
            </a:r>
          </a:p>
        </p:txBody>
      </p:sp>
      <p:sp>
        <p:nvSpPr>
          <p:cNvPr id="2" name="slide-title">
            <a:extLst xmlns:a="http://schemas.openxmlformats.org/drawingml/2006/main">
              <a:ext uri="{FF2B5EF4-FFF2-40B4-BE49-F238E27FC236}">
                <a16:creationId xmlns:a16="http://schemas.microsoft.com/office/drawing/2014/main" id="{240827F0-3EA5-4AC4-BEB6-956100C09B64}"/>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Tuần 1–5: chốt construct trước, thu dữ liệu sau</a:t>
            </a:r>
          </a:p>
        </p:txBody>
      </p:sp>
      <p:sp>
        <p:nvSpPr>
          <p:cNvPr id="3" name="slide-subtitle">
            <a:extLst xmlns:a="http://schemas.openxmlformats.org/drawingml/2006/main">
              <a:ext uri="{FF2B5EF4-FFF2-40B4-BE49-F238E27FC236}">
                <a16:creationId xmlns:a16="http://schemas.microsoft.com/office/drawing/2014/main" id="{E23BEB5B-7CFA-4F33-8E2D-813D29CD38CA}"/>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Mỗi tuần có một đầu ra kiểm tra được; nếu trễ cổng thì cắt tính năng thay vì bỏ phần kiểm định.</a:t>
            </a:r>
          </a:p>
        </p:txBody>
      </p:sp>
      <p:sp>
        <p:nvSpPr>
          <p:cNvPr id="4" name="rule">
            <a:extLst xmlns:a="http://schemas.openxmlformats.org/drawingml/2006/main">
              <a:ext uri="{FF2B5EF4-FFF2-40B4-BE49-F238E27FC236}">
                <a16:creationId xmlns:a16="http://schemas.microsoft.com/office/drawing/2014/main" id="{96CCDC0D-BA8F-4E74-8E8C-C49B91ED5E45}"/>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393E69D0-0AF3-4F05-A859-809033997F31}"/>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KẾ HOẠCH 10 TUẦN</a:t>
            </a:r>
          </a:p>
        </p:txBody>
      </p:sp>
      <p:sp>
        <p:nvSpPr>
          <p:cNvPr id="6" name="footer-number">
            <a:extLst xmlns:a="http://schemas.openxmlformats.org/drawingml/2006/main">
              <a:ext uri="{FF2B5EF4-FFF2-40B4-BE49-F238E27FC236}">
                <a16:creationId xmlns:a16="http://schemas.microsoft.com/office/drawing/2014/main" id="{A724D9B7-C5D1-41E5-BB6C-A0B2AA1C681F}"/>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30</a:t>
            </a:r>
          </a:p>
        </p:txBody>
      </p:sp>
      <p:graphicFrame>
        <p:nvGraphicFramePr>
          <p:cNvPr id="14" name=""/>
          <p:cNvGraphicFramePr/>
          <p:nvPr/>
        </p:nvGraphicFramePr>
        <p:xfrm>
          <a:off xmlns:a="http://schemas.openxmlformats.org/drawingml/2006/main" x="495300" y="1885950"/>
          <a:ext xmlns:a="http://schemas.openxmlformats.org/drawingml/2006/main" cx="11201400" cy="4095750"/>
        </p:xfrm>
        <a:graphic xmlns:a="http://schemas.openxmlformats.org/drawingml/2006/main">
          <a:graphicData uri="http://schemas.openxmlformats.org/drawingml/2006/table">
            <a:tbl>
              <a:tblPr firstRow="1" bandRow="1"/>
              <a:tblGrid>
                <a:gridCol w="857250"/>
                <a:gridCol w="2095500"/>
                <a:gridCol w="5429250"/>
                <a:gridCol w="2819400"/>
              </a:tblGrid>
              <a:tr h="682625">
                <a:tc>
                  <a:txBody>
                    <a:bodyPr/>
                    <a:lstStyle/>
                    <a:p>
                      <a:r>
                        <a:rPr sz="1125" b="1">
                          <a:solidFill>
                            <a:srgbClr val="FFFFFF"/>
                          </a:solidFill>
                          <a:latin typeface="Arial"/>
                          <a:ea typeface="Arial"/>
                          <a:cs typeface="Arial"/>
                        </a:rPr>
                        <a:t>Tuần</a:t>
                      </a:r>
                    </a:p>
                  </a:txBody>
                  <a:tcPr marL="76200" marR="76200" marT="66675" marB="66675">
                    <a:solidFill>
                      <a:srgbClr val="1859A9"/>
                    </a:solidFill>
                  </a:tcPr>
                </a:tc>
                <a:tc>
                  <a:txBody>
                    <a:bodyPr/>
                    <a:lstStyle/>
                    <a:p>
                      <a:r>
                        <a:rPr sz="1125" b="1">
                          <a:solidFill>
                            <a:srgbClr val="FFFFFF"/>
                          </a:solidFill>
                          <a:latin typeface="Arial"/>
                          <a:ea typeface="Arial"/>
                          <a:cs typeface="Arial"/>
                        </a:rPr>
                        <a:t>Trọng tâm</a:t>
                      </a:r>
                    </a:p>
                  </a:txBody>
                  <a:tcPr marL="76200" marR="76200" marT="66675" marB="66675">
                    <a:solidFill>
                      <a:srgbClr val="1859A9"/>
                    </a:solidFill>
                  </a:tcPr>
                </a:tc>
                <a:tc>
                  <a:txBody>
                    <a:bodyPr/>
                    <a:lstStyle/>
                    <a:p>
                      <a:r>
                        <a:rPr sz="1125" b="1">
                          <a:solidFill>
                            <a:srgbClr val="FFFFFF"/>
                          </a:solidFill>
                          <a:latin typeface="Arial"/>
                          <a:ea typeface="Arial"/>
                          <a:cs typeface="Arial"/>
                        </a:rPr>
                        <a:t>Việc phải hoàn thành</a:t>
                      </a:r>
                    </a:p>
                  </a:txBody>
                  <a:tcPr marL="76200" marR="76200" marT="66675" marB="66675">
                    <a:solidFill>
                      <a:srgbClr val="1859A9"/>
                    </a:solidFill>
                  </a:tcPr>
                </a:tc>
                <a:tc>
                  <a:txBody>
                    <a:bodyPr/>
                    <a:lstStyle/>
                    <a:p>
                      <a:r>
                        <a:rPr sz="1125" b="1">
                          <a:solidFill>
                            <a:srgbClr val="FFFFFF"/>
                          </a:solidFill>
                          <a:latin typeface="Arial"/>
                          <a:ea typeface="Arial"/>
                          <a:cs typeface="Arial"/>
                        </a:rPr>
                        <a:t>Cổng/đầu ra</a:t>
                      </a:r>
                    </a:p>
                  </a:txBody>
                  <a:tcPr marL="76200" marR="76200" marT="66675" marB="66675">
                    <a:solidFill>
                      <a:srgbClr val="1859A9"/>
                    </a:solidFill>
                  </a:tcPr>
                </a:tc>
              </a:tr>
              <a:tr h="682625">
                <a:tc>
                  <a:txBody>
                    <a:bodyPr/>
                    <a:lstStyle/>
                    <a:p>
                      <a:r>
                        <a:rPr sz="1125">
                          <a:solidFill>
                            <a:srgbClr val="111827"/>
                          </a:solidFill>
                          <a:latin typeface="Arial"/>
                          <a:ea typeface="Arial"/>
                          <a:cs typeface="Arial"/>
                        </a:rPr>
                        <a:t>W1</a:t>
                      </a:r>
                    </a:p>
                  </a:txBody>
                  <a:tcPr marL="76200" marR="76200" marT="66675" marB="66675"/>
                </a:tc>
                <a:tc>
                  <a:txBody>
                    <a:bodyPr/>
                    <a:lstStyle/>
                    <a:p>
                      <a:r>
                        <a:rPr sz="1125">
                          <a:solidFill>
                            <a:srgbClr val="111827"/>
                          </a:solidFill>
                          <a:latin typeface="Arial"/>
                          <a:ea typeface="Arial"/>
                          <a:cs typeface="Arial"/>
                        </a:rPr>
                        <a:t>Scope + CEFR + pháp lý</a:t>
                      </a:r>
                    </a:p>
                  </a:txBody>
                  <a:tcPr marL="76200" marR="76200" marT="66675" marB="66675"/>
                </a:tc>
                <a:tc>
                  <a:txBody>
                    <a:bodyPr/>
                    <a:lstStyle/>
                    <a:p>
                      <a:r>
                        <a:rPr sz="1125">
                          <a:solidFill>
                            <a:srgbClr val="111827"/>
                          </a:solidFill>
                          <a:latin typeface="Arial"/>
                          <a:ea typeface="Arial"/>
                          <a:cs typeface="Arial"/>
                        </a:rPr>
                        <a:t>Chốt tên/RQ/A2–B2; xác nhận hai rater; consent và data plan</a:t>
                      </a:r>
                    </a:p>
                  </a:txBody>
                  <a:tcPr marL="76200" marR="76200" marT="66675" marB="66675"/>
                </a:tc>
                <a:tc>
                  <a:txBody>
                    <a:bodyPr/>
                    <a:lstStyle/>
                    <a:p>
                      <a:r>
                        <a:rPr sz="1125">
                          <a:solidFill>
                            <a:srgbClr val="111827"/>
                          </a:solidFill>
                          <a:latin typeface="Arial"/>
                          <a:ea typeface="Arial"/>
                          <a:cs typeface="Arial"/>
                        </a:rPr>
                        <a:t>G1: GVHD duyệt phạm vi</a:t>
                      </a:r>
                    </a:p>
                  </a:txBody>
                  <a:tcPr marL="76200" marR="76200" marT="66675" marB="66675"/>
                </a:tc>
              </a:tr>
              <a:tr h="682625">
                <a:tc>
                  <a:txBody>
                    <a:bodyPr/>
                    <a:lstStyle/>
                    <a:p>
                      <a:r>
                        <a:rPr sz="1125">
                          <a:solidFill>
                            <a:srgbClr val="111827"/>
                          </a:solidFill>
                          <a:latin typeface="Arial"/>
                          <a:ea typeface="Arial"/>
                          <a:cs typeface="Arial"/>
                        </a:rPr>
                        <a:t>W2</a:t>
                      </a:r>
                    </a:p>
                  </a:txBody>
                  <a:tcPr marL="76200" marR="76200" marT="66675" marB="66675"/>
                </a:tc>
                <a:tc>
                  <a:txBody>
                    <a:bodyPr/>
                    <a:lstStyle/>
                    <a:p>
                      <a:r>
                        <a:rPr sz="1125">
                          <a:solidFill>
                            <a:srgbClr val="111827"/>
                          </a:solidFill>
                          <a:latin typeface="Arial"/>
                          <a:ea typeface="Arial"/>
                          <a:cs typeface="Arial"/>
                        </a:rPr>
                        <a:t>Rubric + task + protocol</a:t>
                      </a:r>
                    </a:p>
                  </a:txBody>
                  <a:tcPr marL="76200" marR="76200" marT="66675" marB="66675"/>
                </a:tc>
                <a:tc>
                  <a:txBody>
                    <a:bodyPr/>
                    <a:lstStyle/>
                    <a:p>
                      <a:r>
                        <a:rPr sz="1125">
                          <a:solidFill>
                            <a:srgbClr val="111827"/>
                          </a:solidFill>
                          <a:latin typeface="Arial"/>
                          <a:ea typeface="Arial"/>
                          <a:cs typeface="Arial"/>
                        </a:rPr>
                        <a:t>Rubric 6 tiêu chí; Task A/B/C; prompt bank; rating form; anchor</a:t>
                      </a:r>
                    </a:p>
                  </a:txBody>
                  <a:tcPr marL="76200" marR="76200" marT="66675" marB="66675"/>
                </a:tc>
                <a:tc>
                  <a:txBody>
                    <a:bodyPr/>
                    <a:lstStyle/>
                    <a:p>
                      <a:r>
                        <a:rPr sz="1125">
                          <a:solidFill>
                            <a:srgbClr val="111827"/>
                          </a:solidFill>
                          <a:latin typeface="Arial"/>
                          <a:ea typeface="Arial"/>
                          <a:cs typeface="Arial"/>
                        </a:rPr>
                        <a:t>G2: rater giải thích được điểm</a:t>
                      </a:r>
                    </a:p>
                  </a:txBody>
                  <a:tcPr marL="76200" marR="76200" marT="66675" marB="66675"/>
                </a:tc>
              </a:tr>
              <a:tr h="682625">
                <a:tc>
                  <a:txBody>
                    <a:bodyPr/>
                    <a:lstStyle/>
                    <a:p>
                      <a:r>
                        <a:rPr sz="1125">
                          <a:solidFill>
                            <a:srgbClr val="111827"/>
                          </a:solidFill>
                          <a:latin typeface="Arial"/>
                          <a:ea typeface="Arial"/>
                          <a:cs typeface="Arial"/>
                        </a:rPr>
                        <a:t>W3</a:t>
                      </a:r>
                    </a:p>
                  </a:txBody>
                  <a:tcPr marL="76200" marR="76200" marT="66675" marB="66675"/>
                </a:tc>
                <a:tc>
                  <a:txBody>
                    <a:bodyPr/>
                    <a:lstStyle/>
                    <a:p>
                      <a:r>
                        <a:rPr sz="1125">
                          <a:solidFill>
                            <a:srgbClr val="111827"/>
                          </a:solidFill>
                          <a:latin typeface="Arial"/>
                          <a:ea typeface="Arial"/>
                          <a:cs typeface="Arial"/>
                        </a:rPr>
                        <a:t>Vertical slice</a:t>
                      </a:r>
                    </a:p>
                  </a:txBody>
                  <a:tcPr marL="76200" marR="76200" marT="66675" marB="66675"/>
                </a:tc>
                <a:tc>
                  <a:txBody>
                    <a:bodyPr/>
                    <a:lstStyle/>
                    <a:p>
                      <a:r>
                        <a:rPr sz="1125">
                          <a:solidFill>
                            <a:srgbClr val="111827"/>
                          </a:solidFill>
                          <a:latin typeface="Arial"/>
                          <a:ea typeface="Arial"/>
                          <a:cs typeface="Arial"/>
                        </a:rPr>
                        <a:t>Recorder/upload; QC; faster-whisper; feature cơ bản; report JSON</a:t>
                      </a:r>
                    </a:p>
                  </a:txBody>
                  <a:tcPr marL="76200" marR="76200" marT="66675" marB="66675"/>
                </a:tc>
                <a:tc>
                  <a:txBody>
                    <a:bodyPr/>
                    <a:lstStyle/>
                    <a:p>
                      <a:r>
                        <a:rPr sz="1125">
                          <a:solidFill>
                            <a:srgbClr val="111827"/>
                          </a:solidFill>
                          <a:latin typeface="Arial"/>
                          <a:ea typeface="Arial"/>
                          <a:cs typeface="Arial"/>
                        </a:rPr>
                        <a:t>G3: chạy end-to-end 1 bài</a:t>
                      </a:r>
                    </a:p>
                  </a:txBody>
                  <a:tcPr marL="76200" marR="76200" marT="66675" marB="66675"/>
                </a:tc>
              </a:tr>
              <a:tr h="682625">
                <a:tc>
                  <a:txBody>
                    <a:bodyPr/>
                    <a:lstStyle/>
                    <a:p>
                      <a:r>
                        <a:rPr sz="1125">
                          <a:solidFill>
                            <a:srgbClr val="111827"/>
                          </a:solidFill>
                          <a:latin typeface="Arial"/>
                          <a:ea typeface="Arial"/>
                          <a:cs typeface="Arial"/>
                        </a:rPr>
                        <a:t>W4</a:t>
                      </a:r>
                    </a:p>
                  </a:txBody>
                  <a:tcPr marL="76200" marR="76200" marT="66675" marB="66675"/>
                </a:tc>
                <a:tc>
                  <a:txBody>
                    <a:bodyPr/>
                    <a:lstStyle/>
                    <a:p>
                      <a:r>
                        <a:rPr sz="1125">
                          <a:solidFill>
                            <a:srgbClr val="111827"/>
                          </a:solidFill>
                          <a:latin typeface="Arial"/>
                          <a:ea typeface="Arial"/>
                          <a:cs typeface="Arial"/>
                        </a:rPr>
                        <a:t>Pilot + calibration</a:t>
                      </a:r>
                    </a:p>
                  </a:txBody>
                  <a:tcPr marL="76200" marR="76200" marT="66675" marB="66675"/>
                </a:tc>
                <a:tc>
                  <a:txBody>
                    <a:bodyPr/>
                    <a:lstStyle/>
                    <a:p>
                      <a:r>
                        <a:rPr sz="1125">
                          <a:solidFill>
                            <a:srgbClr val="111827"/>
                          </a:solidFill>
                          <a:latin typeface="Arial"/>
                          <a:ea typeface="Arial"/>
                          <a:cs typeface="Arial"/>
                        </a:rPr>
                        <a:t>Thu 8–12 người; double-rate; sửa prompt/rubric; khóa v1</a:t>
                      </a:r>
                    </a:p>
                  </a:txBody>
                  <a:tcPr marL="76200" marR="76200" marT="66675" marB="66675"/>
                </a:tc>
                <a:tc>
                  <a:txBody>
                    <a:bodyPr/>
                    <a:lstStyle/>
                    <a:p>
                      <a:r>
                        <a:rPr sz="1125">
                          <a:solidFill>
                            <a:srgbClr val="111827"/>
                          </a:solidFill>
                          <a:latin typeface="Arial"/>
                          <a:ea typeface="Arial"/>
                          <a:cs typeface="Arial"/>
                        </a:rPr>
                        <a:t>G4: completion ≥85%; agreement dùng được</a:t>
                      </a:r>
                    </a:p>
                  </a:txBody>
                  <a:tcPr marL="76200" marR="76200" marT="66675" marB="66675"/>
                </a:tc>
              </a:tr>
              <a:tr h="682625">
                <a:tc>
                  <a:txBody>
                    <a:bodyPr/>
                    <a:lstStyle/>
                    <a:p>
                      <a:r>
                        <a:rPr sz="1125">
                          <a:solidFill>
                            <a:srgbClr val="111827"/>
                          </a:solidFill>
                          <a:latin typeface="Arial"/>
                          <a:ea typeface="Arial"/>
                          <a:cs typeface="Arial"/>
                        </a:rPr>
                        <a:t>W5</a:t>
                      </a:r>
                    </a:p>
                  </a:txBody>
                  <a:tcPr marL="76200" marR="76200" marT="66675" marB="66675"/>
                </a:tc>
                <a:tc>
                  <a:txBody>
                    <a:bodyPr/>
                    <a:lstStyle/>
                    <a:p>
                      <a:r>
                        <a:rPr sz="1125">
                          <a:solidFill>
                            <a:srgbClr val="111827"/>
                          </a:solidFill>
                          <a:latin typeface="Arial"/>
                          <a:ea typeface="Arial"/>
                          <a:cs typeface="Arial"/>
                        </a:rPr>
                        <a:t>Main collection 1</a:t>
                      </a:r>
                    </a:p>
                  </a:txBody>
                  <a:tcPr marL="76200" marR="76200" marT="66675" marB="66675"/>
                </a:tc>
                <a:tc>
                  <a:txBody>
                    <a:bodyPr/>
                    <a:lstStyle/>
                    <a:p>
                      <a:r>
                        <a:rPr sz="1125">
                          <a:solidFill>
                            <a:srgbClr val="111827"/>
                          </a:solidFill>
                          <a:latin typeface="Arial"/>
                          <a:ea typeface="Arial"/>
                          <a:cs typeface="Arial"/>
                        </a:rPr>
                        <a:t>Thu 20–30 người; QC ngay; rater chấm cuốn chiếu; theo dõi band/noise</a:t>
                      </a:r>
                    </a:p>
                  </a:txBody>
                  <a:tcPr marL="76200" marR="76200" marT="66675" marB="66675"/>
                </a:tc>
                <a:tc>
                  <a:txBody>
                    <a:bodyPr/>
                    <a:lstStyle/>
                    <a:p>
                      <a:r>
                        <a:rPr sz="1125">
                          <a:solidFill>
                            <a:srgbClr val="111827"/>
                          </a:solidFill>
                          <a:latin typeface="Arial"/>
                          <a:ea typeface="Arial"/>
                          <a:cs typeface="Arial"/>
                        </a:rPr>
                        <a:t>G5: metadata đầy đủ ≥90%</a:t>
                      </a:r>
                    </a:p>
                  </a:txBody>
                  <a:tcPr marL="76200" marR="76200" marT="66675" marB="66675"/>
                </a:tc>
              </a:tr>
            </a:tbl>
          </a:graphicData>
        </a:graphic>
      </p:graphicFrame>
    </p:spTree>
    <p:extLst>
      <p:ext uri="{BB962C8B-B14F-4D97-AF65-F5344CB8AC3E}">
        <p14:creationId xmlns:p14="http://schemas.microsoft.com/office/powerpoint/2010/main" val="9679403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95CA125-2B57-4F27-AFA6-2BC396F1304B}"/>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KẾ HOẠCH 10 TUẦN</a:t>
            </a:r>
          </a:p>
        </p:txBody>
      </p:sp>
      <p:sp>
        <p:nvSpPr>
          <p:cNvPr id="2" name="slide-title">
            <a:extLst xmlns:a="http://schemas.openxmlformats.org/drawingml/2006/main">
              <a:ext uri="{FF2B5EF4-FFF2-40B4-BE49-F238E27FC236}">
                <a16:creationId xmlns:a16="http://schemas.microsoft.com/office/drawing/2014/main" id="{9042BC53-5211-4327-9DD5-1BDBA86614E2}"/>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Tuần 6–10: khóa dữ liệu, so baseline rồi mới làm giao diện</a:t>
            </a:r>
          </a:p>
        </p:txBody>
      </p:sp>
      <p:sp>
        <p:nvSpPr>
          <p:cNvPr id="3" name="slide-subtitle">
            <a:extLst xmlns:a="http://schemas.openxmlformats.org/drawingml/2006/main">
              <a:ext uri="{FF2B5EF4-FFF2-40B4-BE49-F238E27FC236}">
                <a16:creationId xmlns:a16="http://schemas.microsoft.com/office/drawing/2014/main" id="{63D97E7D-88A0-497E-AE33-39D139500D22}"/>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Mỗi tuần có một đầu ra kiểm tra được; nếu trễ cổng thì cắt tính năng thay vì bỏ phần kiểm định.</a:t>
            </a:r>
          </a:p>
        </p:txBody>
      </p:sp>
      <p:sp>
        <p:nvSpPr>
          <p:cNvPr id="4" name="rule">
            <a:extLst xmlns:a="http://schemas.openxmlformats.org/drawingml/2006/main">
              <a:ext uri="{FF2B5EF4-FFF2-40B4-BE49-F238E27FC236}">
                <a16:creationId xmlns:a16="http://schemas.microsoft.com/office/drawing/2014/main" id="{225B1507-863B-4513-AB98-9A7156705CB0}"/>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72EA0CDC-0BC7-41B8-906E-53C8604D491A}"/>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KẾ HOẠCH 10 TUẦN</a:t>
            </a:r>
          </a:p>
        </p:txBody>
      </p:sp>
      <p:sp>
        <p:nvSpPr>
          <p:cNvPr id="6" name="footer-number">
            <a:extLst xmlns:a="http://schemas.openxmlformats.org/drawingml/2006/main">
              <a:ext uri="{FF2B5EF4-FFF2-40B4-BE49-F238E27FC236}">
                <a16:creationId xmlns:a16="http://schemas.microsoft.com/office/drawing/2014/main" id="{733A77F0-C070-4629-A65B-C34CE3B475D7}"/>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31</a:t>
            </a:r>
          </a:p>
        </p:txBody>
      </p:sp>
      <p:graphicFrame>
        <p:nvGraphicFramePr>
          <p:cNvPr id="14" name=""/>
          <p:cNvGraphicFramePr/>
          <p:nvPr/>
        </p:nvGraphicFramePr>
        <p:xfrm>
          <a:off xmlns:a="http://schemas.openxmlformats.org/drawingml/2006/main" x="495300" y="1885950"/>
          <a:ext xmlns:a="http://schemas.openxmlformats.org/drawingml/2006/main" cx="11201400" cy="4095750"/>
        </p:xfrm>
        <a:graphic xmlns:a="http://schemas.openxmlformats.org/drawingml/2006/main">
          <a:graphicData uri="http://schemas.openxmlformats.org/drawingml/2006/table">
            <a:tbl>
              <a:tblPr firstRow="1" bandRow="1"/>
              <a:tblGrid>
                <a:gridCol w="857250"/>
                <a:gridCol w="2095500"/>
                <a:gridCol w="5429250"/>
                <a:gridCol w="2819400"/>
              </a:tblGrid>
              <a:tr h="682625">
                <a:tc>
                  <a:txBody>
                    <a:bodyPr/>
                    <a:lstStyle/>
                    <a:p>
                      <a:r>
                        <a:rPr sz="1125" b="1">
                          <a:solidFill>
                            <a:srgbClr val="FFFFFF"/>
                          </a:solidFill>
                          <a:latin typeface="Arial"/>
                          <a:ea typeface="Arial"/>
                          <a:cs typeface="Arial"/>
                        </a:rPr>
                        <a:t>Tuần</a:t>
                      </a:r>
                    </a:p>
                  </a:txBody>
                  <a:tcPr marL="76200" marR="76200" marT="66675" marB="66675">
                    <a:solidFill>
                      <a:srgbClr val="1859A9"/>
                    </a:solidFill>
                  </a:tcPr>
                </a:tc>
                <a:tc>
                  <a:txBody>
                    <a:bodyPr/>
                    <a:lstStyle/>
                    <a:p>
                      <a:r>
                        <a:rPr sz="1125" b="1">
                          <a:solidFill>
                            <a:srgbClr val="FFFFFF"/>
                          </a:solidFill>
                          <a:latin typeface="Arial"/>
                          <a:ea typeface="Arial"/>
                          <a:cs typeface="Arial"/>
                        </a:rPr>
                        <a:t>Trọng tâm</a:t>
                      </a:r>
                    </a:p>
                  </a:txBody>
                  <a:tcPr marL="76200" marR="76200" marT="66675" marB="66675">
                    <a:solidFill>
                      <a:srgbClr val="1859A9"/>
                    </a:solidFill>
                  </a:tcPr>
                </a:tc>
                <a:tc>
                  <a:txBody>
                    <a:bodyPr/>
                    <a:lstStyle/>
                    <a:p>
                      <a:r>
                        <a:rPr sz="1125" b="1">
                          <a:solidFill>
                            <a:srgbClr val="FFFFFF"/>
                          </a:solidFill>
                          <a:latin typeface="Arial"/>
                          <a:ea typeface="Arial"/>
                          <a:cs typeface="Arial"/>
                        </a:rPr>
                        <a:t>Việc phải hoàn thành</a:t>
                      </a:r>
                    </a:p>
                  </a:txBody>
                  <a:tcPr marL="76200" marR="76200" marT="66675" marB="66675">
                    <a:solidFill>
                      <a:srgbClr val="1859A9"/>
                    </a:solidFill>
                  </a:tcPr>
                </a:tc>
                <a:tc>
                  <a:txBody>
                    <a:bodyPr/>
                    <a:lstStyle/>
                    <a:p>
                      <a:r>
                        <a:rPr sz="1125" b="1">
                          <a:solidFill>
                            <a:srgbClr val="FFFFFF"/>
                          </a:solidFill>
                          <a:latin typeface="Arial"/>
                          <a:ea typeface="Arial"/>
                          <a:cs typeface="Arial"/>
                        </a:rPr>
                        <a:t>Cổng/đầu ra</a:t>
                      </a:r>
                    </a:p>
                  </a:txBody>
                  <a:tcPr marL="76200" marR="76200" marT="66675" marB="66675">
                    <a:solidFill>
                      <a:srgbClr val="1859A9"/>
                    </a:solidFill>
                  </a:tcPr>
                </a:tc>
              </a:tr>
              <a:tr h="682625">
                <a:tc>
                  <a:txBody>
                    <a:bodyPr/>
                    <a:lstStyle/>
                    <a:p>
                      <a:r>
                        <a:rPr sz="1125">
                          <a:solidFill>
                            <a:srgbClr val="111827"/>
                          </a:solidFill>
                          <a:latin typeface="Arial"/>
                          <a:ea typeface="Arial"/>
                          <a:cs typeface="Arial"/>
                        </a:rPr>
                        <a:t>W6</a:t>
                      </a:r>
                    </a:p>
                  </a:txBody>
                  <a:tcPr marL="76200" marR="76200" marT="66675" marB="66675"/>
                </a:tc>
                <a:tc>
                  <a:txBody>
                    <a:bodyPr/>
                    <a:lstStyle/>
                    <a:p>
                      <a:r>
                        <a:rPr sz="1125">
                          <a:solidFill>
                            <a:srgbClr val="111827"/>
                          </a:solidFill>
                          <a:latin typeface="Arial"/>
                          <a:ea typeface="Arial"/>
                          <a:cs typeface="Arial"/>
                        </a:rPr>
                        <a:t>Collection 2 + data lock</a:t>
                      </a:r>
                    </a:p>
                  </a:txBody>
                  <a:tcPr marL="76200" marR="76200" marT="66675" marB="66675"/>
                </a:tc>
                <a:tc>
                  <a:txBody>
                    <a:bodyPr/>
                    <a:lstStyle/>
                    <a:p>
                      <a:r>
                        <a:rPr sz="1125">
                          <a:solidFill>
                            <a:srgbClr val="111827"/>
                          </a:solidFill>
                          <a:latin typeface="Arial"/>
                          <a:ea typeface="Arial"/>
                          <a:cs typeface="Arial"/>
                        </a:rPr>
                        <a:t>Đạt 40–60 người; chấm kép; adjudication; speaker split; manifest</a:t>
                      </a:r>
                    </a:p>
                  </a:txBody>
                  <a:tcPr marL="76200" marR="76200" marT="66675" marB="66675"/>
                </a:tc>
                <a:tc>
                  <a:txBody>
                    <a:bodyPr/>
                    <a:lstStyle/>
                    <a:p>
                      <a:r>
                        <a:rPr sz="1125">
                          <a:solidFill>
                            <a:srgbClr val="111827"/>
                          </a:solidFill>
                          <a:latin typeface="Arial"/>
                          <a:ea typeface="Arial"/>
                          <a:cs typeface="Arial"/>
                        </a:rPr>
                        <a:t>G6: dataset_v1 khóa</a:t>
                      </a:r>
                    </a:p>
                  </a:txBody>
                  <a:tcPr marL="76200" marR="76200" marT="66675" marB="66675"/>
                </a:tc>
              </a:tr>
              <a:tr h="682625">
                <a:tc>
                  <a:txBody>
                    <a:bodyPr/>
                    <a:lstStyle/>
                    <a:p>
                      <a:r>
                        <a:rPr sz="1125">
                          <a:solidFill>
                            <a:srgbClr val="111827"/>
                          </a:solidFill>
                          <a:latin typeface="Arial"/>
                          <a:ea typeface="Arial"/>
                          <a:cs typeface="Arial"/>
                        </a:rPr>
                        <a:t>W7</a:t>
                      </a:r>
                    </a:p>
                  </a:txBody>
                  <a:tcPr marL="76200" marR="76200" marT="66675" marB="66675"/>
                </a:tc>
                <a:tc>
                  <a:txBody>
                    <a:bodyPr/>
                    <a:lstStyle/>
                    <a:p>
                      <a:r>
                        <a:rPr sz="1125">
                          <a:solidFill>
                            <a:srgbClr val="111827"/>
                          </a:solidFill>
                          <a:latin typeface="Arial"/>
                          <a:ea typeface="Arial"/>
                          <a:cs typeface="Arial"/>
                        </a:rPr>
                        <a:t>Feature + baseline</a:t>
                      </a:r>
                    </a:p>
                  </a:txBody>
                  <a:tcPr marL="76200" marR="76200" marT="66675" marB="66675"/>
                </a:tc>
                <a:tc>
                  <a:txBody>
                    <a:bodyPr/>
                    <a:lstStyle/>
                    <a:p>
                      <a:r>
                        <a:rPr sz="1125">
                          <a:solidFill>
                            <a:srgbClr val="111827"/>
                          </a:solidFill>
                          <a:latin typeface="Arial"/>
                          <a:ea typeface="Arial"/>
                          <a:cs typeface="Arial"/>
                        </a:rPr>
                        <a:t>B0/B1/B2/B3; cùng split/seed/metric; error list</a:t>
                      </a:r>
                    </a:p>
                  </a:txBody>
                  <a:tcPr marL="76200" marR="76200" marT="66675" marB="66675"/>
                </a:tc>
                <a:tc>
                  <a:txBody>
                    <a:bodyPr/>
                    <a:lstStyle/>
                    <a:p>
                      <a:r>
                        <a:rPr sz="1125">
                          <a:solidFill>
                            <a:srgbClr val="111827"/>
                          </a:solidFill>
                          <a:latin typeface="Arial"/>
                          <a:ea typeface="Arial"/>
                          <a:cs typeface="Arial"/>
                        </a:rPr>
                        <a:t>G7: có baseline tái lập</a:t>
                      </a:r>
                    </a:p>
                  </a:txBody>
                  <a:tcPr marL="76200" marR="76200" marT="66675" marB="66675"/>
                </a:tc>
              </a:tr>
              <a:tr h="682625">
                <a:tc>
                  <a:txBody>
                    <a:bodyPr/>
                    <a:lstStyle/>
                    <a:p>
                      <a:r>
                        <a:rPr sz="1125">
                          <a:solidFill>
                            <a:srgbClr val="111827"/>
                          </a:solidFill>
                          <a:latin typeface="Arial"/>
                          <a:ea typeface="Arial"/>
                          <a:cs typeface="Arial"/>
                        </a:rPr>
                        <a:t>W8</a:t>
                      </a:r>
                    </a:p>
                  </a:txBody>
                  <a:tcPr marL="76200" marR="76200" marT="66675" marB="66675"/>
                </a:tc>
                <a:tc>
                  <a:txBody>
                    <a:bodyPr/>
                    <a:lstStyle/>
                    <a:p>
                      <a:r>
                        <a:rPr sz="1125">
                          <a:solidFill>
                            <a:srgbClr val="111827"/>
                          </a:solidFill>
                          <a:latin typeface="Arial"/>
                          <a:ea typeface="Arial"/>
                          <a:cs typeface="Arial"/>
                        </a:rPr>
                        <a:t>Fusion + calibration</a:t>
                      </a:r>
                    </a:p>
                  </a:txBody>
                  <a:tcPr marL="76200" marR="76200" marT="66675" marB="66675"/>
                </a:tc>
                <a:tc>
                  <a:txBody>
                    <a:bodyPr/>
                    <a:lstStyle/>
                    <a:p>
                      <a:r>
                        <a:rPr sz="1125">
                          <a:solidFill>
                            <a:srgbClr val="111827"/>
                          </a:solidFill>
                          <a:latin typeface="Arial"/>
                          <a:ea typeface="Arial"/>
                          <a:cs typeface="Arial"/>
                        </a:rPr>
                        <a:t>M1; threshold review; ablation; bootstrap CI; WER-error</a:t>
                      </a:r>
                    </a:p>
                  </a:txBody>
                  <a:tcPr marL="76200" marR="76200" marT="66675" marB="66675"/>
                </a:tc>
                <a:tc>
                  <a:txBody>
                    <a:bodyPr/>
                    <a:lstStyle/>
                    <a:p>
                      <a:r>
                        <a:rPr sz="1125">
                          <a:solidFill>
                            <a:srgbClr val="111827"/>
                          </a:solidFill>
                          <a:latin typeface="Arial"/>
                          <a:ea typeface="Arial"/>
                          <a:cs typeface="Arial"/>
                        </a:rPr>
                        <a:t>G8: chọn model tốt nhất</a:t>
                      </a:r>
                    </a:p>
                  </a:txBody>
                  <a:tcPr marL="76200" marR="76200" marT="66675" marB="66675"/>
                </a:tc>
              </a:tr>
              <a:tr h="682625">
                <a:tc>
                  <a:txBody>
                    <a:bodyPr/>
                    <a:lstStyle/>
                    <a:p>
                      <a:r>
                        <a:rPr sz="1125">
                          <a:solidFill>
                            <a:srgbClr val="111827"/>
                          </a:solidFill>
                          <a:latin typeface="Arial"/>
                          <a:ea typeface="Arial"/>
                          <a:cs typeface="Arial"/>
                        </a:rPr>
                        <a:t>W9</a:t>
                      </a:r>
                    </a:p>
                  </a:txBody>
                  <a:tcPr marL="76200" marR="76200" marT="66675" marB="66675"/>
                </a:tc>
                <a:tc>
                  <a:txBody>
                    <a:bodyPr/>
                    <a:lstStyle/>
                    <a:p>
                      <a:r>
                        <a:rPr sz="1125">
                          <a:solidFill>
                            <a:srgbClr val="111827"/>
                          </a:solidFill>
                          <a:latin typeface="Arial"/>
                          <a:ea typeface="Arial"/>
                          <a:cs typeface="Arial"/>
                        </a:rPr>
                        <a:t>Tích hợp + usability</a:t>
                      </a:r>
                    </a:p>
                  </a:txBody>
                  <a:tcPr marL="76200" marR="76200" marT="66675" marB="66675"/>
                </a:tc>
                <a:tc>
                  <a:txBody>
                    <a:bodyPr/>
                    <a:lstStyle/>
                    <a:p>
                      <a:r>
                        <a:rPr sz="1125">
                          <a:solidFill>
                            <a:srgbClr val="111827"/>
                          </a:solidFill>
                          <a:latin typeface="Arial"/>
                          <a:ea typeface="Arial"/>
                          <a:cs typeface="Arial"/>
                        </a:rPr>
                        <a:t>Report evidence; teacher queue; retry; test 5–8 SV + 2 GV</a:t>
                      </a:r>
                    </a:p>
                  </a:txBody>
                  <a:tcPr marL="76200" marR="76200" marT="66675" marB="66675"/>
                </a:tc>
                <a:tc>
                  <a:txBody>
                    <a:bodyPr/>
                    <a:lstStyle/>
                    <a:p>
                      <a:r>
                        <a:rPr sz="1125">
                          <a:solidFill>
                            <a:srgbClr val="111827"/>
                          </a:solidFill>
                          <a:latin typeface="Arial"/>
                          <a:ea typeface="Arial"/>
                          <a:cs typeface="Arial"/>
                        </a:rPr>
                        <a:t>G9: workflow hoàn tất</a:t>
                      </a:r>
                    </a:p>
                  </a:txBody>
                  <a:tcPr marL="76200" marR="76200" marT="66675" marB="66675"/>
                </a:tc>
              </a:tr>
              <a:tr h="682625">
                <a:tc>
                  <a:txBody>
                    <a:bodyPr/>
                    <a:lstStyle/>
                    <a:p>
                      <a:r>
                        <a:rPr sz="1125">
                          <a:solidFill>
                            <a:srgbClr val="111827"/>
                          </a:solidFill>
                          <a:latin typeface="Arial"/>
                          <a:ea typeface="Arial"/>
                          <a:cs typeface="Arial"/>
                        </a:rPr>
                        <a:t>W10</a:t>
                      </a:r>
                    </a:p>
                  </a:txBody>
                  <a:tcPr marL="76200" marR="76200" marT="66675" marB="66675"/>
                </a:tc>
                <a:tc>
                  <a:txBody>
                    <a:bodyPr/>
                    <a:lstStyle/>
                    <a:p>
                      <a:r>
                        <a:rPr sz="1125">
                          <a:solidFill>
                            <a:srgbClr val="111827"/>
                          </a:solidFill>
                          <a:latin typeface="Arial"/>
                          <a:ea typeface="Arial"/>
                          <a:cs typeface="Arial"/>
                        </a:rPr>
                        <a:t>Locked test + luận văn</a:t>
                      </a:r>
                    </a:p>
                  </a:txBody>
                  <a:tcPr marL="76200" marR="76200" marT="66675" marB="66675"/>
                </a:tc>
                <a:tc>
                  <a:txBody>
                    <a:bodyPr/>
                    <a:lstStyle/>
                    <a:p>
                      <a:r>
                        <a:rPr sz="1125">
                          <a:solidFill>
                            <a:srgbClr val="111827"/>
                          </a:solidFill>
                          <a:latin typeface="Arial"/>
                          <a:ea typeface="Arial"/>
                          <a:cs typeface="Arial"/>
                        </a:rPr>
                        <a:t>Chạy test một lần; metric/CI/plot; model card/datasheet; demo offline</a:t>
                      </a:r>
                    </a:p>
                  </a:txBody>
                  <a:tcPr marL="76200" marR="76200" marT="66675" marB="66675"/>
                </a:tc>
                <a:tc>
                  <a:txBody>
                    <a:bodyPr/>
                    <a:lstStyle/>
                    <a:p>
                      <a:r>
                        <a:rPr sz="1125">
                          <a:solidFill>
                            <a:srgbClr val="111827"/>
                          </a:solidFill>
                          <a:latin typeface="Arial"/>
                          <a:ea typeface="Arial"/>
                          <a:cs typeface="Arial"/>
                        </a:rPr>
                        <a:t>G10: máy sạch chạy theo README</a:t>
                      </a:r>
                    </a:p>
                  </a:txBody>
                  <a:tcPr marL="76200" marR="76200" marT="66675" marB="66675"/>
                </a:tc>
              </a:tr>
            </a:tbl>
          </a:graphicData>
        </a:graphic>
      </p:graphicFrame>
    </p:spTree>
    <p:extLst>
      <p:ext uri="{BB962C8B-B14F-4D97-AF65-F5344CB8AC3E}">
        <p14:creationId xmlns:p14="http://schemas.microsoft.com/office/powerpoint/2010/main" val="202744183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6DAA77F-B1CD-4793-8FEA-D9167A984F2B}"/>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NGHIỆM THU VÀ TÍNH KHẢ THI</a:t>
            </a:r>
          </a:p>
        </p:txBody>
      </p:sp>
      <p:sp>
        <p:nvSpPr>
          <p:cNvPr id="2" name="slide-title">
            <a:extLst xmlns:a="http://schemas.openxmlformats.org/drawingml/2006/main">
              <a:ext uri="{FF2B5EF4-FFF2-40B4-BE49-F238E27FC236}">
                <a16:creationId xmlns:a16="http://schemas.microsoft.com/office/drawing/2014/main" id="{AD7D7EBB-4DF6-45DD-BC36-3CA4665C836A}"/>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Đề tài khả thi nếu khóa scope và đo đúng thứ cần đo</a:t>
            </a:r>
          </a:p>
        </p:txBody>
      </p:sp>
      <p:sp>
        <p:nvSpPr>
          <p:cNvPr id="3" name="slide-subtitle">
            <a:extLst xmlns:a="http://schemas.openxmlformats.org/drawingml/2006/main">
              <a:ext uri="{FF2B5EF4-FFF2-40B4-BE49-F238E27FC236}">
                <a16:creationId xmlns:a16="http://schemas.microsoft.com/office/drawing/2014/main" id="{5D0B5650-96E2-41E6-A20F-49ACF7D5878E}"/>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Ngưỡng là mục tiêu quản trị; kết quả cuối phải báo sample size và confidence interval.</a:t>
            </a:r>
          </a:p>
        </p:txBody>
      </p:sp>
      <p:sp>
        <p:nvSpPr>
          <p:cNvPr id="4" name="rule">
            <a:extLst xmlns:a="http://schemas.openxmlformats.org/drawingml/2006/main">
              <a:ext uri="{FF2B5EF4-FFF2-40B4-BE49-F238E27FC236}">
                <a16:creationId xmlns:a16="http://schemas.microsoft.com/office/drawing/2014/main" id="{FAE82E34-739D-4865-85FD-62991699549F}"/>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F55BDD16-4499-4192-B7DD-B6679CA6CFB1}"/>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NGHIỆM THU VÀ TÍNH KHẢ THI</a:t>
            </a:r>
          </a:p>
        </p:txBody>
      </p:sp>
      <p:sp>
        <p:nvSpPr>
          <p:cNvPr id="6" name="footer-number">
            <a:extLst xmlns:a="http://schemas.openxmlformats.org/drawingml/2006/main">
              <a:ext uri="{FF2B5EF4-FFF2-40B4-BE49-F238E27FC236}">
                <a16:creationId xmlns:a16="http://schemas.microsoft.com/office/drawing/2014/main" id="{C5B54B6A-0E4C-4335-AB47-EF27716A4F3A}"/>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32</a:t>
            </a:r>
          </a:p>
        </p:txBody>
      </p:sp>
      <p:graphicFrame>
        <p:nvGraphicFramePr>
          <p:cNvPr id="14" name=""/>
          <p:cNvGraphicFramePr/>
          <p:nvPr/>
        </p:nvGraphicFramePr>
        <p:xfrm>
          <a:off xmlns:a="http://schemas.openxmlformats.org/drawingml/2006/main" x="495300" y="1885950"/>
          <a:ext xmlns:a="http://schemas.openxmlformats.org/drawingml/2006/main" cx="11201400" cy="3905250"/>
        </p:xfrm>
        <a:graphic xmlns:a="http://schemas.openxmlformats.org/drawingml/2006/main">
          <a:graphicData uri="http://schemas.openxmlformats.org/drawingml/2006/table">
            <a:tbl>
              <a:tblPr firstRow="1" bandRow="1"/>
              <a:tblGrid>
                <a:gridCol w="2000250"/>
                <a:gridCol w="5619750"/>
                <a:gridCol w="3581400"/>
              </a:tblGrid>
              <a:tr h="557893">
                <a:tc>
                  <a:txBody>
                    <a:bodyPr/>
                    <a:lstStyle/>
                    <a:p>
                      <a:r>
                        <a:rPr sz="1050" b="1">
                          <a:solidFill>
                            <a:srgbClr val="FFFFFF"/>
                          </a:solidFill>
                          <a:latin typeface="Arial"/>
                          <a:ea typeface="Arial"/>
                          <a:cs typeface="Arial"/>
                        </a:rPr>
                        <a:t>Hạng mục</a:t>
                      </a:r>
                    </a:p>
                  </a:txBody>
                  <a:tcPr marL="76200" marR="76200" marT="66675" marB="66675">
                    <a:solidFill>
                      <a:srgbClr val="1859A9"/>
                    </a:solidFill>
                  </a:tcPr>
                </a:tc>
                <a:tc>
                  <a:txBody>
                    <a:bodyPr/>
                    <a:lstStyle/>
                    <a:p>
                      <a:r>
                        <a:rPr sz="1050" b="1">
                          <a:solidFill>
                            <a:srgbClr val="FFFFFF"/>
                          </a:solidFill>
                          <a:latin typeface="Arial"/>
                          <a:ea typeface="Arial"/>
                          <a:cs typeface="Arial"/>
                        </a:rPr>
                        <a:t>Điều kiện nghiệm thu đề xuất</a:t>
                      </a:r>
                    </a:p>
                  </a:txBody>
                  <a:tcPr marL="76200" marR="76200" marT="66675" marB="66675">
                    <a:solidFill>
                      <a:srgbClr val="1859A9"/>
                    </a:solidFill>
                  </a:tcPr>
                </a:tc>
                <a:tc>
                  <a:txBody>
                    <a:bodyPr/>
                    <a:lstStyle/>
                    <a:p>
                      <a:r>
                        <a:rPr sz="1050" b="1">
                          <a:solidFill>
                            <a:srgbClr val="FFFFFF"/>
                          </a:solidFill>
                          <a:latin typeface="Arial"/>
                          <a:ea typeface="Arial"/>
                          <a:cs typeface="Arial"/>
                        </a:rPr>
                        <a:t>Nếu chưa đạt</a:t>
                      </a:r>
                    </a:p>
                  </a:txBody>
                  <a:tcPr marL="76200" marR="76200" marT="66675" marB="66675">
                    <a:solidFill>
                      <a:srgbClr val="1859A9"/>
                    </a:solidFill>
                  </a:tcPr>
                </a:tc>
              </a:tr>
              <a:tr h="557893">
                <a:tc>
                  <a:txBody>
                    <a:bodyPr/>
                    <a:lstStyle/>
                    <a:p>
                      <a:r>
                        <a:rPr sz="1050">
                          <a:solidFill>
                            <a:srgbClr val="111827"/>
                          </a:solidFill>
                          <a:latin typeface="Arial"/>
                          <a:ea typeface="Arial"/>
                          <a:cs typeface="Arial"/>
                        </a:rPr>
                        <a:t>End-to-end</a:t>
                      </a:r>
                    </a:p>
                  </a:txBody>
                  <a:tcPr marL="76200" marR="76200" marT="66675" marB="66675"/>
                </a:tc>
                <a:tc>
                  <a:txBody>
                    <a:bodyPr/>
                    <a:lstStyle/>
                    <a:p>
                      <a:r>
                        <a:rPr sz="1050">
                          <a:solidFill>
                            <a:srgbClr val="111827"/>
                          </a:solidFill>
                          <a:latin typeface="Arial"/>
                          <a:ea typeface="Arial"/>
                          <a:cs typeface="Arial"/>
                        </a:rPr>
                        <a:t>Thu/upload → QC → ASR → score → report chạy được; lỗi có reason code</a:t>
                      </a:r>
                    </a:p>
                  </a:txBody>
                  <a:tcPr marL="76200" marR="76200" marT="66675" marB="66675"/>
                </a:tc>
                <a:tc>
                  <a:txBody>
                    <a:bodyPr/>
                    <a:lstStyle/>
                    <a:p>
                      <a:r>
                        <a:rPr sz="1050">
                          <a:solidFill>
                            <a:srgbClr val="111827"/>
                          </a:solidFill>
                          <a:latin typeface="Arial"/>
                          <a:ea typeface="Arial"/>
                          <a:cs typeface="Arial"/>
                        </a:rPr>
                        <a:t>Chuyển batch/offline; giảm UI</a:t>
                      </a:r>
                    </a:p>
                  </a:txBody>
                  <a:tcPr marL="76200" marR="76200" marT="66675" marB="66675"/>
                </a:tc>
              </a:tr>
              <a:tr h="557893">
                <a:tc>
                  <a:txBody>
                    <a:bodyPr/>
                    <a:lstStyle/>
                    <a:p>
                      <a:r>
                        <a:rPr sz="1050">
                          <a:solidFill>
                            <a:srgbClr val="111827"/>
                          </a:solidFill>
                          <a:latin typeface="Arial"/>
                          <a:ea typeface="Arial"/>
                          <a:cs typeface="Arial"/>
                        </a:rPr>
                        <a:t>Rater reliability</a:t>
                      </a:r>
                    </a:p>
                  </a:txBody>
                  <a:tcPr marL="76200" marR="76200" marT="66675" marB="66675"/>
                </a:tc>
                <a:tc>
                  <a:txBody>
                    <a:bodyPr/>
                    <a:lstStyle/>
                    <a:p>
                      <a:r>
                        <a:rPr sz="1050">
                          <a:solidFill>
                            <a:srgbClr val="111827"/>
                          </a:solidFill>
                          <a:latin typeface="Arial"/>
                          <a:ea typeface="Arial"/>
                          <a:cs typeface="Arial"/>
                        </a:rPr>
                        <a:t>QWK/ICC tối thiểu 0,60 trước main collection; mục tiêu ≥0,70</a:t>
                      </a:r>
                    </a:p>
                  </a:txBody>
                  <a:tcPr marL="76200" marR="76200" marT="66675" marB="66675"/>
                </a:tc>
                <a:tc>
                  <a:txBody>
                    <a:bodyPr/>
                    <a:lstStyle/>
                    <a:p>
                      <a:r>
                        <a:rPr sz="1050">
                          <a:solidFill>
                            <a:srgbClr val="111827"/>
                          </a:solidFill>
                          <a:latin typeface="Arial"/>
                          <a:ea typeface="Arial"/>
                          <a:cs typeface="Arial"/>
                        </a:rPr>
                        <a:t>Sửa rubric/anchor và chấm lại pilot</a:t>
                      </a:r>
                    </a:p>
                  </a:txBody>
                  <a:tcPr marL="76200" marR="76200" marT="66675" marB="66675"/>
                </a:tc>
              </a:tr>
              <a:tr h="557893">
                <a:tc>
                  <a:txBody>
                    <a:bodyPr/>
                    <a:lstStyle/>
                    <a:p>
                      <a:r>
                        <a:rPr sz="1050">
                          <a:solidFill>
                            <a:srgbClr val="111827"/>
                          </a:solidFill>
                          <a:latin typeface="Arial"/>
                          <a:ea typeface="Arial"/>
                          <a:cs typeface="Arial"/>
                        </a:rPr>
                        <a:t>AI-human</a:t>
                      </a:r>
                    </a:p>
                  </a:txBody>
                  <a:tcPr marL="76200" marR="76200" marT="66675" marB="66675"/>
                </a:tc>
                <a:tc>
                  <a:txBody>
                    <a:bodyPr/>
                    <a:lstStyle/>
                    <a:p>
                      <a:r>
                        <a:rPr sz="1050">
                          <a:solidFill>
                            <a:srgbClr val="111827"/>
                          </a:solidFill>
                          <a:latin typeface="Arial"/>
                          <a:ea typeface="Arial"/>
                          <a:cs typeface="Arial"/>
                        </a:rPr>
                        <a:t>Báo QWK + 95% CI; mục tiêu điểm ước lượng ≥0,60</a:t>
                      </a:r>
                    </a:p>
                  </a:txBody>
                  <a:tcPr marL="76200" marR="76200" marT="66675" marB="66675"/>
                </a:tc>
                <a:tc>
                  <a:txBody>
                    <a:bodyPr/>
                    <a:lstStyle/>
                    <a:p>
                      <a:r>
                        <a:rPr sz="1050">
                          <a:solidFill>
                            <a:srgbClr val="111827"/>
                          </a:solidFill>
                          <a:latin typeface="Arial"/>
                          <a:ea typeface="Arial"/>
                          <a:cs typeface="Arial"/>
                        </a:rPr>
                        <a:t>Giảm tuyên bố; exploratory prototype</a:t>
                      </a:r>
                    </a:p>
                  </a:txBody>
                  <a:tcPr marL="76200" marR="76200" marT="66675" marB="66675"/>
                </a:tc>
              </a:tr>
              <a:tr h="557893">
                <a:tc>
                  <a:txBody>
                    <a:bodyPr/>
                    <a:lstStyle/>
                    <a:p>
                      <a:r>
                        <a:rPr sz="1050">
                          <a:solidFill>
                            <a:srgbClr val="111827"/>
                          </a:solidFill>
                          <a:latin typeface="Arial"/>
                          <a:ea typeface="Arial"/>
                          <a:cs typeface="Arial"/>
                        </a:rPr>
                        <a:t>Band error</a:t>
                      </a:r>
                    </a:p>
                  </a:txBody>
                  <a:tcPr marL="76200" marR="76200" marT="66675" marB="66675"/>
                </a:tc>
                <a:tc>
                  <a:txBody>
                    <a:bodyPr/>
                    <a:lstStyle/>
                    <a:p>
                      <a:r>
                        <a:rPr sz="1050">
                          <a:solidFill>
                            <a:srgbClr val="111827"/>
                          </a:solidFill>
                          <a:latin typeface="Arial"/>
                          <a:ea typeface="Arial"/>
                          <a:cs typeface="Arial"/>
                        </a:rPr>
                        <a:t>MAE mục tiêu ≤0,50; adjacent accuracy ≥80%</a:t>
                      </a:r>
                    </a:p>
                  </a:txBody>
                  <a:tcPr marL="76200" marR="76200" marT="66675" marB="66675"/>
                </a:tc>
                <a:tc>
                  <a:txBody>
                    <a:bodyPr/>
                    <a:lstStyle/>
                    <a:p>
                      <a:r>
                        <a:rPr sz="1050">
                          <a:solidFill>
                            <a:srgbClr val="111827"/>
                          </a:solidFill>
                          <a:latin typeface="Arial"/>
                          <a:ea typeface="Arial"/>
                          <a:cs typeface="Arial"/>
                        </a:rPr>
                        <a:t>Phân tích boundary và lệch lớp</a:t>
                      </a:r>
                    </a:p>
                  </a:txBody>
                  <a:tcPr marL="76200" marR="76200" marT="66675" marB="66675"/>
                </a:tc>
              </a:tr>
              <a:tr h="557893">
                <a:tc>
                  <a:txBody>
                    <a:bodyPr/>
                    <a:lstStyle/>
                    <a:p>
                      <a:r>
                        <a:rPr sz="1050">
                          <a:solidFill>
                            <a:srgbClr val="111827"/>
                          </a:solidFill>
                          <a:latin typeface="Arial"/>
                          <a:ea typeface="Arial"/>
                          <a:cs typeface="Arial"/>
                        </a:rPr>
                        <a:t>Calibration</a:t>
                      </a:r>
                    </a:p>
                  </a:txBody>
                  <a:tcPr marL="76200" marR="76200" marT="66675" marB="66675"/>
                </a:tc>
                <a:tc>
                  <a:txBody>
                    <a:bodyPr/>
                    <a:lstStyle/>
                    <a:p>
                      <a:r>
                        <a:rPr sz="1050">
                          <a:solidFill>
                            <a:srgbClr val="111827"/>
                          </a:solidFill>
                          <a:latin typeface="Arial"/>
                          <a:ea typeface="Arial"/>
                          <a:cs typeface="Arial"/>
                        </a:rPr>
                        <a:t>Có reliability plot/ECE và threshold review</a:t>
                      </a:r>
                    </a:p>
                  </a:txBody>
                  <a:tcPr marL="76200" marR="76200" marT="66675" marB="66675"/>
                </a:tc>
                <a:tc>
                  <a:txBody>
                    <a:bodyPr/>
                    <a:lstStyle/>
                    <a:p>
                      <a:r>
                        <a:rPr sz="1050">
                          <a:solidFill>
                            <a:srgbClr val="111827"/>
                          </a:solidFill>
                          <a:latin typeface="Arial"/>
                          <a:ea typeface="Arial"/>
                          <a:cs typeface="Arial"/>
                        </a:rPr>
                        <a:t>Ưu tiên teacher review; không tự động hóa</a:t>
                      </a:r>
                    </a:p>
                  </a:txBody>
                  <a:tcPr marL="76200" marR="76200" marT="66675" marB="66675"/>
                </a:tc>
              </a:tr>
              <a:tr h="557893">
                <a:tc>
                  <a:txBody>
                    <a:bodyPr/>
                    <a:lstStyle/>
                    <a:p>
                      <a:r>
                        <a:rPr sz="1050">
                          <a:solidFill>
                            <a:srgbClr val="111827"/>
                          </a:solidFill>
                          <a:latin typeface="Arial"/>
                          <a:ea typeface="Arial"/>
                          <a:cs typeface="Arial"/>
                        </a:rPr>
                        <a:t>Tái lập</a:t>
                      </a:r>
                    </a:p>
                  </a:txBody>
                  <a:tcPr marL="76200" marR="76200" marT="66675" marB="66675"/>
                </a:tc>
                <a:tc>
                  <a:txBody>
                    <a:bodyPr/>
                    <a:lstStyle/>
                    <a:p>
                      <a:r>
                        <a:rPr sz="1050">
                          <a:solidFill>
                            <a:srgbClr val="111827"/>
                          </a:solidFill>
                          <a:latin typeface="Arial"/>
                          <a:ea typeface="Arial"/>
                          <a:cs typeface="Arial"/>
                        </a:rPr>
                        <a:t>README, config/seed, manifest, test và demo offline trên máy sạch</a:t>
                      </a:r>
                    </a:p>
                  </a:txBody>
                  <a:tcPr marL="76200" marR="76200" marT="66675" marB="66675"/>
                </a:tc>
                <a:tc>
                  <a:txBody>
                    <a:bodyPr/>
                    <a:lstStyle/>
                    <a:p>
                      <a:r>
                        <a:rPr sz="1050">
                          <a:solidFill>
                            <a:srgbClr val="111827"/>
                          </a:solidFill>
                          <a:latin typeface="Arial"/>
                          <a:ea typeface="Arial"/>
                          <a:cs typeface="Arial"/>
                        </a:rPr>
                        <a:t>Đóng gói Docker/batch script</a:t>
                      </a:r>
                    </a:p>
                  </a:txBody>
                  <a:tcPr marL="76200" marR="76200" marT="66675" marB="66675"/>
                </a:tc>
              </a:tr>
            </a:tbl>
          </a:graphicData>
        </a:graphic>
      </p:graphicFrame>
    </p:spTree>
    <p:extLst>
      <p:ext uri="{BB962C8B-B14F-4D97-AF65-F5344CB8AC3E}">
        <p14:creationId xmlns:p14="http://schemas.microsoft.com/office/powerpoint/2010/main" val="446321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BDCB0FC3-5F9B-4C11-83BA-1C6396FA740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RỦI RO VÀ PHƯƠNG ÁN DỰ PHÒNG</a:t>
            </a:r>
          </a:p>
        </p:txBody>
      </p:sp>
      <p:sp>
        <p:nvSpPr>
          <p:cNvPr id="2" name="slide-title">
            <a:extLst xmlns:a="http://schemas.openxmlformats.org/drawingml/2006/main">
              <a:ext uri="{FF2B5EF4-FFF2-40B4-BE49-F238E27FC236}">
                <a16:creationId xmlns:a16="http://schemas.microsoft.com/office/drawing/2014/main" id="{571CF336-A5EC-4F19-919A-3D1FDA913460}"/>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Mỗi rủi ro phải có tín hiệu sớm và quyết định cắt cụ thể</a:t>
            </a:r>
          </a:p>
        </p:txBody>
      </p:sp>
      <p:sp>
        <p:nvSpPr>
          <p:cNvPr id="3" name="slide-subtitle">
            <a:extLst xmlns:a="http://schemas.openxmlformats.org/drawingml/2006/main">
              <a:ext uri="{FF2B5EF4-FFF2-40B4-BE49-F238E27FC236}">
                <a16:creationId xmlns:a16="http://schemas.microsoft.com/office/drawing/2014/main" id="{2BA2183D-DE90-4457-8B81-4A99F6D2C23A}"/>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Không chờ đến tuần 9 mới nhận ra thiếu dữ liệu hoặc agreement thấp.</a:t>
            </a:r>
          </a:p>
        </p:txBody>
      </p:sp>
      <p:sp>
        <p:nvSpPr>
          <p:cNvPr id="4" name="rule">
            <a:extLst xmlns:a="http://schemas.openxmlformats.org/drawingml/2006/main">
              <a:ext uri="{FF2B5EF4-FFF2-40B4-BE49-F238E27FC236}">
                <a16:creationId xmlns:a16="http://schemas.microsoft.com/office/drawing/2014/main" id="{AAEE946E-8AA4-4560-B9B1-D079AAF7785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0078B484-6D19-4053-8509-968B4DE397E0}"/>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RỦI RO VÀ PHƯƠNG ÁN DỰ PHÒNG</a:t>
            </a:r>
          </a:p>
        </p:txBody>
      </p:sp>
      <p:sp>
        <p:nvSpPr>
          <p:cNvPr id="6" name="footer-number">
            <a:extLst xmlns:a="http://schemas.openxmlformats.org/drawingml/2006/main">
              <a:ext uri="{FF2B5EF4-FFF2-40B4-BE49-F238E27FC236}">
                <a16:creationId xmlns:a16="http://schemas.microsoft.com/office/drawing/2014/main" id="{218A512F-F2FD-404F-92C8-F1C443287F9C}"/>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33</a:t>
            </a:r>
          </a:p>
        </p:txBody>
      </p:sp>
      <p:graphicFrame>
        <p:nvGraphicFramePr>
          <p:cNvPr id="14" name=""/>
          <p:cNvGraphicFramePr/>
          <p:nvPr/>
        </p:nvGraphicFramePr>
        <p:xfrm>
          <a:off xmlns:a="http://schemas.openxmlformats.org/drawingml/2006/main" x="495300" y="1885950"/>
          <a:ext xmlns:a="http://schemas.openxmlformats.org/drawingml/2006/main" cx="11201400" cy="4095750"/>
        </p:xfrm>
        <a:graphic xmlns:a="http://schemas.openxmlformats.org/drawingml/2006/main">
          <a:graphicData uri="http://schemas.openxmlformats.org/drawingml/2006/table">
            <a:tbl>
              <a:tblPr firstRow="1" bandRow="1"/>
              <a:tblGrid>
                <a:gridCol w="1905000"/>
                <a:gridCol w="3333750"/>
                <a:gridCol w="5962650"/>
              </a:tblGrid>
              <a:tr h="511969">
                <a:tc>
                  <a:txBody>
                    <a:bodyPr/>
                    <a:lstStyle/>
                    <a:p>
                      <a:r>
                        <a:rPr sz="1050" b="1">
                          <a:solidFill>
                            <a:srgbClr val="FFFFFF"/>
                          </a:solidFill>
                          <a:latin typeface="Arial"/>
                          <a:ea typeface="Arial"/>
                          <a:cs typeface="Arial"/>
                        </a:rPr>
                        <a:t>Rủi ro</a:t>
                      </a:r>
                    </a:p>
                  </a:txBody>
                  <a:tcPr marL="76200" marR="76200" marT="66675" marB="66675">
                    <a:solidFill>
                      <a:srgbClr val="1859A9"/>
                    </a:solidFill>
                  </a:tcPr>
                </a:tc>
                <a:tc>
                  <a:txBody>
                    <a:bodyPr/>
                    <a:lstStyle/>
                    <a:p>
                      <a:r>
                        <a:rPr sz="1050" b="1">
                          <a:solidFill>
                            <a:srgbClr val="FFFFFF"/>
                          </a:solidFill>
                          <a:latin typeface="Arial"/>
                          <a:ea typeface="Arial"/>
                          <a:cs typeface="Arial"/>
                        </a:rPr>
                        <a:t>Tín hiệu sớm</a:t>
                      </a:r>
                    </a:p>
                  </a:txBody>
                  <a:tcPr marL="76200" marR="76200" marT="66675" marB="66675">
                    <a:solidFill>
                      <a:srgbClr val="1859A9"/>
                    </a:solidFill>
                  </a:tcPr>
                </a:tc>
                <a:tc>
                  <a:txBody>
                    <a:bodyPr/>
                    <a:lstStyle/>
                    <a:p>
                      <a:r>
                        <a:rPr sz="1050" b="1">
                          <a:solidFill>
                            <a:srgbClr val="FFFFFF"/>
                          </a:solidFill>
                          <a:latin typeface="Arial"/>
                          <a:ea typeface="Arial"/>
                          <a:cs typeface="Arial"/>
                        </a:rPr>
                        <a:t>Dự phòng</a:t>
                      </a:r>
                    </a:p>
                  </a:txBody>
                  <a:tcPr marL="76200" marR="76200" marT="66675" marB="66675">
                    <a:solidFill>
                      <a:srgbClr val="1859A9"/>
                    </a:solidFill>
                  </a:tcPr>
                </a:tc>
              </a:tr>
              <a:tr h="511969">
                <a:tc>
                  <a:txBody>
                    <a:bodyPr/>
                    <a:lstStyle/>
                    <a:p>
                      <a:r>
                        <a:rPr sz="1050">
                          <a:solidFill>
                            <a:srgbClr val="111827"/>
                          </a:solidFill>
                          <a:latin typeface="Arial"/>
                          <a:ea typeface="Arial"/>
                          <a:cs typeface="Arial"/>
                        </a:rPr>
                        <a:t>Không đủ rater</a:t>
                      </a:r>
                    </a:p>
                  </a:txBody>
                  <a:tcPr marL="76200" marR="76200" marT="66675" marB="66675"/>
                </a:tc>
                <a:tc>
                  <a:txBody>
                    <a:bodyPr/>
                    <a:lstStyle/>
                    <a:p>
                      <a:r>
                        <a:rPr sz="1050">
                          <a:solidFill>
                            <a:srgbClr val="111827"/>
                          </a:solidFill>
                          <a:latin typeface="Arial"/>
                          <a:ea typeface="Arial"/>
                          <a:cs typeface="Arial"/>
                        </a:rPr>
                        <a:t>W1 chưa khóa lịch</a:t>
                      </a:r>
                    </a:p>
                  </a:txBody>
                  <a:tcPr marL="76200" marR="76200" marT="66675" marB="66675"/>
                </a:tc>
                <a:tc>
                  <a:txBody>
                    <a:bodyPr/>
                    <a:lstStyle/>
                    <a:p>
                      <a:r>
                        <a:rPr sz="1050">
                          <a:solidFill>
                            <a:srgbClr val="111827"/>
                          </a:solidFill>
                          <a:latin typeface="Arial"/>
                          <a:ea typeface="Arial"/>
                          <a:cs typeface="Arial"/>
                        </a:rPr>
                        <a:t>Chấm kép toàn test + 30% train; giảm tuyên bố</a:t>
                      </a:r>
                    </a:p>
                  </a:txBody>
                  <a:tcPr marL="76200" marR="76200" marT="66675" marB="66675"/>
                </a:tc>
              </a:tr>
              <a:tr h="511969">
                <a:tc>
                  <a:txBody>
                    <a:bodyPr/>
                    <a:lstStyle/>
                    <a:p>
                      <a:r>
                        <a:rPr sz="1050">
                          <a:solidFill>
                            <a:srgbClr val="111827"/>
                          </a:solidFill>
                          <a:latin typeface="Arial"/>
                          <a:ea typeface="Arial"/>
                          <a:cs typeface="Arial"/>
                        </a:rPr>
                        <a:t>Agreement thấp</a:t>
                      </a:r>
                    </a:p>
                  </a:txBody>
                  <a:tcPr marL="76200" marR="76200" marT="66675" marB="66675"/>
                </a:tc>
                <a:tc>
                  <a:txBody>
                    <a:bodyPr/>
                    <a:lstStyle/>
                    <a:p>
                      <a:r>
                        <a:rPr sz="1050">
                          <a:solidFill>
                            <a:srgbClr val="111827"/>
                          </a:solidFill>
                          <a:latin typeface="Arial"/>
                          <a:ea typeface="Arial"/>
                          <a:cs typeface="Arial"/>
                        </a:rPr>
                        <a:t>Pilot QWK &lt;0,60</a:t>
                      </a:r>
                    </a:p>
                  </a:txBody>
                  <a:tcPr marL="76200" marR="76200" marT="66675" marB="66675"/>
                </a:tc>
                <a:tc>
                  <a:txBody>
                    <a:bodyPr/>
                    <a:lstStyle/>
                    <a:p>
                      <a:r>
                        <a:rPr sz="1050">
                          <a:solidFill>
                            <a:srgbClr val="111827"/>
                          </a:solidFill>
                          <a:latin typeface="Arial"/>
                          <a:ea typeface="Arial"/>
                          <a:cs typeface="Arial"/>
                        </a:rPr>
                        <a:t>Thu hẹp A2/B1/B2; sửa rubric; exploratory study</a:t>
                      </a:r>
                    </a:p>
                  </a:txBody>
                  <a:tcPr marL="76200" marR="76200" marT="66675" marB="66675"/>
                </a:tc>
              </a:tr>
              <a:tr h="511969">
                <a:tc>
                  <a:txBody>
                    <a:bodyPr/>
                    <a:lstStyle/>
                    <a:p>
                      <a:r>
                        <a:rPr sz="1050">
                          <a:solidFill>
                            <a:srgbClr val="111827"/>
                          </a:solidFill>
                          <a:latin typeface="Arial"/>
                          <a:ea typeface="Arial"/>
                          <a:cs typeface="Arial"/>
                        </a:rPr>
                        <a:t>Thu mẫu chậm</a:t>
                      </a:r>
                    </a:p>
                  </a:txBody>
                  <a:tcPr marL="76200" marR="76200" marT="66675" marB="66675"/>
                </a:tc>
                <a:tc>
                  <a:txBody>
                    <a:bodyPr/>
                    <a:lstStyle/>
                    <a:p>
                      <a:r>
                        <a:rPr sz="1050">
                          <a:solidFill>
                            <a:srgbClr val="111827"/>
                          </a:solidFill>
                          <a:latin typeface="Arial"/>
                          <a:ea typeface="Arial"/>
                          <a:cs typeface="Arial"/>
                        </a:rPr>
                        <a:t>&lt;20 người cuối W5</a:t>
                      </a:r>
                    </a:p>
                  </a:txBody>
                  <a:tcPr marL="76200" marR="76200" marT="66675" marB="66675"/>
                </a:tc>
                <a:tc>
                  <a:txBody>
                    <a:bodyPr/>
                    <a:lstStyle/>
                    <a:p>
                      <a:r>
                        <a:rPr sz="1050">
                          <a:solidFill>
                            <a:srgbClr val="111827"/>
                          </a:solidFill>
                          <a:latin typeface="Arial"/>
                          <a:ea typeface="Arial"/>
                          <a:cs typeface="Arial"/>
                        </a:rPr>
                        <a:t>Ưu tiên speaker hơn Task C; GroupKFold; bỏ stretch</a:t>
                      </a:r>
                    </a:p>
                  </a:txBody>
                  <a:tcPr marL="76200" marR="76200" marT="66675" marB="66675"/>
                </a:tc>
              </a:tr>
              <a:tr h="511969">
                <a:tc>
                  <a:txBody>
                    <a:bodyPr/>
                    <a:lstStyle/>
                    <a:p>
                      <a:r>
                        <a:rPr sz="1050">
                          <a:solidFill>
                            <a:srgbClr val="111827"/>
                          </a:solidFill>
                          <a:latin typeface="Arial"/>
                          <a:ea typeface="Arial"/>
                          <a:cs typeface="Arial"/>
                        </a:rPr>
                        <a:t>ASR sai accent Việt</a:t>
                      </a:r>
                    </a:p>
                  </a:txBody>
                  <a:tcPr marL="76200" marR="76200" marT="66675" marB="66675"/>
                </a:tc>
                <a:tc>
                  <a:txBody>
                    <a:bodyPr/>
                    <a:lstStyle/>
                    <a:p>
                      <a:r>
                        <a:rPr sz="1050">
                          <a:solidFill>
                            <a:srgbClr val="111827"/>
                          </a:solidFill>
                          <a:latin typeface="Arial"/>
                          <a:ea typeface="Arial"/>
                          <a:cs typeface="Arial"/>
                        </a:rPr>
                        <a:t>WER cao, transcript vô nghĩa</a:t>
                      </a:r>
                    </a:p>
                  </a:txBody>
                  <a:tcPr marL="76200" marR="76200" marT="66675" marB="66675"/>
                </a:tc>
                <a:tc>
                  <a:txBody>
                    <a:bodyPr/>
                    <a:lstStyle/>
                    <a:p>
                      <a:r>
                        <a:rPr sz="1050">
                          <a:solidFill>
                            <a:srgbClr val="111827"/>
                          </a:solidFill>
                          <a:latin typeface="Arial"/>
                          <a:ea typeface="Arial"/>
                          <a:cs typeface="Arial"/>
                        </a:rPr>
                        <a:t>Audio-only baseline; ASR-risk; manual subset; review</a:t>
                      </a:r>
                    </a:p>
                  </a:txBody>
                  <a:tcPr marL="76200" marR="76200" marT="66675" marB="66675"/>
                </a:tc>
              </a:tr>
              <a:tr h="511969">
                <a:tc>
                  <a:txBody>
                    <a:bodyPr/>
                    <a:lstStyle/>
                    <a:p>
                      <a:r>
                        <a:rPr sz="1050">
                          <a:solidFill>
                            <a:srgbClr val="111827"/>
                          </a:solidFill>
                          <a:latin typeface="Arial"/>
                          <a:ea typeface="Arial"/>
                          <a:cs typeface="Arial"/>
                        </a:rPr>
                        <a:t>Fusion không hơn baseline</a:t>
                      </a:r>
                    </a:p>
                  </a:txBody>
                  <a:tcPr marL="76200" marR="76200" marT="66675" marB="66675"/>
                </a:tc>
                <a:tc>
                  <a:txBody>
                    <a:bodyPr/>
                    <a:lstStyle/>
                    <a:p>
                      <a:r>
                        <a:rPr sz="1050">
                          <a:solidFill>
                            <a:srgbClr val="111827"/>
                          </a:solidFill>
                          <a:latin typeface="Arial"/>
                          <a:ea typeface="Arial"/>
                          <a:cs typeface="Arial"/>
                        </a:rPr>
                        <a:t>Dev result không cải thiện</a:t>
                      </a:r>
                    </a:p>
                  </a:txBody>
                  <a:tcPr marL="76200" marR="76200" marT="66675" marB="66675"/>
                </a:tc>
                <a:tc>
                  <a:txBody>
                    <a:bodyPr/>
                    <a:lstStyle/>
                    <a:p>
                      <a:r>
                        <a:rPr sz="1050">
                          <a:solidFill>
                            <a:srgbClr val="111827"/>
                          </a:solidFill>
                          <a:latin typeface="Arial"/>
                          <a:ea typeface="Arial"/>
                          <a:cs typeface="Arial"/>
                        </a:rPr>
                        <a:t>Chọn model đơn giản; negative result + error analysis</a:t>
                      </a:r>
                    </a:p>
                  </a:txBody>
                  <a:tcPr marL="76200" marR="76200" marT="66675" marB="66675"/>
                </a:tc>
              </a:tr>
              <a:tr h="511969">
                <a:tc>
                  <a:txBody>
                    <a:bodyPr/>
                    <a:lstStyle/>
                    <a:p>
                      <a:r>
                        <a:rPr sz="1050">
                          <a:solidFill>
                            <a:srgbClr val="111827"/>
                          </a:solidFill>
                          <a:latin typeface="Arial"/>
                          <a:ea typeface="Arial"/>
                          <a:cs typeface="Arial"/>
                        </a:rPr>
                        <a:t>Feedback bịa</a:t>
                      </a:r>
                    </a:p>
                  </a:txBody>
                  <a:tcPr marL="76200" marR="76200" marT="66675" marB="66675"/>
                </a:tc>
                <a:tc>
                  <a:txBody>
                    <a:bodyPr/>
                    <a:lstStyle/>
                    <a:p>
                      <a:r>
                        <a:rPr sz="1050">
                          <a:solidFill>
                            <a:srgbClr val="111827"/>
                          </a:solidFill>
                          <a:latin typeface="Arial"/>
                          <a:ea typeface="Arial"/>
                          <a:cs typeface="Arial"/>
                        </a:rPr>
                        <a:t>Không truy được evidence</a:t>
                      </a:r>
                    </a:p>
                  </a:txBody>
                  <a:tcPr marL="76200" marR="76200" marT="66675" marB="66675"/>
                </a:tc>
                <a:tc>
                  <a:txBody>
                    <a:bodyPr/>
                    <a:lstStyle/>
                    <a:p>
                      <a:r>
                        <a:rPr sz="1050">
                          <a:solidFill>
                            <a:srgbClr val="111827"/>
                          </a:solidFill>
                          <a:latin typeface="Arial"/>
                          <a:ea typeface="Arial"/>
                          <a:cs typeface="Arial"/>
                        </a:rPr>
                        <a:t>Tắt LLM; template + evidence IDs + rule cố định</a:t>
                      </a:r>
                    </a:p>
                  </a:txBody>
                  <a:tcPr marL="76200" marR="76200" marT="66675" marB="66675"/>
                </a:tc>
              </a:tr>
              <a:tr h="511969">
                <a:tc>
                  <a:txBody>
                    <a:bodyPr/>
                    <a:lstStyle/>
                    <a:p>
                      <a:r>
                        <a:rPr sz="1050">
                          <a:solidFill>
                            <a:srgbClr val="111827"/>
                          </a:solidFill>
                          <a:latin typeface="Arial"/>
                          <a:ea typeface="Arial"/>
                          <a:cs typeface="Arial"/>
                        </a:rPr>
                        <a:t>Demo phụ thuộc mạng</a:t>
                      </a:r>
                    </a:p>
                  </a:txBody>
                  <a:tcPr marL="76200" marR="76200" marT="66675" marB="66675"/>
                </a:tc>
                <a:tc>
                  <a:txBody>
                    <a:bodyPr/>
                    <a:lstStyle/>
                    <a:p>
                      <a:r>
                        <a:rPr sz="1050">
                          <a:solidFill>
                            <a:srgbClr val="111827"/>
                          </a:solidFill>
                          <a:latin typeface="Arial"/>
                          <a:ea typeface="Arial"/>
                          <a:cs typeface="Arial"/>
                        </a:rPr>
                        <a:t>API/network không ổn định</a:t>
                      </a:r>
                    </a:p>
                  </a:txBody>
                  <a:tcPr marL="76200" marR="76200" marT="66675" marB="66675"/>
                </a:tc>
                <a:tc>
                  <a:txBody>
                    <a:bodyPr/>
                    <a:lstStyle/>
                    <a:p>
                      <a:r>
                        <a:rPr sz="1050">
                          <a:solidFill>
                            <a:srgbClr val="111827"/>
                          </a:solidFill>
                          <a:latin typeface="Arial"/>
                          <a:ea typeface="Arial"/>
                          <a:cs typeface="Arial"/>
                        </a:rPr>
                        <a:t>Docker, cached model, sample offline, video/JSON backup</a:t>
                      </a:r>
                    </a:p>
                  </a:txBody>
                  <a:tcPr marL="76200" marR="76200" marT="66675" marB="66675"/>
                </a:tc>
              </a:tr>
            </a:tbl>
          </a:graphicData>
        </a:graphic>
      </p:graphicFrame>
    </p:spTree>
    <p:extLst>
      <p:ext uri="{BB962C8B-B14F-4D97-AF65-F5344CB8AC3E}">
        <p14:creationId xmlns:p14="http://schemas.microsoft.com/office/powerpoint/2010/main" val="124510601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E3DE10FF-2374-4079-8994-E1E51CF6AE8E}"/>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ĐÓNG GÓP KHOA HỌC</a:t>
            </a:r>
          </a:p>
        </p:txBody>
      </p:sp>
      <p:sp>
        <p:nvSpPr>
          <p:cNvPr id="2" name="slide-title">
            <a:extLst xmlns:a="http://schemas.openxmlformats.org/drawingml/2006/main">
              <a:ext uri="{FF2B5EF4-FFF2-40B4-BE49-F238E27FC236}">
                <a16:creationId xmlns:a16="http://schemas.microsoft.com/office/drawing/2014/main" id="{8FAB19D4-B9EC-46CF-8ACE-C94EC7A721FB}"/>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Điểm mới nằm ở quy trình kiểm định – không nằm ở việc gọi Whisper hay LLM</a:t>
            </a:r>
          </a:p>
        </p:txBody>
      </p:sp>
      <p:sp>
        <p:nvSpPr>
          <p:cNvPr id="3" name="rule">
            <a:extLst xmlns:a="http://schemas.openxmlformats.org/drawingml/2006/main">
              <a:ext uri="{FF2B5EF4-FFF2-40B4-BE49-F238E27FC236}">
                <a16:creationId xmlns:a16="http://schemas.microsoft.com/office/drawing/2014/main" id="{B34AEF6B-5D51-4423-A770-39B891E128E3}"/>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35A827DC-8668-47F3-8BFE-827A9F480764}"/>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ĐÓNG GÓP KHOA HỌC</a:t>
            </a:r>
          </a:p>
        </p:txBody>
      </p:sp>
      <p:sp>
        <p:nvSpPr>
          <p:cNvPr id="5" name="footer-number">
            <a:extLst xmlns:a="http://schemas.openxmlformats.org/drawingml/2006/main">
              <a:ext uri="{FF2B5EF4-FFF2-40B4-BE49-F238E27FC236}">
                <a16:creationId xmlns:a16="http://schemas.microsoft.com/office/drawing/2014/main" id="{88033BD4-2D17-4953-850C-A91E0A73C43B}"/>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34</a:t>
            </a:r>
          </a:p>
        </p:txBody>
      </p:sp>
      <p:sp>
        <p:nvSpPr>
          <p:cNvPr id="6" name="rule">
            <a:extLst xmlns:a="http://schemas.openxmlformats.org/drawingml/2006/main">
              <a:ext uri="{FF2B5EF4-FFF2-40B4-BE49-F238E27FC236}">
                <a16:creationId xmlns:a16="http://schemas.microsoft.com/office/drawing/2014/main" id="{CF8B91F5-5D03-4CD9-A995-4128E38C56AA}"/>
              </a:ext>
            </a:extLst>
          </p:cNvPr>
          <p:cNvSpPr>
            <a:spLocks xmlns:a="http://schemas.openxmlformats.org/drawingml/2006/main" noGrp="1"/>
          </p:cNvSpPr>
          <p:nvPr/>
        </p:nvSpPr>
        <p:spPr>
          <a:xfrm xmlns:a="http://schemas.openxmlformats.org/drawingml/2006/main">
            <a:off x="6096000" y="1581150"/>
            <a:ext cx="19050" cy="0"/>
          </a:xfrm>
          <a:prstGeom xmlns:a="http://schemas.openxmlformats.org/drawingml/2006/main" prst="rect">
            <a:avLst/>
          </a:prstGeom>
          <a:ln xmlns:a="http://schemas.openxmlformats.org/drawingml/2006/main" w="0">
            <a:prstDash val="solid"/>
          </a:ln>
        </p:spPr>
      </p:sp>
      <p:sp>
        <p:nvSpPr>
          <p:cNvPr id="7" name="rule">
            <a:extLst xmlns:a="http://schemas.openxmlformats.org/drawingml/2006/main">
              <a:ext uri="{FF2B5EF4-FFF2-40B4-BE49-F238E27FC236}">
                <a16:creationId xmlns:a16="http://schemas.microsoft.com/office/drawing/2014/main" id="{D47AF761-D307-4404-B852-4DCEFDB390D1}"/>
              </a:ext>
            </a:extLst>
          </p:cNvPr>
          <p:cNvSpPr>
            <a:spLocks xmlns:a="http://schemas.openxmlformats.org/drawingml/2006/main" noGrp="1"/>
          </p:cNvSpPr>
          <p:nvPr/>
        </p:nvSpPr>
        <p:spPr>
          <a:xfrm xmlns:a="http://schemas.openxmlformats.org/drawingml/2006/main">
            <a:off x="495300" y="3486150"/>
            <a:ext cx="11201400" cy="0"/>
          </a:xfrm>
          <a:prstGeom xmlns:a="http://schemas.openxmlformats.org/drawingml/2006/main" prst="rect">
            <a:avLst/>
          </a:prstGeom>
          <a:ln xmlns:a="http://schemas.openxmlformats.org/drawingml/2006/main" w="0">
            <a:prstDash val="solid"/>
          </a:ln>
        </p:spPr>
      </p:sp>
      <p:sp>
        <p:nvSpPr>
          <p:cNvPr id="8" name="text-2tz71y">
            <a:extLst xmlns:a="http://schemas.openxmlformats.org/drawingml/2006/main">
              <a:ext uri="{FF2B5EF4-FFF2-40B4-BE49-F238E27FC236}">
                <a16:creationId xmlns:a16="http://schemas.microsoft.com/office/drawing/2014/main" id="{C559BDCC-E069-4F40-9A4B-480CC1282927}"/>
              </a:ext>
            </a:extLst>
          </p:cNvPr>
          <p:cNvSpPr>
            <a:spLocks xmlns:a="http://schemas.openxmlformats.org/drawingml/2006/main" noGrp="1"/>
          </p:cNvSpPr>
          <p:nvPr/>
        </p:nvSpPr>
        <p:spPr>
          <a:xfrm xmlns:a="http://schemas.openxmlformats.org/drawingml/2006/main">
            <a:off x="4953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C1 • Rubric vận hành</a:t>
            </a:r>
          </a:p>
        </p:txBody>
      </p:sp>
      <p:sp>
        <p:nvSpPr>
          <p:cNvPr id="9" name="text-yv5dll">
            <a:extLst xmlns:a="http://schemas.openxmlformats.org/drawingml/2006/main">
              <a:ext uri="{FF2B5EF4-FFF2-40B4-BE49-F238E27FC236}">
                <a16:creationId xmlns:a16="http://schemas.microsoft.com/office/drawing/2014/main" id="{460A6C0E-AEC7-4879-AD91-E9119228EE64}"/>
              </a:ext>
            </a:extLst>
          </p:cNvPr>
          <p:cNvSpPr>
            <a:spLocks xmlns:a="http://schemas.openxmlformats.org/drawingml/2006/main" noGrp="1"/>
          </p:cNvSpPr>
          <p:nvPr/>
        </p:nvSpPr>
        <p:spPr>
          <a:xfrm xmlns:a="http://schemas.openxmlformats.org/drawingml/2006/main">
            <a:off x="4953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Chuyển sáu tiêu chí CEFR thành rubric A2/B1/B2, evidence guide, reason codes và quy tắc missing/adjudication.</a:t>
            </a:r>
          </a:p>
        </p:txBody>
      </p:sp>
      <p:sp>
        <p:nvSpPr>
          <p:cNvPr id="10" name="text-4j4ce2">
            <a:extLst xmlns:a="http://schemas.openxmlformats.org/drawingml/2006/main">
              <a:ext uri="{FF2B5EF4-FFF2-40B4-BE49-F238E27FC236}">
                <a16:creationId xmlns:a16="http://schemas.microsoft.com/office/drawing/2014/main" id="{DEC3C967-0E2F-45FA-AA3A-99E82857E0EE}"/>
              </a:ext>
            </a:extLst>
          </p:cNvPr>
          <p:cNvSpPr>
            <a:spLocks xmlns:a="http://schemas.openxmlformats.org/drawingml/2006/main" noGrp="1"/>
          </p:cNvSpPr>
          <p:nvPr/>
        </p:nvSpPr>
        <p:spPr>
          <a:xfrm xmlns:a="http://schemas.openxmlformats.org/drawingml/2006/main">
            <a:off x="6286500" y="1581150"/>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C2 • Dữ liệu người Việt</a:t>
            </a:r>
          </a:p>
        </p:txBody>
      </p:sp>
      <p:sp>
        <p:nvSpPr>
          <p:cNvPr id="11" name="text-fa2nsz">
            <a:extLst xmlns:a="http://schemas.openxmlformats.org/drawingml/2006/main">
              <a:ext uri="{FF2B5EF4-FFF2-40B4-BE49-F238E27FC236}">
                <a16:creationId xmlns:a16="http://schemas.microsoft.com/office/drawing/2014/main" id="{EE9CB2E8-73D9-497B-B9F7-FEE0060B7BD7}"/>
              </a:ext>
            </a:extLst>
          </p:cNvPr>
          <p:cNvSpPr>
            <a:spLocks xmlns:a="http://schemas.openxmlformats.org/drawingml/2006/main" noGrp="1"/>
          </p:cNvSpPr>
          <p:nvPr/>
        </p:nvSpPr>
        <p:spPr>
          <a:xfrm xmlns:a="http://schemas.openxmlformats.org/drawingml/2006/main">
            <a:off x="6286500" y="2019300"/>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Audio ẩn danh có consent, task version, hai rater, manifest, datasheet và manual transcript subset.</a:t>
            </a:r>
          </a:p>
        </p:txBody>
      </p:sp>
      <p:sp>
        <p:nvSpPr>
          <p:cNvPr id="12" name="text-bac0z0">
            <a:extLst xmlns:a="http://schemas.openxmlformats.org/drawingml/2006/main">
              <a:ext uri="{FF2B5EF4-FFF2-40B4-BE49-F238E27FC236}">
                <a16:creationId xmlns:a16="http://schemas.microsoft.com/office/drawing/2014/main" id="{A91FC5E8-8D65-4313-AA4A-EAFB1A7329CF}"/>
              </a:ext>
            </a:extLst>
          </p:cNvPr>
          <p:cNvSpPr>
            <a:spLocks xmlns:a="http://schemas.openxmlformats.org/drawingml/2006/main" noGrp="1"/>
          </p:cNvSpPr>
          <p:nvPr/>
        </p:nvSpPr>
        <p:spPr>
          <a:xfrm xmlns:a="http://schemas.openxmlformats.org/drawingml/2006/main">
            <a:off x="4953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C3 • Kiến trúc giải thích được</a:t>
            </a:r>
          </a:p>
        </p:txBody>
      </p:sp>
      <p:sp>
        <p:nvSpPr>
          <p:cNvPr id="13" name="text-9b9wdo">
            <a:extLst xmlns:a="http://schemas.openxmlformats.org/drawingml/2006/main">
              <a:ext uri="{FF2B5EF4-FFF2-40B4-BE49-F238E27FC236}">
                <a16:creationId xmlns:a16="http://schemas.microsoft.com/office/drawing/2014/main" id="{49C7F1C4-DAC8-432C-AD6B-8E59BBA8CF2A}"/>
              </a:ext>
            </a:extLst>
          </p:cNvPr>
          <p:cNvSpPr>
            <a:spLocks xmlns:a="http://schemas.openxmlformats.org/drawingml/2006/main" noGrp="1"/>
          </p:cNvSpPr>
          <p:nvPr/>
        </p:nvSpPr>
        <p:spPr>
          <a:xfrm xmlns:a="http://schemas.openxmlformats.org/drawingml/2006/main">
            <a:off x="4953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Tách audio/text/interaction, late fusion, calibration, evidence grounding và human review.</a:t>
            </a:r>
          </a:p>
        </p:txBody>
      </p:sp>
      <p:sp>
        <p:nvSpPr>
          <p:cNvPr id="14" name="text-5rz91z">
            <a:extLst xmlns:a="http://schemas.openxmlformats.org/drawingml/2006/main">
              <a:ext uri="{FF2B5EF4-FFF2-40B4-BE49-F238E27FC236}">
                <a16:creationId xmlns:a16="http://schemas.microsoft.com/office/drawing/2014/main" id="{4536BF56-6F83-4940-81B8-21347628E669}"/>
              </a:ext>
            </a:extLst>
          </p:cNvPr>
          <p:cNvSpPr>
            <a:spLocks xmlns:a="http://schemas.openxmlformats.org/drawingml/2006/main" noGrp="1"/>
          </p:cNvSpPr>
          <p:nvPr/>
        </p:nvSpPr>
        <p:spPr>
          <a:xfrm xmlns:a="http://schemas.openxmlformats.org/drawingml/2006/main">
            <a:off x="6286500" y="3629025"/>
            <a:ext cx="537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C4 • Bằng chứng thực nghiệm</a:t>
            </a:r>
          </a:p>
        </p:txBody>
      </p:sp>
      <p:sp>
        <p:nvSpPr>
          <p:cNvPr id="15" name="text-7meul7">
            <a:extLst xmlns:a="http://schemas.openxmlformats.org/drawingml/2006/main">
              <a:ext uri="{FF2B5EF4-FFF2-40B4-BE49-F238E27FC236}">
                <a16:creationId xmlns:a16="http://schemas.microsoft.com/office/drawing/2014/main" id="{F160F3F9-A1AE-47D0-AB3A-4EBA5D70DAA9}"/>
              </a:ext>
            </a:extLst>
          </p:cNvPr>
          <p:cNvSpPr>
            <a:spLocks xmlns:a="http://schemas.openxmlformats.org/drawingml/2006/main" noGrp="1"/>
          </p:cNvSpPr>
          <p:nvPr/>
        </p:nvSpPr>
        <p:spPr>
          <a:xfrm xmlns:a="http://schemas.openxmlformats.org/drawingml/2006/main">
            <a:off x="6286500" y="4067175"/>
            <a:ext cx="53721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11827"/>
                </a:solidFill>
                <a:latin typeface="Arial"/>
                <a:ea typeface="Arial"/>
                <a:cs typeface="Arial"/>
              </a:defRPr>
            </a:pPr>
            <a:r>
              <a:rPr sz="1425" b="0" i="0">
                <a:solidFill>
                  <a:srgbClr val="111827"/>
                </a:solidFill>
                <a:latin typeface="Arial"/>
                <a:ea typeface="Arial"/>
                <a:cs typeface="Arial"/>
              </a:rPr>
              <a:t>Baseline, ablation, speaker split, AI-human/human-human agreement, ASR và failure analysis.</a:t>
            </a:r>
          </a:p>
        </p:txBody>
      </p:sp>
    </p:spTree>
    <p:extLst>
      <p:ext uri="{BB962C8B-B14F-4D97-AF65-F5344CB8AC3E}">
        <p14:creationId xmlns:p14="http://schemas.microsoft.com/office/powerpoint/2010/main" val="97031753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F9B005FC-0E0E-4940-A556-F069CCC3CA5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CẤU TRÚC QUYỂN KHÓA LUẬN</a:t>
            </a:r>
          </a:p>
        </p:txBody>
      </p:sp>
      <p:sp>
        <p:nvSpPr>
          <p:cNvPr id="2" name="slide-title">
            <a:extLst xmlns:a="http://schemas.openxmlformats.org/drawingml/2006/main">
              <a:ext uri="{FF2B5EF4-FFF2-40B4-BE49-F238E27FC236}">
                <a16:creationId xmlns:a16="http://schemas.microsoft.com/office/drawing/2014/main" id="{63D3BC5C-4543-42D2-A08D-CA21F96EDB7C}"/>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Bảy chương trả lời lần lượt: vì sao, dựa vào đâu, làm thế nào và kết quả có ý nghĩa gì</a:t>
            </a:r>
          </a:p>
        </p:txBody>
      </p:sp>
      <p:sp>
        <p:nvSpPr>
          <p:cNvPr id="3" name="slide-subtitle">
            <a:extLst xmlns:a="http://schemas.openxmlformats.org/drawingml/2006/main">
              <a:ext uri="{FF2B5EF4-FFF2-40B4-BE49-F238E27FC236}">
                <a16:creationId xmlns:a16="http://schemas.microsoft.com/office/drawing/2014/main" id="{1CAF5693-0F4D-4413-8EE5-F617DC250AA3}"/>
              </a:ext>
            </a:extLst>
          </p:cNvPr>
          <p:cNvSpPr>
            <a:spLocks xmlns:a="http://schemas.openxmlformats.org/drawingml/2006/main" noGrp="1"/>
          </p:cNvSpPr>
          <p:nvPr/>
        </p:nvSpPr>
        <p:spPr>
          <a:xfrm xmlns:a="http://schemas.openxmlformats.org/drawingml/2006/main">
            <a:off x="457200" y="12382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E6B78"/>
                </a:solidFill>
                <a:latin typeface="Arial"/>
                <a:ea typeface="Arial"/>
                <a:cs typeface="Arial"/>
              </a:defRPr>
            </a:pPr>
            <a:r>
              <a:rPr sz="1425" b="0" i="0">
                <a:solidFill>
                  <a:srgbClr val="5E6B78"/>
                </a:solidFill>
                <a:latin typeface="Arial"/>
                <a:ea typeface="Arial"/>
                <a:cs typeface="Arial"/>
              </a:rPr>
              <a:t>Phụ lục giữ rubric, task, consent, schema, API, model card và bảng metric đầy đủ.</a:t>
            </a:r>
          </a:p>
        </p:txBody>
      </p:sp>
      <p:sp>
        <p:nvSpPr>
          <p:cNvPr id="4" name="rule">
            <a:extLst xmlns:a="http://schemas.openxmlformats.org/drawingml/2006/main">
              <a:ext uri="{FF2B5EF4-FFF2-40B4-BE49-F238E27FC236}">
                <a16:creationId xmlns:a16="http://schemas.microsoft.com/office/drawing/2014/main" id="{C7813026-671A-4D66-A863-DEB026AAA978}"/>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ooter-section">
            <a:extLst xmlns:a="http://schemas.openxmlformats.org/drawingml/2006/main">
              <a:ext uri="{FF2B5EF4-FFF2-40B4-BE49-F238E27FC236}">
                <a16:creationId xmlns:a16="http://schemas.microsoft.com/office/drawing/2014/main" id="{42D396B1-CFC7-44AC-A528-C9DB256767AA}"/>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CẤU TRÚC QUYỂN KHÓA LUẬN</a:t>
            </a:r>
          </a:p>
        </p:txBody>
      </p:sp>
      <p:sp>
        <p:nvSpPr>
          <p:cNvPr id="6" name="footer-number">
            <a:extLst xmlns:a="http://schemas.openxmlformats.org/drawingml/2006/main">
              <a:ext uri="{FF2B5EF4-FFF2-40B4-BE49-F238E27FC236}">
                <a16:creationId xmlns:a16="http://schemas.microsoft.com/office/drawing/2014/main" id="{33B275D9-276F-4EBE-9BA0-D93768680ACF}"/>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35</a:t>
            </a:r>
          </a:p>
        </p:txBody>
      </p:sp>
      <p:graphicFrame>
        <p:nvGraphicFramePr>
          <p:cNvPr id="14" name=""/>
          <p:cNvGraphicFramePr/>
          <p:nvPr/>
        </p:nvGraphicFramePr>
        <p:xfrm>
          <a:off xmlns:a="http://schemas.openxmlformats.org/drawingml/2006/main" x="495300" y="1885950"/>
          <a:ext xmlns:a="http://schemas.openxmlformats.org/drawingml/2006/main" cx="11201400" cy="4095750"/>
        </p:xfrm>
        <a:graphic xmlns:a="http://schemas.openxmlformats.org/drawingml/2006/main">
          <a:graphicData uri="http://schemas.openxmlformats.org/drawingml/2006/table">
            <a:tbl>
              <a:tblPr firstRow="1" bandRow="1"/>
              <a:tblGrid>
                <a:gridCol w="2000250"/>
                <a:gridCol w="4953000"/>
                <a:gridCol w="4248150"/>
              </a:tblGrid>
              <a:tr h="511969">
                <a:tc>
                  <a:txBody>
                    <a:bodyPr/>
                    <a:lstStyle/>
                    <a:p>
                      <a:r>
                        <a:rPr sz="1050" b="1">
                          <a:solidFill>
                            <a:srgbClr val="FFFFFF"/>
                          </a:solidFill>
                          <a:latin typeface="Arial"/>
                          <a:ea typeface="Arial"/>
                          <a:cs typeface="Arial"/>
                        </a:rPr>
                        <a:t>Chương</a:t>
                      </a:r>
                    </a:p>
                  </a:txBody>
                  <a:tcPr marL="76200" marR="76200" marT="66675" marB="66675">
                    <a:solidFill>
                      <a:srgbClr val="1859A9"/>
                    </a:solidFill>
                  </a:tcPr>
                </a:tc>
                <a:tc>
                  <a:txBody>
                    <a:bodyPr/>
                    <a:lstStyle/>
                    <a:p>
                      <a:r>
                        <a:rPr sz="1050" b="1">
                          <a:solidFill>
                            <a:srgbClr val="FFFFFF"/>
                          </a:solidFill>
                          <a:latin typeface="Arial"/>
                          <a:ea typeface="Arial"/>
                          <a:cs typeface="Arial"/>
                        </a:rPr>
                        <a:t>Nội dung chính</a:t>
                      </a:r>
                    </a:p>
                  </a:txBody>
                  <a:tcPr marL="76200" marR="76200" marT="66675" marB="66675">
                    <a:solidFill>
                      <a:srgbClr val="1859A9"/>
                    </a:solidFill>
                  </a:tcPr>
                </a:tc>
                <a:tc>
                  <a:txBody>
                    <a:bodyPr/>
                    <a:lstStyle/>
                    <a:p>
                      <a:r>
                        <a:rPr sz="1050" b="1">
                          <a:solidFill>
                            <a:srgbClr val="FFFFFF"/>
                          </a:solidFill>
                          <a:latin typeface="Arial"/>
                          <a:ea typeface="Arial"/>
                          <a:cs typeface="Arial"/>
                        </a:rPr>
                        <a:t>Bằng chứng phải có</a:t>
                      </a:r>
                    </a:p>
                  </a:txBody>
                  <a:tcPr marL="76200" marR="76200" marT="66675" marB="66675">
                    <a:solidFill>
                      <a:srgbClr val="1859A9"/>
                    </a:solidFill>
                  </a:tcPr>
                </a:tc>
              </a:tr>
              <a:tr h="511969">
                <a:tc>
                  <a:txBody>
                    <a:bodyPr/>
                    <a:lstStyle/>
                    <a:p>
                      <a:r>
                        <a:rPr sz="1050">
                          <a:solidFill>
                            <a:srgbClr val="111827"/>
                          </a:solidFill>
                          <a:latin typeface="Arial"/>
                          <a:ea typeface="Arial"/>
                          <a:cs typeface="Arial"/>
                        </a:rPr>
                        <a:t>1. Giới thiệu</a:t>
                      </a:r>
                    </a:p>
                  </a:txBody>
                  <a:tcPr marL="76200" marR="76200" marT="66675" marB="66675"/>
                </a:tc>
                <a:tc>
                  <a:txBody>
                    <a:bodyPr/>
                    <a:lstStyle/>
                    <a:p>
                      <a:r>
                        <a:rPr sz="1050">
                          <a:solidFill>
                            <a:srgbClr val="111827"/>
                          </a:solidFill>
                          <a:latin typeface="Arial"/>
                          <a:ea typeface="Arial"/>
                          <a:cs typeface="Arial"/>
                        </a:rPr>
                        <a:t>Bối cảnh, vấn đề, mục tiêu, RQ, phạm vi, đóng góp</a:t>
                      </a:r>
                    </a:p>
                  </a:txBody>
                  <a:tcPr marL="76200" marR="76200" marT="66675" marB="66675"/>
                </a:tc>
                <a:tc>
                  <a:txBody>
                    <a:bodyPr/>
                    <a:lstStyle/>
                    <a:p>
                      <a:r>
                        <a:rPr sz="1050">
                          <a:solidFill>
                            <a:srgbClr val="111827"/>
                          </a:solidFill>
                          <a:latin typeface="Arial"/>
                          <a:ea typeface="Arial"/>
                          <a:cs typeface="Arial"/>
                        </a:rPr>
                        <a:t>Problem statement và RQ đo được</a:t>
                      </a:r>
                    </a:p>
                  </a:txBody>
                  <a:tcPr marL="76200" marR="76200" marT="66675" marB="66675"/>
                </a:tc>
              </a:tr>
              <a:tr h="511969">
                <a:tc>
                  <a:txBody>
                    <a:bodyPr/>
                    <a:lstStyle/>
                    <a:p>
                      <a:r>
                        <a:rPr sz="1050">
                          <a:solidFill>
                            <a:srgbClr val="111827"/>
                          </a:solidFill>
                          <a:latin typeface="Arial"/>
                          <a:ea typeface="Arial"/>
                          <a:cs typeface="Arial"/>
                        </a:rPr>
                        <a:t>2. Cơ sở lý thuyết</a:t>
                      </a:r>
                    </a:p>
                  </a:txBody>
                  <a:tcPr marL="76200" marR="76200" marT="66675" marB="66675"/>
                </a:tc>
                <a:tc>
                  <a:txBody>
                    <a:bodyPr/>
                    <a:lstStyle/>
                    <a:p>
                      <a:r>
                        <a:rPr sz="1050">
                          <a:solidFill>
                            <a:srgbClr val="111827"/>
                          </a:solidFill>
                          <a:latin typeface="Arial"/>
                          <a:ea typeface="Arial"/>
                          <a:cs typeface="Arial"/>
                        </a:rPr>
                        <a:t>CEFR, speaking validity, ASR/ASA, related work, khoảng trống</a:t>
                      </a:r>
                    </a:p>
                  </a:txBody>
                  <a:tcPr marL="76200" marR="76200" marT="66675" marB="66675"/>
                </a:tc>
                <a:tc>
                  <a:txBody>
                    <a:bodyPr/>
                    <a:lstStyle/>
                    <a:p>
                      <a:r>
                        <a:rPr sz="1050">
                          <a:solidFill>
                            <a:srgbClr val="111827"/>
                          </a:solidFill>
                          <a:latin typeface="Arial"/>
                          <a:ea typeface="Arial"/>
                          <a:cs typeface="Arial"/>
                        </a:rPr>
                        <a:t>Research matrix và định nghĩa construct</a:t>
                      </a:r>
                    </a:p>
                  </a:txBody>
                  <a:tcPr marL="76200" marR="76200" marT="66675" marB="66675"/>
                </a:tc>
              </a:tr>
              <a:tr h="511969">
                <a:tc>
                  <a:txBody>
                    <a:bodyPr/>
                    <a:lstStyle/>
                    <a:p>
                      <a:r>
                        <a:rPr sz="1050">
                          <a:solidFill>
                            <a:srgbClr val="111827"/>
                          </a:solidFill>
                          <a:latin typeface="Arial"/>
                          <a:ea typeface="Arial"/>
                          <a:cs typeface="Arial"/>
                        </a:rPr>
                        <a:t>3. Phương pháp</a:t>
                      </a:r>
                    </a:p>
                  </a:txBody>
                  <a:tcPr marL="76200" marR="76200" marT="66675" marB="66675"/>
                </a:tc>
                <a:tc>
                  <a:txBody>
                    <a:bodyPr/>
                    <a:lstStyle/>
                    <a:p>
                      <a:r>
                        <a:rPr sz="1050">
                          <a:solidFill>
                            <a:srgbClr val="111827"/>
                          </a:solidFill>
                          <a:latin typeface="Arial"/>
                          <a:ea typeface="Arial"/>
                          <a:cs typeface="Arial"/>
                        </a:rPr>
                        <a:t>Task, rubric, participant, consent, rater, collection, split, metric</a:t>
                      </a:r>
                    </a:p>
                  </a:txBody>
                  <a:tcPr marL="76200" marR="76200" marT="66675" marB="66675"/>
                </a:tc>
                <a:tc>
                  <a:txBody>
                    <a:bodyPr/>
                    <a:lstStyle/>
                    <a:p>
                      <a:r>
                        <a:rPr sz="1050">
                          <a:solidFill>
                            <a:srgbClr val="111827"/>
                          </a:solidFill>
                          <a:latin typeface="Arial"/>
                          <a:ea typeface="Arial"/>
                          <a:cs typeface="Arial"/>
                        </a:rPr>
                        <a:t>Protocol, agreement, datasheet</a:t>
                      </a:r>
                    </a:p>
                  </a:txBody>
                  <a:tcPr marL="76200" marR="76200" marT="66675" marB="66675"/>
                </a:tc>
              </a:tr>
              <a:tr h="511969">
                <a:tc>
                  <a:txBody>
                    <a:bodyPr/>
                    <a:lstStyle/>
                    <a:p>
                      <a:r>
                        <a:rPr sz="1050">
                          <a:solidFill>
                            <a:srgbClr val="111827"/>
                          </a:solidFill>
                          <a:latin typeface="Arial"/>
                          <a:ea typeface="Arial"/>
                          <a:cs typeface="Arial"/>
                        </a:rPr>
                        <a:t>4. Thiết kế hệ thống</a:t>
                      </a:r>
                    </a:p>
                  </a:txBody>
                  <a:tcPr marL="76200" marR="76200" marT="66675" marB="66675"/>
                </a:tc>
                <a:tc>
                  <a:txBody>
                    <a:bodyPr/>
                    <a:lstStyle/>
                    <a:p>
                      <a:r>
                        <a:rPr sz="1050">
                          <a:solidFill>
                            <a:srgbClr val="111827"/>
                          </a:solidFill>
                          <a:latin typeface="Arial"/>
                          <a:ea typeface="Arial"/>
                          <a:cs typeface="Arial"/>
                        </a:rPr>
                        <a:t>Kiến trúc, schema, QC/ASR/features/models/calibration/review</a:t>
                      </a:r>
                    </a:p>
                  </a:txBody>
                  <a:tcPr marL="76200" marR="76200" marT="66675" marB="66675"/>
                </a:tc>
                <a:tc>
                  <a:txBody>
                    <a:bodyPr/>
                    <a:lstStyle/>
                    <a:p>
                      <a:r>
                        <a:rPr sz="1050">
                          <a:solidFill>
                            <a:srgbClr val="111827"/>
                          </a:solidFill>
                          <a:latin typeface="Arial"/>
                          <a:ea typeface="Arial"/>
                          <a:cs typeface="Arial"/>
                        </a:rPr>
                        <a:t>Sơ đồ, API, versioning, test</a:t>
                      </a:r>
                    </a:p>
                  </a:txBody>
                  <a:tcPr marL="76200" marR="76200" marT="66675" marB="66675"/>
                </a:tc>
              </a:tr>
              <a:tr h="511969">
                <a:tc>
                  <a:txBody>
                    <a:bodyPr/>
                    <a:lstStyle/>
                    <a:p>
                      <a:r>
                        <a:rPr sz="1050">
                          <a:solidFill>
                            <a:srgbClr val="111827"/>
                          </a:solidFill>
                          <a:latin typeface="Arial"/>
                          <a:ea typeface="Arial"/>
                          <a:cs typeface="Arial"/>
                        </a:rPr>
                        <a:t>5. Thực nghiệm</a:t>
                      </a:r>
                    </a:p>
                  </a:txBody>
                  <a:tcPr marL="76200" marR="76200" marT="66675" marB="66675"/>
                </a:tc>
                <a:tc>
                  <a:txBody>
                    <a:bodyPr/>
                    <a:lstStyle/>
                    <a:p>
                      <a:r>
                        <a:rPr sz="1050">
                          <a:solidFill>
                            <a:srgbClr val="111827"/>
                          </a:solidFill>
                          <a:latin typeface="Arial"/>
                          <a:ea typeface="Arial"/>
                          <a:cs typeface="Arial"/>
                        </a:rPr>
                        <a:t>Baseline, M1, ablation, CI, calibration, WER, error analysis</a:t>
                      </a:r>
                    </a:p>
                  </a:txBody>
                  <a:tcPr marL="76200" marR="76200" marT="66675" marB="66675"/>
                </a:tc>
                <a:tc>
                  <a:txBody>
                    <a:bodyPr/>
                    <a:lstStyle/>
                    <a:p>
                      <a:r>
                        <a:rPr sz="1050">
                          <a:solidFill>
                            <a:srgbClr val="111827"/>
                          </a:solidFill>
                          <a:latin typeface="Arial"/>
                          <a:ea typeface="Arial"/>
                          <a:cs typeface="Arial"/>
                        </a:rPr>
                        <a:t>Bảng metric, confusion, plots, ca lỗi</a:t>
                      </a:r>
                    </a:p>
                  </a:txBody>
                  <a:tcPr marL="76200" marR="76200" marT="66675" marB="66675"/>
                </a:tc>
              </a:tr>
              <a:tr h="511969">
                <a:tc>
                  <a:txBody>
                    <a:bodyPr/>
                    <a:lstStyle/>
                    <a:p>
                      <a:r>
                        <a:rPr sz="1050">
                          <a:solidFill>
                            <a:srgbClr val="111827"/>
                          </a:solidFill>
                          <a:latin typeface="Arial"/>
                          <a:ea typeface="Arial"/>
                          <a:cs typeface="Arial"/>
                        </a:rPr>
                        <a:t>6. Thảo luận</a:t>
                      </a:r>
                    </a:p>
                  </a:txBody>
                  <a:tcPr marL="76200" marR="76200" marT="66675" marB="66675"/>
                </a:tc>
                <a:tc>
                  <a:txBody>
                    <a:bodyPr/>
                    <a:lstStyle/>
                    <a:p>
                      <a:r>
                        <a:rPr sz="1050">
                          <a:solidFill>
                            <a:srgbClr val="111827"/>
                          </a:solidFill>
                          <a:latin typeface="Arial"/>
                          <a:ea typeface="Arial"/>
                          <a:cs typeface="Arial"/>
                        </a:rPr>
                        <a:t>RQ, validity, fairness, limitations, threats</a:t>
                      </a:r>
                    </a:p>
                  </a:txBody>
                  <a:tcPr marL="76200" marR="76200" marT="66675" marB="66675"/>
                </a:tc>
                <a:tc>
                  <a:txBody>
                    <a:bodyPr/>
                    <a:lstStyle/>
                    <a:p>
                      <a:r>
                        <a:rPr sz="1050">
                          <a:solidFill>
                            <a:srgbClr val="111827"/>
                          </a:solidFill>
                          <a:latin typeface="Arial"/>
                          <a:ea typeface="Arial"/>
                          <a:cs typeface="Arial"/>
                        </a:rPr>
                        <a:t>Phân biệt nội bộ và tổng quát</a:t>
                      </a:r>
                    </a:p>
                  </a:txBody>
                  <a:tcPr marL="76200" marR="76200" marT="66675" marB="66675"/>
                </a:tc>
              </a:tr>
              <a:tr h="511969">
                <a:tc>
                  <a:txBody>
                    <a:bodyPr/>
                    <a:lstStyle/>
                    <a:p>
                      <a:r>
                        <a:rPr sz="1050">
                          <a:solidFill>
                            <a:srgbClr val="111827"/>
                          </a:solidFill>
                          <a:latin typeface="Arial"/>
                          <a:ea typeface="Arial"/>
                          <a:cs typeface="Arial"/>
                        </a:rPr>
                        <a:t>7. Kết luận</a:t>
                      </a:r>
                    </a:p>
                  </a:txBody>
                  <a:tcPr marL="76200" marR="76200" marT="66675" marB="66675"/>
                </a:tc>
                <a:tc>
                  <a:txBody>
                    <a:bodyPr/>
                    <a:lstStyle/>
                    <a:p>
                      <a:r>
                        <a:rPr sz="1050">
                          <a:solidFill>
                            <a:srgbClr val="111827"/>
                          </a:solidFill>
                          <a:latin typeface="Arial"/>
                          <a:ea typeface="Arial"/>
                          <a:cs typeface="Arial"/>
                        </a:rPr>
                        <a:t>Đóng góp, kết luận có điều kiện, hướng phát triển</a:t>
                      </a:r>
                    </a:p>
                  </a:txBody>
                  <a:tcPr marL="76200" marR="76200" marT="66675" marB="66675"/>
                </a:tc>
                <a:tc>
                  <a:txBody>
                    <a:bodyPr/>
                    <a:lstStyle/>
                    <a:p>
                      <a:r>
                        <a:rPr sz="1050">
                          <a:solidFill>
                            <a:srgbClr val="111827"/>
                          </a:solidFill>
                          <a:latin typeface="Arial"/>
                          <a:ea typeface="Arial"/>
                          <a:cs typeface="Arial"/>
                        </a:rPr>
                        <a:t>Kết luận khớp metric và phạm vi</a:t>
                      </a:r>
                    </a:p>
                  </a:txBody>
                  <a:tcPr marL="76200" marR="76200" marT="66675" marB="66675"/>
                </a:tc>
              </a:tr>
            </a:tbl>
          </a:graphicData>
        </a:graphic>
      </p:graphicFrame>
    </p:spTree>
    <p:extLst>
      <p:ext uri="{BB962C8B-B14F-4D97-AF65-F5344CB8AC3E}">
        <p14:creationId xmlns:p14="http://schemas.microsoft.com/office/powerpoint/2010/main" val="214366793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DDC528D4-A6CD-4089-A831-C3952EA9CF1A}"/>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CHUẨN BỊ BẢO VỆ</a:t>
            </a:r>
          </a:p>
        </p:txBody>
      </p:sp>
      <p:sp>
        <p:nvSpPr>
          <p:cNvPr id="2" name="slide-title">
            <a:extLst xmlns:a="http://schemas.openxmlformats.org/drawingml/2006/main">
              <a:ext uri="{FF2B5EF4-FFF2-40B4-BE49-F238E27FC236}">
                <a16:creationId xmlns:a16="http://schemas.microsoft.com/office/drawing/2014/main" id="{2A428F5F-79AC-49DE-BA1F-36DA97F806C2}"/>
              </a:ext>
            </a:extLst>
          </p:cNvPr>
          <p:cNvSpPr>
            <a:spLocks xmlns:a="http://schemas.openxmlformats.org/drawingml/2006/main" noGrp="1"/>
          </p:cNvSpPr>
          <p:nvPr/>
        </p:nvSpPr>
        <p:spPr>
          <a:xfrm xmlns:a="http://schemas.openxmlformats.org/drawingml/2006/main">
            <a:off x="457200" y="619125"/>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11827"/>
                </a:solidFill>
                <a:latin typeface="Arial"/>
                <a:ea typeface="Arial"/>
                <a:cs typeface="Arial"/>
              </a:defRPr>
            </a:pPr>
            <a:r>
              <a:rPr sz="3000" b="1" i="0">
                <a:solidFill>
                  <a:srgbClr val="111827"/>
                </a:solidFill>
                <a:latin typeface="Arial"/>
                <a:ea typeface="Arial"/>
                <a:cs typeface="Arial"/>
              </a:rPr>
              <a:t>Những câu hội đồng dễ hỏi nhất – và việc phải chốt trong 48 giờ</a:t>
            </a:r>
          </a:p>
        </p:txBody>
      </p:sp>
      <p:sp>
        <p:nvSpPr>
          <p:cNvPr id="3" name="rule">
            <a:extLst xmlns:a="http://schemas.openxmlformats.org/drawingml/2006/main">
              <a:ext uri="{FF2B5EF4-FFF2-40B4-BE49-F238E27FC236}">
                <a16:creationId xmlns:a16="http://schemas.microsoft.com/office/drawing/2014/main" id="{30345D4D-9B50-4A9B-A512-C1BC2139DEAD}"/>
              </a:ext>
            </a:extLst>
          </p:cNvPr>
          <p:cNvSpPr>
            <a:spLocks xmlns:a="http://schemas.openxmlformats.org/drawingml/2006/main" noGrp="1"/>
          </p:cNvSpPr>
          <p:nvPr/>
        </p:nvSpPr>
        <p:spPr>
          <a:xfrm xmlns:a="http://schemas.openxmlformats.org/drawingml/2006/main">
            <a:off x="457200" y="6429375"/>
            <a:ext cx="112776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section">
            <a:extLst xmlns:a="http://schemas.openxmlformats.org/drawingml/2006/main">
              <a:ext uri="{FF2B5EF4-FFF2-40B4-BE49-F238E27FC236}">
                <a16:creationId xmlns:a16="http://schemas.microsoft.com/office/drawing/2014/main" id="{7D47A95F-F51F-4D42-A721-43B12EB60BB3}"/>
              </a:ext>
            </a:extLst>
          </p:cNvPr>
          <p:cNvSpPr>
            <a:spLocks xmlns:a="http://schemas.openxmlformats.org/drawingml/2006/main" noGrp="1"/>
          </p:cNvSpPr>
          <p:nvPr/>
        </p:nvSpPr>
        <p:spPr>
          <a:xfrm xmlns:a="http://schemas.openxmlformats.org/drawingml/2006/main">
            <a:off x="4572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i="0">
                <a:solidFill>
                  <a:srgbClr val="5E6B78"/>
                </a:solidFill>
                <a:latin typeface="Arial"/>
                <a:ea typeface="Arial"/>
                <a:cs typeface="Arial"/>
              </a:defRPr>
            </a:pPr>
            <a:r>
              <a:rPr sz="900" b="0" i="0">
                <a:solidFill>
                  <a:srgbClr val="5E6B78"/>
                </a:solidFill>
                <a:latin typeface="Arial"/>
                <a:ea typeface="Arial"/>
                <a:cs typeface="Arial"/>
              </a:rPr>
              <a:t>CHUẨN BỊ BẢO VỆ</a:t>
            </a:r>
          </a:p>
        </p:txBody>
      </p:sp>
      <p:sp>
        <p:nvSpPr>
          <p:cNvPr id="5" name="footer-number">
            <a:extLst xmlns:a="http://schemas.openxmlformats.org/drawingml/2006/main">
              <a:ext uri="{FF2B5EF4-FFF2-40B4-BE49-F238E27FC236}">
                <a16:creationId xmlns:a16="http://schemas.microsoft.com/office/drawing/2014/main" id="{21419B0F-AE25-447F-B1B9-850DD9040598}"/>
              </a:ext>
            </a:extLst>
          </p:cNvPr>
          <p:cNvSpPr>
            <a:spLocks xmlns:a="http://schemas.openxmlformats.org/drawingml/2006/main" noGrp="1"/>
          </p:cNvSpPr>
          <p:nvPr/>
        </p:nvSpPr>
        <p:spPr>
          <a:xfrm xmlns:a="http://schemas.openxmlformats.org/drawingml/2006/main">
            <a:off x="11239500" y="64865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36</a:t>
            </a:r>
          </a:p>
        </p:txBody>
      </p:sp>
      <p:sp>
        <p:nvSpPr>
          <p:cNvPr id="6" name="text-v8bov9">
            <a:extLst xmlns:a="http://schemas.openxmlformats.org/drawingml/2006/main">
              <a:ext uri="{FF2B5EF4-FFF2-40B4-BE49-F238E27FC236}">
                <a16:creationId xmlns:a16="http://schemas.microsoft.com/office/drawing/2014/main" id="{21F897A0-B770-4B5C-8EEB-683BFE87F101}"/>
              </a:ext>
            </a:extLst>
          </p:cNvPr>
          <p:cNvSpPr>
            <a:spLocks xmlns:a="http://schemas.openxmlformats.org/drawingml/2006/main" noGrp="1"/>
          </p:cNvSpPr>
          <p:nvPr/>
        </p:nvSpPr>
        <p:spPr>
          <a:xfrm xmlns:a="http://schemas.openxmlformats.org/drawingml/2006/main">
            <a:off x="4953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Câu hỏi phản biện</a:t>
            </a:r>
          </a:p>
        </p:txBody>
      </p:sp>
      <p:sp>
        <p:nvSpPr>
          <p:cNvPr id="7" name="text-n1suep">
            <a:extLst xmlns:a="http://schemas.openxmlformats.org/drawingml/2006/main">
              <a:ext uri="{FF2B5EF4-FFF2-40B4-BE49-F238E27FC236}">
                <a16:creationId xmlns:a16="http://schemas.microsoft.com/office/drawing/2014/main" id="{DD2B4D21-48D1-4494-8BF8-6210F4E2F818}"/>
              </a:ext>
            </a:extLst>
          </p:cNvPr>
          <p:cNvSpPr>
            <a:spLocks xmlns:a="http://schemas.openxmlformats.org/drawingml/2006/main" noGrp="1"/>
          </p:cNvSpPr>
          <p:nvPr/>
        </p:nvSpPr>
        <p:spPr>
          <a:xfrm xmlns:a="http://schemas.openxmlformats.org/drawingml/2006/main">
            <a:off x="4953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Vì sao không chỉ dùng Whisper + ChatGPT?</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Dựa vào đâu nói hệ thống theo CEFR?</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40–60 người có quá ít để làm AI không?</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Nếu model không đạt target thì khóa luận có thất bại?</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Hệ thống có thiên vị accent không?</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Vì sao QWK 0,60 không phải chuẩn CEFR?</a:t>
            </a:r>
          </a:p>
        </p:txBody>
      </p:sp>
      <p:sp>
        <p:nvSpPr>
          <p:cNvPr id="8" name="rule">
            <a:extLst xmlns:a="http://schemas.openxmlformats.org/drawingml/2006/main">
              <a:ext uri="{FF2B5EF4-FFF2-40B4-BE49-F238E27FC236}">
                <a16:creationId xmlns:a16="http://schemas.microsoft.com/office/drawing/2014/main" id="{A6F9DEAA-FF1B-43FF-A2B0-FE67D63F13B7}"/>
              </a:ext>
            </a:extLst>
          </p:cNvPr>
          <p:cNvSpPr>
            <a:spLocks xmlns:a="http://schemas.openxmlformats.org/drawingml/2006/main" noGrp="1"/>
          </p:cNvSpPr>
          <p:nvPr/>
        </p:nvSpPr>
        <p:spPr>
          <a:xfrm xmlns:a="http://schemas.openxmlformats.org/drawingml/2006/main">
            <a:off x="5981700" y="1562100"/>
            <a:ext cx="19050" cy="0"/>
          </a:xfrm>
          <a:prstGeom xmlns:a="http://schemas.openxmlformats.org/drawingml/2006/main" prst="rect">
            <a:avLst/>
          </a:prstGeom>
          <a:ln xmlns:a="http://schemas.openxmlformats.org/drawingml/2006/main" w="0">
            <a:prstDash val="solid"/>
          </a:ln>
        </p:spPr>
      </p:sp>
      <p:sp>
        <p:nvSpPr>
          <p:cNvPr id="9" name="text-kc7go9">
            <a:extLst xmlns:a="http://schemas.openxmlformats.org/drawingml/2006/main">
              <a:ext uri="{FF2B5EF4-FFF2-40B4-BE49-F238E27FC236}">
                <a16:creationId xmlns:a16="http://schemas.microsoft.com/office/drawing/2014/main" id="{C9C0F65B-3D56-4D29-95A4-CC869D7DB97A}"/>
              </a:ext>
            </a:extLst>
          </p:cNvPr>
          <p:cNvSpPr>
            <a:spLocks xmlns:a="http://schemas.openxmlformats.org/drawingml/2006/main" noGrp="1"/>
          </p:cNvSpPr>
          <p:nvPr/>
        </p:nvSpPr>
        <p:spPr>
          <a:xfrm xmlns:a="http://schemas.openxmlformats.org/drawingml/2006/main">
            <a:off x="6477000" y="1562100"/>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859A9"/>
                </a:solidFill>
                <a:latin typeface="Arial"/>
                <a:ea typeface="Arial"/>
                <a:cs typeface="Arial"/>
              </a:defRPr>
            </a:pPr>
            <a:r>
              <a:rPr sz="1800" b="1" i="0">
                <a:solidFill>
                  <a:srgbClr val="1859A9"/>
                </a:solidFill>
                <a:latin typeface="Arial"/>
                <a:ea typeface="Arial"/>
                <a:cs typeface="Arial"/>
              </a:rPr>
              <a:t>Việc phải làm ngay</a:t>
            </a:r>
          </a:p>
        </p:txBody>
      </p:sp>
      <p:sp>
        <p:nvSpPr>
          <p:cNvPr id="10" name="text-c18ecl">
            <a:extLst xmlns:a="http://schemas.openxmlformats.org/drawingml/2006/main">
              <a:ext uri="{FF2B5EF4-FFF2-40B4-BE49-F238E27FC236}">
                <a16:creationId xmlns:a16="http://schemas.microsoft.com/office/drawing/2014/main" id="{095D0C9B-882F-4A9E-A658-665C9E7847FD}"/>
              </a:ext>
            </a:extLst>
          </p:cNvPr>
          <p:cNvSpPr>
            <a:spLocks xmlns:a="http://schemas.openxmlformats.org/drawingml/2006/main" noGrp="1"/>
          </p:cNvSpPr>
          <p:nvPr/>
        </p:nvSpPr>
        <p:spPr>
          <a:xfrm xmlns:a="http://schemas.openxmlformats.org/drawingml/2006/main">
            <a:off x="6477000" y="2038350"/>
            <a:ext cx="52197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Gửi tên đề tài, phạm vi A2–B2 và RQ cho GVHD duyệt.</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Xác nhận hai rater và lịch calibration.</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Xin mẫu consent/ethics và chốt nơi lưu audio.</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Tạo rubric working sheet và 6 prompt A/B/C.</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Tạo repo có .gitignore cho audio/identity.</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 Chạy Whisper thử trên ít nhất ba audio người Việt.</a:t>
            </a:r>
          </a:p>
        </p:txBody>
      </p:sp>
    </p:spTree>
    <p:extLst>
      <p:ext uri="{BB962C8B-B14F-4D97-AF65-F5344CB8AC3E}">
        <p14:creationId xmlns:p14="http://schemas.microsoft.com/office/powerpoint/2010/main" val="4008624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agoj50">
            <a:extLst xmlns:a="http://schemas.openxmlformats.org/drawingml/2006/main">
              <a:ext uri="{FF2B5EF4-FFF2-40B4-BE49-F238E27FC236}">
                <a16:creationId xmlns:a16="http://schemas.microsoft.com/office/drawing/2014/main" id="{46CFF081-9FC0-4668-9630-0984C11EBC7A}"/>
              </a:ext>
            </a:extLst>
          </p:cNvPr>
          <p:cNvSpPr>
            <a:spLocks xmlns:a="http://schemas.openxmlformats.org/drawingml/2006/main" noGrp="1"/>
          </p:cNvSpPr>
          <p:nvPr/>
        </p:nvSpPr>
        <p:spPr>
          <a:xfrm xmlns:a="http://schemas.openxmlformats.org/drawingml/2006/main">
            <a:off x="495300" y="457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859A9"/>
                </a:solidFill>
                <a:latin typeface="Arial"/>
                <a:ea typeface="Arial"/>
                <a:cs typeface="Arial"/>
              </a:defRPr>
            </a:pPr>
            <a:r>
              <a:rPr sz="1200" b="1" i="0">
                <a:solidFill>
                  <a:srgbClr val="1859A9"/>
                </a:solidFill>
                <a:latin typeface="Arial"/>
                <a:ea typeface="Arial"/>
                <a:cs typeface="Arial"/>
              </a:rPr>
              <a:t>KẾT LUẬN</a:t>
            </a:r>
          </a:p>
        </p:txBody>
      </p:sp>
      <p:sp>
        <p:nvSpPr>
          <p:cNvPr id="2" name="text-r6i6r9">
            <a:extLst xmlns:a="http://schemas.openxmlformats.org/drawingml/2006/main">
              <a:ext uri="{FF2B5EF4-FFF2-40B4-BE49-F238E27FC236}">
                <a16:creationId xmlns:a16="http://schemas.microsoft.com/office/drawing/2014/main" id="{CB399FE1-1A29-4412-8506-6E0F25113573}"/>
              </a:ext>
            </a:extLst>
          </p:cNvPr>
          <p:cNvSpPr>
            <a:spLocks xmlns:a="http://schemas.openxmlformats.org/drawingml/2006/main" noGrp="1"/>
          </p:cNvSpPr>
          <p:nvPr/>
        </p:nvSpPr>
        <p:spPr>
          <a:xfrm xmlns:a="http://schemas.openxmlformats.org/drawingml/2006/main">
            <a:off x="495300" y="1104900"/>
            <a:ext cx="8953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i="0">
                <a:solidFill>
                  <a:srgbClr val="111827"/>
                </a:solidFill>
                <a:latin typeface="Arial"/>
                <a:ea typeface="Arial"/>
                <a:cs typeface="Arial"/>
              </a:defRPr>
            </a:pPr>
            <a:r>
              <a:rPr sz="3900" b="1" i="0">
                <a:solidFill>
                  <a:srgbClr val="111827"/>
                </a:solidFill>
                <a:latin typeface="Arial"/>
                <a:ea typeface="Arial"/>
                <a:cs typeface="Arial"/>
              </a:rPr>
              <a:t>Giá trị của đề tài không nằm ở việc</a:t>
            </a:r>
          </a:p>
          <a:p xmlns:a="http://schemas.openxmlformats.org/drawingml/2006/main">
            <a:pPr algn="l">
              <a:defRPr sz="3900" b="1" i="0">
                <a:solidFill>
                  <a:srgbClr val="111827"/>
                </a:solidFill>
                <a:latin typeface="Arial"/>
                <a:ea typeface="Arial"/>
                <a:cs typeface="Arial"/>
              </a:defRPr>
            </a:pPr>
            <a:r>
              <a:rPr sz="3900" b="1" i="0">
                <a:solidFill>
                  <a:srgbClr val="111827"/>
                </a:solidFill>
                <a:latin typeface="Arial"/>
                <a:ea typeface="Arial"/>
                <a:cs typeface="Arial"/>
              </a:rPr>
              <a:t>AI cho ra một con số.</a:t>
            </a:r>
          </a:p>
        </p:txBody>
      </p:sp>
      <p:sp>
        <p:nvSpPr>
          <p:cNvPr id="3" name="rule">
            <a:extLst xmlns:a="http://schemas.openxmlformats.org/drawingml/2006/main">
              <a:ext uri="{FF2B5EF4-FFF2-40B4-BE49-F238E27FC236}">
                <a16:creationId xmlns:a16="http://schemas.microsoft.com/office/drawing/2014/main" id="{813ECF84-45E4-4B6B-8413-D5A207812BE6}"/>
              </a:ext>
            </a:extLst>
          </p:cNvPr>
          <p:cNvSpPr>
            <a:spLocks xmlns:a="http://schemas.openxmlformats.org/drawingml/2006/main" noGrp="1"/>
          </p:cNvSpPr>
          <p:nvPr/>
        </p:nvSpPr>
        <p:spPr>
          <a:xfrm xmlns:a="http://schemas.openxmlformats.org/drawingml/2006/main">
            <a:off x="495300" y="2724150"/>
            <a:ext cx="47625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4" name="text-z4uw62">
            <a:extLst xmlns:a="http://schemas.openxmlformats.org/drawingml/2006/main">
              <a:ext uri="{FF2B5EF4-FFF2-40B4-BE49-F238E27FC236}">
                <a16:creationId xmlns:a16="http://schemas.microsoft.com/office/drawing/2014/main" id="{0D4353EC-59F8-47FF-85BC-DD90C4C3FAE0}"/>
              </a:ext>
            </a:extLst>
          </p:cNvPr>
          <p:cNvSpPr>
            <a:spLocks xmlns:a="http://schemas.openxmlformats.org/drawingml/2006/main" noGrp="1"/>
          </p:cNvSpPr>
          <p:nvPr/>
        </p:nvSpPr>
        <p:spPr>
          <a:xfrm xmlns:a="http://schemas.openxmlformats.org/drawingml/2006/main">
            <a:off x="495300" y="3143250"/>
            <a:ext cx="10096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i="0">
                <a:solidFill>
                  <a:srgbClr val="111827"/>
                </a:solidFill>
                <a:latin typeface="Arial"/>
                <a:ea typeface="Arial"/>
                <a:cs typeface="Arial"/>
              </a:defRPr>
            </a:pPr>
            <a:r>
              <a:rPr sz="2100" b="0" i="0">
                <a:solidFill>
                  <a:srgbClr val="111827"/>
                </a:solidFill>
                <a:latin typeface="Arial"/>
                <a:ea typeface="Arial"/>
                <a:cs typeface="Arial"/>
              </a:rPr>
              <a:t>Giá trị nằm ở việc hệ thống giải thích được vì sao chấm như vậy, biết khi nào không chắc chắn và cho phép giảng viên kiểm soát kết quả.</a:t>
            </a:r>
          </a:p>
        </p:txBody>
      </p:sp>
      <p:sp>
        <p:nvSpPr>
          <p:cNvPr id="5" name="text-58vp45">
            <a:extLst xmlns:a="http://schemas.openxmlformats.org/drawingml/2006/main">
              <a:ext uri="{FF2B5EF4-FFF2-40B4-BE49-F238E27FC236}">
                <a16:creationId xmlns:a16="http://schemas.microsoft.com/office/drawing/2014/main" id="{EDB73D99-CEDF-44C0-B39A-B5286BA72281}"/>
              </a:ext>
            </a:extLst>
          </p:cNvPr>
          <p:cNvSpPr>
            <a:spLocks xmlns:a="http://schemas.openxmlformats.org/drawingml/2006/main" noGrp="1"/>
          </p:cNvSpPr>
          <p:nvPr/>
        </p:nvSpPr>
        <p:spPr>
          <a:xfrm xmlns:a="http://schemas.openxmlformats.org/drawingml/2006/main">
            <a:off x="495300" y="47625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859A9"/>
                </a:solidFill>
                <a:latin typeface="Arial"/>
                <a:ea typeface="Arial"/>
                <a:cs typeface="Arial"/>
              </a:defRPr>
            </a:pPr>
            <a:r>
              <a:rPr sz="1650" b="1" i="0">
                <a:solidFill>
                  <a:srgbClr val="1859A9"/>
                </a:solidFill>
                <a:latin typeface="Arial"/>
                <a:ea typeface="Arial"/>
                <a:cs typeface="Arial"/>
              </a:rPr>
              <a:t>Một khóa luận tốt cần chứng minh ba điều:</a:t>
            </a:r>
          </a:p>
        </p:txBody>
      </p:sp>
      <p:sp>
        <p:nvSpPr>
          <p:cNvPr id="6" name="text-xobvqk">
            <a:extLst xmlns:a="http://schemas.openxmlformats.org/drawingml/2006/main">
              <a:ext uri="{FF2B5EF4-FFF2-40B4-BE49-F238E27FC236}">
                <a16:creationId xmlns:a16="http://schemas.microsoft.com/office/drawing/2014/main" id="{5863DA3F-131D-4BEA-AA6F-35AB6D1AA68F}"/>
              </a:ext>
            </a:extLst>
          </p:cNvPr>
          <p:cNvSpPr>
            <a:spLocks xmlns:a="http://schemas.openxmlformats.org/drawingml/2006/main" noGrp="1"/>
          </p:cNvSpPr>
          <p:nvPr/>
        </p:nvSpPr>
        <p:spPr>
          <a:xfrm xmlns:a="http://schemas.openxmlformats.org/drawingml/2006/main">
            <a:off x="495300" y="52197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2E8B57"/>
                </a:solidFill>
                <a:latin typeface="Arial"/>
                <a:ea typeface="Arial"/>
                <a:cs typeface="Arial"/>
              </a:defRPr>
            </a:pPr>
            <a:r>
              <a:rPr sz="1800" b="1" i="0">
                <a:solidFill>
                  <a:srgbClr val="2E8B57"/>
                </a:solidFill>
                <a:latin typeface="Arial"/>
                <a:ea typeface="Arial"/>
                <a:cs typeface="Arial"/>
              </a:rPr>
              <a:t>1. Đúng construct  •  2. Đúng dữ liệu và phép thử  •  3. Đúng giới hạn sử dụng</a:t>
            </a:r>
          </a:p>
        </p:txBody>
      </p:sp>
      <p:sp>
        <p:nvSpPr>
          <p:cNvPr id="7" name="callout-6o2kp">
            <a:extLst xmlns:a="http://schemas.openxmlformats.org/drawingml/2006/main">
              <a:ext uri="{FF2B5EF4-FFF2-40B4-BE49-F238E27FC236}">
                <a16:creationId xmlns:a16="http://schemas.microsoft.com/office/drawing/2014/main" id="{75E44BB3-2FF3-43D5-9742-7F3EDFDFE95E}"/>
              </a:ext>
            </a:extLst>
          </p:cNvPr>
          <p:cNvSpPr>
            <a:spLocks xmlns:a="http://schemas.openxmlformats.org/drawingml/2006/main" noGrp="1"/>
          </p:cNvSpPr>
          <p:nvPr/>
        </p:nvSpPr>
        <p:spPr>
          <a:xfrm xmlns:a="http://schemas.openxmlformats.org/drawingml/2006/main">
            <a:off x="495300" y="5943600"/>
            <a:ext cx="10668000" cy="552450"/>
          </a:xfrm>
          <a:prstGeom xmlns:a="http://schemas.openxmlformats.org/drawingml/2006/main" prst="roundRect">
            <a:avLst>
              <a:gd name="adj" fmla="val 10345"/>
            </a:avLst>
          </a:prstGeom>
          <a:solidFill xmlns:a="http://schemas.openxmlformats.org/drawingml/2006/main">
            <a:srgbClr val="EAF5FB"/>
          </a:solidFill>
          <a:ln xmlns:a="http://schemas.openxmlformats.org/drawingml/2006/main" w="9525">
            <a:solidFill>
              <a:srgbClr val="3D8DFF"/>
            </a:solidFill>
            <a:prstDash val="solid"/>
          </a:ln>
        </p:spPr>
      </p:sp>
      <p:sp>
        <p:nvSpPr>
          <p:cNvPr id="8" name="callout-text">
            <a:extLst xmlns:a="http://schemas.openxmlformats.org/drawingml/2006/main">
              <a:ext uri="{FF2B5EF4-FFF2-40B4-BE49-F238E27FC236}">
                <a16:creationId xmlns:a16="http://schemas.microsoft.com/office/drawing/2014/main" id="{C6D02847-2ABE-4627-B375-074567005BBA}"/>
              </a:ext>
            </a:extLst>
          </p:cNvPr>
          <p:cNvSpPr>
            <a:spLocks xmlns:a="http://schemas.openxmlformats.org/drawingml/2006/main" noGrp="1"/>
          </p:cNvSpPr>
          <p:nvPr/>
        </p:nvSpPr>
        <p:spPr>
          <a:xfrm xmlns:a="http://schemas.openxmlformats.org/drawingml/2006/main">
            <a:off x="666750" y="6076950"/>
            <a:ext cx="1032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859A9"/>
                </a:solidFill>
                <a:latin typeface="Arial"/>
                <a:ea typeface="Arial"/>
                <a:cs typeface="Arial"/>
              </a:defRPr>
            </a:pPr>
            <a:r>
              <a:rPr sz="1500" b="1" i="0">
                <a:solidFill>
                  <a:srgbClr val="1859A9"/>
                </a:solidFill>
                <a:latin typeface="Arial"/>
                <a:ea typeface="Arial"/>
                <a:cs typeface="Arial"/>
              </a:rPr>
              <a:t>Quyết định tiếp theo: khóa rubric, rater và kênh tuyển dữ liệu trước khi bắt đầu xây thêm tính năng.</a:t>
            </a:r>
          </a:p>
        </p:txBody>
      </p:sp>
      <p:sp>
        <p:nvSpPr>
          <p:cNvPr id="9" name="text-au98yj">
            <a:extLst xmlns:a="http://schemas.openxmlformats.org/drawingml/2006/main">
              <a:ext uri="{FF2B5EF4-FFF2-40B4-BE49-F238E27FC236}">
                <a16:creationId xmlns:a16="http://schemas.microsoft.com/office/drawing/2014/main" id="{34DCA847-3DAA-4C3D-9745-CEB791FD1D56}"/>
              </a:ext>
            </a:extLst>
          </p:cNvPr>
          <p:cNvSpPr>
            <a:spLocks xmlns:a="http://schemas.openxmlformats.org/drawingml/2006/main" noGrp="1"/>
          </p:cNvSpPr>
          <p:nvPr/>
        </p:nvSpPr>
        <p:spPr>
          <a:xfrm xmlns:a="http://schemas.openxmlformats.org/drawingml/2006/main">
            <a:off x="11239500" y="65055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i="0">
                <a:solidFill>
                  <a:srgbClr val="5E6B78"/>
                </a:solidFill>
                <a:latin typeface="Arial"/>
                <a:ea typeface="Arial"/>
                <a:cs typeface="Arial"/>
              </a:defRPr>
            </a:pPr>
            <a:r>
              <a:rPr sz="975" b="0" i="0">
                <a:solidFill>
                  <a:srgbClr val="5E6B78"/>
                </a:solidFill>
                <a:latin typeface="Arial"/>
                <a:ea typeface="Arial"/>
                <a:cs typeface="Arial"/>
              </a:rPr>
              <a:t>37</a:t>
            </a:r>
          </a:p>
        </p:txBody>
      </p:sp>
    </p:spTree>
    <p:extLst>
      <p:ext uri="{BB962C8B-B14F-4D97-AF65-F5344CB8AC3E}">
        <p14:creationId xmlns:p14="http://schemas.microsoft.com/office/powerpoint/2010/main" val="1520583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2026-08-22T10:23:31.8170000Z</dcterms:created>
  <dcterms:modified xsi:type="dcterms:W3CDTF">2026-08-22T10:23:31.8170000Z</dcterms:modified>
</coreProperties>
</file>