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24e7928829c44b1" /><Relationship Type="http://schemas.openxmlformats.org/officeDocument/2006/relationships/extended-properties" Target="/docProps/app.xml" Id="R4cb74b91e9b943f4" /><Relationship Type="http://schemas.openxmlformats.org/officeDocument/2006/relationships/officeDocument" Target="/ppt/presentation.xml" Id="Rceac1717edbd4ab0" /></Relationships>
</file>

<file path=ppt/presentation.xml><?xml version="1.0" encoding="utf-8"?>
<p:presentation xmlns:p="http://schemas.openxmlformats.org/presentationml/2006/main">
  <p:sldMasterIdLst>
    <p:sldMasterId xmlns:r="http://schemas.openxmlformats.org/officeDocument/2006/relationships" id="2147483648" r:id="Re6d1c0abe1b54369"/>
  </p:sldMasterIdLst>
  <p:notesMasterIdLst>
    <p:notesMasterId xmlns:r="http://schemas.openxmlformats.org/officeDocument/2006/relationships" r:id="R60c1bfb3b5d946fe"/>
  </p:notesMasterIdLst>
  <p:sldIdLst>
    <p:sldId xmlns:r="http://schemas.openxmlformats.org/officeDocument/2006/relationships" id="256" r:id="R7699560952254efa"/>
    <p:sldId xmlns:r="http://schemas.openxmlformats.org/officeDocument/2006/relationships" id="257" r:id="R52e18563a00343ba"/>
    <p:sldId xmlns:r="http://schemas.openxmlformats.org/officeDocument/2006/relationships" id="258" r:id="Ra6ec66ad5eb2436e"/>
    <p:sldId xmlns:r="http://schemas.openxmlformats.org/officeDocument/2006/relationships" id="259" r:id="Rb3dbc0c47fcb44c5"/>
    <p:sldId xmlns:r="http://schemas.openxmlformats.org/officeDocument/2006/relationships" id="260" r:id="R4c27b07345564e73"/>
    <p:sldId xmlns:r="http://schemas.openxmlformats.org/officeDocument/2006/relationships" id="261" r:id="Rceb9581515d041e5"/>
    <p:sldId xmlns:r="http://schemas.openxmlformats.org/officeDocument/2006/relationships" id="262" r:id="Rab4b4e85913c4f51"/>
    <p:sldId xmlns:r="http://schemas.openxmlformats.org/officeDocument/2006/relationships" id="263" r:id="R1baa6256382a4f7c"/>
    <p:sldId xmlns:r="http://schemas.openxmlformats.org/officeDocument/2006/relationships" id="264" r:id="R5bde05c2b5d94f6e"/>
    <p:sldId xmlns:r="http://schemas.openxmlformats.org/officeDocument/2006/relationships" id="265" r:id="R3a005aa62742494c"/>
    <p:sldId xmlns:r="http://schemas.openxmlformats.org/officeDocument/2006/relationships" id="266" r:id="R08b8ceef71d64c1b"/>
    <p:sldId xmlns:r="http://schemas.openxmlformats.org/officeDocument/2006/relationships" id="267" r:id="R150110421a0b4fd5"/>
    <p:sldId xmlns:r="http://schemas.openxmlformats.org/officeDocument/2006/relationships" id="268" r:id="Rbaf8137dad634d42"/>
    <p:sldId xmlns:r="http://schemas.openxmlformats.org/officeDocument/2006/relationships" id="269" r:id="Re19ce999ec174f91"/>
    <p:sldId xmlns:r="http://schemas.openxmlformats.org/officeDocument/2006/relationships" id="270" r:id="R18599c9bcc084377"/>
    <p:sldId xmlns:r="http://schemas.openxmlformats.org/officeDocument/2006/relationships" id="271" r:id="Ra985cabd6a784b03"/>
    <p:sldId xmlns:r="http://schemas.openxmlformats.org/officeDocument/2006/relationships" id="272" r:id="R1002b390f6af48bc"/>
    <p:sldId xmlns:r="http://schemas.openxmlformats.org/officeDocument/2006/relationships" id="273" r:id="R1d328bda23c04c0a"/>
    <p:sldId xmlns:r="http://schemas.openxmlformats.org/officeDocument/2006/relationships" id="274" r:id="Recf7e43d326f4f33"/>
    <p:sldId xmlns:r="http://schemas.openxmlformats.org/officeDocument/2006/relationships" id="275" r:id="Rc6b2aff0cfe248ca"/>
    <p:sldId xmlns:r="http://schemas.openxmlformats.org/officeDocument/2006/relationships" id="276" r:id="R671f3e6055e84788"/>
    <p:sldId xmlns:r="http://schemas.openxmlformats.org/officeDocument/2006/relationships" id="277" r:id="R3ef840a65f604e48"/>
    <p:sldId xmlns:r="http://schemas.openxmlformats.org/officeDocument/2006/relationships" id="278" r:id="R4ff9c4a9dab148e0"/>
    <p:sldId xmlns:r="http://schemas.openxmlformats.org/officeDocument/2006/relationships" id="279" r:id="R17438f277d5d4163"/>
    <p:sldId xmlns:r="http://schemas.openxmlformats.org/officeDocument/2006/relationships" id="280" r:id="R979806b0058642d0"/>
    <p:sldId xmlns:r="http://schemas.openxmlformats.org/officeDocument/2006/relationships" id="281" r:id="Rf083b149cc6e4b82"/>
    <p:sldId xmlns:r="http://schemas.openxmlformats.org/officeDocument/2006/relationships" id="282" r:id="R827d189d285e4e3c"/>
    <p:sldId xmlns:r="http://schemas.openxmlformats.org/officeDocument/2006/relationships" id="283" r:id="R5c02a2cc99484e7b"/>
    <p:sldId xmlns:r="http://schemas.openxmlformats.org/officeDocument/2006/relationships" id="284" r:id="Ra1663591a53743b8"/>
    <p:sldId xmlns:r="http://schemas.openxmlformats.org/officeDocument/2006/relationships" id="285" r:id="R8496ad6b6c8a45d6"/>
    <p:sldId xmlns:r="http://schemas.openxmlformats.org/officeDocument/2006/relationships" id="286" r:id="Rdf36f62dbe1f4504"/>
    <p:sldId xmlns:r="http://schemas.openxmlformats.org/officeDocument/2006/relationships" id="287" r:id="Ra8b0ae29efb4478c"/>
    <p:sldId xmlns:r="http://schemas.openxmlformats.org/officeDocument/2006/relationships" id="288" r:id="R771b59c5db674711"/>
    <p:sldId xmlns:r="http://schemas.openxmlformats.org/officeDocument/2006/relationships" id="289" r:id="R73ade56a79d144e0"/>
    <p:sldId xmlns:r="http://schemas.openxmlformats.org/officeDocument/2006/relationships" id="290" r:id="Rd03c29c716e547a8"/>
    <p:sldId xmlns:r="http://schemas.openxmlformats.org/officeDocument/2006/relationships" id="291" r:id="Rc540b240f0af48f1"/>
    <p:sldId xmlns:r="http://schemas.openxmlformats.org/officeDocument/2006/relationships" id="292" r:id="Rdaf4fd3e23744976"/>
    <p:sldId xmlns:r="http://schemas.openxmlformats.org/officeDocument/2006/relationships" id="293" r:id="Ra515db6b81cd439e"/>
    <p:sldId xmlns:r="http://schemas.openxmlformats.org/officeDocument/2006/relationships" id="294" r:id="Rb303b5358e334017"/>
    <p:sldId xmlns:r="http://schemas.openxmlformats.org/officeDocument/2006/relationships" id="295" r:id="R4ead202dcfdb469a"/>
    <p:sldId xmlns:r="http://schemas.openxmlformats.org/officeDocument/2006/relationships" id="296" r:id="R4a2d7618daad44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830f2963d246e8" /><Relationship Type="http://schemas.openxmlformats.org/officeDocument/2006/relationships/slideMaster" Target="/ppt/slideMasters/slideMaster1.xml" Id="Re6d1c0abe1b54369" /><Relationship Type="http://schemas.openxmlformats.org/officeDocument/2006/relationships/notesMaster" Target="/ppt/notesMasters/notesMaster1.xml" Id="R60c1bfb3b5d946fe" /><Relationship Type="http://schemas.openxmlformats.org/officeDocument/2006/relationships/presProps" Target="/ppt/presProps.xml" Id="R7b4c787c20d346e2" /><Relationship Type="http://schemas.openxmlformats.org/officeDocument/2006/relationships/tableStyles" Target="/ppt/tableStyles.xml" Id="R11b2d77ee12348a5" /><Relationship Type="http://schemas.openxmlformats.org/officeDocument/2006/relationships/slide" Target="/ppt/slides/slide1.xml" Id="R7699560952254efa" /><Relationship Type="http://schemas.openxmlformats.org/officeDocument/2006/relationships/slide" Target="/ppt/slides/slide2.xml" Id="R52e18563a00343ba" /><Relationship Type="http://schemas.openxmlformats.org/officeDocument/2006/relationships/slide" Target="/ppt/slides/slide3.xml" Id="Ra6ec66ad5eb2436e" /><Relationship Type="http://schemas.openxmlformats.org/officeDocument/2006/relationships/slide" Target="/ppt/slides/slide4.xml" Id="Rb3dbc0c47fcb44c5" /><Relationship Type="http://schemas.openxmlformats.org/officeDocument/2006/relationships/slide" Target="/ppt/slides/slide5.xml" Id="R4c27b07345564e73" /><Relationship Type="http://schemas.openxmlformats.org/officeDocument/2006/relationships/slide" Target="/ppt/slides/slide6.xml" Id="Rceb9581515d041e5" /><Relationship Type="http://schemas.openxmlformats.org/officeDocument/2006/relationships/slide" Target="/ppt/slides/slide7.xml" Id="Rab4b4e85913c4f51" /><Relationship Type="http://schemas.openxmlformats.org/officeDocument/2006/relationships/slide" Target="/ppt/slides/slide8.xml" Id="R1baa6256382a4f7c" /><Relationship Type="http://schemas.openxmlformats.org/officeDocument/2006/relationships/slide" Target="/ppt/slides/slide9.xml" Id="R5bde05c2b5d94f6e" /><Relationship Type="http://schemas.openxmlformats.org/officeDocument/2006/relationships/slide" Target="/ppt/slides/slide10.xml" Id="R3a005aa62742494c" /><Relationship Type="http://schemas.openxmlformats.org/officeDocument/2006/relationships/slide" Target="/ppt/slides/slide11.xml" Id="R08b8ceef71d64c1b" /><Relationship Type="http://schemas.openxmlformats.org/officeDocument/2006/relationships/slide" Target="/ppt/slides/slide12.xml" Id="R150110421a0b4fd5" /><Relationship Type="http://schemas.openxmlformats.org/officeDocument/2006/relationships/slide" Target="/ppt/slides/slide13.xml" Id="Rbaf8137dad634d42" /><Relationship Type="http://schemas.openxmlformats.org/officeDocument/2006/relationships/slide" Target="/ppt/slides/slide14.xml" Id="Re19ce999ec174f91" /><Relationship Type="http://schemas.openxmlformats.org/officeDocument/2006/relationships/slide" Target="/ppt/slides/slide15.xml" Id="R18599c9bcc084377" /><Relationship Type="http://schemas.openxmlformats.org/officeDocument/2006/relationships/slide" Target="/ppt/slides/slide16.xml" Id="Ra985cabd6a784b03" /><Relationship Type="http://schemas.openxmlformats.org/officeDocument/2006/relationships/slide" Target="/ppt/slides/slide17.xml" Id="R1002b390f6af48bc" /><Relationship Type="http://schemas.openxmlformats.org/officeDocument/2006/relationships/slide" Target="/ppt/slides/slide18.xml" Id="R1d328bda23c04c0a" /><Relationship Type="http://schemas.openxmlformats.org/officeDocument/2006/relationships/slide" Target="/ppt/slides/slide19.xml" Id="Recf7e43d326f4f33" /><Relationship Type="http://schemas.openxmlformats.org/officeDocument/2006/relationships/slide" Target="/ppt/slides/slide20.xml" Id="Rc6b2aff0cfe248ca" /><Relationship Type="http://schemas.openxmlformats.org/officeDocument/2006/relationships/slide" Target="/ppt/slides/slide21.xml" Id="R671f3e6055e84788" /><Relationship Type="http://schemas.openxmlformats.org/officeDocument/2006/relationships/slide" Target="/ppt/slides/slide22.xml" Id="R3ef840a65f604e48" /><Relationship Type="http://schemas.openxmlformats.org/officeDocument/2006/relationships/slide" Target="/ppt/slides/slide23.xml" Id="R4ff9c4a9dab148e0" /><Relationship Type="http://schemas.openxmlformats.org/officeDocument/2006/relationships/slide" Target="/ppt/slides/slide24.xml" Id="R17438f277d5d4163" /><Relationship Type="http://schemas.openxmlformats.org/officeDocument/2006/relationships/slide" Target="/ppt/slides/slide25.xml" Id="R979806b0058642d0" /><Relationship Type="http://schemas.openxmlformats.org/officeDocument/2006/relationships/slide" Target="/ppt/slides/slide26.xml" Id="Rf083b149cc6e4b82" /><Relationship Type="http://schemas.openxmlformats.org/officeDocument/2006/relationships/slide" Target="/ppt/slides/slide27.xml" Id="R827d189d285e4e3c" /><Relationship Type="http://schemas.openxmlformats.org/officeDocument/2006/relationships/slide" Target="/ppt/slides/slide28.xml" Id="R5c02a2cc99484e7b" /><Relationship Type="http://schemas.openxmlformats.org/officeDocument/2006/relationships/slide" Target="/ppt/slides/slide29.xml" Id="Ra1663591a53743b8" /><Relationship Type="http://schemas.openxmlformats.org/officeDocument/2006/relationships/slide" Target="/ppt/slides/slide30.xml" Id="R8496ad6b6c8a45d6" /><Relationship Type="http://schemas.openxmlformats.org/officeDocument/2006/relationships/slide" Target="/ppt/slides/slide31.xml" Id="Rdf36f62dbe1f4504" /><Relationship Type="http://schemas.openxmlformats.org/officeDocument/2006/relationships/slide" Target="/ppt/slides/slide32.xml" Id="Ra8b0ae29efb4478c" /><Relationship Type="http://schemas.openxmlformats.org/officeDocument/2006/relationships/slide" Target="/ppt/slides/slide33.xml" Id="R771b59c5db674711" /><Relationship Type="http://schemas.openxmlformats.org/officeDocument/2006/relationships/slide" Target="/ppt/slides/slide34.xml" Id="R73ade56a79d144e0" /><Relationship Type="http://schemas.openxmlformats.org/officeDocument/2006/relationships/slide" Target="/ppt/slides/slide35.xml" Id="Rd03c29c716e547a8" /><Relationship Type="http://schemas.openxmlformats.org/officeDocument/2006/relationships/slide" Target="/ppt/slides/slide36.xml" Id="Rc540b240f0af48f1" /><Relationship Type="http://schemas.openxmlformats.org/officeDocument/2006/relationships/slide" Target="/ppt/slides/slide37.xml" Id="Rdaf4fd3e23744976" /><Relationship Type="http://schemas.openxmlformats.org/officeDocument/2006/relationships/slide" Target="/ppt/slides/slide38.xml" Id="Ra515db6b81cd439e" /><Relationship Type="http://schemas.openxmlformats.org/officeDocument/2006/relationships/slide" Target="/ppt/slides/slide39.xml" Id="Rb303b5358e334017" /><Relationship Type="http://schemas.openxmlformats.org/officeDocument/2006/relationships/slide" Target="/ppt/slides/slide40.xml" Id="R4ead202dcfdb469a" /><Relationship Type="http://schemas.openxmlformats.org/officeDocument/2006/relationships/slide" Target="/ppt/slides/slide41.xml" Id="R4a2d7618daad44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05453fa9ee40a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e1d470d706b4a54" /><Relationship Type="http://schemas.openxmlformats.org/officeDocument/2006/relationships/notesMaster" Target="/ppt/notesMasters/notesMaster1.xml" Id="R5c52a25f3d074c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dc00ec0b844321" /><Relationship Type="http://schemas.openxmlformats.org/officeDocument/2006/relationships/notesMaster" Target="/ppt/notesMasters/notesMaster1.xml" Id="Rf3196cfa4beb485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ac60804bfd54dfb" /><Relationship Type="http://schemas.openxmlformats.org/officeDocument/2006/relationships/notesMaster" Target="/ppt/notesMasters/notesMaster1.xml" Id="R228896e8f62e449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564b94f8f9243dd" /><Relationship Type="http://schemas.openxmlformats.org/officeDocument/2006/relationships/notesMaster" Target="/ppt/notesMasters/notesMaster1.xml" Id="R90f2140bf3534f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fdc08603c2448c" /><Relationship Type="http://schemas.openxmlformats.org/officeDocument/2006/relationships/notesMaster" Target="/ppt/notesMasters/notesMaster1.xml" Id="Rbd3c167bea7f4cd0" /></Relationships>
</file>

<file path=ppt/notesSlides/_rels/notesSlide6.xml.rels>&#65279;<?xml version="1.0" encoding="utf-8"?><Relationships xmlns="http://schemas.openxmlformats.org/package/2006/relationships"><Relationship Type="http://schemas.openxmlformats.org/officeDocument/2006/relationships/slide" Target="/ppt/slides/slide6.xml" Id="R65e9b1f535d44797" /><Relationship Type="http://schemas.openxmlformats.org/officeDocument/2006/relationships/notesMaster" Target="/ppt/notesMasters/notesMaster1.xml" Id="Rb9b89724f2bb410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6e77014a24418f" /><Relationship Type="http://schemas.openxmlformats.org/officeDocument/2006/relationships/notesMaster" Target="/ppt/notesMasters/notesMaster1.xml" Id="R056b649f745246b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dfe083f7bd4538" /><Relationship Type="http://schemas.openxmlformats.org/officeDocument/2006/relationships/notesMaster" Target="/ppt/notesMasters/notesMaster1.xml" Id="Recb89d0ae55a49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be7792b6a5497a" /><Relationship Type="http://schemas.openxmlformats.org/officeDocument/2006/relationships/notesMaster" Target="/ppt/notesMasters/notesMaster1.xml" Id="R53ee27d4fc7f40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76e22c311f43f7" /><Relationship Type="http://schemas.openxmlformats.org/officeDocument/2006/relationships/notesMaster" Target="/ppt/notesMasters/notesMaster1.xml" Id="Rbf4e3bd6bc5643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48cec226e4f4dab" /><Relationship Type="http://schemas.openxmlformats.org/officeDocument/2006/relationships/notesMaster" Target="/ppt/notesMasters/notesMaster1.xml" Id="R180d84eb3ea449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7d565002b444769" /><Relationship Type="http://schemas.openxmlformats.org/officeDocument/2006/relationships/notesMaster" Target="/ppt/notesMasters/notesMaster1.xml" Id="R7b46f94916cf42d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5369a0a2f584590" /><Relationship Type="http://schemas.openxmlformats.org/officeDocument/2006/relationships/notesMaster" Target="/ppt/notesMasters/notesMaster1.xml" Id="R5351f40e8a9a424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5d608141194b90" /><Relationship Type="http://schemas.openxmlformats.org/officeDocument/2006/relationships/notesMaster" Target="/ppt/notesMasters/notesMaster1.xml" Id="Rc30a9e62ae0e48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d108cba7b8b4071" /><Relationship Type="http://schemas.openxmlformats.org/officeDocument/2006/relationships/notesMaster" Target="/ppt/notesMasters/notesMaster1.xml" Id="R7bfd7964fb95437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496087df43453a" /><Relationship Type="http://schemas.openxmlformats.org/officeDocument/2006/relationships/notesMaster" Target="/ppt/notesMasters/notesMaster1.xml" Id="R4e24197ed63f49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552712f4e604311" /><Relationship Type="http://schemas.openxmlformats.org/officeDocument/2006/relationships/notesMaster" Target="/ppt/notesMasters/notesMaster1.xml" Id="R5b625ea512944b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aa213fb95ea471b" /><Relationship Type="http://schemas.openxmlformats.org/officeDocument/2006/relationships/notesMaster" Target="/ppt/notesMasters/notesMaster1.xml" Id="Rc3327a6f7dc147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03c9f314f25438a" /><Relationship Type="http://schemas.openxmlformats.org/officeDocument/2006/relationships/notesMaster" Target="/ppt/notesMasters/notesMaster1.xml" Id="R4b7be2e204bc47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39ae12cae5843af" /><Relationship Type="http://schemas.openxmlformats.org/officeDocument/2006/relationships/notesMaster" Target="/ppt/notesMasters/notesMaster1.xml" Id="Rb86a9c470bc8462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f68e05a81644980" /><Relationship Type="http://schemas.openxmlformats.org/officeDocument/2006/relationships/notesMaster" Target="/ppt/notesMasters/notesMaster1.xml" Id="R9cfebb64858e4a1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8fc8ab9d4c47ce" /><Relationship Type="http://schemas.openxmlformats.org/officeDocument/2006/relationships/notesMaster" Target="/ppt/notesMasters/notesMaster1.xml" Id="Re62999b7740b49e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e26d56358b4dd4" /><Relationship Type="http://schemas.openxmlformats.org/officeDocument/2006/relationships/notesMaster" Target="/ppt/notesMasters/notesMaster1.xml" Id="Rb3ece6871f4840d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3551ec1e6284786" /><Relationship Type="http://schemas.openxmlformats.org/officeDocument/2006/relationships/notesMaster" Target="/ppt/notesMasters/notesMaster1.xml" Id="R25f673ab3e854e1e"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6b47df7d1746a9" /><Relationship Type="http://schemas.openxmlformats.org/officeDocument/2006/relationships/notesMaster" Target="/ppt/notesMasters/notesMaster1.xml" Id="R4a67bb24aeb346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0c82e7ce14e40e4" /><Relationship Type="http://schemas.openxmlformats.org/officeDocument/2006/relationships/notesMaster" Target="/ppt/notesMasters/notesMaster1.xml" Id="R417fe562624143b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dffc1a77b9b499f" /><Relationship Type="http://schemas.openxmlformats.org/officeDocument/2006/relationships/notesMaster" Target="/ppt/notesMasters/notesMaster1.xml" Id="Ref9d61e08d0b43d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b6e20e08b444cb2" /><Relationship Type="http://schemas.openxmlformats.org/officeDocument/2006/relationships/notesMaster" Target="/ppt/notesMasters/notesMaster1.xml" Id="Ref3d3b65101347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03e767fb92941d4" /><Relationship Type="http://schemas.openxmlformats.org/officeDocument/2006/relationships/notesMaster" Target="/ppt/notesMasters/notesMaster1.xml" Id="Rbcad6c8ae348438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6930f02f5894a85" /><Relationship Type="http://schemas.openxmlformats.org/officeDocument/2006/relationships/notesMaster" Target="/ppt/notesMasters/notesMaster1.xml" Id="R66182202ee8c4af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456defc7ab4f2f" /><Relationship Type="http://schemas.openxmlformats.org/officeDocument/2006/relationships/notesMaster" Target="/ppt/notesMasters/notesMaster1.xml" Id="Reafeb492c5d241c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c8b6842f12f4f1d" /><Relationship Type="http://schemas.openxmlformats.org/officeDocument/2006/relationships/notesMaster" Target="/ppt/notesMasters/notesMaster1.xml" Id="R7918401e10f84c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b1f8d16b08c1439c" /><Relationship Type="http://schemas.openxmlformats.org/officeDocument/2006/relationships/notesMaster" Target="/ppt/notesMasters/notesMaster1.xml" Id="Rea14ecf7434745e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b5f7c5508434865" /><Relationship Type="http://schemas.openxmlformats.org/officeDocument/2006/relationships/notesMaster" Target="/ppt/notesMasters/notesMaster1.xml" Id="Ra24d7442dd0746c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b2847b118a44475" /><Relationship Type="http://schemas.openxmlformats.org/officeDocument/2006/relationships/notesMaster" Target="/ppt/notesMasters/notesMaster1.xml" Id="R300fd1128319450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c8b8e01ac754523" /><Relationship Type="http://schemas.openxmlformats.org/officeDocument/2006/relationships/notesMaster" Target="/ppt/notesMasters/notesMaster1.xml" Id="R623989688d084f8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93230f5e5464f46" /><Relationship Type="http://schemas.openxmlformats.org/officeDocument/2006/relationships/notesMaster" Target="/ppt/notesMasters/notesMaster1.xml" Id="Re9a2cb84244848f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2cc3a06d83a41b8" /><Relationship Type="http://schemas.openxmlformats.org/officeDocument/2006/relationships/notesMaster" Target="/ppt/notesMasters/notesMaster1.xml" Id="R31287090045d425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3fff998fe344128" /><Relationship Type="http://schemas.openxmlformats.org/officeDocument/2006/relationships/notesMaster" Target="/ppt/notesMasters/notesMaster1.xml" Id="R48b571c00bc7426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40c4429ee2a4fb2" /><Relationship Type="http://schemas.openxmlformats.org/officeDocument/2006/relationships/notesMaster" Target="/ppt/notesMasters/notesMaster1.xml" Id="R936766db81f34ec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4eb06d670594403" /><Relationship Type="http://schemas.openxmlformats.org/officeDocument/2006/relationships/notesMaster" Target="/ppt/notesMasters/notesMaster1.xml" Id="R7ca5086a714d48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Mở đầu bằng một câu: đề tài không cố thay thế giảng viên; đề tài xây một trợ lý chấm sơ bộ, có bằng chứng và biết khi nào phải chuyển người thật xem lại.</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Hero image generated with OpenAI image generation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theo năm bước từ trái sang phải. Nhấn mạnh đầu ra là profile có điểm, bằng chứng, confidence và cờ review, không phải chứng chỉ CEFR.</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đưa ra con số tiết kiệm thời gian khi chưa đo. Chỉ mô tả cơ chế và vấn đề thực tế. Đây là nhu cầu formative/low-stakes, không phải thi chứng chỉ.</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https://www.coe.int/en/web/education/-/manual-for-language-test-development-and-examining-1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 nhóm câu hỏi gom RQ1–RQ6 của đề cương: validity/agreement, giá trị multimodal và error/fairness, calibration/reliability.</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a:p xmlns:a="http://schemas.openxmlformats.org/drawingml/2006/main">
            <a:r>
              <a:t>- https://www.ets.org/research/policy_research_reports/publications/report/2008/hukv.html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Phạm vi hẹp là điều kiện của tính khả thi. Hội đồng thường hỏi hệ thống có cấp chứng chỉ không; câu trả lời là không.</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https://www.coe.int/en/web/common-european-framework-reference-languages/relating-examinations-to-the-cefr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phần bổ sung theo nhận xét. D7 và D8 là điểm quan trọng: dữ liệu không dừng ở báo cáo mà trở thành profile có thể dùng cho nhiệm vụ luyện tiếp.</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rubric không do nhóm CNTT tự quyết. Nhóm CNTT vận hành hóa rubric thành feature, model và giao diện; giảng viên Ngoại ngữ chịu trách nhiệm chuẩn chấm.</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logic Evidence-Centered Design. Construct là năng lực trừu tượng; feature chỉ là dấu hiệu. Validation là lập luận dựa trên dữ liệu, không phải một metric duy nhất.</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https://www.coe.int/en/web/education/-/manual-for-language-test-development-and-examining-1</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đây là ví dụ tự tạo để phân biệt mức độ phức tạp, không phải mô tả chuẩn hay dữ liệu chấm. Anchor thật phải do giảng viên chọn từ bài nói thực tế.</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a:p xmlns:a="http://schemas.openxmlformats.org/drawingml/2006/main">
            <a:r>
              <a:t>- https://www.cambridgeenglish.org/english-research-group/fitness-for-purpose/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Sáu tiêu chí dựa trên qualitative features of spoken language trong CEFR Companion Volume. Phonology được trình bày riêng trong phần phonological control.</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MTLD và HD-D là chỉ số đa dạng từ vựng ít nhạy với độ dài hơn type-token ratio, nhưng vẫn chỉ là proxy. Range còn gồm cấu trúc và khả năng diễn đạt linh hoạt.</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a:p xmlns:a="http://schemas.openxmlformats.org/drawingml/2006/main">
            <a:r>
              <a:t>- https://aclanthology.org/2020.acl-main.206/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AS-unit gồm một mệnh đề độc lập cùng các mệnh đề phụ gắn với nó. Không nên phạt disfluency giống lỗi ngữ pháp. Khi ASR không chắc, hệ thống phải giảm trọng số hoặc chuyển review.</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https://aclanthology.org/2020.acl-main.206/</a:t>
            </a:r>
          </a:p>
          <a:p xmlns:a="http://schemas.openxmlformats.org/drawingml/2006/main">
            <a:r>
              <a:t>- https://www.ets.org/research/policy_research_reports/publications/report/2008/hukv.html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Articulation rate không tính khoảng im lặng; speech rate thường tính toàn thời lượng. Mean run length là số âm tiết/từ giữa các pause. Không dùng một ngưỡng chung cho mọi task.</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a:p xmlns:a="http://schemas.openxmlformats.org/drawingml/2006/main">
            <a:r>
              <a:t>- https://www.ets.org/research/policy_research_reports/publications/report/2008/hukv.html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Coherence không phải chỉ đếm từ nối. Người học có thể dùng ít từ nối nhưng ý vẫn tiến triển tự nhiên. Semantic model cần được kiểm tra prompt sensitivity và ASR sensitivity.</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a:p xmlns:a="http://schemas.openxmlformats.org/drawingml/2006/main">
            <a:r>
              <a:t>- https://aclanthology.org/2023.ranlp-1.83/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Task C dùng prompt tree cố định và audio ghi sẵn để mọi người gặp kích thích tương đương. Latency đo từ lúc prompt audio kết thúc; system latency log riêng.</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https://www.cambridgeenglish.org/in/Images/702771-listening-speaking-assessment-criteria.pdf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GOP là Goodness of Pronunciation. wav2vec2 có thể tạo biểu diễn âm thanh và hỗ trợ alignment. Nhưng phone accuracy và prosody metrics chưa bao phủ đầy đủ listener intelligibility; cần điểm người nghe và kiểm tra fairness trên giọng Việt.</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https://github.com/YuanGongND/gopt</a:t>
            </a:r>
          </a:p>
          <a:p xmlns:a="http://schemas.openxmlformats.org/drawingml/2006/main">
            <a:r>
              <a:t>- https://www.openslr.org/101/</a:t>
            </a:r>
          </a:p>
          <a:p xmlns:a="http://schemas.openxmlformats.org/drawingml/2006/main">
            <a:r>
              <a:t>- https://psi.engr.tamu.edu/l2-arctic-corpus/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Construct under-representation xảy ra khi feature bỏ sót phần quan trọng của năng lực; construct-irrelevant variance xảy ra khi điểm bị ảnh hưởng bởi noise, microphone hoặc accent không liên quan năng lực.</a:t>
            </a:r>
          </a:p>
          <a:p xmlns:a="http://schemas.openxmlformats.org/drawingml/2006/main">
            <a:r>
              <a:t/>
            </a:r>
          </a:p>
          <a:p xmlns:a="http://schemas.openxmlformats.org/drawingml/2006/main">
            <a:r>
              <a:t>[Sources]</a:t>
            </a:r>
          </a:p>
          <a:p xmlns:a="http://schemas.openxmlformats.org/drawingml/2006/main">
            <a:r>
              <a:t>- https://rm.coe.int/cefr-companion-volume-with-new-descriptors-2020/16809ea0d4</a:t>
            </a:r>
          </a:p>
          <a:p xmlns:a="http://schemas.openxmlformats.org/drawingml/2006/main">
            <a:r>
              <a:t>- https://www.ets.org/research/policy_research_reports/publications/article/2022/kepg.html</a:t>
            </a:r>
          </a:p>
          <a:p xmlns:a="http://schemas.openxmlformats.org/drawingml/2006/main">
            <a:r>
              <a:t>- https://www.ets.org/research/policy_research_reports/publications/report/2008/hukv.html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Hai prompt Task A hỗ trợ kiểm tra parallel-form reliability. Task C giới hạn ở subset vì tốn công thiết kế và thu thập; interlocutor tự do bị loại để tránh prompt difficulty và system latency trở thành confound.</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https://www.coe.int/en/web/education/-/manual-for-language-test-development-and-examining-1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Đầu ra D8 phải quay lại việc học. Không cần xây full adaptive learning engine; MVP chỉ cần tạo một next_task_hint theo mẫu được giảng viên duyệt.</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layer lưu dữ liệu có version; scoring layer tạo xác suất; feedback layer chỉ dùng evidence đã kiểm chứng. Thiết kế này hỗ trợ reproducibility và audit.</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https://www.ets.org/research/policy_research_reports/publications/report/2008/hukv.html</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hình multimodal cho phép kết hợp audio và transcript, nhưng cần baseline audio-only và transcript-only để biết nhánh nào thực sự đóng góp.</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https://aclanthology.org/2023.ranlp-1.83/</a:t>
            </a:r>
          </a:p>
          <a:p xmlns:a="http://schemas.openxmlformats.org/drawingml/2006/main">
            <a:r>
              <a:t>- https://aclanthology.org/2020.acl-main.206/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sửa transcript bằng cách chỉ nhìn output ASR vì sẽ tạo confirmation bias. Manual subset phải chép từ audio, rồi mới so WER và downstream score sensitivity.</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https://aclanthology.org/2020.acl-main.206/</a:t>
            </a:r>
          </a:p>
          <a:p xmlns:a="http://schemas.openxmlformats.org/drawingml/2006/main">
            <a:r>
              <a:t>- https://psi.engr.tamu.edu/l2-arctic-corpus/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 fusion được chọn vì dữ liệu nhỏ và cần giải thích. Calibration có thể dùng temperature scaling hoặc isotonic regression tùy dữ liệu; phải fit trong training fold, không dùng test.</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https://aclanthology.org/2023.ranlp-1.83/</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Interaction null có nghĩa chưa đủ bằng chứng, không phải 0. Profile phải kèm rubric/model/calibration version trong triển khai thật, dù ví dụ trên rút gọn để dễ đọc.</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Không tuyên bố chưa ai từng làm. Tuyên bố thận trọng: các nguồn công khai khảo sát được chưa cung cấp trọn bộ điều kiện cho đúng phạm vi đề tài.</a:t>
            </a:r>
          </a:p>
          <a:p xmlns:a="http://schemas.openxmlformats.org/drawingml/2006/main">
            <a:r>
              <a:t/>
            </a:r>
          </a:p>
          <a:p xmlns:a="http://schemas.openxmlformats.org/drawingml/2006/main">
            <a:r>
              <a:t>[Sources]</a:t>
            </a:r>
          </a:p>
          <a:p xmlns:a="http://schemas.openxmlformats.org/drawingml/2006/main">
            <a:r>
              <a:t>- https://www.ets.org/research/policy_research_reports/publications/report/2008/hukv.html</a:t>
            </a:r>
          </a:p>
          <a:p xmlns:a="http://schemas.openxmlformats.org/drawingml/2006/main">
            <a:r>
              <a:t>- https://www.repository.cam.ac.uk/items/611e9b8b-c5b2-4cbe-9b7a-036a48334118</a:t>
            </a:r>
          </a:p>
          <a:p xmlns:a="http://schemas.openxmlformats.org/drawingml/2006/main">
            <a:r>
              <a:t>- https://github.com/Talking-Yak/EvalYaks</a:t>
            </a:r>
          </a:p>
          <a:p xmlns:a="http://schemas.openxmlformats.org/drawingml/2006/main">
            <a:r>
              <a:t>- https://github.com/YuanGongND/gopt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Khoảng trống được đóng bằng artifact và quy trình: rubric-to-feature map, corpus có rater, experiment protocol, error audit, speaking profile. Không cần sáng tạo foundation model mới.</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a:p xmlns:a="http://schemas.openxmlformats.org/drawingml/2006/main">
            <a:r>
              <a:t>- https://aclanthology.org/2023.ranlp-1.83/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L2-ARCTIC có 4 người Việt và dữ liệu đọc là chính. SpeechOcean762 dùng CC BY 4.0 nhưng domain khác. Speak &amp; Improve cần kiểm tra điều kiện non-commercial và subset trước khi dựa vào.</a:t>
            </a:r>
          </a:p>
          <a:p xmlns:a="http://schemas.openxmlformats.org/drawingml/2006/main">
            <a:r>
              <a:t/>
            </a:r>
          </a:p>
          <a:p xmlns:a="http://schemas.openxmlformats.org/drawingml/2006/main">
            <a:r>
              <a:t>[Sources]</a:t>
            </a:r>
          </a:p>
          <a:p xmlns:a="http://schemas.openxmlformats.org/drawingml/2006/main">
            <a:r>
              <a:t>- https://psi.engr.tamu.edu/l2-arctic-corpus/</a:t>
            </a:r>
          </a:p>
          <a:p xmlns:a="http://schemas.openxmlformats.org/drawingml/2006/main">
            <a:r>
              <a:t>- https://www.repository.cam.ac.uk/items/611e9b8b-c5b2-4cbe-9b7a-036a48334118</a:t>
            </a:r>
          </a:p>
          <a:p xmlns:a="http://schemas.openxmlformats.org/drawingml/2006/main">
            <a:r>
              <a:t>- https://www.openslr.org/101/</a:t>
            </a:r>
          </a:p>
          <a:p xmlns:a="http://schemas.openxmlformats.org/drawingml/2006/main">
            <a:r>
              <a:t>- https://github.com/Talking-Yak/EvalYaks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 số là mục tiêu quản trị dự án từ đề cương, không phải định mức chính thức. Nếu không đủ 60 speaker, chuyển kết luận sang pilot và mở rộng khoảng tin cậy thay vì che giấu hạn chế.</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Rater calibration diễn ra trước main collection. Gold label phải tách logic với thống kê human-human. Lưu lịch sử rater và rubric version để audit.</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https://www.coe.int/en/web/common-european-framework-reference-languages/relating-examinations-to-the-cefr</a:t>
            </a:r>
          </a:p>
          <a:p xmlns:a="http://schemas.openxmlformats.org/drawingml/2006/main">
            <a:r>
              <a:t>- https://www.coe.int/en/web/education/-/manual-for-language-test-development-and-examining-1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Repeated GroupKFold giúp dùng dữ liệu nhỏ hiệu quả hơn. Confirmation set không dùng để tinh chỉnh. MDE của RQ2 là ΔQWK 0.16 theo đề cương và RQ2 được tuyên bố exploratory.</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Ngoài các metric này có thể báo MAE theo band. Metric phải có khoảng tin cậy. Acceptance threshold là mục tiêu quản trị dự án, không phải chuẩn CEFR chính thức.</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https://www.ets.org/research/policy_research_reports/publications/report/2008/hukv.html</a:t>
            </a:r>
          </a:p>
          <a:p xmlns:a="http://schemas.openxmlformats.org/drawingml/2006/main">
            <a:r>
              <a:t>- https://www.coe.int/en/web/education/-/manual-for-language-test-development-and-examining-1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Tên framework có thể điều chỉnh theo năng lực nhóm. Lý do chọn phải gắn với phạm vi: local-first, dữ liệu nhỏ, reproducibility và khả năng giải thích.</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https://www.ets.org/research/policy_research_reports/publications/report/2008/hukv.html</a:t>
            </a:r>
          </a:p>
          <a:p xmlns:a="http://schemas.openxmlformats.org/drawingml/2006/main">
            <a:r>
              <a:t>- https://aclanthology.org/2023.ranlp-1.83/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Phần pháp lý cụ thể phải đối chiếu quy định trường và tư vấn của GVHD. Deck chỉ nêu nguyên tắc thiết kế: consent, purpose limitation, data minimization, security, human oversight và bias audit.</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Lane viết luận văn chạy song song từ W1. W4 là cổng quan trọng: không khóa rubric trước pilot. Completion và metadata thresholds là mục tiêu quản trị dự án.</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freeze trước confirmation run. Archive gồm code, environment, prompt/rubric/model versions, split manifest và báo cáo. Task C có thể cắt nếu pilot không ổn mà vẫn giữ MVP A/B.</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Khả thi khi 2 rater + 1 adjudicator cam kết khoảng 25 giờ/người, dùng pretrained models và không mở rộng phạm vi. Đường găng là rubric/rater/data, không phải giao diện.</a:t>
            </a:r>
          </a:p>
          <a:p xmlns:a="http://schemas.openxmlformats.org/drawingml/2006/main">
            <a:r>
              <a:t/>
            </a:r>
          </a:p>
          <a:p xmlns:a="http://schemas.openxmlformats.org/drawingml/2006/main">
            <a:r>
              <a:t>[Sources]</a:t>
            </a:r>
          </a:p>
          <a:p xmlns:a="http://schemas.openxmlformats.org/drawingml/2006/main">
            <a:r>
              <a:t>- De_cuong_AI_Assessor_CEFR_v3.1_ALDM-L.docx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ngưỡng chi tiết nằm trong đề cương và phải được công bố trước. Nghiệm thu cần bao gồm cả failure cases, không chỉ demo bài đẹp.</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https://www.coe.int/en/web/education/-/manual-for-language-test-development-and-examining-1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cách trả lời câu hỏi 'đóng góp khoa học là gì' khi không huấn luyện mô hình nền tảng mới. Giá trị nằm ở construct validity, data design, evaluation protocol và human-in-the-loop.</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Câu bổ sung: nếu mô hình không vượt baseline thì sao? Vẫn có đóng góp nếu phân tích được nguồn sai, công bố giới hạn và bàn giao pipeline/rubric/data protocol tái lập được.</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https://www.ets.org/research/policy_research_reports/publications/article/2022/kepg.html</a:t>
            </a:r>
          </a:p>
          <a:p xmlns:a="http://schemas.openxmlformats.org/drawingml/2006/main">
            <a:r>
              <a:t>- https://aclanthology.org/2023.ranlp-1.83/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Danh mục rút gọn trên slide. Xem source-notes và speaker notes từng trang để truy cập URL trực tiếp.</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https://www.coe.int/en/web/common-european-framework-reference-languages/relating-examinations-to-the-cefr</a:t>
            </a:r>
          </a:p>
          <a:p xmlns:a="http://schemas.openxmlformats.org/drawingml/2006/main">
            <a:r>
              <a:t>- https://www.coe.int/en/web/education/-/manual-for-language-test-development-and-examining-1</a:t>
            </a:r>
          </a:p>
          <a:p xmlns:a="http://schemas.openxmlformats.org/drawingml/2006/main">
            <a:r>
              <a:t>- https://www.cambridgeenglish.org/in/Images/702771-listening-speaking-assessment-criteria.pdf</a:t>
            </a:r>
          </a:p>
          <a:p xmlns:a="http://schemas.openxmlformats.org/drawingml/2006/main">
            <a:r>
              <a:t>- https://www.cambridgeenglish.org/english-research-group/fitness-for-purpose/</a:t>
            </a:r>
          </a:p>
          <a:p xmlns:a="http://schemas.openxmlformats.org/drawingml/2006/main">
            <a:r>
              <a:t>- https://www.ets.org/research/policy_research_reports/publications/report/2008/hukv.html</a:t>
            </a:r>
          </a:p>
          <a:p xmlns:a="http://schemas.openxmlformats.org/drawingml/2006/main">
            <a:r>
              <a:t>- https://www.ets.org/research/policy_research_reports/publications/article/2022/kepg.html</a:t>
            </a:r>
          </a:p>
          <a:p xmlns:a="http://schemas.openxmlformats.org/drawingml/2006/main">
            <a:r>
              <a:t>- https://aclanthology.org/2023.ranlp-1.83/</a:t>
            </a:r>
          </a:p>
          <a:p xmlns:a="http://schemas.openxmlformats.org/drawingml/2006/main">
            <a:r>
              <a:t>- https://aclanthology.org/2020.acl-main.206/</a:t>
            </a:r>
          </a:p>
          <a:p xmlns:a="http://schemas.openxmlformats.org/drawingml/2006/main">
            <a:r>
              <a:t>- https://github.com/YuanGongND/gopt</a:t>
            </a:r>
          </a:p>
          <a:p xmlns:a="http://schemas.openxmlformats.org/drawingml/2006/main">
            <a:r>
              <a:t>- https://psi.engr.tamu.edu/l2-arctic-corpus/</a:t>
            </a:r>
          </a:p>
          <a:p xmlns:a="http://schemas.openxmlformats.org/drawingml/2006/main">
            <a:r>
              <a:t>- https://www.repository.cam.ac.uk/items/611e9b8b-c5b2-4cbe-9b7a-036a48334118</a:t>
            </a:r>
          </a:p>
          <a:p xmlns:a="http://schemas.openxmlformats.org/drawingml/2006/main">
            <a:r>
              <a:t>- https://www.openslr.org/101/</a:t>
            </a:r>
          </a:p>
          <a:p xmlns:a="http://schemas.openxmlformats.org/drawingml/2006/main">
            <a:r>
              <a:t>- https://github.com/Talking-Yak/EvalYaks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thúc bằng quyết định phạm vi và nguyên tắc human-in-the-loop. Không kết thúc bằng lời hứa accuracy; kết thúc bằng điều kiện để hệ thống có ích và có trách nhiệm.</a:t>
            </a:r>
          </a:p>
          <a:p xmlns:a="http://schemas.openxmlformats.org/drawingml/2006/main">
            <a:r>
              <a:t/>
            </a:r>
          </a:p>
          <a:p xmlns:a="http://schemas.openxmlformats.org/drawingml/2006/main">
            <a:r>
              <a:t>[Sources]</a:t>
            </a:r>
          </a:p>
          <a:p xmlns:a="http://schemas.openxmlformats.org/drawingml/2006/main">
            <a:r>
              <a:t>- De_cuong_AI_Assessor_CEFR_v3.1_ALDM-L.docx</a:t>
            </a:r>
          </a:p>
          <a:p xmlns:a="http://schemas.openxmlformats.org/drawingml/2006/main">
            <a:r>
              <a:t>- https://rm.coe.int/cefr-companion-volume-with-new-descriptors-2020/16809ea0d4</a:t>
            </a:r>
          </a:p>
          <a:p xmlns:a="http://schemas.openxmlformats.org/drawingml/2006/main">
            <a:r>
              <a:t>- https://www.ets.org/research/policy_research_reports/publications/article/2022/kepg.html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29359f8e944e7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4d23b6ec3514330" /><Relationship Type="http://schemas.openxmlformats.org/officeDocument/2006/relationships/slideLayout" Target="/ppt/slideLayouts/slideLayout1.xml" Id="R338d72e901e545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38d72e901e545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933a7c21cca498f" /><Relationship Type="http://schemas.openxmlformats.org/officeDocument/2006/relationships/image" Target="/ppt/media/image.png" Id="R180bcb03eb7c47db" /><Relationship Type="http://schemas.openxmlformats.org/officeDocument/2006/relationships/notesSlide" Target="/ppt/notesSlides/notesSlide1.xml" Id="Rfbc615e339bf43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7c0d1c426db4042" /><Relationship Type="http://schemas.openxmlformats.org/officeDocument/2006/relationships/notesSlide" Target="/ppt/notesSlides/notesSlide2.xml" Id="R3fca2ab2e6934f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1202d664ef545ac" /><Relationship Type="http://schemas.openxmlformats.org/officeDocument/2006/relationships/notesSlide" Target="/ppt/notesSlides/notesSlide3.xml" Id="R8c1fe8b4c2824e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72172a862534d24" /><Relationship Type="http://schemas.openxmlformats.org/officeDocument/2006/relationships/notesSlide" Target="/ppt/notesSlides/notesSlide4.xml" Id="R9ac1ae9a269c47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70db7bfc82e4f22" /><Relationship Type="http://schemas.openxmlformats.org/officeDocument/2006/relationships/notesSlide" Target="/ppt/notesSlides/notesSlide5.xml" Id="Rc4742c882211497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0d3df0678e4c6a" /><Relationship Type="http://schemas.openxmlformats.org/officeDocument/2006/relationships/notesSlide" Target="/ppt/notesSlides/notesSlide6.xml" Id="R2341321f237146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98ef61fe8ab43c5" /><Relationship Type="http://schemas.openxmlformats.org/officeDocument/2006/relationships/notesSlide" Target="/ppt/notesSlides/notesSlide7.xml" Id="R91f4b3ccab23491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26cace0db34988" /><Relationship Type="http://schemas.openxmlformats.org/officeDocument/2006/relationships/notesSlide" Target="/ppt/notesSlides/notesSlide8.xml" Id="R1cf4ef88add14d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cce632b4cd44ba" /><Relationship Type="http://schemas.openxmlformats.org/officeDocument/2006/relationships/notesSlide" Target="/ppt/notesSlides/notesSlide9.xml" Id="Recdff1105d5843f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c23612499e64ef0" /><Relationship Type="http://schemas.openxmlformats.org/officeDocument/2006/relationships/notesSlide" Target="/ppt/notesSlides/notesSlide10.xml" Id="R86bdb6f7b1754e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a4af541d45749aa" /><Relationship Type="http://schemas.openxmlformats.org/officeDocument/2006/relationships/notesSlide" Target="/ppt/notesSlides/notesSlide11.xml" Id="R7b163cd482a3413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d89628c37944c7" /><Relationship Type="http://schemas.openxmlformats.org/officeDocument/2006/relationships/notesSlide" Target="/ppt/notesSlides/notesSlide12.xml" Id="Rf701b21409b04b8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1b1fa9fdaf49d0" /><Relationship Type="http://schemas.openxmlformats.org/officeDocument/2006/relationships/notesSlide" Target="/ppt/notesSlides/notesSlide13.xml" Id="Rce86a87e3da744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9d57c905904fc9" /><Relationship Type="http://schemas.openxmlformats.org/officeDocument/2006/relationships/notesSlide" Target="/ppt/notesSlides/notesSlide14.xml" Id="R283375c23306448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a78be32ce3c4fc2" /><Relationship Type="http://schemas.openxmlformats.org/officeDocument/2006/relationships/notesSlide" Target="/ppt/notesSlides/notesSlide15.xml" Id="Rddcef8348804455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1e89975dded4c98" /><Relationship Type="http://schemas.openxmlformats.org/officeDocument/2006/relationships/notesSlide" Target="/ppt/notesSlides/notesSlide16.xml" Id="R8bafddf52d61407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62ea535fda04ec0" /><Relationship Type="http://schemas.openxmlformats.org/officeDocument/2006/relationships/notesSlide" Target="/ppt/notesSlides/notesSlide17.xml" Id="R1d89bd85d42542f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942193a99e84d29" /><Relationship Type="http://schemas.openxmlformats.org/officeDocument/2006/relationships/notesSlide" Target="/ppt/notesSlides/notesSlide18.xml" Id="R3f50eee0205348d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8d16b7610642e8" /><Relationship Type="http://schemas.openxmlformats.org/officeDocument/2006/relationships/notesSlide" Target="/ppt/notesSlides/notesSlide19.xml" Id="R9dcbafefd3394d8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51ac40f8f445ce" /><Relationship Type="http://schemas.openxmlformats.org/officeDocument/2006/relationships/notesSlide" Target="/ppt/notesSlides/notesSlide20.xml" Id="R8a668f46ef37497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91ee7c7ea914e00" /><Relationship Type="http://schemas.openxmlformats.org/officeDocument/2006/relationships/notesSlide" Target="/ppt/notesSlides/notesSlide21.xml" Id="R9fa83c8bd62d43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1d57750decf47b8" /><Relationship Type="http://schemas.openxmlformats.org/officeDocument/2006/relationships/notesSlide" Target="/ppt/notesSlides/notesSlide22.xml" Id="R41ab61edce4a463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6c61359926242e0" /><Relationship Type="http://schemas.openxmlformats.org/officeDocument/2006/relationships/notesSlide" Target="/ppt/notesSlides/notesSlide23.xml" Id="Rf90dc7947240430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c6fd98f17e24507" /><Relationship Type="http://schemas.openxmlformats.org/officeDocument/2006/relationships/notesSlide" Target="/ppt/notesSlides/notesSlide24.xml" Id="Rc75ee4df900a4ce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dd08d7e49504fd6" /><Relationship Type="http://schemas.openxmlformats.org/officeDocument/2006/relationships/notesSlide" Target="/ppt/notesSlides/notesSlide25.xml" Id="R2d01f49b00814d7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9fb54668d564ce5" /><Relationship Type="http://schemas.openxmlformats.org/officeDocument/2006/relationships/notesSlide" Target="/ppt/notesSlides/notesSlide26.xml" Id="R559cba48367741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d261b3e8fd64fef" /><Relationship Type="http://schemas.openxmlformats.org/officeDocument/2006/relationships/notesSlide" Target="/ppt/notesSlides/notesSlide27.xml" Id="R367fc2e827c047a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5164948679e4b7c" /><Relationship Type="http://schemas.openxmlformats.org/officeDocument/2006/relationships/notesSlide" Target="/ppt/notesSlides/notesSlide28.xml" Id="R2d3353b1f192412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a0b5b39500e4686" /><Relationship Type="http://schemas.openxmlformats.org/officeDocument/2006/relationships/notesSlide" Target="/ppt/notesSlides/notesSlide29.xml" Id="R7f652db2cc8f40c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792986a11454e7f" /><Relationship Type="http://schemas.openxmlformats.org/officeDocument/2006/relationships/notesSlide" Target="/ppt/notesSlides/notesSlide30.xml" Id="R874ee2759a52492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1e3981ec87214f58" /><Relationship Type="http://schemas.openxmlformats.org/officeDocument/2006/relationships/notesSlide" Target="/ppt/notesSlides/notesSlide31.xml" Id="Rf0ab5e9d7dcf403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d92238a740a4941" /><Relationship Type="http://schemas.openxmlformats.org/officeDocument/2006/relationships/notesSlide" Target="/ppt/notesSlides/notesSlide32.xml" Id="R28cdc45a80d2494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b1f5023b5a14e2b" /><Relationship Type="http://schemas.openxmlformats.org/officeDocument/2006/relationships/notesSlide" Target="/ppt/notesSlides/notesSlide33.xml" Id="Rf10c676f255048d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8b3f98448f4412e" /><Relationship Type="http://schemas.openxmlformats.org/officeDocument/2006/relationships/notesSlide" Target="/ppt/notesSlides/notesSlide34.xml" Id="R534eee7525474c9f"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f9964f770e54555" /><Relationship Type="http://schemas.openxmlformats.org/officeDocument/2006/relationships/notesSlide" Target="/ppt/notesSlides/notesSlide35.xml" Id="R5146dbbb1ce946b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01e6f52a6574d15" /><Relationship Type="http://schemas.openxmlformats.org/officeDocument/2006/relationships/notesSlide" Target="/ppt/notesSlides/notesSlide36.xml" Id="R90eae38868b3436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b7706a884214cd4" /><Relationship Type="http://schemas.openxmlformats.org/officeDocument/2006/relationships/notesSlide" Target="/ppt/notesSlides/notesSlide37.xml" Id="R78290e9be36e462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0b35919ace23457f" /><Relationship Type="http://schemas.openxmlformats.org/officeDocument/2006/relationships/notesSlide" Target="/ppt/notesSlides/notesSlide38.xml" Id="R845a6e1eb93a4f3b"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3b87c8dc44a4d9a" /><Relationship Type="http://schemas.openxmlformats.org/officeDocument/2006/relationships/notesSlide" Target="/ppt/notesSlides/notesSlide39.xml" Id="Rf926165f363b469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f67ec300c52d43cf" /><Relationship Type="http://schemas.openxmlformats.org/officeDocument/2006/relationships/notesSlide" Target="/ppt/notesSlides/notesSlide40.xml" Id="R90485fd4dbc74bc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1b4a7e9725784211" /><Relationship Type="http://schemas.openxmlformats.org/officeDocument/2006/relationships/notesSlide" Target="/ppt/notesSlides/notesSlide41.xml" Id="Rc789a29d78a746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80bcb03eb7c47db"/>
          <a:srcRect xmlns:a="http://schemas.openxmlformats.org/drawingml/2006/main" l="24638" t="0" r="24638" b="0"/>
          <a:stretch xmlns:a="http://schemas.openxmlformats.org/drawingml/2006/main">
            <a:fillRect l="0" t="0" r="0" b="0"/>
          </a:stretch>
        </p:blipFill>
        <p:spPr>
          <a:xfrm xmlns:a="http://schemas.openxmlformats.org/drawingml/2006/main">
            <a:off x="6000750" y="0"/>
            <a:ext cx="61912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4B94B5-840E-4D57-8F33-FAFABEAC6AF8}"/>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1228AFB-3E93-4C77-8863-04986F7D9AF0}"/>
              </a:ext>
            </a:extLst>
          </p:cNvPr>
          <p:cNvSpPr>
            <a:spLocks xmlns:a="http://schemas.openxmlformats.org/drawingml/2006/main" noGrp="1"/>
          </p:cNvSpPr>
          <p:nvPr/>
        </p:nvSpPr>
        <p:spPr>
          <a:xfrm xmlns:a="http://schemas.openxmlformats.org/drawingml/2006/main">
            <a:off x="552450" y="4191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125" b="1" i="0">
                <a:solidFill>
                  <a:srgbClr val="1F5EAC"/>
                </a:solidFill>
                <a:latin typeface="Aptos"/>
                <a:ea typeface="Aptos"/>
                <a:cs typeface="Aptos"/>
              </a:defRPr>
            </a:pPr>
            <a:r>
              <a:rPr sz="1125" b="1" i="0">
                <a:solidFill>
                  <a:srgbClr val="1F5EAC"/>
                </a:solidFill>
                <a:latin typeface="Aptos"/>
                <a:ea typeface="Aptos"/>
                <a:cs typeface="Aptos"/>
              </a:rPr>
              <a:t>ĐỀ CƯƠNG KHÓA LUẬN • BẢN GIẢI THÍCH DỄ HIỂU</a:t>
            </a:r>
          </a:p>
        </p:txBody>
      </p:sp>
      <p:sp>
        <p:nvSpPr>
          <p:cNvPr id="4" name="">
            <a:extLst xmlns:a="http://schemas.openxmlformats.org/drawingml/2006/main">
              <a:ext uri="{FF2B5EF4-FFF2-40B4-BE49-F238E27FC236}">
                <a16:creationId xmlns:a16="http://schemas.microsoft.com/office/drawing/2014/main" id="{FEB6410B-166F-4502-8E0E-6537C3DB06C5}"/>
              </a:ext>
            </a:extLst>
          </p:cNvPr>
          <p:cNvSpPr>
            <a:spLocks xmlns:a="http://schemas.openxmlformats.org/drawingml/2006/main" noGrp="1"/>
          </p:cNvSpPr>
          <p:nvPr/>
        </p:nvSpPr>
        <p:spPr>
          <a:xfrm xmlns:a="http://schemas.openxmlformats.org/drawingml/2006/main">
            <a:off x="552450" y="1219200"/>
            <a:ext cx="5095875"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2000"/>
              </a:lnSpc>
              <a:buNone/>
              <a:defRPr sz="4275" b="1" i="0">
                <a:solidFill>
                  <a:srgbClr val="142033"/>
                </a:solidFill>
                <a:latin typeface="Aptos"/>
                <a:ea typeface="Aptos"/>
                <a:cs typeface="Aptos"/>
              </a:defRPr>
            </a:pPr>
            <a:r>
              <a:rPr sz="4275" b="1" i="0">
                <a:solidFill>
                  <a:srgbClr val="142033"/>
                </a:solidFill>
                <a:latin typeface="Aptos"/>
                <a:ea typeface="Aptos"/>
                <a:cs typeface="Aptos"/>
              </a:rPr>
              <a:t>AI hỗ trợ đánh giá</a:t>
            </a:r>
          </a:p>
          <a:p xmlns:a="http://schemas.openxmlformats.org/drawingml/2006/main">
            <a:pPr algn="l">
              <a:lnSpc>
                <a:spcPct val="92000"/>
              </a:lnSpc>
              <a:buNone/>
              <a:defRPr sz="4275" b="1" i="0">
                <a:solidFill>
                  <a:srgbClr val="142033"/>
                </a:solidFill>
                <a:latin typeface="Aptos"/>
                <a:ea typeface="Aptos"/>
                <a:cs typeface="Aptos"/>
              </a:defRPr>
            </a:pPr>
            <a:r>
              <a:rPr sz="4275" b="1" i="0">
                <a:solidFill>
                  <a:srgbClr val="142033"/>
                </a:solidFill>
                <a:latin typeface="Aptos"/>
                <a:ea typeface="Aptos"/>
                <a:cs typeface="Aptos"/>
              </a:rPr>
              <a:t>Speaking theo CEFR</a:t>
            </a:r>
          </a:p>
        </p:txBody>
      </p:sp>
      <p:sp>
        <p:nvSpPr>
          <p:cNvPr id="5" name="">
            <a:extLst xmlns:a="http://schemas.openxmlformats.org/drawingml/2006/main">
              <a:ext uri="{FF2B5EF4-FFF2-40B4-BE49-F238E27FC236}">
                <a16:creationId xmlns:a16="http://schemas.microsoft.com/office/drawing/2014/main" id="{6D1257E8-636D-4E26-9F8C-603B21FFB4D5}"/>
              </a:ext>
            </a:extLst>
          </p:cNvPr>
          <p:cNvSpPr>
            <a:spLocks xmlns:a="http://schemas.openxmlformats.org/drawingml/2006/main" noGrp="1"/>
          </p:cNvSpPr>
          <p:nvPr/>
        </p:nvSpPr>
        <p:spPr>
          <a:xfrm xmlns:a="http://schemas.openxmlformats.org/drawingml/2006/main">
            <a:off x="552450" y="31432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950" b="0" i="0">
                <a:solidFill>
                  <a:srgbClr val="667487"/>
                </a:solidFill>
                <a:latin typeface="Aptos"/>
                <a:ea typeface="Aptos"/>
                <a:cs typeface="Aptos"/>
              </a:defRPr>
            </a:pPr>
            <a:r>
              <a:rPr sz="1950" b="0" i="0">
                <a:solidFill>
                  <a:srgbClr val="667487"/>
                </a:solidFill>
                <a:latin typeface="Aptos"/>
                <a:ea typeface="Aptos"/>
                <a:cs typeface="Aptos"/>
              </a:rPr>
              <a:t>Cho sinh viên đại học Việt Nam ở trình độ A2–B2</a:t>
            </a:r>
          </a:p>
        </p:txBody>
      </p:sp>
      <p:sp>
        <p:nvSpPr>
          <p:cNvPr id="6" name="">
            <a:extLst xmlns:a="http://schemas.openxmlformats.org/drawingml/2006/main">
              <a:ext uri="{FF2B5EF4-FFF2-40B4-BE49-F238E27FC236}">
                <a16:creationId xmlns:a16="http://schemas.microsoft.com/office/drawing/2014/main" id="{4210D3AA-35D2-4CB2-9637-444FF537C623}"/>
              </a:ext>
            </a:extLst>
          </p:cNvPr>
          <p:cNvSpPr>
            <a:spLocks xmlns:a="http://schemas.openxmlformats.org/drawingml/2006/main" noGrp="1"/>
          </p:cNvSpPr>
          <p:nvPr/>
        </p:nvSpPr>
        <p:spPr>
          <a:xfrm xmlns:a="http://schemas.openxmlformats.org/drawingml/2006/main">
            <a:off x="552450" y="3962400"/>
            <a:ext cx="4095750" cy="47625"/>
          </a:xfrm>
          <a:prstGeom xmlns:a="http://schemas.openxmlformats.org/drawingml/2006/main" prst="rect">
            <a:avLst/>
          </a:prstGeom>
          <a:solidFill xmlns:a="http://schemas.openxmlformats.org/drawingml/2006/main">
            <a:srgbClr val="3B82D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DBAE837-BAD6-49BE-8631-10393554AB82}"/>
              </a:ext>
            </a:extLst>
          </p:cNvPr>
          <p:cNvSpPr>
            <a:spLocks xmlns:a="http://schemas.openxmlformats.org/drawingml/2006/main" noGrp="1"/>
          </p:cNvSpPr>
          <p:nvPr/>
        </p:nvSpPr>
        <p:spPr>
          <a:xfrm xmlns:a="http://schemas.openxmlformats.org/drawingml/2006/main">
            <a:off x="552450" y="4267200"/>
            <a:ext cx="4810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0" i="0">
                <a:solidFill>
                  <a:srgbClr val="28374A"/>
                </a:solidFill>
                <a:latin typeface="Aptos"/>
                <a:ea typeface="Aptos"/>
                <a:cs typeface="Aptos"/>
              </a:defRPr>
            </a:pPr>
            <a:r>
              <a:rPr sz="1650" b="0" i="0">
                <a:solidFill>
                  <a:srgbClr val="28374A"/>
                </a:solidFill>
                <a:latin typeface="Aptos"/>
                <a:ea typeface="Aptos"/>
                <a:cs typeface="Aptos"/>
              </a:rPr>
              <a:t>Từ cách giảng viên chấm nói → bằng chứng AI quan sát → cách kiểm định kết quả</a:t>
            </a:r>
          </a:p>
        </p:txBody>
      </p:sp>
      <p:sp>
        <p:nvSpPr>
          <p:cNvPr id="8" name="">
            <a:extLst xmlns:a="http://schemas.openxmlformats.org/drawingml/2006/main">
              <a:ext uri="{FF2B5EF4-FFF2-40B4-BE49-F238E27FC236}">
                <a16:creationId xmlns:a16="http://schemas.microsoft.com/office/drawing/2014/main" id="{C665AFFA-B981-4A2C-91CD-6AB2AFC0E7A7}"/>
              </a:ext>
            </a:extLst>
          </p:cNvPr>
          <p:cNvSpPr>
            <a:spLocks xmlns:a="http://schemas.openxmlformats.org/drawingml/2006/main" noGrp="1"/>
          </p:cNvSpPr>
          <p:nvPr/>
        </p:nvSpPr>
        <p:spPr>
          <a:xfrm xmlns:a="http://schemas.openxmlformats.org/drawingml/2006/main">
            <a:off x="552450" y="60007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0" i="0">
                <a:solidFill>
                  <a:srgbClr val="667487"/>
                </a:solidFill>
                <a:latin typeface="Aptos"/>
                <a:ea typeface="Aptos"/>
                <a:cs typeface="Aptos"/>
              </a:defRPr>
            </a:pPr>
            <a:r>
              <a:rPr sz="1200" b="0" i="0">
                <a:solidFill>
                  <a:srgbClr val="667487"/>
                </a:solidFill>
                <a:latin typeface="Aptos"/>
                <a:ea typeface="Aptos"/>
                <a:cs typeface="Aptos"/>
              </a:rPr>
              <a:t>Sinh viên: [Điền họ tên – MSSV]</a:t>
            </a:r>
          </a:p>
          <a:p xmlns:a="http://schemas.openxmlformats.org/drawingml/2006/main">
            <a:pPr algn="l">
              <a:lnSpc>
                <a:spcPct val="105000"/>
              </a:lnSpc>
              <a:buNone/>
              <a:defRPr sz="1200" b="0" i="0">
                <a:solidFill>
                  <a:srgbClr val="667487"/>
                </a:solidFill>
                <a:latin typeface="Aptos"/>
                <a:ea typeface="Aptos"/>
                <a:cs typeface="Aptos"/>
              </a:defRPr>
            </a:pPr>
            <a:r>
              <a:rPr sz="1200" b="0" i="0">
                <a:solidFill>
                  <a:srgbClr val="667487"/>
                </a:solidFill>
                <a:latin typeface="Aptos"/>
                <a:ea typeface="Aptos"/>
                <a:cs typeface="Aptos"/>
              </a:rPr>
              <a:t>Giảng viên hướng dẫn: [Điền họ tên]</a:t>
            </a:r>
          </a:p>
        </p:txBody>
      </p:sp>
      <p:sp>
        <p:nvSpPr>
          <p:cNvPr id="9" name="">
            <a:extLst xmlns:a="http://schemas.openxmlformats.org/drawingml/2006/main">
              <a:ext uri="{FF2B5EF4-FFF2-40B4-BE49-F238E27FC236}">
                <a16:creationId xmlns:a16="http://schemas.microsoft.com/office/drawing/2014/main" id="{634EAD46-8CCD-495A-B656-155BB0C06436}"/>
              </a:ext>
            </a:extLst>
          </p:cNvPr>
          <p:cNvSpPr>
            <a:spLocks xmlns:a="http://schemas.openxmlformats.org/drawingml/2006/main" noGrp="1"/>
          </p:cNvSpPr>
          <p:nvPr/>
        </p:nvSpPr>
        <p:spPr>
          <a:xfrm xmlns:a="http://schemas.openxmlformats.org/drawingml/2006/main">
            <a:off x="11715750" y="6477000"/>
            <a:ext cx="228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i="0">
                <a:solidFill>
                  <a:srgbClr val="FFFFFF"/>
                </a:solidFill>
                <a:latin typeface="Aptos"/>
                <a:ea typeface="Aptos"/>
                <a:cs typeface="Aptos"/>
              </a:defRPr>
            </a:pPr>
            <a:r>
              <a:rPr sz="975" b="0" i="0">
                <a:solidFill>
                  <a:srgbClr val="FFFFFF"/>
                </a:solidFill>
                <a:latin typeface="Aptos"/>
                <a:ea typeface="Aptos"/>
                <a:cs typeface="Aptos"/>
              </a:rPr>
              <a:t>1</a:t>
            </a:r>
          </a:p>
        </p:txBody>
      </p:sp>
    </p:spTree>
    <p:extLst>
      <p:ext uri="{BB962C8B-B14F-4D97-AF65-F5344CB8AC3E}">
        <p14:creationId xmlns:p14="http://schemas.microsoft.com/office/powerpoint/2010/main" val="53839338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67092113-A50D-4B1E-852E-C1314A28EEF8}"/>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HIỂU TRONG 30 GIÂY</a:t>
            </a:r>
          </a:p>
        </p:txBody>
      </p:sp>
      <p:sp>
        <p:nvSpPr>
          <p:cNvPr id="2" name="">
            <a:extLst xmlns:a="http://schemas.openxmlformats.org/drawingml/2006/main">
              <a:ext uri="{FF2B5EF4-FFF2-40B4-BE49-F238E27FC236}">
                <a16:creationId xmlns:a16="http://schemas.microsoft.com/office/drawing/2014/main" id="{C2968B2C-AB30-4821-BA07-286D3E4D9958}"/>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Một bài nói đi vào, một hồ sơ năng lực có bằng chứng đi ra</a:t>
            </a:r>
          </a:p>
        </p:txBody>
      </p:sp>
      <p:sp>
        <p:nvSpPr>
          <p:cNvPr id="3" name="">
            <a:extLst xmlns:a="http://schemas.openxmlformats.org/drawingml/2006/main">
              <a:ext uri="{FF2B5EF4-FFF2-40B4-BE49-F238E27FC236}">
                <a16:creationId xmlns:a16="http://schemas.microsoft.com/office/drawing/2014/main" id="{65834786-4DCC-4157-A295-7FCA0A68DA59}"/>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AI chấm sơ bộ theo rubric do giảng viên thiết lập; giảng viên quyết định cuối cùng.</a:t>
            </a:r>
          </a:p>
        </p:txBody>
      </p:sp>
      <p:sp>
        <p:nvSpPr>
          <p:cNvPr id="4" name="">
            <a:extLst xmlns:a="http://schemas.openxmlformats.org/drawingml/2006/main">
              <a:ext uri="{FF2B5EF4-FFF2-40B4-BE49-F238E27FC236}">
                <a16:creationId xmlns:a16="http://schemas.microsoft.com/office/drawing/2014/main" id="{00B5BBAE-D5A5-4C0F-B1A6-79C530FD9139}"/>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79520D6-8AC0-40A8-B590-3C84C014298B}"/>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TÓM TẮT</a:t>
            </a:r>
          </a:p>
        </p:txBody>
      </p:sp>
      <p:sp>
        <p:nvSpPr>
          <p:cNvPr id="6" name="">
            <a:extLst xmlns:a="http://schemas.openxmlformats.org/drawingml/2006/main">
              <a:ext uri="{FF2B5EF4-FFF2-40B4-BE49-F238E27FC236}">
                <a16:creationId xmlns:a16="http://schemas.microsoft.com/office/drawing/2014/main" id="{598A5D60-45A3-42DE-9DA9-113AA84DEAAC}"/>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a:t>
            </a:r>
          </a:p>
        </p:txBody>
      </p:sp>
      <p:sp>
        <p:nvSpPr>
          <p:cNvPr id="7" name="">
            <a:extLst xmlns:a="http://schemas.openxmlformats.org/drawingml/2006/main">
              <a:ext uri="{FF2B5EF4-FFF2-40B4-BE49-F238E27FC236}">
                <a16:creationId xmlns:a16="http://schemas.microsoft.com/office/drawing/2014/main" id="{FFDD9AB5-E901-46BF-9739-D76FB3BAA559}"/>
              </a:ext>
            </a:extLst>
          </p:cNvPr>
          <p:cNvSpPr>
            <a:spLocks xmlns:a="http://schemas.openxmlformats.org/drawingml/2006/main" noGrp="1"/>
          </p:cNvSpPr>
          <p:nvPr/>
        </p:nvSpPr>
        <p:spPr>
          <a:xfrm xmlns:a="http://schemas.openxmlformats.org/drawingml/2006/main">
            <a:off x="267652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9B9F17-3631-4693-BB62-D9526740FA26}"/>
              </a:ext>
            </a:extLst>
          </p:cNvPr>
          <p:cNvSpPr>
            <a:spLocks xmlns:a="http://schemas.openxmlformats.org/drawingml/2006/main" noGrp="1"/>
          </p:cNvSpPr>
          <p:nvPr/>
        </p:nvSpPr>
        <p:spPr>
          <a:xfrm xmlns:a="http://schemas.openxmlformats.org/drawingml/2006/main">
            <a:off x="277177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D73412A-B606-44C5-BF67-509C83AEBBC3}"/>
              </a:ext>
            </a:extLst>
          </p:cNvPr>
          <p:cNvSpPr>
            <a:spLocks xmlns:a="http://schemas.openxmlformats.org/drawingml/2006/main" noGrp="1"/>
          </p:cNvSpPr>
          <p:nvPr/>
        </p:nvSpPr>
        <p:spPr>
          <a:xfrm xmlns:a="http://schemas.openxmlformats.org/drawingml/2006/main">
            <a:off x="490537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6C86B65-584E-4249-A78A-800903358FF3}"/>
              </a:ext>
            </a:extLst>
          </p:cNvPr>
          <p:cNvSpPr>
            <a:spLocks xmlns:a="http://schemas.openxmlformats.org/drawingml/2006/main" noGrp="1"/>
          </p:cNvSpPr>
          <p:nvPr/>
        </p:nvSpPr>
        <p:spPr>
          <a:xfrm xmlns:a="http://schemas.openxmlformats.org/drawingml/2006/main">
            <a:off x="500062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3B4290-DC7C-4E71-82DF-05981FF7DD6B}"/>
              </a:ext>
            </a:extLst>
          </p:cNvPr>
          <p:cNvSpPr>
            <a:spLocks xmlns:a="http://schemas.openxmlformats.org/drawingml/2006/main" noGrp="1"/>
          </p:cNvSpPr>
          <p:nvPr/>
        </p:nvSpPr>
        <p:spPr>
          <a:xfrm xmlns:a="http://schemas.openxmlformats.org/drawingml/2006/main">
            <a:off x="713422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7266C4-FC7C-44B5-BF2E-6EB06BBDFF2F}"/>
              </a:ext>
            </a:extLst>
          </p:cNvPr>
          <p:cNvSpPr>
            <a:spLocks xmlns:a="http://schemas.openxmlformats.org/drawingml/2006/main" noGrp="1"/>
          </p:cNvSpPr>
          <p:nvPr/>
        </p:nvSpPr>
        <p:spPr>
          <a:xfrm xmlns:a="http://schemas.openxmlformats.org/drawingml/2006/main">
            <a:off x="722947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1D53C00-0B87-40DD-AFA1-6C5119EC1EC8}"/>
              </a:ext>
            </a:extLst>
          </p:cNvPr>
          <p:cNvSpPr>
            <a:spLocks xmlns:a="http://schemas.openxmlformats.org/drawingml/2006/main" noGrp="1"/>
          </p:cNvSpPr>
          <p:nvPr/>
        </p:nvSpPr>
        <p:spPr>
          <a:xfrm xmlns:a="http://schemas.openxmlformats.org/drawingml/2006/main">
            <a:off x="936307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8495D67-5CEF-46E3-A21B-B8F8A1F3DD8B}"/>
              </a:ext>
            </a:extLst>
          </p:cNvPr>
          <p:cNvSpPr>
            <a:spLocks xmlns:a="http://schemas.openxmlformats.org/drawingml/2006/main" noGrp="1"/>
          </p:cNvSpPr>
          <p:nvPr/>
        </p:nvSpPr>
        <p:spPr>
          <a:xfrm xmlns:a="http://schemas.openxmlformats.org/drawingml/2006/main">
            <a:off x="945832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DA8580B-BDCD-4D85-A9A3-7A07CA7E528A}"/>
              </a:ext>
            </a:extLst>
          </p:cNvPr>
          <p:cNvSpPr>
            <a:spLocks xmlns:a="http://schemas.openxmlformats.org/drawingml/2006/main" noGrp="1"/>
          </p:cNvSpPr>
          <p:nvPr/>
        </p:nvSpPr>
        <p:spPr>
          <a:xfrm xmlns:a="http://schemas.openxmlformats.org/drawingml/2006/main">
            <a:off x="609600" y="2381250"/>
            <a:ext cx="2057400" cy="895350"/>
          </a:xfrm>
          <a:prstGeom xmlns:a="http://schemas.openxmlformats.org/drawingml/2006/main" prst="roundRect">
            <a:avLst>
              <a:gd name="adj" fmla="val 6383"/>
            </a:avLst>
          </a:prstGeom>
          <a:solidFill xmlns:a="http://schemas.openxmlformats.org/drawingml/2006/main">
            <a:srgbClr val="E8F2FB"/>
          </a:solidFill>
          <a:ln xmlns:a="http://schemas.openxmlformats.org/drawingml/2006/main" w="9525">
            <a:solidFill>
              <a:srgbClr val="1F5EAC"/>
            </a:solidFill>
            <a:prstDash val="solid"/>
          </a:ln>
        </p:spPr>
      </p:sp>
      <p:sp>
        <p:nvSpPr>
          <p:cNvPr id="16" name="">
            <a:extLst xmlns:a="http://schemas.openxmlformats.org/drawingml/2006/main">
              <a:ext uri="{FF2B5EF4-FFF2-40B4-BE49-F238E27FC236}">
                <a16:creationId xmlns:a16="http://schemas.microsoft.com/office/drawing/2014/main" id="{A15F7E69-FAFC-442E-9605-47712C8008F5}"/>
              </a:ext>
            </a:extLst>
          </p:cNvPr>
          <p:cNvSpPr>
            <a:spLocks xmlns:a="http://schemas.openxmlformats.org/drawingml/2006/main" noGrp="1"/>
          </p:cNvSpPr>
          <p:nvPr/>
        </p:nvSpPr>
        <p:spPr>
          <a:xfrm xmlns:a="http://schemas.openxmlformats.org/drawingml/2006/main">
            <a:off x="723900" y="25146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Bài nói</a:t>
            </a:r>
          </a:p>
        </p:txBody>
      </p:sp>
      <p:sp>
        <p:nvSpPr>
          <p:cNvPr id="17" name="">
            <a:extLst xmlns:a="http://schemas.openxmlformats.org/drawingml/2006/main">
              <a:ext uri="{FF2B5EF4-FFF2-40B4-BE49-F238E27FC236}">
                <a16:creationId xmlns:a16="http://schemas.microsoft.com/office/drawing/2014/main" id="{00A1A951-D7B8-4426-B7D8-814A9E16604E}"/>
              </a:ext>
            </a:extLst>
          </p:cNvPr>
          <p:cNvSpPr>
            <a:spLocks xmlns:a="http://schemas.openxmlformats.org/drawingml/2006/main" noGrp="1"/>
          </p:cNvSpPr>
          <p:nvPr/>
        </p:nvSpPr>
        <p:spPr>
          <a:xfrm xmlns:a="http://schemas.openxmlformats.org/drawingml/2006/main">
            <a:off x="723900" y="280035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Audio + nhiệm vụ</a:t>
            </a:r>
          </a:p>
        </p:txBody>
      </p:sp>
      <p:sp>
        <p:nvSpPr>
          <p:cNvPr id="18" name="">
            <a:extLst xmlns:a="http://schemas.openxmlformats.org/drawingml/2006/main">
              <a:ext uri="{FF2B5EF4-FFF2-40B4-BE49-F238E27FC236}">
                <a16:creationId xmlns:a16="http://schemas.microsoft.com/office/drawing/2014/main" id="{2677C85C-8FD8-4384-8EF8-F187B24889FF}"/>
              </a:ext>
            </a:extLst>
          </p:cNvPr>
          <p:cNvSpPr>
            <a:spLocks xmlns:a="http://schemas.openxmlformats.org/drawingml/2006/main" noGrp="1"/>
          </p:cNvSpPr>
          <p:nvPr/>
        </p:nvSpPr>
        <p:spPr>
          <a:xfrm xmlns:a="http://schemas.openxmlformats.org/drawingml/2006/main">
            <a:off x="2838450" y="2381250"/>
            <a:ext cx="2057400" cy="895350"/>
          </a:xfrm>
          <a:prstGeom xmlns:a="http://schemas.openxmlformats.org/drawingml/2006/main" prst="roundRect">
            <a:avLst>
              <a:gd name="adj" fmla="val 6383"/>
            </a:avLst>
          </a:prstGeom>
          <a:solidFill xmlns:a="http://schemas.openxmlformats.org/drawingml/2006/main">
            <a:srgbClr val="FFFFFF"/>
          </a:solidFill>
          <a:ln xmlns:a="http://schemas.openxmlformats.org/drawingml/2006/main" w="9525">
            <a:solidFill>
              <a:srgbClr val="1F5EAC"/>
            </a:solidFill>
            <a:prstDash val="solid"/>
          </a:ln>
        </p:spPr>
      </p:sp>
      <p:sp>
        <p:nvSpPr>
          <p:cNvPr id="19" name="">
            <a:extLst xmlns:a="http://schemas.openxmlformats.org/drawingml/2006/main">
              <a:ext uri="{FF2B5EF4-FFF2-40B4-BE49-F238E27FC236}">
                <a16:creationId xmlns:a16="http://schemas.microsoft.com/office/drawing/2014/main" id="{DA820277-CF37-47E1-B23D-65DA9A90021F}"/>
              </a:ext>
            </a:extLst>
          </p:cNvPr>
          <p:cNvSpPr>
            <a:spLocks xmlns:a="http://schemas.openxmlformats.org/drawingml/2006/main" noGrp="1"/>
          </p:cNvSpPr>
          <p:nvPr/>
        </p:nvSpPr>
        <p:spPr>
          <a:xfrm xmlns:a="http://schemas.openxmlformats.org/drawingml/2006/main">
            <a:off x="2952750" y="25146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AI quan sát</a:t>
            </a:r>
          </a:p>
        </p:txBody>
      </p:sp>
      <p:sp>
        <p:nvSpPr>
          <p:cNvPr id="20" name="">
            <a:extLst xmlns:a="http://schemas.openxmlformats.org/drawingml/2006/main">
              <a:ext uri="{FF2B5EF4-FFF2-40B4-BE49-F238E27FC236}">
                <a16:creationId xmlns:a16="http://schemas.microsoft.com/office/drawing/2014/main" id="{99F34D08-75B1-4AF3-BBB1-906250B5CD3E}"/>
              </a:ext>
            </a:extLst>
          </p:cNvPr>
          <p:cNvSpPr>
            <a:spLocks xmlns:a="http://schemas.openxmlformats.org/drawingml/2006/main" noGrp="1"/>
          </p:cNvSpPr>
          <p:nvPr/>
        </p:nvSpPr>
        <p:spPr>
          <a:xfrm xmlns:a="http://schemas.openxmlformats.org/drawingml/2006/main">
            <a:off x="2952750" y="280035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Âm thanh, transcript, lượt nói</a:t>
            </a:r>
          </a:p>
        </p:txBody>
      </p:sp>
      <p:sp>
        <p:nvSpPr>
          <p:cNvPr id="21" name="">
            <a:extLst xmlns:a="http://schemas.openxmlformats.org/drawingml/2006/main">
              <a:ext uri="{FF2B5EF4-FFF2-40B4-BE49-F238E27FC236}">
                <a16:creationId xmlns:a16="http://schemas.microsoft.com/office/drawing/2014/main" id="{A4E44D24-9E6C-453B-8ECC-23DBAFA704CD}"/>
              </a:ext>
            </a:extLst>
          </p:cNvPr>
          <p:cNvSpPr>
            <a:spLocks xmlns:a="http://schemas.openxmlformats.org/drawingml/2006/main" noGrp="1"/>
          </p:cNvSpPr>
          <p:nvPr/>
        </p:nvSpPr>
        <p:spPr>
          <a:xfrm xmlns:a="http://schemas.openxmlformats.org/drawingml/2006/main">
            <a:off x="5067300" y="2381250"/>
            <a:ext cx="2057400" cy="895350"/>
          </a:xfrm>
          <a:prstGeom xmlns:a="http://schemas.openxmlformats.org/drawingml/2006/main" prst="roundRect">
            <a:avLst>
              <a:gd name="adj" fmla="val 6383"/>
            </a:avLst>
          </a:prstGeom>
          <a:solidFill xmlns:a="http://schemas.openxmlformats.org/drawingml/2006/main">
            <a:srgbClr val="E7F4ED"/>
          </a:solidFill>
          <a:ln xmlns:a="http://schemas.openxmlformats.org/drawingml/2006/main" w="9525">
            <a:solidFill>
              <a:srgbClr val="2F7D5C"/>
            </a:solidFill>
            <a:prstDash val="solid"/>
          </a:ln>
        </p:spPr>
      </p:sp>
      <p:sp>
        <p:nvSpPr>
          <p:cNvPr id="22" name="">
            <a:extLst xmlns:a="http://schemas.openxmlformats.org/drawingml/2006/main">
              <a:ext uri="{FF2B5EF4-FFF2-40B4-BE49-F238E27FC236}">
                <a16:creationId xmlns:a16="http://schemas.microsoft.com/office/drawing/2014/main" id="{41F939A9-1220-4E32-9573-732F4B8EC126}"/>
              </a:ext>
            </a:extLst>
          </p:cNvPr>
          <p:cNvSpPr>
            <a:spLocks xmlns:a="http://schemas.openxmlformats.org/drawingml/2006/main" noGrp="1"/>
          </p:cNvSpPr>
          <p:nvPr/>
        </p:nvSpPr>
        <p:spPr>
          <a:xfrm xmlns:a="http://schemas.openxmlformats.org/drawingml/2006/main">
            <a:off x="5181600" y="25146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Ước lượng</a:t>
            </a:r>
          </a:p>
        </p:txBody>
      </p:sp>
      <p:sp>
        <p:nvSpPr>
          <p:cNvPr id="23" name="">
            <a:extLst xmlns:a="http://schemas.openxmlformats.org/drawingml/2006/main">
              <a:ext uri="{FF2B5EF4-FFF2-40B4-BE49-F238E27FC236}">
                <a16:creationId xmlns:a16="http://schemas.microsoft.com/office/drawing/2014/main" id="{8C0A8FE8-E47D-4681-B1DB-98B1F31362C4}"/>
              </a:ext>
            </a:extLst>
          </p:cNvPr>
          <p:cNvSpPr>
            <a:spLocks xmlns:a="http://schemas.openxmlformats.org/drawingml/2006/main" noGrp="1"/>
          </p:cNvSpPr>
          <p:nvPr/>
        </p:nvSpPr>
        <p:spPr>
          <a:xfrm xmlns:a="http://schemas.openxmlformats.org/drawingml/2006/main">
            <a:off x="5181600" y="280035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A2 / B1 / B2 + 6 tiêu chí</a:t>
            </a:r>
          </a:p>
        </p:txBody>
      </p:sp>
      <p:sp>
        <p:nvSpPr>
          <p:cNvPr id="24" name="">
            <a:extLst xmlns:a="http://schemas.openxmlformats.org/drawingml/2006/main">
              <a:ext uri="{FF2B5EF4-FFF2-40B4-BE49-F238E27FC236}">
                <a16:creationId xmlns:a16="http://schemas.microsoft.com/office/drawing/2014/main" id="{EC201E83-3FFA-46DD-93DC-A7CA70E0D635}"/>
              </a:ext>
            </a:extLst>
          </p:cNvPr>
          <p:cNvSpPr>
            <a:spLocks xmlns:a="http://schemas.openxmlformats.org/drawingml/2006/main" noGrp="1"/>
          </p:cNvSpPr>
          <p:nvPr/>
        </p:nvSpPr>
        <p:spPr>
          <a:xfrm xmlns:a="http://schemas.openxmlformats.org/drawingml/2006/main">
            <a:off x="7296150" y="2381250"/>
            <a:ext cx="2057400" cy="895350"/>
          </a:xfrm>
          <a:prstGeom xmlns:a="http://schemas.openxmlformats.org/drawingml/2006/main" prst="roundRect">
            <a:avLst>
              <a:gd name="adj" fmla="val 6383"/>
            </a:avLst>
          </a:prstGeom>
          <a:solidFill xmlns:a="http://schemas.openxmlformats.org/drawingml/2006/main">
            <a:srgbClr val="FFF2D5"/>
          </a:solidFill>
          <a:ln xmlns:a="http://schemas.openxmlformats.org/drawingml/2006/main" w="9525">
            <a:solidFill>
              <a:srgbClr val="A96500"/>
            </a:solidFill>
            <a:prstDash val="solid"/>
          </a:ln>
        </p:spPr>
      </p:sp>
      <p:sp>
        <p:nvSpPr>
          <p:cNvPr id="25" name="">
            <a:extLst xmlns:a="http://schemas.openxmlformats.org/drawingml/2006/main">
              <a:ext uri="{FF2B5EF4-FFF2-40B4-BE49-F238E27FC236}">
                <a16:creationId xmlns:a16="http://schemas.microsoft.com/office/drawing/2014/main" id="{D4E07D29-AC5A-4DE6-B519-4BC843752E2D}"/>
              </a:ext>
            </a:extLst>
          </p:cNvPr>
          <p:cNvSpPr>
            <a:spLocks xmlns:a="http://schemas.openxmlformats.org/drawingml/2006/main" noGrp="1"/>
          </p:cNvSpPr>
          <p:nvPr/>
        </p:nvSpPr>
        <p:spPr>
          <a:xfrm xmlns:a="http://schemas.openxmlformats.org/drawingml/2006/main">
            <a:off x="7410450" y="25146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Giải thích</a:t>
            </a:r>
          </a:p>
        </p:txBody>
      </p:sp>
      <p:sp>
        <p:nvSpPr>
          <p:cNvPr id="26" name="">
            <a:extLst xmlns:a="http://schemas.openxmlformats.org/drawingml/2006/main">
              <a:ext uri="{FF2B5EF4-FFF2-40B4-BE49-F238E27FC236}">
                <a16:creationId xmlns:a16="http://schemas.microsoft.com/office/drawing/2014/main" id="{D5C0747D-B206-4B1E-AF54-AB7AD312D981}"/>
              </a:ext>
            </a:extLst>
          </p:cNvPr>
          <p:cNvSpPr>
            <a:spLocks xmlns:a="http://schemas.openxmlformats.org/drawingml/2006/main" noGrp="1"/>
          </p:cNvSpPr>
          <p:nvPr/>
        </p:nvSpPr>
        <p:spPr>
          <a:xfrm xmlns:a="http://schemas.openxmlformats.org/drawingml/2006/main">
            <a:off x="7410450" y="280035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543"/>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Timestamp, lỗi, pause, trích đoạn</a:t>
            </a:r>
          </a:p>
        </p:txBody>
      </p:sp>
      <p:sp>
        <p:nvSpPr>
          <p:cNvPr id="27" name="">
            <a:extLst xmlns:a="http://schemas.openxmlformats.org/drawingml/2006/main">
              <a:ext uri="{FF2B5EF4-FFF2-40B4-BE49-F238E27FC236}">
                <a16:creationId xmlns:a16="http://schemas.microsoft.com/office/drawing/2014/main" id="{E34BE300-A808-47AD-89C7-5BBD8487392D}"/>
              </a:ext>
            </a:extLst>
          </p:cNvPr>
          <p:cNvSpPr>
            <a:spLocks xmlns:a="http://schemas.openxmlformats.org/drawingml/2006/main" noGrp="1"/>
          </p:cNvSpPr>
          <p:nvPr/>
        </p:nvSpPr>
        <p:spPr>
          <a:xfrm xmlns:a="http://schemas.openxmlformats.org/drawingml/2006/main">
            <a:off x="9525000" y="2381250"/>
            <a:ext cx="2057400" cy="895350"/>
          </a:xfrm>
          <a:prstGeom xmlns:a="http://schemas.openxmlformats.org/drawingml/2006/main" prst="roundRect">
            <a:avLst>
              <a:gd name="adj" fmla="val 6383"/>
            </a:avLst>
          </a:prstGeom>
          <a:solidFill xmlns:a="http://schemas.openxmlformats.org/drawingml/2006/main">
            <a:srgbClr val="FBEAEA"/>
          </a:solidFill>
          <a:ln xmlns:a="http://schemas.openxmlformats.org/drawingml/2006/main" w="9525">
            <a:solidFill>
              <a:srgbClr val="B43D3D"/>
            </a:solidFill>
            <a:prstDash val="solid"/>
          </a:ln>
        </p:spPr>
      </p:sp>
      <p:sp>
        <p:nvSpPr>
          <p:cNvPr id="28" name="">
            <a:extLst xmlns:a="http://schemas.openxmlformats.org/drawingml/2006/main">
              <a:ext uri="{FF2B5EF4-FFF2-40B4-BE49-F238E27FC236}">
                <a16:creationId xmlns:a16="http://schemas.microsoft.com/office/drawing/2014/main" id="{E78D2460-0ED6-4E67-BC11-7833C111B12F}"/>
              </a:ext>
            </a:extLst>
          </p:cNvPr>
          <p:cNvSpPr>
            <a:spLocks xmlns:a="http://schemas.openxmlformats.org/drawingml/2006/main" noGrp="1"/>
          </p:cNvSpPr>
          <p:nvPr/>
        </p:nvSpPr>
        <p:spPr>
          <a:xfrm xmlns:a="http://schemas.openxmlformats.org/drawingml/2006/main">
            <a:off x="9639300" y="2514600"/>
            <a:ext cx="1828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Kiểm duyệt</a:t>
            </a:r>
          </a:p>
        </p:txBody>
      </p:sp>
      <p:sp>
        <p:nvSpPr>
          <p:cNvPr id="29" name="">
            <a:extLst xmlns:a="http://schemas.openxmlformats.org/drawingml/2006/main">
              <a:ext uri="{FF2B5EF4-FFF2-40B4-BE49-F238E27FC236}">
                <a16:creationId xmlns:a16="http://schemas.microsoft.com/office/drawing/2014/main" id="{3BBD33F0-57B2-4B87-A8E8-441DFB88BC01}"/>
              </a:ext>
            </a:extLst>
          </p:cNvPr>
          <p:cNvSpPr>
            <a:spLocks xmlns:a="http://schemas.openxmlformats.org/drawingml/2006/main" noGrp="1"/>
          </p:cNvSpPr>
          <p:nvPr/>
        </p:nvSpPr>
        <p:spPr>
          <a:xfrm xmlns:a="http://schemas.openxmlformats.org/drawingml/2006/main">
            <a:off x="9639300" y="2800350"/>
            <a:ext cx="1828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Ca bất định → giảng viên</a:t>
            </a:r>
          </a:p>
        </p:txBody>
      </p:sp>
      <p:sp>
        <p:nvSpPr>
          <p:cNvPr id="30" name="">
            <a:extLst xmlns:a="http://schemas.openxmlformats.org/drawingml/2006/main">
              <a:ext uri="{FF2B5EF4-FFF2-40B4-BE49-F238E27FC236}">
                <a16:creationId xmlns:a16="http://schemas.microsoft.com/office/drawing/2014/main" id="{DE6E49F7-C0C4-4B15-A258-C07634B41FD6}"/>
              </a:ext>
            </a:extLst>
          </p:cNvPr>
          <p:cNvSpPr>
            <a:spLocks xmlns:a="http://schemas.openxmlformats.org/drawingml/2006/main" noGrp="1"/>
          </p:cNvSpPr>
          <p:nvPr/>
        </p:nvSpPr>
        <p:spPr>
          <a:xfrm xmlns:a="http://schemas.openxmlformats.org/drawingml/2006/main">
            <a:off x="1333500" y="4152900"/>
            <a:ext cx="9525000" cy="971550"/>
          </a:xfrm>
          <a:prstGeom xmlns:a="http://schemas.openxmlformats.org/drawingml/2006/main" prst="roundRect">
            <a:avLst>
              <a:gd name="adj" fmla="val 5882"/>
            </a:avLst>
          </a:prstGeom>
          <a:solidFill xmlns:a="http://schemas.openxmlformats.org/drawingml/2006/main">
            <a:srgbClr val="E8F2FB"/>
          </a:solidFill>
          <a:ln xmlns:a="http://schemas.openxmlformats.org/drawingml/2006/main" w="9525">
            <a:solidFill>
              <a:srgbClr val="1F5EAC"/>
            </a:solidFill>
            <a:prstDash val="solid"/>
          </a:ln>
        </p:spPr>
      </p:sp>
      <p:sp>
        <p:nvSpPr>
          <p:cNvPr id="31" name="">
            <a:extLst xmlns:a="http://schemas.openxmlformats.org/drawingml/2006/main">
              <a:ext uri="{FF2B5EF4-FFF2-40B4-BE49-F238E27FC236}">
                <a16:creationId xmlns:a16="http://schemas.microsoft.com/office/drawing/2014/main" id="{E2C06690-2B5A-4D83-B1DC-2339FA466D73}"/>
              </a:ext>
            </a:extLst>
          </p:cNvPr>
          <p:cNvSpPr>
            <a:spLocks xmlns:a="http://schemas.openxmlformats.org/drawingml/2006/main" noGrp="1"/>
          </p:cNvSpPr>
          <p:nvPr/>
        </p:nvSpPr>
        <p:spPr>
          <a:xfrm xmlns:a="http://schemas.openxmlformats.org/drawingml/2006/main">
            <a:off x="1524000" y="4286250"/>
            <a:ext cx="9144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i="0">
                <a:solidFill>
                  <a:srgbClr val="1F5EAC"/>
                </a:solidFill>
                <a:latin typeface="Aptos"/>
                <a:ea typeface="Aptos"/>
                <a:cs typeface="Aptos"/>
              </a:defRPr>
            </a:pPr>
            <a:r>
              <a:rPr sz="1800" b="1" i="0">
                <a:solidFill>
                  <a:srgbClr val="1F5EAC"/>
                </a:solidFill>
                <a:latin typeface="Aptos"/>
                <a:ea typeface="Aptos"/>
                <a:cs typeface="Aptos"/>
              </a:rPr>
              <a:t>Giá trị chính không phải là một con số. Giá trị là phản hồi nhanh, truy vết được và dùng được để chọn bài luyện tiếp theo.</a:t>
            </a:r>
          </a:p>
        </p:txBody>
      </p:sp>
    </p:spTree>
    <p:extLst>
      <p:ext uri="{BB962C8B-B14F-4D97-AF65-F5344CB8AC3E}">
        <p14:creationId xmlns:p14="http://schemas.microsoft.com/office/powerpoint/2010/main" val="164674972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DFE2C8D-3A12-4E21-A5D7-8E2A7CFAE6B3}"/>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BỐI CẢNH</a:t>
            </a:r>
          </a:p>
        </p:txBody>
      </p:sp>
      <p:sp>
        <p:nvSpPr>
          <p:cNvPr id="2" name="">
            <a:extLst xmlns:a="http://schemas.openxmlformats.org/drawingml/2006/main">
              <a:ext uri="{FF2B5EF4-FFF2-40B4-BE49-F238E27FC236}">
                <a16:creationId xmlns:a16="http://schemas.microsoft.com/office/drawing/2014/main" id="{A3F39BAE-62DE-4CB5-BA35-C04B810BE93D}"/>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Vấn đề không chỉ là chấm chậm, mà là thiếu phản hồi có thể hành động</a:t>
            </a:r>
          </a:p>
        </p:txBody>
      </p:sp>
      <p:sp>
        <p:nvSpPr>
          <p:cNvPr id="3" name="">
            <a:extLst xmlns:a="http://schemas.openxmlformats.org/drawingml/2006/main">
              <a:ext uri="{FF2B5EF4-FFF2-40B4-BE49-F238E27FC236}">
                <a16:creationId xmlns:a16="http://schemas.microsoft.com/office/drawing/2014/main" id="{2981FBEF-E78E-4295-A1AC-66DE350A6EB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Trong lớp đông, giảng viên khó nghe lại nhiều lần và chỉ ra bằng chứng cho từng sinh viên.</a:t>
            </a:r>
          </a:p>
        </p:txBody>
      </p:sp>
      <p:sp>
        <p:nvSpPr>
          <p:cNvPr id="4" name="">
            <a:extLst xmlns:a="http://schemas.openxmlformats.org/drawingml/2006/main">
              <a:ext uri="{FF2B5EF4-FFF2-40B4-BE49-F238E27FC236}">
                <a16:creationId xmlns:a16="http://schemas.microsoft.com/office/drawing/2014/main" id="{1BDA8B00-3503-43F4-8C4E-BA4F14240B96}"/>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CDF51F7-2089-41A6-83DC-5ECFF5035B87}"/>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BỐI CẢNH</a:t>
            </a:r>
          </a:p>
        </p:txBody>
      </p:sp>
      <p:sp>
        <p:nvSpPr>
          <p:cNvPr id="6" name="">
            <a:extLst xmlns:a="http://schemas.openxmlformats.org/drawingml/2006/main">
              <a:ext uri="{FF2B5EF4-FFF2-40B4-BE49-F238E27FC236}">
                <a16:creationId xmlns:a16="http://schemas.microsoft.com/office/drawing/2014/main" id="{3556149C-18F2-4E17-AAE1-086FCDD0E297}"/>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a:t>
            </a:r>
          </a:p>
        </p:txBody>
      </p:sp>
      <p:sp>
        <p:nvSpPr>
          <p:cNvPr id="7" name="">
            <a:extLst xmlns:a="http://schemas.openxmlformats.org/drawingml/2006/main">
              <a:ext uri="{FF2B5EF4-FFF2-40B4-BE49-F238E27FC236}">
                <a16:creationId xmlns:a16="http://schemas.microsoft.com/office/drawing/2014/main" id="{15B854CB-657D-4A2E-82ED-B34D273731CD}"/>
              </a:ext>
            </a:extLst>
          </p:cNvPr>
          <p:cNvSpPr>
            <a:spLocks xmlns:a="http://schemas.openxmlformats.org/drawingml/2006/main" noGrp="1"/>
          </p:cNvSpPr>
          <p:nvPr/>
        </p:nvSpPr>
        <p:spPr>
          <a:xfrm xmlns:a="http://schemas.openxmlformats.org/drawingml/2006/main">
            <a:off x="647700" y="2209800"/>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11DD3DC-0E97-4D85-BE30-B293C997F5DA}"/>
              </a:ext>
            </a:extLst>
          </p:cNvPr>
          <p:cNvSpPr>
            <a:spLocks xmlns:a="http://schemas.openxmlformats.org/drawingml/2006/main" noGrp="1"/>
          </p:cNvSpPr>
          <p:nvPr/>
        </p:nvSpPr>
        <p:spPr>
          <a:xfrm xmlns:a="http://schemas.openxmlformats.org/drawingml/2006/main">
            <a:off x="64770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Tốn công</a:t>
            </a:r>
          </a:p>
        </p:txBody>
      </p:sp>
      <p:sp>
        <p:nvSpPr>
          <p:cNvPr id="9" name="">
            <a:extLst xmlns:a="http://schemas.openxmlformats.org/drawingml/2006/main">
              <a:ext uri="{FF2B5EF4-FFF2-40B4-BE49-F238E27FC236}">
                <a16:creationId xmlns:a16="http://schemas.microsoft.com/office/drawing/2014/main" id="{4CB45D7F-EC88-4E30-81B8-2BC4DF2DF2B5}"/>
              </a:ext>
            </a:extLst>
          </p:cNvPr>
          <p:cNvSpPr>
            <a:spLocks xmlns:a="http://schemas.openxmlformats.org/drawingml/2006/main" noGrp="1"/>
          </p:cNvSpPr>
          <p:nvPr/>
        </p:nvSpPr>
        <p:spPr>
          <a:xfrm xmlns:a="http://schemas.openxmlformats.org/drawingml/2006/main">
            <a:off x="647700" y="2952750"/>
            <a:ext cx="31432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Chấm Speaking cần nghe audio, đối chiếu rubric và viết nhận xét. Khối lượng tăng gần tuyến tính theo số sinh viên.</a:t>
            </a:r>
          </a:p>
        </p:txBody>
      </p:sp>
      <p:sp>
        <p:nvSpPr>
          <p:cNvPr id="10" name="">
            <a:extLst xmlns:a="http://schemas.openxmlformats.org/drawingml/2006/main">
              <a:ext uri="{FF2B5EF4-FFF2-40B4-BE49-F238E27FC236}">
                <a16:creationId xmlns:a16="http://schemas.microsoft.com/office/drawing/2014/main" id="{B2F61547-BF61-4B85-880E-79314E2FC19D}"/>
              </a:ext>
            </a:extLst>
          </p:cNvPr>
          <p:cNvSpPr>
            <a:spLocks xmlns:a="http://schemas.openxmlformats.org/drawingml/2006/main" noGrp="1"/>
          </p:cNvSpPr>
          <p:nvPr/>
        </p:nvSpPr>
        <p:spPr>
          <a:xfrm xmlns:a="http://schemas.openxmlformats.org/drawingml/2006/main">
            <a:off x="4524375" y="2209800"/>
            <a:ext cx="3143250" cy="4762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2C1E20E-B0F8-4AD3-9F36-0925011C1F30}"/>
              </a:ext>
            </a:extLst>
          </p:cNvPr>
          <p:cNvSpPr>
            <a:spLocks xmlns:a="http://schemas.openxmlformats.org/drawingml/2006/main" noGrp="1"/>
          </p:cNvSpPr>
          <p:nvPr/>
        </p:nvSpPr>
        <p:spPr>
          <a:xfrm xmlns:a="http://schemas.openxmlformats.org/drawingml/2006/main">
            <a:off x="4524375"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A96500"/>
                </a:solidFill>
                <a:latin typeface="Aptos"/>
                <a:ea typeface="Aptos"/>
                <a:cs typeface="Aptos"/>
              </a:defRPr>
            </a:pPr>
            <a:r>
              <a:rPr sz="1875" b="1" i="0">
                <a:solidFill>
                  <a:srgbClr val="A96500"/>
                </a:solidFill>
                <a:latin typeface="Aptos"/>
                <a:ea typeface="Aptos"/>
                <a:cs typeface="Aptos"/>
              </a:rPr>
              <a:t>Khó nhất quán</a:t>
            </a:r>
          </a:p>
        </p:txBody>
      </p:sp>
      <p:sp>
        <p:nvSpPr>
          <p:cNvPr id="12" name="">
            <a:extLst xmlns:a="http://schemas.openxmlformats.org/drawingml/2006/main">
              <a:ext uri="{FF2B5EF4-FFF2-40B4-BE49-F238E27FC236}">
                <a16:creationId xmlns:a16="http://schemas.microsoft.com/office/drawing/2014/main" id="{D4349143-75D2-4125-A617-5D4D3B1880B0}"/>
              </a:ext>
            </a:extLst>
          </p:cNvPr>
          <p:cNvSpPr>
            <a:spLocks xmlns:a="http://schemas.openxmlformats.org/drawingml/2006/main" noGrp="1"/>
          </p:cNvSpPr>
          <p:nvPr/>
        </p:nvSpPr>
        <p:spPr>
          <a:xfrm xmlns:a="http://schemas.openxmlformats.org/drawingml/2006/main">
            <a:off x="4524375" y="2952750"/>
            <a:ext cx="31432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Điểm chịu ảnh hưởng bởi cách hiểu rubric, tải chấm, độ khó prompt và mức đồng thuận giữa người chấm.</a:t>
            </a:r>
          </a:p>
        </p:txBody>
      </p:sp>
      <p:sp>
        <p:nvSpPr>
          <p:cNvPr id="13" name="">
            <a:extLst xmlns:a="http://schemas.openxmlformats.org/drawingml/2006/main">
              <a:ext uri="{FF2B5EF4-FFF2-40B4-BE49-F238E27FC236}">
                <a16:creationId xmlns:a16="http://schemas.microsoft.com/office/drawing/2014/main" id="{D6E5A0EC-7531-4168-B28B-B2B6E4143BF7}"/>
              </a:ext>
            </a:extLst>
          </p:cNvPr>
          <p:cNvSpPr>
            <a:spLocks xmlns:a="http://schemas.openxmlformats.org/drawingml/2006/main" noGrp="1"/>
          </p:cNvSpPr>
          <p:nvPr/>
        </p:nvSpPr>
        <p:spPr>
          <a:xfrm xmlns:a="http://schemas.openxmlformats.org/drawingml/2006/main">
            <a:off x="8401050" y="2209800"/>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73CDE06-CBD8-411F-A71C-620E1A553D0F}"/>
              </a:ext>
            </a:extLst>
          </p:cNvPr>
          <p:cNvSpPr>
            <a:spLocks xmlns:a="http://schemas.openxmlformats.org/drawingml/2006/main" noGrp="1"/>
          </p:cNvSpPr>
          <p:nvPr/>
        </p:nvSpPr>
        <p:spPr>
          <a:xfrm xmlns:a="http://schemas.openxmlformats.org/drawingml/2006/main">
            <a:off x="8401050" y="23812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Phản hồi khó dùng</a:t>
            </a:r>
          </a:p>
        </p:txBody>
      </p:sp>
      <p:sp>
        <p:nvSpPr>
          <p:cNvPr id="15" name="">
            <a:extLst xmlns:a="http://schemas.openxmlformats.org/drawingml/2006/main">
              <a:ext uri="{FF2B5EF4-FFF2-40B4-BE49-F238E27FC236}">
                <a16:creationId xmlns:a16="http://schemas.microsoft.com/office/drawing/2014/main" id="{177A6769-6F1D-4EDF-A178-58C5DED0F36F}"/>
              </a:ext>
            </a:extLst>
          </p:cNvPr>
          <p:cNvSpPr>
            <a:spLocks xmlns:a="http://schemas.openxmlformats.org/drawingml/2006/main" noGrp="1"/>
          </p:cNvSpPr>
          <p:nvPr/>
        </p:nvSpPr>
        <p:spPr>
          <a:xfrm xmlns:a="http://schemas.openxmlformats.org/drawingml/2006/main">
            <a:off x="8401050" y="2952750"/>
            <a:ext cx="3143250" cy="1638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Một mức tổng quát không nói cho người học biết đoạn nào ngập ngừng, ý nào thiếu liên kết hoặc âm nào khó hiểu.</a:t>
            </a:r>
          </a:p>
        </p:txBody>
      </p:sp>
      <p:sp>
        <p:nvSpPr>
          <p:cNvPr id="16" name="">
            <a:extLst xmlns:a="http://schemas.openxmlformats.org/drawingml/2006/main">
              <a:ext uri="{FF2B5EF4-FFF2-40B4-BE49-F238E27FC236}">
                <a16:creationId xmlns:a16="http://schemas.microsoft.com/office/drawing/2014/main" id="{D4BD3D4E-9233-489A-90E6-E69F75841F47}"/>
              </a:ext>
            </a:extLst>
          </p:cNvPr>
          <p:cNvSpPr>
            <a:spLocks xmlns:a="http://schemas.openxmlformats.org/drawingml/2006/main" noGrp="1"/>
          </p:cNvSpPr>
          <p:nvPr/>
        </p:nvSpPr>
        <p:spPr>
          <a:xfrm xmlns:a="http://schemas.openxmlformats.org/drawingml/2006/main">
            <a:off x="1381125" y="5143500"/>
            <a:ext cx="9429750" cy="742950"/>
          </a:xfrm>
          <a:prstGeom xmlns:a="http://schemas.openxmlformats.org/drawingml/2006/main" prst="roundRect">
            <a:avLst>
              <a:gd name="adj" fmla="val 7692"/>
            </a:avLst>
          </a:prstGeom>
          <a:solidFill xmlns:a="http://schemas.openxmlformats.org/drawingml/2006/main">
            <a:srgbClr val="F0ECF8"/>
          </a:solidFill>
          <a:ln xmlns:a="http://schemas.openxmlformats.org/drawingml/2006/main" w="9525">
            <a:solidFill>
              <a:srgbClr val="6C4FA3"/>
            </a:solidFill>
            <a:prstDash val="solid"/>
          </a:ln>
        </p:spPr>
      </p:sp>
      <p:sp>
        <p:nvSpPr>
          <p:cNvPr id="17" name="">
            <a:extLst xmlns:a="http://schemas.openxmlformats.org/drawingml/2006/main">
              <a:ext uri="{FF2B5EF4-FFF2-40B4-BE49-F238E27FC236}">
                <a16:creationId xmlns:a16="http://schemas.microsoft.com/office/drawing/2014/main" id="{4332D20B-BC45-45AC-A998-257A273D56D8}"/>
              </a:ext>
            </a:extLst>
          </p:cNvPr>
          <p:cNvSpPr>
            <a:spLocks xmlns:a="http://schemas.openxmlformats.org/drawingml/2006/main" noGrp="1"/>
          </p:cNvSpPr>
          <p:nvPr/>
        </p:nvSpPr>
        <p:spPr>
          <a:xfrm xmlns:a="http://schemas.openxmlformats.org/drawingml/2006/main">
            <a:off x="1571625" y="5276850"/>
            <a:ext cx="904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266"/>
          </a:bodyPr>
          <a:lstStyle xmlns:a="http://schemas.openxmlformats.org/drawingml/2006/main"/>
          <a:p xmlns:a="http://schemas.openxmlformats.org/drawingml/2006/main">
            <a:pPr algn="l">
              <a:lnSpc>
                <a:spcPct val="105000"/>
              </a:lnSpc>
              <a:buNone/>
              <a:defRPr sz="1725" b="1" i="0">
                <a:solidFill>
                  <a:srgbClr val="6C4FA3"/>
                </a:solidFill>
                <a:latin typeface="Aptos"/>
                <a:ea typeface="Aptos"/>
                <a:cs typeface="Aptos"/>
              </a:defRPr>
            </a:pPr>
            <a:r>
              <a:rPr sz="1725" b="1" i="0">
                <a:solidFill>
                  <a:srgbClr val="6C4FA3"/>
                </a:solidFill>
                <a:latin typeface="Aptos"/>
                <a:ea typeface="Aptos"/>
                <a:cs typeface="Aptos"/>
              </a:rPr>
              <a:t>Câu hỏi thực tế: AI có thể giảm phần việc lặp lại nhưng vẫn giữ chuẩn chấm và quyền quyết định của giảng viên không?</a:t>
            </a:r>
          </a:p>
        </p:txBody>
      </p:sp>
    </p:spTree>
    <p:extLst>
      <p:ext uri="{BB962C8B-B14F-4D97-AF65-F5344CB8AC3E}">
        <p14:creationId xmlns:p14="http://schemas.microsoft.com/office/powerpoint/2010/main" val="321251490"/>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448C41-83C7-4CE6-9A18-4FF60A4F634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BÀI TOÁN NGHIÊN CỨU</a:t>
            </a:r>
          </a:p>
        </p:txBody>
      </p:sp>
      <p:sp>
        <p:nvSpPr>
          <p:cNvPr id="2" name="">
            <a:extLst xmlns:a="http://schemas.openxmlformats.org/drawingml/2006/main">
              <a:ext uri="{FF2B5EF4-FFF2-40B4-BE49-F238E27FC236}">
                <a16:creationId xmlns:a16="http://schemas.microsoft.com/office/drawing/2014/main" id="{04E20845-6B09-4ED8-B203-6097EE7FADC6}"/>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Hệ thống phải được kiểm định như một công cụ đo lường, không chỉ như một demo AI</a:t>
            </a:r>
          </a:p>
        </p:txBody>
      </p:sp>
      <p:sp>
        <p:nvSpPr>
          <p:cNvPr id="3" name="">
            <a:extLst xmlns:a="http://schemas.openxmlformats.org/drawingml/2006/main">
              <a:ext uri="{FF2B5EF4-FFF2-40B4-BE49-F238E27FC236}">
                <a16:creationId xmlns:a16="http://schemas.microsoft.com/office/drawing/2014/main" id="{FFD42A56-43B3-4BF4-81B4-C7F869158783}"/>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Một giao diện chạy được chưa chứng minh rằng điểm số có ý nghĩa.</a:t>
            </a:r>
          </a:p>
        </p:txBody>
      </p:sp>
      <p:sp>
        <p:nvSpPr>
          <p:cNvPr id="4" name="">
            <a:extLst xmlns:a="http://schemas.openxmlformats.org/drawingml/2006/main">
              <a:ext uri="{FF2B5EF4-FFF2-40B4-BE49-F238E27FC236}">
                <a16:creationId xmlns:a16="http://schemas.microsoft.com/office/drawing/2014/main" id="{276FA86E-5845-4344-90DA-246CADB90BB5}"/>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7ED856C-6B43-47ED-A392-CF89C7EABD95}"/>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BÀI TOÁN</a:t>
            </a:r>
          </a:p>
        </p:txBody>
      </p:sp>
      <p:sp>
        <p:nvSpPr>
          <p:cNvPr id="6" name="">
            <a:extLst xmlns:a="http://schemas.openxmlformats.org/drawingml/2006/main">
              <a:ext uri="{FF2B5EF4-FFF2-40B4-BE49-F238E27FC236}">
                <a16:creationId xmlns:a16="http://schemas.microsoft.com/office/drawing/2014/main" id="{744DA4EE-5758-45A3-87F9-69C4A3713968}"/>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4</a:t>
            </a:r>
          </a:p>
        </p:txBody>
      </p:sp>
      <p:sp>
        <p:nvSpPr>
          <p:cNvPr id="7" name="">
            <a:extLst xmlns:a="http://schemas.openxmlformats.org/drawingml/2006/main">
              <a:ext uri="{FF2B5EF4-FFF2-40B4-BE49-F238E27FC236}">
                <a16:creationId xmlns:a16="http://schemas.microsoft.com/office/drawing/2014/main" id="{CC39B977-3C24-462E-807D-E9E74347ABBF}"/>
              </a:ext>
            </a:extLst>
          </p:cNvPr>
          <p:cNvSpPr>
            <a:spLocks xmlns:a="http://schemas.openxmlformats.org/drawingml/2006/main" noGrp="1"/>
          </p:cNvSpPr>
          <p:nvPr/>
        </p:nvSpPr>
        <p:spPr>
          <a:xfrm xmlns:a="http://schemas.openxmlformats.org/drawingml/2006/main">
            <a:off x="990600" y="2095500"/>
            <a:ext cx="10210800" cy="1104900"/>
          </a:xfrm>
          <a:prstGeom xmlns:a="http://schemas.openxmlformats.org/drawingml/2006/main" prst="roundRect">
            <a:avLst>
              <a:gd name="adj" fmla="val 5172"/>
            </a:avLst>
          </a:prstGeom>
          <a:solidFill xmlns:a="http://schemas.openxmlformats.org/drawingml/2006/main">
            <a:srgbClr val="E8F2FB"/>
          </a:solidFill>
          <a:ln xmlns:a="http://schemas.openxmlformats.org/drawingml/2006/main" w="9525">
            <a:solidFill>
              <a:srgbClr val="1F5EAC"/>
            </a:solidFill>
            <a:prstDash val="solid"/>
          </a:ln>
        </p:spPr>
      </p:sp>
      <p:sp>
        <p:nvSpPr>
          <p:cNvPr id="8" name="">
            <a:extLst xmlns:a="http://schemas.openxmlformats.org/drawingml/2006/main">
              <a:ext uri="{FF2B5EF4-FFF2-40B4-BE49-F238E27FC236}">
                <a16:creationId xmlns:a16="http://schemas.microsoft.com/office/drawing/2014/main" id="{BA94EFD6-EEDB-4520-A893-318955257919}"/>
              </a:ext>
            </a:extLst>
          </p:cNvPr>
          <p:cNvSpPr>
            <a:spLocks xmlns:a="http://schemas.openxmlformats.org/drawingml/2006/main" noGrp="1"/>
          </p:cNvSpPr>
          <p:nvPr/>
        </p:nvSpPr>
        <p:spPr>
          <a:xfrm xmlns:a="http://schemas.openxmlformats.org/drawingml/2006/main">
            <a:off x="1181100" y="2228850"/>
            <a:ext cx="98298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Làm thế nào ước lượng mức Speaking A2–B2 theo sáu tiêu chí CEFR, kèm bằng chứng và độ tin cậy, trên dữ liệu người Việt được tách theo người nói?</a:t>
            </a:r>
          </a:p>
        </p:txBody>
      </p:sp>
      <p:sp>
        <p:nvSpPr>
          <p:cNvPr id="9" name="">
            <a:extLst xmlns:a="http://schemas.openxmlformats.org/drawingml/2006/main">
              <a:ext uri="{FF2B5EF4-FFF2-40B4-BE49-F238E27FC236}">
                <a16:creationId xmlns:a16="http://schemas.microsoft.com/office/drawing/2014/main" id="{14FA2AA1-00B0-4C8D-93AA-95E8BFF3AA6F}"/>
              </a:ext>
            </a:extLst>
          </p:cNvPr>
          <p:cNvSpPr>
            <a:spLocks xmlns:a="http://schemas.openxmlformats.org/drawingml/2006/main" noGrp="1"/>
          </p:cNvSpPr>
          <p:nvPr/>
        </p:nvSpPr>
        <p:spPr>
          <a:xfrm xmlns:a="http://schemas.openxmlformats.org/drawingml/2006/main">
            <a:off x="876300" y="3714750"/>
            <a:ext cx="304800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BB4F493-507B-453E-ADCB-D0811E77869A}"/>
              </a:ext>
            </a:extLst>
          </p:cNvPr>
          <p:cNvSpPr>
            <a:spLocks xmlns:a="http://schemas.openxmlformats.org/drawingml/2006/main" noGrp="1"/>
          </p:cNvSpPr>
          <p:nvPr/>
        </p:nvSpPr>
        <p:spPr>
          <a:xfrm xmlns:a="http://schemas.openxmlformats.org/drawingml/2006/main">
            <a:off x="876300" y="38862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1. Đúng construct?</a:t>
            </a:r>
          </a:p>
        </p:txBody>
      </p:sp>
      <p:sp>
        <p:nvSpPr>
          <p:cNvPr id="11" name="">
            <a:extLst xmlns:a="http://schemas.openxmlformats.org/drawingml/2006/main">
              <a:ext uri="{FF2B5EF4-FFF2-40B4-BE49-F238E27FC236}">
                <a16:creationId xmlns:a16="http://schemas.microsoft.com/office/drawing/2014/main" id="{8C39D573-5AB5-4CB0-85E6-9AD233E2AA82}"/>
              </a:ext>
            </a:extLst>
          </p:cNvPr>
          <p:cNvSpPr>
            <a:spLocks xmlns:a="http://schemas.openxmlformats.org/drawingml/2006/main" noGrp="1"/>
          </p:cNvSpPr>
          <p:nvPr/>
        </p:nvSpPr>
        <p:spPr>
          <a:xfrm xmlns:a="http://schemas.openxmlformats.org/drawingml/2006/main">
            <a:off x="876300" y="4457700"/>
            <a:ext cx="3048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Tín hiệu máy có thực sự phản ánh Range, Accuracy, Fluency, Interaction, Coherence và Phonology?</a:t>
            </a:r>
          </a:p>
        </p:txBody>
      </p:sp>
      <p:sp>
        <p:nvSpPr>
          <p:cNvPr id="12" name="">
            <a:extLst xmlns:a="http://schemas.openxmlformats.org/drawingml/2006/main">
              <a:ext uri="{FF2B5EF4-FFF2-40B4-BE49-F238E27FC236}">
                <a16:creationId xmlns:a16="http://schemas.microsoft.com/office/drawing/2014/main" id="{68E5EAE7-7059-41FD-8C0E-69AB5EC4ED3D}"/>
              </a:ext>
            </a:extLst>
          </p:cNvPr>
          <p:cNvSpPr>
            <a:spLocks xmlns:a="http://schemas.openxmlformats.org/drawingml/2006/main" noGrp="1"/>
          </p:cNvSpPr>
          <p:nvPr/>
        </p:nvSpPr>
        <p:spPr>
          <a:xfrm xmlns:a="http://schemas.openxmlformats.org/drawingml/2006/main">
            <a:off x="4572000" y="3714750"/>
            <a:ext cx="304800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322BEAE-9E35-4F47-B6F4-4EE4358C66A2}"/>
              </a:ext>
            </a:extLst>
          </p:cNvPr>
          <p:cNvSpPr>
            <a:spLocks xmlns:a="http://schemas.openxmlformats.org/drawingml/2006/main" noGrp="1"/>
          </p:cNvSpPr>
          <p:nvPr/>
        </p:nvSpPr>
        <p:spPr>
          <a:xfrm xmlns:a="http://schemas.openxmlformats.org/drawingml/2006/main">
            <a:off x="4572000" y="38862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2. Đồng thuận với người?</a:t>
            </a:r>
          </a:p>
        </p:txBody>
      </p:sp>
      <p:sp>
        <p:nvSpPr>
          <p:cNvPr id="14" name="">
            <a:extLst xmlns:a="http://schemas.openxmlformats.org/drawingml/2006/main">
              <a:ext uri="{FF2B5EF4-FFF2-40B4-BE49-F238E27FC236}">
                <a16:creationId xmlns:a16="http://schemas.microsoft.com/office/drawing/2014/main" id="{78D6D8DB-AFA1-4230-9F06-CF35A25BCD38}"/>
              </a:ext>
            </a:extLst>
          </p:cNvPr>
          <p:cNvSpPr>
            <a:spLocks xmlns:a="http://schemas.openxmlformats.org/drawingml/2006/main" noGrp="1"/>
          </p:cNvSpPr>
          <p:nvPr/>
        </p:nvSpPr>
        <p:spPr>
          <a:xfrm xmlns:a="http://schemas.openxmlformats.org/drawingml/2006/main">
            <a:off x="4572000" y="4457700"/>
            <a:ext cx="3048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AI gần giảng viên đến đâu, và trần đồng thuận giữa hai giảng viên là bao nhiêu?</a:t>
            </a:r>
          </a:p>
        </p:txBody>
      </p:sp>
      <p:sp>
        <p:nvSpPr>
          <p:cNvPr id="15" name="">
            <a:extLst xmlns:a="http://schemas.openxmlformats.org/drawingml/2006/main">
              <a:ext uri="{FF2B5EF4-FFF2-40B4-BE49-F238E27FC236}">
                <a16:creationId xmlns:a16="http://schemas.microsoft.com/office/drawing/2014/main" id="{BA3B3ECB-812D-48DB-8B9A-BDAA234C3292}"/>
              </a:ext>
            </a:extLst>
          </p:cNvPr>
          <p:cNvSpPr>
            <a:spLocks xmlns:a="http://schemas.openxmlformats.org/drawingml/2006/main" noGrp="1"/>
          </p:cNvSpPr>
          <p:nvPr/>
        </p:nvSpPr>
        <p:spPr>
          <a:xfrm xmlns:a="http://schemas.openxmlformats.org/drawingml/2006/main">
            <a:off x="8267700" y="3714750"/>
            <a:ext cx="304800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50E49C86-FBFF-41AA-8E29-6F7BA4AE9944}"/>
              </a:ext>
            </a:extLst>
          </p:cNvPr>
          <p:cNvSpPr>
            <a:spLocks xmlns:a="http://schemas.openxmlformats.org/drawingml/2006/main" noGrp="1"/>
          </p:cNvSpPr>
          <p:nvPr/>
        </p:nvSpPr>
        <p:spPr>
          <a:xfrm xmlns:a="http://schemas.openxmlformats.org/drawingml/2006/main">
            <a:off x="8267700" y="3886200"/>
            <a:ext cx="3048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3. Biết khi nào không chắc?</a:t>
            </a:r>
          </a:p>
        </p:txBody>
      </p:sp>
      <p:sp>
        <p:nvSpPr>
          <p:cNvPr id="17" name="">
            <a:extLst xmlns:a="http://schemas.openxmlformats.org/drawingml/2006/main">
              <a:ext uri="{FF2B5EF4-FFF2-40B4-BE49-F238E27FC236}">
                <a16:creationId xmlns:a16="http://schemas.microsoft.com/office/drawing/2014/main" id="{654B7702-6F1F-4F8B-99C9-6C2D9437BBD3}"/>
              </a:ext>
            </a:extLst>
          </p:cNvPr>
          <p:cNvSpPr>
            <a:spLocks xmlns:a="http://schemas.openxmlformats.org/drawingml/2006/main" noGrp="1"/>
          </p:cNvSpPr>
          <p:nvPr/>
        </p:nvSpPr>
        <p:spPr>
          <a:xfrm xmlns:a="http://schemas.openxmlformats.org/drawingml/2006/main">
            <a:off x="8267700" y="4457700"/>
            <a:ext cx="30480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Confidence có phát hiện được audio lỗi, ASR sai và bài ở ranh giới hai band không?</a:t>
            </a:r>
          </a:p>
        </p:txBody>
      </p:sp>
    </p:spTree>
    <p:extLst>
      <p:ext uri="{BB962C8B-B14F-4D97-AF65-F5344CB8AC3E}">
        <p14:creationId xmlns:p14="http://schemas.microsoft.com/office/powerpoint/2010/main" val="603585445"/>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93E08AB-324F-4C36-A7A7-EE633528198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PHẠM VI</a:t>
            </a:r>
          </a:p>
        </p:txBody>
      </p:sp>
      <p:sp>
        <p:nvSpPr>
          <p:cNvPr id="2" name="">
            <a:extLst xmlns:a="http://schemas.openxmlformats.org/drawingml/2006/main">
              <a:ext uri="{FF2B5EF4-FFF2-40B4-BE49-F238E27FC236}">
                <a16:creationId xmlns:a16="http://schemas.microsoft.com/office/drawing/2014/main" id="{87C6820E-538B-4A1D-8B3A-89AEC0BE3D68}"/>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Khóa phạm vi để kết quả có thể bảo vệ trong 10 tuần</a:t>
            </a:r>
          </a:p>
        </p:txBody>
      </p:sp>
      <p:sp>
        <p:nvSpPr>
          <p:cNvPr id="3" name="">
            <a:extLst xmlns:a="http://schemas.openxmlformats.org/drawingml/2006/main">
              <a:ext uri="{FF2B5EF4-FFF2-40B4-BE49-F238E27FC236}">
                <a16:creationId xmlns:a16="http://schemas.microsoft.com/office/drawing/2014/main" id="{BFF7879B-97A8-4A74-B72A-CEC393BE78F1}"/>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Tên đề tài chốt: Xây dựng và kiểm định hệ thống AI hỗ trợ đánh giá năng lực nói tiếng Anh theo CEFR cho sinh viên đại học Việt Nam ở trình độ A2–B2.</a:t>
            </a:r>
          </a:p>
        </p:txBody>
      </p:sp>
      <p:sp>
        <p:nvSpPr>
          <p:cNvPr id="4" name="">
            <a:extLst xmlns:a="http://schemas.openxmlformats.org/drawingml/2006/main">
              <a:ext uri="{FF2B5EF4-FFF2-40B4-BE49-F238E27FC236}">
                <a16:creationId xmlns:a16="http://schemas.microsoft.com/office/drawing/2014/main" id="{B1DFA410-EC2E-4DB3-98E5-38ABF145DEEA}"/>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68EC150-0A70-40B6-B89A-348C4497460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PHẠM VI</a:t>
            </a:r>
          </a:p>
        </p:txBody>
      </p:sp>
      <p:sp>
        <p:nvSpPr>
          <p:cNvPr id="6" name="">
            <a:extLst xmlns:a="http://schemas.openxmlformats.org/drawingml/2006/main">
              <a:ext uri="{FF2B5EF4-FFF2-40B4-BE49-F238E27FC236}">
                <a16:creationId xmlns:a16="http://schemas.microsoft.com/office/drawing/2014/main" id="{B1E64F34-D1B9-4A87-B69A-1D99BA52B226}"/>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5</a:t>
            </a:r>
          </a:p>
        </p:txBody>
      </p:sp>
      <p:sp>
        <p:nvSpPr>
          <p:cNvPr id="7" name="">
            <a:extLst xmlns:a="http://schemas.openxmlformats.org/drawingml/2006/main">
              <a:ext uri="{FF2B5EF4-FFF2-40B4-BE49-F238E27FC236}">
                <a16:creationId xmlns:a16="http://schemas.microsoft.com/office/drawing/2014/main" id="{D6BF7C8D-102A-48F7-9CD6-3DDB88D169FD}"/>
              </a:ext>
            </a:extLst>
          </p:cNvPr>
          <p:cNvSpPr>
            <a:spLocks xmlns:a="http://schemas.openxmlformats.org/drawingml/2006/main" noGrp="1"/>
          </p:cNvSpPr>
          <p:nvPr/>
        </p:nvSpPr>
        <p:spPr>
          <a:xfrm xmlns:a="http://schemas.openxmlformats.org/drawingml/2006/main">
            <a:off x="742950" y="2228850"/>
            <a:ext cx="476250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A4D70D-461B-4C57-A813-EBB2F1CE2017}"/>
              </a:ext>
            </a:extLst>
          </p:cNvPr>
          <p:cNvSpPr>
            <a:spLocks xmlns:a="http://schemas.openxmlformats.org/drawingml/2006/main" noGrp="1"/>
          </p:cNvSpPr>
          <p:nvPr/>
        </p:nvSpPr>
        <p:spPr>
          <a:xfrm xmlns:a="http://schemas.openxmlformats.org/drawingml/2006/main">
            <a:off x="742950" y="2400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Trong phạm vi</a:t>
            </a:r>
          </a:p>
        </p:txBody>
      </p:sp>
      <p:sp>
        <p:nvSpPr>
          <p:cNvPr id="9" name="">
            <a:extLst xmlns:a="http://schemas.openxmlformats.org/drawingml/2006/main">
              <a:ext uri="{FF2B5EF4-FFF2-40B4-BE49-F238E27FC236}">
                <a16:creationId xmlns:a16="http://schemas.microsoft.com/office/drawing/2014/main" id="{E975FEE8-65F2-4DCE-848C-BC9AD3A01D4B}"/>
              </a:ext>
            </a:extLst>
          </p:cNvPr>
          <p:cNvSpPr>
            <a:spLocks xmlns:a="http://schemas.openxmlformats.org/drawingml/2006/main" noGrp="1"/>
          </p:cNvSpPr>
          <p:nvPr/>
        </p:nvSpPr>
        <p:spPr>
          <a:xfrm xmlns:a="http://schemas.openxmlformats.org/drawingml/2006/main">
            <a:off x="742950" y="2971800"/>
            <a:ext cx="47625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Sinh viên Việt Nam từ 18 tuổi</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Ba mức A2, B1, B2</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Formative / low-stakes</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Audio + transcript + interaction</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Điểm sơ bộ, evidence, confidence</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Hàng đợi giảng viên duyệt</a:t>
            </a:r>
          </a:p>
        </p:txBody>
      </p:sp>
      <p:sp>
        <p:nvSpPr>
          <p:cNvPr id="10" name="">
            <a:extLst xmlns:a="http://schemas.openxmlformats.org/drawingml/2006/main">
              <a:ext uri="{FF2B5EF4-FFF2-40B4-BE49-F238E27FC236}">
                <a16:creationId xmlns:a16="http://schemas.microsoft.com/office/drawing/2014/main" id="{E28A2D37-33B9-4F48-926F-B0C7092C3DD7}"/>
              </a:ext>
            </a:extLst>
          </p:cNvPr>
          <p:cNvSpPr>
            <a:spLocks xmlns:a="http://schemas.openxmlformats.org/drawingml/2006/main" noGrp="1"/>
          </p:cNvSpPr>
          <p:nvPr/>
        </p:nvSpPr>
        <p:spPr>
          <a:xfrm xmlns:a="http://schemas.openxmlformats.org/drawingml/2006/main">
            <a:off x="6667500" y="2228850"/>
            <a:ext cx="476250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9A5A46F-0E96-4499-8BBD-C785B440314A}"/>
              </a:ext>
            </a:extLst>
          </p:cNvPr>
          <p:cNvSpPr>
            <a:spLocks xmlns:a="http://schemas.openxmlformats.org/drawingml/2006/main" noGrp="1"/>
          </p:cNvSpPr>
          <p:nvPr/>
        </p:nvSpPr>
        <p:spPr>
          <a:xfrm xmlns:a="http://schemas.openxmlformats.org/drawingml/2006/main">
            <a:off x="6667500" y="2400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Ngoài phạm vi</a:t>
            </a:r>
          </a:p>
        </p:txBody>
      </p:sp>
      <p:sp>
        <p:nvSpPr>
          <p:cNvPr id="12" name="">
            <a:extLst xmlns:a="http://schemas.openxmlformats.org/drawingml/2006/main">
              <a:ext uri="{FF2B5EF4-FFF2-40B4-BE49-F238E27FC236}">
                <a16:creationId xmlns:a16="http://schemas.microsoft.com/office/drawing/2014/main" id="{DE515AFE-8772-4CAE-B2CB-1AE1DB5C29D3}"/>
              </a:ext>
            </a:extLst>
          </p:cNvPr>
          <p:cNvSpPr>
            <a:spLocks xmlns:a="http://schemas.openxmlformats.org/drawingml/2006/main" noGrp="1"/>
          </p:cNvSpPr>
          <p:nvPr/>
        </p:nvSpPr>
        <p:spPr>
          <a:xfrm xmlns:a="http://schemas.openxmlformats.org/drawingml/2006/main">
            <a:off x="6667500" y="2971800"/>
            <a:ext cx="47625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Cấp chứng chỉ CEFR chính thức</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A1, C1, C2</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Thi high-stakes hoặc chống gian lận</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Chatbot hội thoại tự do</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Suy luận cảm xúc, giới tính, tính cách</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Thay thế hoàn toàn giảng viên</a:t>
            </a:r>
          </a:p>
        </p:txBody>
      </p:sp>
      <p:sp>
        <p:nvSpPr>
          <p:cNvPr id="13" name="">
            <a:extLst xmlns:a="http://schemas.openxmlformats.org/drawingml/2006/main">
              <a:ext uri="{FF2B5EF4-FFF2-40B4-BE49-F238E27FC236}">
                <a16:creationId xmlns:a16="http://schemas.microsoft.com/office/drawing/2014/main" id="{C6B2F121-16F3-4F36-9014-7E440365D9B9}"/>
              </a:ext>
            </a:extLst>
          </p:cNvPr>
          <p:cNvSpPr>
            <a:spLocks xmlns:a="http://schemas.openxmlformats.org/drawingml/2006/main" noGrp="1"/>
          </p:cNvSpPr>
          <p:nvPr/>
        </p:nvSpPr>
        <p:spPr>
          <a:xfrm xmlns:a="http://schemas.openxmlformats.org/drawingml/2006/main">
            <a:off x="2000250" y="5429250"/>
            <a:ext cx="8191500" cy="628650"/>
          </a:xfrm>
          <a:prstGeom xmlns:a="http://schemas.openxmlformats.org/drawingml/2006/main" prst="roundRect">
            <a:avLst>
              <a:gd name="adj" fmla="val 9091"/>
            </a:avLst>
          </a:prstGeom>
          <a:solidFill xmlns:a="http://schemas.openxmlformats.org/drawingml/2006/main">
            <a:srgbClr val="FFF2D5"/>
          </a:solidFill>
          <a:ln xmlns:a="http://schemas.openxmlformats.org/drawingml/2006/main" w="9525">
            <a:solidFill>
              <a:srgbClr val="A96500"/>
            </a:solidFill>
            <a:prstDash val="solid"/>
          </a:ln>
        </p:spPr>
      </p:sp>
      <p:sp>
        <p:nvSpPr>
          <p:cNvPr id="14" name="">
            <a:extLst xmlns:a="http://schemas.openxmlformats.org/drawingml/2006/main">
              <a:ext uri="{FF2B5EF4-FFF2-40B4-BE49-F238E27FC236}">
                <a16:creationId xmlns:a16="http://schemas.microsoft.com/office/drawing/2014/main" id="{8725E75E-8EF7-4AD7-BFF8-9F1301C5F294}"/>
              </a:ext>
            </a:extLst>
          </p:cNvPr>
          <p:cNvSpPr>
            <a:spLocks xmlns:a="http://schemas.openxmlformats.org/drawingml/2006/main" noGrp="1"/>
          </p:cNvSpPr>
          <p:nvPr/>
        </p:nvSpPr>
        <p:spPr>
          <a:xfrm xmlns:a="http://schemas.openxmlformats.org/drawingml/2006/main">
            <a:off x="2190750" y="556260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i="0">
                <a:solidFill>
                  <a:srgbClr val="A96500"/>
                </a:solidFill>
                <a:latin typeface="Aptos"/>
                <a:ea typeface="Aptos"/>
                <a:cs typeface="Aptos"/>
              </a:defRPr>
            </a:pPr>
            <a:r>
              <a:rPr sz="1650" b="1" i="0">
                <a:solidFill>
                  <a:srgbClr val="A96500"/>
                </a:solidFill>
                <a:latin typeface="Aptos"/>
                <a:ea typeface="Aptos"/>
                <a:cs typeface="Aptos"/>
              </a:rPr>
              <a:t>Cách gọi an toàn: hệ thống AI hỗ trợ đánh giá theo CEFR trong bối cảnh luyện tập.</a:t>
            </a:r>
          </a:p>
        </p:txBody>
      </p:sp>
    </p:spTree>
    <p:extLst>
      <p:ext uri="{BB962C8B-B14F-4D97-AF65-F5344CB8AC3E}">
        <p14:creationId xmlns:p14="http://schemas.microsoft.com/office/powerpoint/2010/main" val="494343515"/>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C8FD0FC-DB75-4C9A-A1A9-12E566D0B5A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ĐỊNH VỊ ĐỀ TÀI</a:t>
            </a:r>
          </a:p>
        </p:txBody>
      </p:sp>
      <p:sp>
        <p:nvSpPr>
          <p:cNvPr id="2" name="">
            <a:extLst xmlns:a="http://schemas.openxmlformats.org/drawingml/2006/main">
              <a:ext uri="{FF2B5EF4-FFF2-40B4-BE49-F238E27FC236}">
                <a16:creationId xmlns:a16="http://schemas.microsoft.com/office/drawing/2014/main" id="{DDF5AC49-5870-4D21-962D-4C58E7FDDB08}"/>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Đề tài nằm đúng ô Speaking × Assess × AI Assessor của khung ALDM-L</a:t>
            </a:r>
          </a:p>
        </p:txBody>
      </p:sp>
      <p:sp>
        <p:nvSpPr>
          <p:cNvPr id="3" name="">
            <a:extLst xmlns:a="http://schemas.openxmlformats.org/drawingml/2006/main">
              <a:ext uri="{FF2B5EF4-FFF2-40B4-BE49-F238E27FC236}">
                <a16:creationId xmlns:a16="http://schemas.microsoft.com/office/drawing/2014/main" id="{07F0052D-D57E-417A-8C6B-4FF536318E49}"/>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D1–D8 giúp nói rõ đối tượng, năng lực, dữ liệu đầu ra và cách kết quả quay lại việc học.</a:t>
            </a:r>
          </a:p>
        </p:txBody>
      </p:sp>
      <p:sp>
        <p:nvSpPr>
          <p:cNvPr id="4" name="">
            <a:extLst xmlns:a="http://schemas.openxmlformats.org/drawingml/2006/main">
              <a:ext uri="{FF2B5EF4-FFF2-40B4-BE49-F238E27FC236}">
                <a16:creationId xmlns:a16="http://schemas.microsoft.com/office/drawing/2014/main" id="{32A2C62E-60BB-4BB0-B0BE-0F510F4311FF}"/>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B8DD3E-D5FD-4617-B06C-9F57F1E2D243}"/>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ALDM-L</a:t>
            </a:r>
          </a:p>
        </p:txBody>
      </p:sp>
      <p:sp>
        <p:nvSpPr>
          <p:cNvPr id="6" name="">
            <a:extLst xmlns:a="http://schemas.openxmlformats.org/drawingml/2006/main">
              <a:ext uri="{FF2B5EF4-FFF2-40B4-BE49-F238E27FC236}">
                <a16:creationId xmlns:a16="http://schemas.microsoft.com/office/drawing/2014/main" id="{79D8C1FA-AF70-4A87-A145-31AA2C06C2B2}"/>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6</a:t>
            </a:r>
          </a:p>
        </p:txBody>
      </p:sp>
      <p:sp>
        <p:nvSpPr>
          <p:cNvPr id="7" name="">
            <a:extLst xmlns:a="http://schemas.openxmlformats.org/drawingml/2006/main">
              <a:ext uri="{FF2B5EF4-FFF2-40B4-BE49-F238E27FC236}">
                <a16:creationId xmlns:a16="http://schemas.microsoft.com/office/drawing/2014/main" id="{E6E3E7BC-D5AC-48D6-AFDE-B62E2919DC0E}"/>
              </a:ext>
            </a:extLst>
          </p:cNvPr>
          <p:cNvSpPr>
            <a:spLocks xmlns:a="http://schemas.openxmlformats.org/drawingml/2006/main" noGrp="1"/>
          </p:cNvSpPr>
          <p:nvPr/>
        </p:nvSpPr>
        <p:spPr>
          <a:xfrm xmlns:a="http://schemas.openxmlformats.org/drawingml/2006/main">
            <a:off x="628650" y="2095500"/>
            <a:ext cx="2552700" cy="2857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DACDBD0-E094-440F-A092-07AF1B8B8138}"/>
              </a:ext>
            </a:extLst>
          </p:cNvPr>
          <p:cNvSpPr>
            <a:spLocks xmlns:a="http://schemas.openxmlformats.org/drawingml/2006/main" noGrp="1"/>
          </p:cNvSpPr>
          <p:nvPr/>
        </p:nvSpPr>
        <p:spPr>
          <a:xfrm xmlns:a="http://schemas.openxmlformats.org/drawingml/2006/main">
            <a:off x="628650" y="22479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D1 • Learner</a:t>
            </a:r>
          </a:p>
        </p:txBody>
      </p:sp>
      <p:sp>
        <p:nvSpPr>
          <p:cNvPr id="9" name="">
            <a:extLst xmlns:a="http://schemas.openxmlformats.org/drawingml/2006/main">
              <a:ext uri="{FF2B5EF4-FFF2-40B4-BE49-F238E27FC236}">
                <a16:creationId xmlns:a16="http://schemas.microsoft.com/office/drawing/2014/main" id="{03DED409-F25F-4EA9-818E-114196F346C0}"/>
              </a:ext>
            </a:extLst>
          </p:cNvPr>
          <p:cNvSpPr>
            <a:spLocks xmlns:a="http://schemas.openxmlformats.org/drawingml/2006/main" noGrp="1"/>
          </p:cNvSpPr>
          <p:nvPr/>
        </p:nvSpPr>
        <p:spPr>
          <a:xfrm xmlns:a="http://schemas.openxmlformats.org/drawingml/2006/main">
            <a:off x="628650" y="259080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SV đại học Việt Nam, 18+, A2–B2</a:t>
            </a:r>
          </a:p>
        </p:txBody>
      </p:sp>
      <p:sp>
        <p:nvSpPr>
          <p:cNvPr id="10" name="">
            <a:extLst xmlns:a="http://schemas.openxmlformats.org/drawingml/2006/main">
              <a:ext uri="{FF2B5EF4-FFF2-40B4-BE49-F238E27FC236}">
                <a16:creationId xmlns:a16="http://schemas.microsoft.com/office/drawing/2014/main" id="{C477A9DB-CD5F-4093-88AE-CF5FF233E670}"/>
              </a:ext>
            </a:extLst>
          </p:cNvPr>
          <p:cNvSpPr>
            <a:spLocks xmlns:a="http://schemas.openxmlformats.org/drawingml/2006/main" noGrp="1"/>
          </p:cNvSpPr>
          <p:nvPr/>
        </p:nvSpPr>
        <p:spPr>
          <a:xfrm xmlns:a="http://schemas.openxmlformats.org/drawingml/2006/main">
            <a:off x="3448050" y="2095500"/>
            <a:ext cx="2552700" cy="2857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D1EB374-E6BA-42A8-87D2-5FD2BA5E9D88}"/>
              </a:ext>
            </a:extLst>
          </p:cNvPr>
          <p:cNvSpPr>
            <a:spLocks xmlns:a="http://schemas.openxmlformats.org/drawingml/2006/main" noGrp="1"/>
          </p:cNvSpPr>
          <p:nvPr/>
        </p:nvSpPr>
        <p:spPr>
          <a:xfrm xmlns:a="http://schemas.openxmlformats.org/drawingml/2006/main">
            <a:off x="3448050" y="22479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D2 • Competency</a:t>
            </a:r>
          </a:p>
        </p:txBody>
      </p:sp>
      <p:sp>
        <p:nvSpPr>
          <p:cNvPr id="12" name="">
            <a:extLst xmlns:a="http://schemas.openxmlformats.org/drawingml/2006/main">
              <a:ext uri="{FF2B5EF4-FFF2-40B4-BE49-F238E27FC236}">
                <a16:creationId xmlns:a16="http://schemas.microsoft.com/office/drawing/2014/main" id="{3474466D-E7E0-4FB4-8EA1-09BFAA180D16}"/>
              </a:ext>
            </a:extLst>
          </p:cNvPr>
          <p:cNvSpPr>
            <a:spLocks xmlns:a="http://schemas.openxmlformats.org/drawingml/2006/main" noGrp="1"/>
          </p:cNvSpPr>
          <p:nvPr/>
        </p:nvSpPr>
        <p:spPr>
          <a:xfrm xmlns:a="http://schemas.openxmlformats.org/drawingml/2006/main">
            <a:off x="3448050" y="259080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Speaking, 6 tiêu chí CEFR</a:t>
            </a:r>
          </a:p>
        </p:txBody>
      </p:sp>
      <p:sp>
        <p:nvSpPr>
          <p:cNvPr id="13" name="">
            <a:extLst xmlns:a="http://schemas.openxmlformats.org/drawingml/2006/main">
              <a:ext uri="{FF2B5EF4-FFF2-40B4-BE49-F238E27FC236}">
                <a16:creationId xmlns:a16="http://schemas.microsoft.com/office/drawing/2014/main" id="{EC1A4E99-94CB-4F62-BA0F-E1C59BD11DAE}"/>
              </a:ext>
            </a:extLst>
          </p:cNvPr>
          <p:cNvSpPr>
            <a:spLocks xmlns:a="http://schemas.openxmlformats.org/drawingml/2006/main" noGrp="1"/>
          </p:cNvSpPr>
          <p:nvPr/>
        </p:nvSpPr>
        <p:spPr>
          <a:xfrm xmlns:a="http://schemas.openxmlformats.org/drawingml/2006/main">
            <a:off x="6267450" y="2095500"/>
            <a:ext cx="2552700" cy="2857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36DFA4-2428-40E8-9D2D-105E00A468E3}"/>
              </a:ext>
            </a:extLst>
          </p:cNvPr>
          <p:cNvSpPr>
            <a:spLocks xmlns:a="http://schemas.openxmlformats.org/drawingml/2006/main" noGrp="1"/>
          </p:cNvSpPr>
          <p:nvPr/>
        </p:nvSpPr>
        <p:spPr>
          <a:xfrm xmlns:a="http://schemas.openxmlformats.org/drawingml/2006/main">
            <a:off x="6267450" y="22479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D3 • Stage</a:t>
            </a:r>
          </a:p>
        </p:txBody>
      </p:sp>
      <p:sp>
        <p:nvSpPr>
          <p:cNvPr id="15" name="">
            <a:extLst xmlns:a="http://schemas.openxmlformats.org/drawingml/2006/main">
              <a:ext uri="{FF2B5EF4-FFF2-40B4-BE49-F238E27FC236}">
                <a16:creationId xmlns:a16="http://schemas.microsoft.com/office/drawing/2014/main" id="{32B4B2C1-17F8-40E6-9573-ED670732D5C9}"/>
              </a:ext>
            </a:extLst>
          </p:cNvPr>
          <p:cNvSpPr>
            <a:spLocks xmlns:a="http://schemas.openxmlformats.org/drawingml/2006/main" noGrp="1"/>
          </p:cNvSpPr>
          <p:nvPr/>
        </p:nvSpPr>
        <p:spPr>
          <a:xfrm xmlns:a="http://schemas.openxmlformats.org/drawingml/2006/main">
            <a:off x="6267450" y="259080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Assess chính; Diagnose/Adapt phụ</a:t>
            </a:r>
          </a:p>
        </p:txBody>
      </p:sp>
      <p:sp>
        <p:nvSpPr>
          <p:cNvPr id="16" name="">
            <a:extLst xmlns:a="http://schemas.openxmlformats.org/drawingml/2006/main">
              <a:ext uri="{FF2B5EF4-FFF2-40B4-BE49-F238E27FC236}">
                <a16:creationId xmlns:a16="http://schemas.microsoft.com/office/drawing/2014/main" id="{29B2D263-1E30-43B6-B6BE-F3E4FBDA2B73}"/>
              </a:ext>
            </a:extLst>
          </p:cNvPr>
          <p:cNvSpPr>
            <a:spLocks xmlns:a="http://schemas.openxmlformats.org/drawingml/2006/main" noGrp="1"/>
          </p:cNvSpPr>
          <p:nvPr/>
        </p:nvSpPr>
        <p:spPr>
          <a:xfrm xmlns:a="http://schemas.openxmlformats.org/drawingml/2006/main">
            <a:off x="9086850" y="2095500"/>
            <a:ext cx="2552700" cy="28575"/>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4B457A3-1E28-4D2E-9E43-1CD6135A1330}"/>
              </a:ext>
            </a:extLst>
          </p:cNvPr>
          <p:cNvSpPr>
            <a:spLocks xmlns:a="http://schemas.openxmlformats.org/drawingml/2006/main" noGrp="1"/>
          </p:cNvSpPr>
          <p:nvPr/>
        </p:nvSpPr>
        <p:spPr>
          <a:xfrm xmlns:a="http://schemas.openxmlformats.org/drawingml/2006/main">
            <a:off x="9086850" y="224790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C4FA3"/>
                </a:solidFill>
                <a:latin typeface="Aptos"/>
                <a:ea typeface="Aptos"/>
                <a:cs typeface="Aptos"/>
              </a:defRPr>
            </a:pPr>
            <a:r>
              <a:rPr sz="1350" b="1" i="0">
                <a:solidFill>
                  <a:srgbClr val="6C4FA3"/>
                </a:solidFill>
                <a:latin typeface="Aptos"/>
                <a:ea typeface="Aptos"/>
                <a:cs typeface="Aptos"/>
              </a:rPr>
              <a:t>D4 • Activity</a:t>
            </a:r>
          </a:p>
        </p:txBody>
      </p:sp>
      <p:sp>
        <p:nvSpPr>
          <p:cNvPr id="18" name="">
            <a:extLst xmlns:a="http://schemas.openxmlformats.org/drawingml/2006/main">
              <a:ext uri="{FF2B5EF4-FFF2-40B4-BE49-F238E27FC236}">
                <a16:creationId xmlns:a16="http://schemas.microsoft.com/office/drawing/2014/main" id="{E7A0381D-0B4E-476E-A31A-B4A2CB0FF1BA}"/>
              </a:ext>
            </a:extLst>
          </p:cNvPr>
          <p:cNvSpPr>
            <a:spLocks xmlns:a="http://schemas.openxmlformats.org/drawingml/2006/main" noGrp="1"/>
          </p:cNvSpPr>
          <p:nvPr/>
        </p:nvSpPr>
        <p:spPr>
          <a:xfrm xmlns:a="http://schemas.openxmlformats.org/drawingml/2006/main">
            <a:off x="9086850" y="259080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Task A kể; B quan điểm; C hội thoại</a:t>
            </a:r>
          </a:p>
        </p:txBody>
      </p:sp>
      <p:sp>
        <p:nvSpPr>
          <p:cNvPr id="19" name="">
            <a:extLst xmlns:a="http://schemas.openxmlformats.org/drawingml/2006/main">
              <a:ext uri="{FF2B5EF4-FFF2-40B4-BE49-F238E27FC236}">
                <a16:creationId xmlns:a16="http://schemas.microsoft.com/office/drawing/2014/main" id="{32D03881-8D86-486F-B8B7-F471A6BD337E}"/>
              </a:ext>
            </a:extLst>
          </p:cNvPr>
          <p:cNvSpPr>
            <a:spLocks xmlns:a="http://schemas.openxmlformats.org/drawingml/2006/main" noGrp="1"/>
          </p:cNvSpPr>
          <p:nvPr/>
        </p:nvSpPr>
        <p:spPr>
          <a:xfrm xmlns:a="http://schemas.openxmlformats.org/drawingml/2006/main">
            <a:off x="628650" y="3638550"/>
            <a:ext cx="2552700" cy="2857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2EC6BF4-40DB-40B6-8428-0429D0819E84}"/>
              </a:ext>
            </a:extLst>
          </p:cNvPr>
          <p:cNvSpPr>
            <a:spLocks xmlns:a="http://schemas.openxmlformats.org/drawingml/2006/main" noGrp="1"/>
          </p:cNvSpPr>
          <p:nvPr/>
        </p:nvSpPr>
        <p:spPr>
          <a:xfrm xmlns:a="http://schemas.openxmlformats.org/drawingml/2006/main">
            <a:off x="628650" y="37909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D5 • AI role</a:t>
            </a:r>
          </a:p>
        </p:txBody>
      </p:sp>
      <p:sp>
        <p:nvSpPr>
          <p:cNvPr id="21" name="">
            <a:extLst xmlns:a="http://schemas.openxmlformats.org/drawingml/2006/main">
              <a:ext uri="{FF2B5EF4-FFF2-40B4-BE49-F238E27FC236}">
                <a16:creationId xmlns:a16="http://schemas.microsoft.com/office/drawing/2014/main" id="{3BC2B2EE-4542-4BEB-8D30-617305CBE63F}"/>
              </a:ext>
            </a:extLst>
          </p:cNvPr>
          <p:cNvSpPr>
            <a:spLocks xmlns:a="http://schemas.openxmlformats.org/drawingml/2006/main" noGrp="1"/>
          </p:cNvSpPr>
          <p:nvPr/>
        </p:nvSpPr>
        <p:spPr>
          <a:xfrm xmlns:a="http://schemas.openxmlformats.org/drawingml/2006/main">
            <a:off x="628650" y="41338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Assessor chính; Feedbacker phụ</a:t>
            </a:r>
          </a:p>
        </p:txBody>
      </p:sp>
      <p:sp>
        <p:nvSpPr>
          <p:cNvPr id="22" name="">
            <a:extLst xmlns:a="http://schemas.openxmlformats.org/drawingml/2006/main">
              <a:ext uri="{FF2B5EF4-FFF2-40B4-BE49-F238E27FC236}">
                <a16:creationId xmlns:a16="http://schemas.microsoft.com/office/drawing/2014/main" id="{FEFBD046-7416-4FA0-A39D-27C181279265}"/>
              </a:ext>
            </a:extLst>
          </p:cNvPr>
          <p:cNvSpPr>
            <a:spLocks xmlns:a="http://schemas.openxmlformats.org/drawingml/2006/main" noGrp="1"/>
          </p:cNvSpPr>
          <p:nvPr/>
        </p:nvSpPr>
        <p:spPr>
          <a:xfrm xmlns:a="http://schemas.openxmlformats.org/drawingml/2006/main">
            <a:off x="3448050" y="3638550"/>
            <a:ext cx="2552700" cy="2857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AE7B5D5-BD65-4E1D-A090-0CAC454BD83E}"/>
              </a:ext>
            </a:extLst>
          </p:cNvPr>
          <p:cNvSpPr>
            <a:spLocks xmlns:a="http://schemas.openxmlformats.org/drawingml/2006/main" noGrp="1"/>
          </p:cNvSpPr>
          <p:nvPr/>
        </p:nvSpPr>
        <p:spPr>
          <a:xfrm xmlns:a="http://schemas.openxmlformats.org/drawingml/2006/main">
            <a:off x="3448050" y="37909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D6 • Human role</a:t>
            </a:r>
          </a:p>
        </p:txBody>
      </p:sp>
      <p:sp>
        <p:nvSpPr>
          <p:cNvPr id="24" name="">
            <a:extLst xmlns:a="http://schemas.openxmlformats.org/drawingml/2006/main">
              <a:ext uri="{FF2B5EF4-FFF2-40B4-BE49-F238E27FC236}">
                <a16:creationId xmlns:a16="http://schemas.microsoft.com/office/drawing/2014/main" id="{B17B89A2-82A7-4A3D-BC5A-C00AD605720B}"/>
              </a:ext>
            </a:extLst>
          </p:cNvPr>
          <p:cNvSpPr>
            <a:spLocks xmlns:a="http://schemas.openxmlformats.org/drawingml/2006/main" noGrp="1"/>
          </p:cNvSpPr>
          <p:nvPr/>
        </p:nvSpPr>
        <p:spPr>
          <a:xfrm xmlns:a="http://schemas.openxmlformats.org/drawingml/2006/main">
            <a:off x="3448050" y="41338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GV sở hữu rubric và quyết định cuối</a:t>
            </a:r>
          </a:p>
        </p:txBody>
      </p:sp>
      <p:sp>
        <p:nvSpPr>
          <p:cNvPr id="25" name="">
            <a:extLst xmlns:a="http://schemas.openxmlformats.org/drawingml/2006/main">
              <a:ext uri="{FF2B5EF4-FFF2-40B4-BE49-F238E27FC236}">
                <a16:creationId xmlns:a16="http://schemas.microsoft.com/office/drawing/2014/main" id="{B403C6D7-66AF-4342-A18C-FA1BB0DDDD69}"/>
              </a:ext>
            </a:extLst>
          </p:cNvPr>
          <p:cNvSpPr>
            <a:spLocks xmlns:a="http://schemas.openxmlformats.org/drawingml/2006/main" noGrp="1"/>
          </p:cNvSpPr>
          <p:nvPr/>
        </p:nvSpPr>
        <p:spPr>
          <a:xfrm xmlns:a="http://schemas.openxmlformats.org/drawingml/2006/main">
            <a:off x="6267450" y="3638550"/>
            <a:ext cx="2552700" cy="2857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6ECC8B3-DDF1-437D-A2A9-66EA476726CB}"/>
              </a:ext>
            </a:extLst>
          </p:cNvPr>
          <p:cNvSpPr>
            <a:spLocks xmlns:a="http://schemas.openxmlformats.org/drawingml/2006/main" noGrp="1"/>
          </p:cNvSpPr>
          <p:nvPr/>
        </p:nvSpPr>
        <p:spPr>
          <a:xfrm xmlns:a="http://schemas.openxmlformats.org/drawingml/2006/main">
            <a:off x="6267450" y="37909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D7 • Learning data</a:t>
            </a:r>
          </a:p>
        </p:txBody>
      </p:sp>
      <p:sp>
        <p:nvSpPr>
          <p:cNvPr id="27" name="">
            <a:extLst xmlns:a="http://schemas.openxmlformats.org/drawingml/2006/main">
              <a:ext uri="{FF2B5EF4-FFF2-40B4-BE49-F238E27FC236}">
                <a16:creationId xmlns:a16="http://schemas.microsoft.com/office/drawing/2014/main" id="{34291503-B09C-4F1A-9CD9-9DF95188294B}"/>
              </a:ext>
            </a:extLst>
          </p:cNvPr>
          <p:cNvSpPr>
            <a:spLocks xmlns:a="http://schemas.openxmlformats.org/drawingml/2006/main" noGrp="1"/>
          </p:cNvSpPr>
          <p:nvPr/>
        </p:nvSpPr>
        <p:spPr>
          <a:xfrm xmlns:a="http://schemas.openxmlformats.org/drawingml/2006/main">
            <a:off x="6267450" y="41338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speaking_profile + evidence + confidence</a:t>
            </a:r>
          </a:p>
        </p:txBody>
      </p:sp>
      <p:sp>
        <p:nvSpPr>
          <p:cNvPr id="28" name="">
            <a:extLst xmlns:a="http://schemas.openxmlformats.org/drawingml/2006/main">
              <a:ext uri="{FF2B5EF4-FFF2-40B4-BE49-F238E27FC236}">
                <a16:creationId xmlns:a16="http://schemas.microsoft.com/office/drawing/2014/main" id="{384EF397-CCC4-40FB-808D-000A185E811B}"/>
              </a:ext>
            </a:extLst>
          </p:cNvPr>
          <p:cNvSpPr>
            <a:spLocks xmlns:a="http://schemas.openxmlformats.org/drawingml/2006/main" noGrp="1"/>
          </p:cNvSpPr>
          <p:nvPr/>
        </p:nvSpPr>
        <p:spPr>
          <a:xfrm xmlns:a="http://schemas.openxmlformats.org/drawingml/2006/main">
            <a:off x="9086850" y="3638550"/>
            <a:ext cx="2552700" cy="28575"/>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C9E0F35-FC72-4D20-A1A6-5A8DDF554EE2}"/>
              </a:ext>
            </a:extLst>
          </p:cNvPr>
          <p:cNvSpPr>
            <a:spLocks xmlns:a="http://schemas.openxmlformats.org/drawingml/2006/main" noGrp="1"/>
          </p:cNvSpPr>
          <p:nvPr/>
        </p:nvSpPr>
        <p:spPr>
          <a:xfrm xmlns:a="http://schemas.openxmlformats.org/drawingml/2006/main">
            <a:off x="9086850" y="3790950"/>
            <a:ext cx="2552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1" i="0">
                <a:solidFill>
                  <a:srgbClr val="6C4FA3"/>
                </a:solidFill>
                <a:latin typeface="Aptos"/>
                <a:ea typeface="Aptos"/>
                <a:cs typeface="Aptos"/>
              </a:defRPr>
            </a:pPr>
            <a:r>
              <a:rPr sz="1350" b="1" i="0">
                <a:solidFill>
                  <a:srgbClr val="6C4FA3"/>
                </a:solidFill>
                <a:latin typeface="Aptos"/>
                <a:ea typeface="Aptos"/>
                <a:cs typeface="Aptos"/>
              </a:rPr>
              <a:t>D8 • Adaptation</a:t>
            </a:r>
          </a:p>
        </p:txBody>
      </p:sp>
      <p:sp>
        <p:nvSpPr>
          <p:cNvPr id="30" name="">
            <a:extLst xmlns:a="http://schemas.openxmlformats.org/drawingml/2006/main">
              <a:ext uri="{FF2B5EF4-FFF2-40B4-BE49-F238E27FC236}">
                <a16:creationId xmlns:a16="http://schemas.microsoft.com/office/drawing/2014/main" id="{4BEF0973-33E9-416F-82EF-C6E9BAA4737F}"/>
              </a:ext>
            </a:extLst>
          </p:cNvPr>
          <p:cNvSpPr>
            <a:spLocks xmlns:a="http://schemas.openxmlformats.org/drawingml/2006/main" noGrp="1"/>
          </p:cNvSpPr>
          <p:nvPr/>
        </p:nvSpPr>
        <p:spPr>
          <a:xfrm xmlns:a="http://schemas.openxmlformats.org/drawingml/2006/main">
            <a:off x="9086850" y="4133850"/>
            <a:ext cx="2552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Gợi ý task tiếp; xuất profile cho module khác</a:t>
            </a:r>
          </a:p>
        </p:txBody>
      </p:sp>
      <p:sp>
        <p:nvSpPr>
          <p:cNvPr id="31" name="">
            <a:extLst xmlns:a="http://schemas.openxmlformats.org/drawingml/2006/main">
              <a:ext uri="{FF2B5EF4-FFF2-40B4-BE49-F238E27FC236}">
                <a16:creationId xmlns:a16="http://schemas.microsoft.com/office/drawing/2014/main" id="{71EAD54C-EF98-4C42-A2E0-AC44FD096974}"/>
              </a:ext>
            </a:extLst>
          </p:cNvPr>
          <p:cNvSpPr>
            <a:spLocks xmlns:a="http://schemas.openxmlformats.org/drawingml/2006/main" noGrp="1"/>
          </p:cNvSpPr>
          <p:nvPr/>
        </p:nvSpPr>
        <p:spPr>
          <a:xfrm xmlns:a="http://schemas.openxmlformats.org/drawingml/2006/main">
            <a:off x="1638300" y="5219700"/>
            <a:ext cx="8915400" cy="666750"/>
          </a:xfrm>
          <a:prstGeom xmlns:a="http://schemas.openxmlformats.org/drawingml/2006/main" prst="roundRect">
            <a:avLst>
              <a:gd name="adj" fmla="val 8571"/>
            </a:avLst>
          </a:prstGeom>
          <a:solidFill xmlns:a="http://schemas.openxmlformats.org/drawingml/2006/main">
            <a:srgbClr val="E8F2FB"/>
          </a:solidFill>
          <a:ln xmlns:a="http://schemas.openxmlformats.org/drawingml/2006/main" w="9525">
            <a:solidFill>
              <a:srgbClr val="1F5EAC"/>
            </a:solidFill>
            <a:prstDash val="solid"/>
          </a:ln>
        </p:spPr>
      </p:sp>
      <p:sp>
        <p:nvSpPr>
          <p:cNvPr id="32" name="">
            <a:extLst xmlns:a="http://schemas.openxmlformats.org/drawingml/2006/main">
              <a:ext uri="{FF2B5EF4-FFF2-40B4-BE49-F238E27FC236}">
                <a16:creationId xmlns:a16="http://schemas.microsoft.com/office/drawing/2014/main" id="{C0E91C30-3498-46FE-A212-F17782857D48}"/>
              </a:ext>
            </a:extLst>
          </p:cNvPr>
          <p:cNvSpPr>
            <a:spLocks xmlns:a="http://schemas.openxmlformats.org/drawingml/2006/main" noGrp="1"/>
          </p:cNvSpPr>
          <p:nvPr/>
        </p:nvSpPr>
        <p:spPr>
          <a:xfrm xmlns:a="http://schemas.openxmlformats.org/drawingml/2006/main">
            <a:off x="1828800" y="5353050"/>
            <a:ext cx="8534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i="0">
                <a:solidFill>
                  <a:srgbClr val="1F5EAC"/>
                </a:solidFill>
                <a:latin typeface="Aptos"/>
                <a:ea typeface="Aptos"/>
                <a:cs typeface="Aptos"/>
              </a:defRPr>
            </a:pPr>
            <a:r>
              <a:rPr sz="1650" b="1" i="0">
                <a:solidFill>
                  <a:srgbClr val="1F5EAC"/>
                </a:solidFill>
                <a:latin typeface="Aptos"/>
                <a:ea typeface="Aptos"/>
                <a:cs typeface="Aptos"/>
              </a:rPr>
              <a:t>AI Level 2: AI là đối tác hỗ trợ đánh giá và phản hồi; chưa tự điều phối lộ trình dài hạn.</a:t>
            </a:r>
          </a:p>
        </p:txBody>
      </p:sp>
    </p:spTree>
    <p:extLst>
      <p:ext uri="{BB962C8B-B14F-4D97-AF65-F5344CB8AC3E}">
        <p14:creationId xmlns:p14="http://schemas.microsoft.com/office/powerpoint/2010/main" val="916521231"/>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EF55615-9BCC-4A80-B3CA-F83C2C392C22}"/>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HUMAN–AI COLLABORATION</a:t>
            </a:r>
          </a:p>
        </p:txBody>
      </p:sp>
      <p:sp>
        <p:nvSpPr>
          <p:cNvPr id="2" name="">
            <a:extLst xmlns:a="http://schemas.openxmlformats.org/drawingml/2006/main">
              <a:ext uri="{FF2B5EF4-FFF2-40B4-BE49-F238E27FC236}">
                <a16:creationId xmlns:a16="http://schemas.microsoft.com/office/drawing/2014/main" id="{C6706257-418D-479E-A9BB-4CD629641930}"/>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AI làm phần lặp lại; giảng viên giữ chuẩn và quyết định sư phạm</a:t>
            </a:r>
          </a:p>
        </p:txBody>
      </p:sp>
      <p:sp>
        <p:nvSpPr>
          <p:cNvPr id="3" name="">
            <a:extLst xmlns:a="http://schemas.openxmlformats.org/drawingml/2006/main">
              <a:ext uri="{FF2B5EF4-FFF2-40B4-BE49-F238E27FC236}">
                <a16:creationId xmlns:a16="http://schemas.microsoft.com/office/drawing/2014/main" id="{03D38741-5103-4A25-AF70-07455483318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Ba vai trò phải được phân định ngay từ thiết kế.</a:t>
            </a:r>
          </a:p>
        </p:txBody>
      </p:sp>
      <p:sp>
        <p:nvSpPr>
          <p:cNvPr id="4" name="">
            <a:extLst xmlns:a="http://schemas.openxmlformats.org/drawingml/2006/main">
              <a:ext uri="{FF2B5EF4-FFF2-40B4-BE49-F238E27FC236}">
                <a16:creationId xmlns:a16="http://schemas.microsoft.com/office/drawing/2014/main" id="{9B07CF60-87D2-4050-91A8-339E3C60FE28}"/>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B85728-F5D3-4A5C-946C-5FF9A6F350B7}"/>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VAI TRÒ</a:t>
            </a:r>
          </a:p>
        </p:txBody>
      </p:sp>
      <p:sp>
        <p:nvSpPr>
          <p:cNvPr id="6" name="">
            <a:extLst xmlns:a="http://schemas.openxmlformats.org/drawingml/2006/main">
              <a:ext uri="{FF2B5EF4-FFF2-40B4-BE49-F238E27FC236}">
                <a16:creationId xmlns:a16="http://schemas.microsoft.com/office/drawing/2014/main" id="{891C3F8D-E7BF-478F-BEDD-B7DD2FD38077}"/>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7</a:t>
            </a:r>
          </a:p>
        </p:txBody>
      </p:sp>
      <p:sp>
        <p:nvSpPr>
          <p:cNvPr id="7" name="">
            <a:extLst xmlns:a="http://schemas.openxmlformats.org/drawingml/2006/main">
              <a:ext uri="{FF2B5EF4-FFF2-40B4-BE49-F238E27FC236}">
                <a16:creationId xmlns:a16="http://schemas.microsoft.com/office/drawing/2014/main" id="{8FB3F9CC-66E8-47AE-8C95-AAD49E8859C1}"/>
              </a:ext>
            </a:extLst>
          </p:cNvPr>
          <p:cNvSpPr>
            <a:spLocks xmlns:a="http://schemas.openxmlformats.org/drawingml/2006/main" noGrp="1"/>
          </p:cNvSpPr>
          <p:nvPr/>
        </p:nvSpPr>
        <p:spPr>
          <a:xfrm xmlns:a="http://schemas.openxmlformats.org/drawingml/2006/main">
            <a:off x="666750" y="2190750"/>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703CD52-DF70-4C45-9793-F0CE157417DD}"/>
              </a:ext>
            </a:extLst>
          </p:cNvPr>
          <p:cNvSpPr>
            <a:spLocks xmlns:a="http://schemas.openxmlformats.org/drawingml/2006/main" noGrp="1"/>
          </p:cNvSpPr>
          <p:nvPr/>
        </p:nvSpPr>
        <p:spPr>
          <a:xfrm xmlns:a="http://schemas.openxmlformats.org/drawingml/2006/main">
            <a:off x="66675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AI</a:t>
            </a:r>
          </a:p>
        </p:txBody>
      </p:sp>
      <p:sp>
        <p:nvSpPr>
          <p:cNvPr id="9" name="">
            <a:extLst xmlns:a="http://schemas.openxmlformats.org/drawingml/2006/main">
              <a:ext uri="{FF2B5EF4-FFF2-40B4-BE49-F238E27FC236}">
                <a16:creationId xmlns:a16="http://schemas.microsoft.com/office/drawing/2014/main" id="{CFD0D7EB-9F6C-4F53-8E3F-821D316D8E4A}"/>
              </a:ext>
            </a:extLst>
          </p:cNvPr>
          <p:cNvSpPr>
            <a:spLocks xmlns:a="http://schemas.openxmlformats.org/drawingml/2006/main" noGrp="1"/>
          </p:cNvSpPr>
          <p:nvPr/>
        </p:nvSpPr>
        <p:spPr>
          <a:xfrm xmlns:a="http://schemas.openxmlformats.org/drawingml/2006/main">
            <a:off x="666750" y="2933700"/>
            <a:ext cx="31432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Kiểm tra audio</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Chuyển lời nói thành text</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Trích đặc trưng</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Ước lượng 6 tiêu chí</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Gắn evidence và confidence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Đẩy ca rủi ro vào review</a:t>
            </a:r>
          </a:p>
        </p:txBody>
      </p:sp>
      <p:sp>
        <p:nvSpPr>
          <p:cNvPr id="10" name="">
            <a:extLst xmlns:a="http://schemas.openxmlformats.org/drawingml/2006/main">
              <a:ext uri="{FF2B5EF4-FFF2-40B4-BE49-F238E27FC236}">
                <a16:creationId xmlns:a16="http://schemas.microsoft.com/office/drawing/2014/main" id="{5AF9A265-C22B-46B6-A7EC-44289E4CE19C}"/>
              </a:ext>
            </a:extLst>
          </p:cNvPr>
          <p:cNvSpPr>
            <a:spLocks xmlns:a="http://schemas.openxmlformats.org/drawingml/2006/main" noGrp="1"/>
          </p:cNvSpPr>
          <p:nvPr/>
        </p:nvSpPr>
        <p:spPr>
          <a:xfrm xmlns:a="http://schemas.openxmlformats.org/drawingml/2006/main">
            <a:off x="4524375" y="2190750"/>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FECF28F-FF79-4A0C-A1C4-238D04AC0E31}"/>
              </a:ext>
            </a:extLst>
          </p:cNvPr>
          <p:cNvSpPr>
            <a:spLocks xmlns:a="http://schemas.openxmlformats.org/drawingml/2006/main" noGrp="1"/>
          </p:cNvSpPr>
          <p:nvPr/>
        </p:nvSpPr>
        <p:spPr>
          <a:xfrm xmlns:a="http://schemas.openxmlformats.org/drawingml/2006/main">
            <a:off x="4524375"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Giảng viên</a:t>
            </a:r>
          </a:p>
        </p:txBody>
      </p:sp>
      <p:sp>
        <p:nvSpPr>
          <p:cNvPr id="12" name="">
            <a:extLst xmlns:a="http://schemas.openxmlformats.org/drawingml/2006/main">
              <a:ext uri="{FF2B5EF4-FFF2-40B4-BE49-F238E27FC236}">
                <a16:creationId xmlns:a16="http://schemas.microsoft.com/office/drawing/2014/main" id="{E20BA35A-FBA9-4D6C-99ED-EAE8E94C8591}"/>
              </a:ext>
            </a:extLst>
          </p:cNvPr>
          <p:cNvSpPr>
            <a:spLocks xmlns:a="http://schemas.openxmlformats.org/drawingml/2006/main" noGrp="1"/>
          </p:cNvSpPr>
          <p:nvPr/>
        </p:nvSpPr>
        <p:spPr>
          <a:xfrm xmlns:a="http://schemas.openxmlformats.org/drawingml/2006/main">
            <a:off x="4524375" y="2933700"/>
            <a:ext cx="31432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Thiết lập và sở hữu rubric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Chọn anchor và hiệu chuẩn rater</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Chấm dữ liệu gold</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Duyệt ca low-confidence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Phân xử bất đồng</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Quyết định cuối cùng</a:t>
            </a:r>
          </a:p>
        </p:txBody>
      </p:sp>
      <p:sp>
        <p:nvSpPr>
          <p:cNvPr id="13" name="">
            <a:extLst xmlns:a="http://schemas.openxmlformats.org/drawingml/2006/main">
              <a:ext uri="{FF2B5EF4-FFF2-40B4-BE49-F238E27FC236}">
                <a16:creationId xmlns:a16="http://schemas.microsoft.com/office/drawing/2014/main" id="{4F656571-0EB2-403B-93AC-E8803C3B6C99}"/>
              </a:ext>
            </a:extLst>
          </p:cNvPr>
          <p:cNvSpPr>
            <a:spLocks xmlns:a="http://schemas.openxmlformats.org/drawingml/2006/main" noGrp="1"/>
          </p:cNvSpPr>
          <p:nvPr/>
        </p:nvSpPr>
        <p:spPr>
          <a:xfrm xmlns:a="http://schemas.openxmlformats.org/drawingml/2006/main">
            <a:off x="8382000" y="2190750"/>
            <a:ext cx="3143250" cy="4762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16E82C5-8B4E-4CBB-833D-61E682A86565}"/>
              </a:ext>
            </a:extLst>
          </p:cNvPr>
          <p:cNvSpPr>
            <a:spLocks xmlns:a="http://schemas.openxmlformats.org/drawingml/2006/main" noGrp="1"/>
          </p:cNvSpPr>
          <p:nvPr/>
        </p:nvSpPr>
        <p:spPr>
          <a:xfrm xmlns:a="http://schemas.openxmlformats.org/drawingml/2006/main">
            <a:off x="838200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A96500"/>
                </a:solidFill>
                <a:latin typeface="Aptos"/>
                <a:ea typeface="Aptos"/>
                <a:cs typeface="Aptos"/>
              </a:defRPr>
            </a:pPr>
            <a:r>
              <a:rPr sz="1875" b="1" i="0">
                <a:solidFill>
                  <a:srgbClr val="A96500"/>
                </a:solidFill>
                <a:latin typeface="Aptos"/>
                <a:ea typeface="Aptos"/>
                <a:cs typeface="Aptos"/>
              </a:rPr>
              <a:t>Sinh viên</a:t>
            </a:r>
          </a:p>
        </p:txBody>
      </p:sp>
      <p:sp>
        <p:nvSpPr>
          <p:cNvPr id="15" name="">
            <a:extLst xmlns:a="http://schemas.openxmlformats.org/drawingml/2006/main">
              <a:ext uri="{FF2B5EF4-FFF2-40B4-BE49-F238E27FC236}">
                <a16:creationId xmlns:a16="http://schemas.microsoft.com/office/drawing/2014/main" id="{24E6B368-418E-4012-A194-3124BBB6B2F1}"/>
              </a:ext>
            </a:extLst>
          </p:cNvPr>
          <p:cNvSpPr>
            <a:spLocks xmlns:a="http://schemas.openxmlformats.org/drawingml/2006/main" noGrp="1"/>
          </p:cNvSpPr>
          <p:nvPr/>
        </p:nvSpPr>
        <p:spPr>
          <a:xfrm xmlns:a="http://schemas.openxmlformats.org/drawingml/2006/main">
            <a:off x="8382000" y="2933700"/>
            <a:ext cx="31432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Thực hiện Task A/B/C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Đồng ý tham gia và thu hồi consent</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Xem evidence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Tự đối chiếu bản ghi</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Thực hiện nhiệm vụ luyện tiếp</a:t>
            </a:r>
          </a:p>
        </p:txBody>
      </p:sp>
    </p:spTree>
    <p:extLst>
      <p:ext uri="{BB962C8B-B14F-4D97-AF65-F5344CB8AC3E}">
        <p14:creationId xmlns:p14="http://schemas.microsoft.com/office/powerpoint/2010/main" val="310322291"/>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D66975B-CA43-407D-A8B4-D853993C79E6}"/>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NỀN TẢNG ĐO LƯỜNG</a:t>
            </a:r>
          </a:p>
        </p:txBody>
      </p:sp>
      <p:sp>
        <p:nvSpPr>
          <p:cNvPr id="2" name="">
            <a:extLst xmlns:a="http://schemas.openxmlformats.org/drawingml/2006/main">
              <a:ext uri="{FF2B5EF4-FFF2-40B4-BE49-F238E27FC236}">
                <a16:creationId xmlns:a16="http://schemas.microsoft.com/office/drawing/2014/main" id="{6DCE3CF9-D2C3-4149-B6D9-2767865C1BC6}"/>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CEFR mô tả năng lực; CEFR không cung cấp công thức chấm tự động</a:t>
            </a:r>
          </a:p>
        </p:txBody>
      </p:sp>
      <p:sp>
        <p:nvSpPr>
          <p:cNvPr id="3" name="">
            <a:extLst xmlns:a="http://schemas.openxmlformats.org/drawingml/2006/main">
              <a:ext uri="{FF2B5EF4-FFF2-40B4-BE49-F238E27FC236}">
                <a16:creationId xmlns:a16="http://schemas.microsoft.com/office/drawing/2014/main" id="{79734A7F-CEB7-4019-8621-540C4FD2FFF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Dự án phải nối ba thứ: construct → nhiệm vụ → bằng chứng.</a:t>
            </a:r>
          </a:p>
        </p:txBody>
      </p:sp>
      <p:sp>
        <p:nvSpPr>
          <p:cNvPr id="4" name="">
            <a:extLst xmlns:a="http://schemas.openxmlformats.org/drawingml/2006/main">
              <a:ext uri="{FF2B5EF4-FFF2-40B4-BE49-F238E27FC236}">
                <a16:creationId xmlns:a16="http://schemas.microsoft.com/office/drawing/2014/main" id="{1B53C45C-D49A-425D-93AD-934C46CB8594}"/>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8840BCA-203A-45F5-B47C-51F39B382A87}"/>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CEFR</a:t>
            </a:r>
          </a:p>
        </p:txBody>
      </p:sp>
      <p:sp>
        <p:nvSpPr>
          <p:cNvPr id="6" name="">
            <a:extLst xmlns:a="http://schemas.openxmlformats.org/drawingml/2006/main">
              <a:ext uri="{FF2B5EF4-FFF2-40B4-BE49-F238E27FC236}">
                <a16:creationId xmlns:a16="http://schemas.microsoft.com/office/drawing/2014/main" id="{19DF0097-B038-44AA-B7D8-A6119617ECA4}"/>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8</a:t>
            </a:r>
          </a:p>
        </p:txBody>
      </p:sp>
      <p:sp>
        <p:nvSpPr>
          <p:cNvPr id="7" name="">
            <a:extLst xmlns:a="http://schemas.openxmlformats.org/drawingml/2006/main">
              <a:ext uri="{FF2B5EF4-FFF2-40B4-BE49-F238E27FC236}">
                <a16:creationId xmlns:a16="http://schemas.microsoft.com/office/drawing/2014/main" id="{A2E90922-060A-42A7-AA13-6FE659E65DC7}"/>
              </a:ext>
            </a:extLst>
          </p:cNvPr>
          <p:cNvSpPr>
            <a:spLocks xmlns:a="http://schemas.openxmlformats.org/drawingml/2006/main" noGrp="1"/>
          </p:cNvSpPr>
          <p:nvPr/>
        </p:nvSpPr>
        <p:spPr>
          <a:xfrm xmlns:a="http://schemas.openxmlformats.org/drawingml/2006/main">
            <a:off x="2710815" y="278130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31C1070-7752-4ECD-A32E-AC130490707C}"/>
              </a:ext>
            </a:extLst>
          </p:cNvPr>
          <p:cNvSpPr>
            <a:spLocks xmlns:a="http://schemas.openxmlformats.org/drawingml/2006/main" noGrp="1"/>
          </p:cNvSpPr>
          <p:nvPr/>
        </p:nvSpPr>
        <p:spPr>
          <a:xfrm xmlns:a="http://schemas.openxmlformats.org/drawingml/2006/main">
            <a:off x="2806065" y="273367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7E9BCA-26B9-4D52-A2F2-87B756AF9E85}"/>
              </a:ext>
            </a:extLst>
          </p:cNvPr>
          <p:cNvSpPr>
            <a:spLocks xmlns:a="http://schemas.openxmlformats.org/drawingml/2006/main" noGrp="1"/>
          </p:cNvSpPr>
          <p:nvPr/>
        </p:nvSpPr>
        <p:spPr>
          <a:xfrm xmlns:a="http://schemas.openxmlformats.org/drawingml/2006/main">
            <a:off x="4916805" y="278130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B2856D3-E0AB-4633-AD33-F3EB797DDFB9}"/>
              </a:ext>
            </a:extLst>
          </p:cNvPr>
          <p:cNvSpPr>
            <a:spLocks xmlns:a="http://schemas.openxmlformats.org/drawingml/2006/main" noGrp="1"/>
          </p:cNvSpPr>
          <p:nvPr/>
        </p:nvSpPr>
        <p:spPr>
          <a:xfrm xmlns:a="http://schemas.openxmlformats.org/drawingml/2006/main">
            <a:off x="5012055" y="273367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70AAC8D-0797-4BE9-9B02-A15B39ECC0D0}"/>
              </a:ext>
            </a:extLst>
          </p:cNvPr>
          <p:cNvSpPr>
            <a:spLocks xmlns:a="http://schemas.openxmlformats.org/drawingml/2006/main" noGrp="1"/>
          </p:cNvSpPr>
          <p:nvPr/>
        </p:nvSpPr>
        <p:spPr>
          <a:xfrm xmlns:a="http://schemas.openxmlformats.org/drawingml/2006/main">
            <a:off x="7122795" y="278130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0B1720-E4CC-4444-8B07-DC3CBAFD30AC}"/>
              </a:ext>
            </a:extLst>
          </p:cNvPr>
          <p:cNvSpPr>
            <a:spLocks xmlns:a="http://schemas.openxmlformats.org/drawingml/2006/main" noGrp="1"/>
          </p:cNvSpPr>
          <p:nvPr/>
        </p:nvSpPr>
        <p:spPr>
          <a:xfrm xmlns:a="http://schemas.openxmlformats.org/drawingml/2006/main">
            <a:off x="7218045" y="273367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E60C3D-0F2C-4296-98F1-8C0C4081A750}"/>
              </a:ext>
            </a:extLst>
          </p:cNvPr>
          <p:cNvSpPr>
            <a:spLocks xmlns:a="http://schemas.openxmlformats.org/drawingml/2006/main" noGrp="1"/>
          </p:cNvSpPr>
          <p:nvPr/>
        </p:nvSpPr>
        <p:spPr>
          <a:xfrm xmlns:a="http://schemas.openxmlformats.org/drawingml/2006/main">
            <a:off x="9328785" y="278130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8DE25A6-60A5-4571-B4A5-784984576E76}"/>
              </a:ext>
            </a:extLst>
          </p:cNvPr>
          <p:cNvSpPr>
            <a:spLocks xmlns:a="http://schemas.openxmlformats.org/drawingml/2006/main" noGrp="1"/>
          </p:cNvSpPr>
          <p:nvPr/>
        </p:nvSpPr>
        <p:spPr>
          <a:xfrm xmlns:a="http://schemas.openxmlformats.org/drawingml/2006/main">
            <a:off x="9424035" y="273367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F3EFC265-8914-4353-86EE-A01676807B23}"/>
              </a:ext>
            </a:extLst>
          </p:cNvPr>
          <p:cNvSpPr>
            <a:spLocks xmlns:a="http://schemas.openxmlformats.org/drawingml/2006/main" noGrp="1"/>
          </p:cNvSpPr>
          <p:nvPr/>
        </p:nvSpPr>
        <p:spPr>
          <a:xfrm xmlns:a="http://schemas.openxmlformats.org/drawingml/2006/main">
            <a:off x="666750" y="2333625"/>
            <a:ext cx="2034540" cy="952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1F5EAC"/>
            </a:solidFill>
            <a:prstDash val="solid"/>
          </a:ln>
        </p:spPr>
      </p:sp>
      <p:sp>
        <p:nvSpPr>
          <p:cNvPr id="16" name="">
            <a:extLst xmlns:a="http://schemas.openxmlformats.org/drawingml/2006/main">
              <a:ext uri="{FF2B5EF4-FFF2-40B4-BE49-F238E27FC236}">
                <a16:creationId xmlns:a16="http://schemas.microsoft.com/office/drawing/2014/main" id="{2DD7799A-7011-4599-97C2-1827967D1693}"/>
              </a:ext>
            </a:extLst>
          </p:cNvPr>
          <p:cNvSpPr>
            <a:spLocks xmlns:a="http://schemas.openxmlformats.org/drawingml/2006/main" noGrp="1"/>
          </p:cNvSpPr>
          <p:nvPr/>
        </p:nvSpPr>
        <p:spPr>
          <a:xfrm xmlns:a="http://schemas.openxmlformats.org/drawingml/2006/main">
            <a:off x="781050" y="2466975"/>
            <a:ext cx="18059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Construct</a:t>
            </a:r>
          </a:p>
        </p:txBody>
      </p:sp>
      <p:sp>
        <p:nvSpPr>
          <p:cNvPr id="17" name="">
            <a:extLst xmlns:a="http://schemas.openxmlformats.org/drawingml/2006/main">
              <a:ext uri="{FF2B5EF4-FFF2-40B4-BE49-F238E27FC236}">
                <a16:creationId xmlns:a16="http://schemas.microsoft.com/office/drawing/2014/main" id="{E7EA4C98-0145-4486-9302-363423CE7D5F}"/>
              </a:ext>
            </a:extLst>
          </p:cNvPr>
          <p:cNvSpPr>
            <a:spLocks xmlns:a="http://schemas.openxmlformats.org/drawingml/2006/main" noGrp="1"/>
          </p:cNvSpPr>
          <p:nvPr/>
        </p:nvSpPr>
        <p:spPr>
          <a:xfrm xmlns:a="http://schemas.openxmlformats.org/drawingml/2006/main">
            <a:off x="781050" y="2752725"/>
            <a:ext cx="18059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Ta muốn đo năng lực nào?</a:t>
            </a:r>
          </a:p>
        </p:txBody>
      </p:sp>
      <p:sp>
        <p:nvSpPr>
          <p:cNvPr id="18" name="">
            <a:extLst xmlns:a="http://schemas.openxmlformats.org/drawingml/2006/main">
              <a:ext uri="{FF2B5EF4-FFF2-40B4-BE49-F238E27FC236}">
                <a16:creationId xmlns:a16="http://schemas.microsoft.com/office/drawing/2014/main" id="{ECAF6EC3-28E5-4F52-8104-D624B739177A}"/>
              </a:ext>
            </a:extLst>
          </p:cNvPr>
          <p:cNvSpPr>
            <a:spLocks xmlns:a="http://schemas.openxmlformats.org/drawingml/2006/main" noGrp="1"/>
          </p:cNvSpPr>
          <p:nvPr/>
        </p:nvSpPr>
        <p:spPr>
          <a:xfrm xmlns:a="http://schemas.openxmlformats.org/drawingml/2006/main">
            <a:off x="2872740" y="2333625"/>
            <a:ext cx="2034540" cy="952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1F5EAC"/>
            </a:solidFill>
            <a:prstDash val="solid"/>
          </a:ln>
        </p:spPr>
      </p:sp>
      <p:sp>
        <p:nvSpPr>
          <p:cNvPr id="19" name="">
            <a:extLst xmlns:a="http://schemas.openxmlformats.org/drawingml/2006/main">
              <a:ext uri="{FF2B5EF4-FFF2-40B4-BE49-F238E27FC236}">
                <a16:creationId xmlns:a16="http://schemas.microsoft.com/office/drawing/2014/main" id="{E84F3328-4013-49FE-B2E3-374AC0F2548C}"/>
              </a:ext>
            </a:extLst>
          </p:cNvPr>
          <p:cNvSpPr>
            <a:spLocks xmlns:a="http://schemas.openxmlformats.org/drawingml/2006/main" noGrp="1"/>
          </p:cNvSpPr>
          <p:nvPr/>
        </p:nvSpPr>
        <p:spPr>
          <a:xfrm xmlns:a="http://schemas.openxmlformats.org/drawingml/2006/main">
            <a:off x="2987040" y="2466975"/>
            <a:ext cx="18059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Task</a:t>
            </a:r>
          </a:p>
        </p:txBody>
      </p:sp>
      <p:sp>
        <p:nvSpPr>
          <p:cNvPr id="20" name="">
            <a:extLst xmlns:a="http://schemas.openxmlformats.org/drawingml/2006/main">
              <a:ext uri="{FF2B5EF4-FFF2-40B4-BE49-F238E27FC236}">
                <a16:creationId xmlns:a16="http://schemas.microsoft.com/office/drawing/2014/main" id="{3E385C59-AB32-4796-AFD6-93E8C6116390}"/>
              </a:ext>
            </a:extLst>
          </p:cNvPr>
          <p:cNvSpPr>
            <a:spLocks xmlns:a="http://schemas.openxmlformats.org/drawingml/2006/main" noGrp="1"/>
          </p:cNvSpPr>
          <p:nvPr/>
        </p:nvSpPr>
        <p:spPr>
          <a:xfrm xmlns:a="http://schemas.openxmlformats.org/drawingml/2006/main">
            <a:off x="2987040" y="2752725"/>
            <a:ext cx="18059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717"/>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Bài nói nào làm năng lực xuất hiện?</a:t>
            </a:r>
          </a:p>
        </p:txBody>
      </p:sp>
      <p:sp>
        <p:nvSpPr>
          <p:cNvPr id="21" name="">
            <a:extLst xmlns:a="http://schemas.openxmlformats.org/drawingml/2006/main">
              <a:ext uri="{FF2B5EF4-FFF2-40B4-BE49-F238E27FC236}">
                <a16:creationId xmlns:a16="http://schemas.microsoft.com/office/drawing/2014/main" id="{28123D46-1296-4489-97A1-9439D8A7EC88}"/>
              </a:ext>
            </a:extLst>
          </p:cNvPr>
          <p:cNvSpPr>
            <a:spLocks xmlns:a="http://schemas.openxmlformats.org/drawingml/2006/main" noGrp="1"/>
          </p:cNvSpPr>
          <p:nvPr/>
        </p:nvSpPr>
        <p:spPr>
          <a:xfrm xmlns:a="http://schemas.openxmlformats.org/drawingml/2006/main">
            <a:off x="5078730" y="2333625"/>
            <a:ext cx="2034540" cy="952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1F5EAC"/>
            </a:solidFill>
            <a:prstDash val="solid"/>
          </a:ln>
        </p:spPr>
      </p:sp>
      <p:sp>
        <p:nvSpPr>
          <p:cNvPr id="22" name="">
            <a:extLst xmlns:a="http://schemas.openxmlformats.org/drawingml/2006/main">
              <a:ext uri="{FF2B5EF4-FFF2-40B4-BE49-F238E27FC236}">
                <a16:creationId xmlns:a16="http://schemas.microsoft.com/office/drawing/2014/main" id="{1AF1E2D0-CBF8-41F4-AE14-FDE934D75985}"/>
              </a:ext>
            </a:extLst>
          </p:cNvPr>
          <p:cNvSpPr>
            <a:spLocks xmlns:a="http://schemas.openxmlformats.org/drawingml/2006/main" noGrp="1"/>
          </p:cNvSpPr>
          <p:nvPr/>
        </p:nvSpPr>
        <p:spPr>
          <a:xfrm xmlns:a="http://schemas.openxmlformats.org/drawingml/2006/main">
            <a:off x="5193030" y="2466975"/>
            <a:ext cx="18059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Evidence</a:t>
            </a:r>
          </a:p>
        </p:txBody>
      </p:sp>
      <p:sp>
        <p:nvSpPr>
          <p:cNvPr id="23" name="">
            <a:extLst xmlns:a="http://schemas.openxmlformats.org/drawingml/2006/main">
              <a:ext uri="{FF2B5EF4-FFF2-40B4-BE49-F238E27FC236}">
                <a16:creationId xmlns:a16="http://schemas.microsoft.com/office/drawing/2014/main" id="{A4A3BC00-5951-4978-A817-C57D2047A93C}"/>
              </a:ext>
            </a:extLst>
          </p:cNvPr>
          <p:cNvSpPr>
            <a:spLocks xmlns:a="http://schemas.openxmlformats.org/drawingml/2006/main" noGrp="1"/>
          </p:cNvSpPr>
          <p:nvPr/>
        </p:nvSpPr>
        <p:spPr>
          <a:xfrm xmlns:a="http://schemas.openxmlformats.org/drawingml/2006/main">
            <a:off x="5193030" y="2752725"/>
            <a:ext cx="18059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283"/>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Con người/máy quan sát được gì?</a:t>
            </a:r>
          </a:p>
        </p:txBody>
      </p:sp>
      <p:sp>
        <p:nvSpPr>
          <p:cNvPr id="24" name="">
            <a:extLst xmlns:a="http://schemas.openxmlformats.org/drawingml/2006/main">
              <a:ext uri="{FF2B5EF4-FFF2-40B4-BE49-F238E27FC236}">
                <a16:creationId xmlns:a16="http://schemas.microsoft.com/office/drawing/2014/main" id="{BBB40C6F-0B0C-48C9-AD3D-87D344600965}"/>
              </a:ext>
            </a:extLst>
          </p:cNvPr>
          <p:cNvSpPr>
            <a:spLocks xmlns:a="http://schemas.openxmlformats.org/drawingml/2006/main" noGrp="1"/>
          </p:cNvSpPr>
          <p:nvPr/>
        </p:nvSpPr>
        <p:spPr>
          <a:xfrm xmlns:a="http://schemas.openxmlformats.org/drawingml/2006/main">
            <a:off x="7284720" y="2333625"/>
            <a:ext cx="2034540" cy="952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1F5EAC"/>
            </a:solidFill>
            <a:prstDash val="solid"/>
          </a:ln>
        </p:spPr>
      </p:sp>
      <p:sp>
        <p:nvSpPr>
          <p:cNvPr id="25" name="">
            <a:extLst xmlns:a="http://schemas.openxmlformats.org/drawingml/2006/main">
              <a:ext uri="{FF2B5EF4-FFF2-40B4-BE49-F238E27FC236}">
                <a16:creationId xmlns:a16="http://schemas.microsoft.com/office/drawing/2014/main" id="{15E6B264-A80D-48AC-BBD8-758F33688077}"/>
              </a:ext>
            </a:extLst>
          </p:cNvPr>
          <p:cNvSpPr>
            <a:spLocks xmlns:a="http://schemas.openxmlformats.org/drawingml/2006/main" noGrp="1"/>
          </p:cNvSpPr>
          <p:nvPr/>
        </p:nvSpPr>
        <p:spPr>
          <a:xfrm xmlns:a="http://schemas.openxmlformats.org/drawingml/2006/main">
            <a:off x="7399020" y="2466975"/>
            <a:ext cx="18059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Score</a:t>
            </a:r>
          </a:p>
        </p:txBody>
      </p:sp>
      <p:sp>
        <p:nvSpPr>
          <p:cNvPr id="26" name="">
            <a:extLst xmlns:a="http://schemas.openxmlformats.org/drawingml/2006/main">
              <a:ext uri="{FF2B5EF4-FFF2-40B4-BE49-F238E27FC236}">
                <a16:creationId xmlns:a16="http://schemas.microsoft.com/office/drawing/2014/main" id="{AAF43AA1-E589-4AE4-8729-DF986A5355DA}"/>
              </a:ext>
            </a:extLst>
          </p:cNvPr>
          <p:cNvSpPr>
            <a:spLocks xmlns:a="http://schemas.openxmlformats.org/drawingml/2006/main" noGrp="1"/>
          </p:cNvSpPr>
          <p:nvPr/>
        </p:nvSpPr>
        <p:spPr>
          <a:xfrm xmlns:a="http://schemas.openxmlformats.org/drawingml/2006/main">
            <a:off x="7399020" y="2752725"/>
            <a:ext cx="18059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9823"/>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Quy tắc nào biến evidence thành mức?</a:t>
            </a:r>
          </a:p>
        </p:txBody>
      </p:sp>
      <p:sp>
        <p:nvSpPr>
          <p:cNvPr id="27" name="">
            <a:extLst xmlns:a="http://schemas.openxmlformats.org/drawingml/2006/main">
              <a:ext uri="{FF2B5EF4-FFF2-40B4-BE49-F238E27FC236}">
                <a16:creationId xmlns:a16="http://schemas.microsoft.com/office/drawing/2014/main" id="{07004815-A72A-4720-AE0D-FBC34DA917C3}"/>
              </a:ext>
            </a:extLst>
          </p:cNvPr>
          <p:cNvSpPr>
            <a:spLocks xmlns:a="http://schemas.openxmlformats.org/drawingml/2006/main" noGrp="1"/>
          </p:cNvSpPr>
          <p:nvPr/>
        </p:nvSpPr>
        <p:spPr>
          <a:xfrm xmlns:a="http://schemas.openxmlformats.org/drawingml/2006/main">
            <a:off x="9490710" y="2333625"/>
            <a:ext cx="2034540" cy="952500"/>
          </a:xfrm>
          <a:prstGeom xmlns:a="http://schemas.openxmlformats.org/drawingml/2006/main" prst="roundRect">
            <a:avLst>
              <a:gd name="adj" fmla="val 6000"/>
            </a:avLst>
          </a:prstGeom>
          <a:solidFill xmlns:a="http://schemas.openxmlformats.org/drawingml/2006/main">
            <a:srgbClr val="FFFFFF"/>
          </a:solidFill>
          <a:ln xmlns:a="http://schemas.openxmlformats.org/drawingml/2006/main" w="9525">
            <a:solidFill>
              <a:srgbClr val="1F5EAC"/>
            </a:solidFill>
            <a:prstDash val="solid"/>
          </a:ln>
        </p:spPr>
      </p:sp>
      <p:sp>
        <p:nvSpPr>
          <p:cNvPr id="28" name="">
            <a:extLst xmlns:a="http://schemas.openxmlformats.org/drawingml/2006/main">
              <a:ext uri="{FF2B5EF4-FFF2-40B4-BE49-F238E27FC236}">
                <a16:creationId xmlns:a16="http://schemas.microsoft.com/office/drawing/2014/main" id="{26D86A9C-304B-4496-8F63-9268DB7C1624}"/>
              </a:ext>
            </a:extLst>
          </p:cNvPr>
          <p:cNvSpPr>
            <a:spLocks xmlns:a="http://schemas.openxmlformats.org/drawingml/2006/main" noGrp="1"/>
          </p:cNvSpPr>
          <p:nvPr/>
        </p:nvSpPr>
        <p:spPr>
          <a:xfrm xmlns:a="http://schemas.openxmlformats.org/drawingml/2006/main">
            <a:off x="9605010" y="2466975"/>
            <a:ext cx="180594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Validation</a:t>
            </a:r>
          </a:p>
        </p:txBody>
      </p:sp>
      <p:sp>
        <p:nvSpPr>
          <p:cNvPr id="29" name="">
            <a:extLst xmlns:a="http://schemas.openxmlformats.org/drawingml/2006/main">
              <a:ext uri="{FF2B5EF4-FFF2-40B4-BE49-F238E27FC236}">
                <a16:creationId xmlns:a16="http://schemas.microsoft.com/office/drawing/2014/main" id="{2C2D0A87-79EF-4273-916F-5A63F8928B51}"/>
              </a:ext>
            </a:extLst>
          </p:cNvPr>
          <p:cNvSpPr>
            <a:spLocks xmlns:a="http://schemas.openxmlformats.org/drawingml/2006/main" noGrp="1"/>
          </p:cNvSpPr>
          <p:nvPr/>
        </p:nvSpPr>
        <p:spPr>
          <a:xfrm xmlns:a="http://schemas.openxmlformats.org/drawingml/2006/main">
            <a:off x="9605010" y="2752725"/>
            <a:ext cx="180594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59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Kết quả có đáng tin và công bằng?</a:t>
            </a:r>
          </a:p>
        </p:txBody>
      </p:sp>
      <p:sp>
        <p:nvSpPr>
          <p:cNvPr id="30" name="">
            <a:extLst xmlns:a="http://schemas.openxmlformats.org/drawingml/2006/main">
              <a:ext uri="{FF2B5EF4-FFF2-40B4-BE49-F238E27FC236}">
                <a16:creationId xmlns:a16="http://schemas.microsoft.com/office/drawing/2014/main" id="{B0654903-143E-4ED0-81DE-83E99FFCB659}"/>
              </a:ext>
            </a:extLst>
          </p:cNvPr>
          <p:cNvSpPr>
            <a:spLocks xmlns:a="http://schemas.openxmlformats.org/drawingml/2006/main" noGrp="1"/>
          </p:cNvSpPr>
          <p:nvPr/>
        </p:nvSpPr>
        <p:spPr>
          <a:xfrm xmlns:a="http://schemas.openxmlformats.org/drawingml/2006/main">
            <a:off x="1771650" y="4000500"/>
            <a:ext cx="8648700" cy="762000"/>
          </a:xfrm>
          <a:prstGeom xmlns:a="http://schemas.openxmlformats.org/drawingml/2006/main" prst="roundRect">
            <a:avLst>
              <a:gd name="adj" fmla="val 7500"/>
            </a:avLst>
          </a:prstGeom>
          <a:solidFill xmlns:a="http://schemas.openxmlformats.org/drawingml/2006/main">
            <a:srgbClr val="FBEAEA"/>
          </a:solidFill>
          <a:ln xmlns:a="http://schemas.openxmlformats.org/drawingml/2006/main" w="9525">
            <a:solidFill>
              <a:srgbClr val="B43D3D"/>
            </a:solidFill>
            <a:prstDash val="solid"/>
          </a:ln>
        </p:spPr>
      </p:sp>
      <p:sp>
        <p:nvSpPr>
          <p:cNvPr id="31" name="">
            <a:extLst xmlns:a="http://schemas.openxmlformats.org/drawingml/2006/main">
              <a:ext uri="{FF2B5EF4-FFF2-40B4-BE49-F238E27FC236}">
                <a16:creationId xmlns:a16="http://schemas.microsoft.com/office/drawing/2014/main" id="{32B6A9A3-493B-448B-A115-C325CAA65D0F}"/>
              </a:ext>
            </a:extLst>
          </p:cNvPr>
          <p:cNvSpPr>
            <a:spLocks xmlns:a="http://schemas.openxmlformats.org/drawingml/2006/main" noGrp="1"/>
          </p:cNvSpPr>
          <p:nvPr/>
        </p:nvSpPr>
        <p:spPr>
          <a:xfrm xmlns:a="http://schemas.openxmlformats.org/drawingml/2006/main">
            <a:off x="1962150" y="4133850"/>
            <a:ext cx="8267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1" i="0">
                <a:solidFill>
                  <a:srgbClr val="B43D3D"/>
                </a:solidFill>
                <a:latin typeface="Aptos"/>
                <a:ea typeface="Aptos"/>
                <a:cs typeface="Aptos"/>
              </a:defRPr>
            </a:pPr>
            <a:r>
              <a:rPr sz="1800" b="1" i="0">
                <a:solidFill>
                  <a:srgbClr val="B43D3D"/>
                </a:solidFill>
                <a:latin typeface="Aptos"/>
                <a:ea typeface="Aptos"/>
                <a:cs typeface="Aptos"/>
              </a:rPr>
              <a:t>Một LLM đọc transcript rồi trả “B1” chưa đủ để tuyên bố chấm theo CEFR.</a:t>
            </a:r>
          </a:p>
        </p:txBody>
      </p:sp>
      <p:sp>
        <p:nvSpPr>
          <p:cNvPr id="32" name="">
            <a:extLst xmlns:a="http://schemas.openxmlformats.org/drawingml/2006/main">
              <a:ext uri="{FF2B5EF4-FFF2-40B4-BE49-F238E27FC236}">
                <a16:creationId xmlns:a16="http://schemas.microsoft.com/office/drawing/2014/main" id="{B37F3BA7-5D2B-4411-810F-ACB096FF1D8C}"/>
              </a:ext>
            </a:extLst>
          </p:cNvPr>
          <p:cNvSpPr>
            <a:spLocks xmlns:a="http://schemas.openxmlformats.org/drawingml/2006/main" noGrp="1"/>
          </p:cNvSpPr>
          <p:nvPr/>
        </p:nvSpPr>
        <p:spPr>
          <a:xfrm xmlns:a="http://schemas.openxmlformats.org/drawingml/2006/main">
            <a:off x="2333625" y="5181600"/>
            <a:ext cx="85725" cy="85725"/>
          </a:xfrm>
          <a:prstGeom xmlns:a="http://schemas.openxmlformats.org/drawingml/2006/main" prst="roundRect">
            <a:avLst>
              <a:gd name="adj" fmla="val 50000"/>
            </a:avLst>
          </a:prstGeom>
          <a:solidFill xmlns:a="http://schemas.openxmlformats.org/drawingml/2006/main">
            <a:srgbClr val="1F5EAC"/>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0016F7D-D9ED-480A-A6B7-C4049969B8EF}"/>
              </a:ext>
            </a:extLst>
          </p:cNvPr>
          <p:cNvSpPr>
            <a:spLocks xmlns:a="http://schemas.openxmlformats.org/drawingml/2006/main" noGrp="1"/>
          </p:cNvSpPr>
          <p:nvPr/>
        </p:nvSpPr>
        <p:spPr>
          <a:xfrm xmlns:a="http://schemas.openxmlformats.org/drawingml/2006/main">
            <a:off x="2543175" y="5095875"/>
            <a:ext cx="7410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Rubric phải do giảng viên thiết lập.</a:t>
            </a:r>
          </a:p>
        </p:txBody>
      </p:sp>
      <p:sp>
        <p:nvSpPr>
          <p:cNvPr id="34" name="">
            <a:extLst xmlns:a="http://schemas.openxmlformats.org/drawingml/2006/main">
              <a:ext uri="{FF2B5EF4-FFF2-40B4-BE49-F238E27FC236}">
                <a16:creationId xmlns:a16="http://schemas.microsoft.com/office/drawing/2014/main" id="{21C5C2F0-6E0A-4B14-8B34-DBE9DA35F742}"/>
              </a:ext>
            </a:extLst>
          </p:cNvPr>
          <p:cNvSpPr>
            <a:spLocks xmlns:a="http://schemas.openxmlformats.org/drawingml/2006/main" noGrp="1"/>
          </p:cNvSpPr>
          <p:nvPr/>
        </p:nvSpPr>
        <p:spPr>
          <a:xfrm xmlns:a="http://schemas.openxmlformats.org/drawingml/2006/main">
            <a:off x="2333625" y="5514975"/>
            <a:ext cx="85725" cy="85725"/>
          </a:xfrm>
          <a:prstGeom xmlns:a="http://schemas.openxmlformats.org/drawingml/2006/main" prst="roundRect">
            <a:avLst>
              <a:gd name="adj" fmla="val 50000"/>
            </a:avLst>
          </a:prstGeom>
          <a:solidFill xmlns:a="http://schemas.openxmlformats.org/drawingml/2006/main">
            <a:srgbClr val="1F5EAC"/>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8223864-D62C-4FB3-AED2-CF0F5BAFA53A}"/>
              </a:ext>
            </a:extLst>
          </p:cNvPr>
          <p:cNvSpPr>
            <a:spLocks xmlns:a="http://schemas.openxmlformats.org/drawingml/2006/main" noGrp="1"/>
          </p:cNvSpPr>
          <p:nvPr/>
        </p:nvSpPr>
        <p:spPr>
          <a:xfrm xmlns:a="http://schemas.openxmlformats.org/drawingml/2006/main">
            <a:off x="2543175" y="5429250"/>
            <a:ext cx="7410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Nhiệm vụ phải tạo đủ bằng chứng cho tiêu chí.</a:t>
            </a:r>
          </a:p>
        </p:txBody>
      </p:sp>
      <p:sp>
        <p:nvSpPr>
          <p:cNvPr id="36" name="">
            <a:extLst xmlns:a="http://schemas.openxmlformats.org/drawingml/2006/main">
              <a:ext uri="{FF2B5EF4-FFF2-40B4-BE49-F238E27FC236}">
                <a16:creationId xmlns:a16="http://schemas.microsoft.com/office/drawing/2014/main" id="{5BDD4A53-D959-44D4-B4B6-4D1ECC656C43}"/>
              </a:ext>
            </a:extLst>
          </p:cNvPr>
          <p:cNvSpPr>
            <a:spLocks xmlns:a="http://schemas.openxmlformats.org/drawingml/2006/main" noGrp="1"/>
          </p:cNvSpPr>
          <p:nvPr/>
        </p:nvSpPr>
        <p:spPr>
          <a:xfrm xmlns:a="http://schemas.openxmlformats.org/drawingml/2006/main">
            <a:off x="2333625" y="5848350"/>
            <a:ext cx="85725" cy="85725"/>
          </a:xfrm>
          <a:prstGeom xmlns:a="http://schemas.openxmlformats.org/drawingml/2006/main" prst="roundRect">
            <a:avLst>
              <a:gd name="adj" fmla="val 50000"/>
            </a:avLst>
          </a:prstGeom>
          <a:solidFill xmlns:a="http://schemas.openxmlformats.org/drawingml/2006/main">
            <a:srgbClr val="1F5EAC"/>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7E3D3344-7638-4155-9E55-A021904F7D7A}"/>
              </a:ext>
            </a:extLst>
          </p:cNvPr>
          <p:cNvSpPr>
            <a:spLocks xmlns:a="http://schemas.openxmlformats.org/drawingml/2006/main" noGrp="1"/>
          </p:cNvSpPr>
          <p:nvPr/>
        </p:nvSpPr>
        <p:spPr>
          <a:xfrm xmlns:a="http://schemas.openxmlformats.org/drawingml/2006/main">
            <a:off x="2543175" y="5762625"/>
            <a:ext cx="7410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Điểm AI phải so với người chấm và có khoảng tin cậy.</a:t>
            </a:r>
          </a:p>
        </p:txBody>
      </p:sp>
    </p:spTree>
    <p:extLst>
      <p:ext uri="{BB962C8B-B14F-4D97-AF65-F5344CB8AC3E}">
        <p14:creationId xmlns:p14="http://schemas.microsoft.com/office/powerpoint/2010/main" val="1317512404"/>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1FD171D-8C48-41E5-9DC9-3E7314FFB48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BA MỨC NGHIÊN CỨU</a:t>
            </a:r>
          </a:p>
        </p:txBody>
      </p:sp>
      <p:sp>
        <p:nvSpPr>
          <p:cNvPr id="2" name="">
            <a:extLst xmlns:a="http://schemas.openxmlformats.org/drawingml/2006/main">
              <a:ext uri="{FF2B5EF4-FFF2-40B4-BE49-F238E27FC236}">
                <a16:creationId xmlns:a16="http://schemas.microsoft.com/office/drawing/2014/main" id="{4443B089-AECA-488A-99EF-080E1E79BCCE}"/>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A2, B1 và B2 khác nhau ở mức độc lập, độ phát triển ý và khả năng kiểm soát</a:t>
            </a:r>
          </a:p>
        </p:txBody>
      </p:sp>
      <p:sp>
        <p:nvSpPr>
          <p:cNvPr id="3" name="">
            <a:extLst xmlns:a="http://schemas.openxmlformats.org/drawingml/2006/main">
              <a:ext uri="{FF2B5EF4-FFF2-40B4-BE49-F238E27FC236}">
                <a16:creationId xmlns:a16="http://schemas.microsoft.com/office/drawing/2014/main" id="{B1855490-415C-4A3E-BC82-45CBEF4C08A3}"/>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Các câu dưới đây chỉ là ví dụ minh họa, không phải anchor chính thức.</a:t>
            </a:r>
          </a:p>
        </p:txBody>
      </p:sp>
      <p:sp>
        <p:nvSpPr>
          <p:cNvPr id="4" name="">
            <a:extLst xmlns:a="http://schemas.openxmlformats.org/drawingml/2006/main">
              <a:ext uri="{FF2B5EF4-FFF2-40B4-BE49-F238E27FC236}">
                <a16:creationId xmlns:a16="http://schemas.microsoft.com/office/drawing/2014/main" id="{D008C085-2AF4-4439-ACD6-9E2FE2E569B1}"/>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773EE67C-5414-4291-B0BD-6BFD1FEAB59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CEFR</a:t>
            </a:r>
          </a:p>
        </p:txBody>
      </p:sp>
      <p:sp>
        <p:nvSpPr>
          <p:cNvPr id="6" name="">
            <a:extLst xmlns:a="http://schemas.openxmlformats.org/drawingml/2006/main">
              <a:ext uri="{FF2B5EF4-FFF2-40B4-BE49-F238E27FC236}">
                <a16:creationId xmlns:a16="http://schemas.microsoft.com/office/drawing/2014/main" id="{493F71E1-383A-449A-BF88-4BC349500696}"/>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9</a:t>
            </a:r>
          </a:p>
        </p:txBody>
      </p:sp>
      <p:sp>
        <p:nvSpPr>
          <p:cNvPr id="7" name="">
            <a:extLst xmlns:a="http://schemas.openxmlformats.org/drawingml/2006/main">
              <a:ext uri="{FF2B5EF4-FFF2-40B4-BE49-F238E27FC236}">
                <a16:creationId xmlns:a16="http://schemas.microsoft.com/office/drawing/2014/main" id="{E9C469DD-9067-46CA-8813-3F81E019D8BA}"/>
              </a:ext>
            </a:extLst>
          </p:cNvPr>
          <p:cNvSpPr>
            <a:spLocks xmlns:a="http://schemas.openxmlformats.org/drawingml/2006/main" noGrp="1"/>
          </p:cNvSpPr>
          <p:nvPr/>
        </p:nvSpPr>
        <p:spPr>
          <a:xfrm xmlns:a="http://schemas.openxmlformats.org/drawingml/2006/main">
            <a:off x="666750" y="2190750"/>
            <a:ext cx="3143250" cy="4762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58F0B43-88BE-4D61-AFF4-B6A047BF6AC6}"/>
              </a:ext>
            </a:extLst>
          </p:cNvPr>
          <p:cNvSpPr>
            <a:spLocks xmlns:a="http://schemas.openxmlformats.org/drawingml/2006/main" noGrp="1"/>
          </p:cNvSpPr>
          <p:nvPr/>
        </p:nvSpPr>
        <p:spPr>
          <a:xfrm xmlns:a="http://schemas.openxmlformats.org/drawingml/2006/main">
            <a:off x="66675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A96500"/>
                </a:solidFill>
                <a:latin typeface="Aptos"/>
                <a:ea typeface="Aptos"/>
                <a:cs typeface="Aptos"/>
              </a:defRPr>
            </a:pPr>
            <a:r>
              <a:rPr sz="1875" b="1" i="0">
                <a:solidFill>
                  <a:srgbClr val="A96500"/>
                </a:solidFill>
                <a:latin typeface="Aptos"/>
                <a:ea typeface="Aptos"/>
                <a:cs typeface="Aptos"/>
              </a:rPr>
              <a:t>A2 • Nói về điều quen thuộc</a:t>
            </a:r>
          </a:p>
        </p:txBody>
      </p:sp>
      <p:sp>
        <p:nvSpPr>
          <p:cNvPr id="9" name="">
            <a:extLst xmlns:a="http://schemas.openxmlformats.org/drawingml/2006/main">
              <a:ext uri="{FF2B5EF4-FFF2-40B4-BE49-F238E27FC236}">
                <a16:creationId xmlns:a16="http://schemas.microsoft.com/office/drawing/2014/main" id="{3D4EA7E9-6AE9-42B2-BA09-95103A431461}"/>
              </a:ext>
            </a:extLst>
          </p:cNvPr>
          <p:cNvSpPr>
            <a:spLocks xmlns:a="http://schemas.openxmlformats.org/drawingml/2006/main" noGrp="1"/>
          </p:cNvSpPr>
          <p:nvPr/>
        </p:nvSpPr>
        <p:spPr>
          <a:xfrm xmlns:a="http://schemas.openxmlformats.org/drawingml/2006/main">
            <a:off x="666750" y="293370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“I like my city because it is quiet. There are many parks.”</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Câu ngắn, từ quen thuộc, ý đơn giản nhưng người nghe vẫn theo được.</a:t>
            </a:r>
          </a:p>
        </p:txBody>
      </p:sp>
      <p:sp>
        <p:nvSpPr>
          <p:cNvPr id="10" name="">
            <a:extLst xmlns:a="http://schemas.openxmlformats.org/drawingml/2006/main">
              <a:ext uri="{FF2B5EF4-FFF2-40B4-BE49-F238E27FC236}">
                <a16:creationId xmlns:a16="http://schemas.microsoft.com/office/drawing/2014/main" id="{30835769-4385-4EA8-B65F-282943EC2DD0}"/>
              </a:ext>
            </a:extLst>
          </p:cNvPr>
          <p:cNvSpPr>
            <a:spLocks xmlns:a="http://schemas.openxmlformats.org/drawingml/2006/main" noGrp="1"/>
          </p:cNvSpPr>
          <p:nvPr/>
        </p:nvSpPr>
        <p:spPr>
          <a:xfrm xmlns:a="http://schemas.openxmlformats.org/drawingml/2006/main">
            <a:off x="4524375" y="2190750"/>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2C4B8F8-85DC-4520-85EC-835C0D4885CF}"/>
              </a:ext>
            </a:extLst>
          </p:cNvPr>
          <p:cNvSpPr>
            <a:spLocks xmlns:a="http://schemas.openxmlformats.org/drawingml/2006/main" noGrp="1"/>
          </p:cNvSpPr>
          <p:nvPr/>
        </p:nvSpPr>
        <p:spPr>
          <a:xfrm xmlns:a="http://schemas.openxmlformats.org/drawingml/2006/main">
            <a:off x="4524375"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B1 • Giải thích và nối ý</a:t>
            </a:r>
          </a:p>
        </p:txBody>
      </p:sp>
      <p:sp>
        <p:nvSpPr>
          <p:cNvPr id="12" name="">
            <a:extLst xmlns:a="http://schemas.openxmlformats.org/drawingml/2006/main">
              <a:ext uri="{FF2B5EF4-FFF2-40B4-BE49-F238E27FC236}">
                <a16:creationId xmlns:a16="http://schemas.microsoft.com/office/drawing/2014/main" id="{E470ACBD-CFBD-4D10-9B09-6323E3ADE209}"/>
              </a:ext>
            </a:extLst>
          </p:cNvPr>
          <p:cNvSpPr>
            <a:spLocks xmlns:a="http://schemas.openxmlformats.org/drawingml/2006/main" noGrp="1"/>
          </p:cNvSpPr>
          <p:nvPr/>
        </p:nvSpPr>
        <p:spPr>
          <a:xfrm xmlns:a="http://schemas.openxmlformats.org/drawingml/2006/main">
            <a:off x="4524375" y="293370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“I prefer living here because public transport is convenient, although it can be crowded.”</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Có lý do, đối lập và kết nối rõ hơn.</a:t>
            </a:r>
          </a:p>
        </p:txBody>
      </p:sp>
      <p:sp>
        <p:nvSpPr>
          <p:cNvPr id="13" name="">
            <a:extLst xmlns:a="http://schemas.openxmlformats.org/drawingml/2006/main">
              <a:ext uri="{FF2B5EF4-FFF2-40B4-BE49-F238E27FC236}">
                <a16:creationId xmlns:a16="http://schemas.microsoft.com/office/drawing/2014/main" id="{69106691-8F00-4244-8210-31F547577ECE}"/>
              </a:ext>
            </a:extLst>
          </p:cNvPr>
          <p:cNvSpPr>
            <a:spLocks xmlns:a="http://schemas.openxmlformats.org/drawingml/2006/main" noGrp="1"/>
          </p:cNvSpPr>
          <p:nvPr/>
        </p:nvSpPr>
        <p:spPr>
          <a:xfrm xmlns:a="http://schemas.openxmlformats.org/drawingml/2006/main">
            <a:off x="8382000" y="2190750"/>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2423F4D-B05F-41B7-89DE-042C66889F67}"/>
              </a:ext>
            </a:extLst>
          </p:cNvPr>
          <p:cNvSpPr>
            <a:spLocks xmlns:a="http://schemas.openxmlformats.org/drawingml/2006/main" noGrp="1"/>
          </p:cNvSpPr>
          <p:nvPr/>
        </p:nvSpPr>
        <p:spPr>
          <a:xfrm xmlns:a="http://schemas.openxmlformats.org/drawingml/2006/main">
            <a:off x="8382000" y="236220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B2 • Phát triển lập luận</a:t>
            </a:r>
          </a:p>
        </p:txBody>
      </p:sp>
      <p:sp>
        <p:nvSpPr>
          <p:cNvPr id="15" name="">
            <a:extLst xmlns:a="http://schemas.openxmlformats.org/drawingml/2006/main">
              <a:ext uri="{FF2B5EF4-FFF2-40B4-BE49-F238E27FC236}">
                <a16:creationId xmlns:a16="http://schemas.microsoft.com/office/drawing/2014/main" id="{3498FB23-8D48-451C-8184-0A099430FC98}"/>
              </a:ext>
            </a:extLst>
          </p:cNvPr>
          <p:cNvSpPr>
            <a:spLocks xmlns:a="http://schemas.openxmlformats.org/drawingml/2006/main" noGrp="1"/>
          </p:cNvSpPr>
          <p:nvPr/>
        </p:nvSpPr>
        <p:spPr>
          <a:xfrm xmlns:a="http://schemas.openxmlformats.org/drawingml/2006/main">
            <a:off x="8382000" y="293370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“Although the city is expensive, its opportunities often outweigh the disadvantages, especially for young professionals.”</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Ý được phát triển linh hoạt và chính xác hơn.</a:t>
            </a:r>
          </a:p>
        </p:txBody>
      </p:sp>
      <p:sp>
        <p:nvSpPr>
          <p:cNvPr id="16" name="">
            <a:extLst xmlns:a="http://schemas.openxmlformats.org/drawingml/2006/main">
              <a:ext uri="{FF2B5EF4-FFF2-40B4-BE49-F238E27FC236}">
                <a16:creationId xmlns:a16="http://schemas.microsoft.com/office/drawing/2014/main" id="{6F3E597B-7935-4CA5-AE9D-B1A730C15314}"/>
              </a:ext>
            </a:extLst>
          </p:cNvPr>
          <p:cNvSpPr>
            <a:spLocks xmlns:a="http://schemas.openxmlformats.org/drawingml/2006/main" noGrp="1"/>
          </p:cNvSpPr>
          <p:nvPr/>
        </p:nvSpPr>
        <p:spPr>
          <a:xfrm xmlns:a="http://schemas.openxmlformats.org/drawingml/2006/main">
            <a:off x="2476500" y="5429250"/>
            <a:ext cx="7239000" cy="590550"/>
          </a:xfrm>
          <a:prstGeom xmlns:a="http://schemas.openxmlformats.org/drawingml/2006/main" prst="roundRect">
            <a:avLst>
              <a:gd name="adj" fmla="val 9677"/>
            </a:avLst>
          </a:prstGeom>
          <a:solidFill xmlns:a="http://schemas.openxmlformats.org/drawingml/2006/main">
            <a:srgbClr val="F0ECF8"/>
          </a:solidFill>
          <a:ln xmlns:a="http://schemas.openxmlformats.org/drawingml/2006/main" w="9525">
            <a:solidFill>
              <a:srgbClr val="6C4FA3"/>
            </a:solidFill>
            <a:prstDash val="solid"/>
          </a:ln>
        </p:spPr>
      </p:sp>
      <p:sp>
        <p:nvSpPr>
          <p:cNvPr id="17" name="">
            <a:extLst xmlns:a="http://schemas.openxmlformats.org/drawingml/2006/main">
              <a:ext uri="{FF2B5EF4-FFF2-40B4-BE49-F238E27FC236}">
                <a16:creationId xmlns:a16="http://schemas.microsoft.com/office/drawing/2014/main" id="{3F1B972F-F470-4D5C-BEE1-B314D681AAE4}"/>
              </a:ext>
            </a:extLst>
          </p:cNvPr>
          <p:cNvSpPr>
            <a:spLocks xmlns:a="http://schemas.openxmlformats.org/drawingml/2006/main" noGrp="1"/>
          </p:cNvSpPr>
          <p:nvPr/>
        </p:nvSpPr>
        <p:spPr>
          <a:xfrm xmlns:a="http://schemas.openxmlformats.org/drawingml/2006/main">
            <a:off x="2667000" y="55626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6C4FA3"/>
                </a:solidFill>
                <a:latin typeface="Aptos"/>
                <a:ea typeface="Aptos"/>
                <a:cs typeface="Aptos"/>
              </a:defRPr>
            </a:pPr>
            <a:r>
              <a:rPr sz="1575" b="1" i="0">
                <a:solidFill>
                  <a:srgbClr val="6C4FA3"/>
                </a:solidFill>
                <a:latin typeface="Aptos"/>
                <a:ea typeface="Aptos"/>
                <a:cs typeface="Aptos"/>
              </a:rPr>
              <a:t>Không được xếp mức chỉ từ một câu. Cần nhiều nhiệm vụ và nhiều tiêu chí.</a:t>
            </a:r>
          </a:p>
        </p:txBody>
      </p:sp>
    </p:spTree>
    <p:extLst>
      <p:ext uri="{BB962C8B-B14F-4D97-AF65-F5344CB8AC3E}">
        <p14:creationId xmlns:p14="http://schemas.microsoft.com/office/powerpoint/2010/main" val="1981857364"/>
      </p:ext>
    </p:extLst>
  </p:cSld>
</p:sld>
</file>

<file path=ppt/slides/slide1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F56C8A0-33E2-45FA-97FE-ADFA4B58044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SÁU TIÊU CHÍ</a:t>
            </a:r>
          </a:p>
        </p:txBody>
      </p:sp>
      <p:sp>
        <p:nvSpPr>
          <p:cNvPr id="2" name="">
            <a:extLst xmlns:a="http://schemas.openxmlformats.org/drawingml/2006/main">
              <a:ext uri="{FF2B5EF4-FFF2-40B4-BE49-F238E27FC236}">
                <a16:creationId xmlns:a16="http://schemas.microsoft.com/office/drawing/2014/main" id="{CCFA911A-D3DE-4419-809E-ACFD47FA067A}"/>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CEFR nhìn bài nói như một hồ sơ, không phải một điểm duy nhất</a:t>
            </a:r>
          </a:p>
        </p:txBody>
      </p:sp>
      <p:sp>
        <p:nvSpPr>
          <p:cNvPr id="3" name="">
            <a:extLst xmlns:a="http://schemas.openxmlformats.org/drawingml/2006/main">
              <a:ext uri="{FF2B5EF4-FFF2-40B4-BE49-F238E27FC236}">
                <a16:creationId xmlns:a16="http://schemas.microsoft.com/office/drawing/2014/main" id="{D34F4EB4-0C90-40CB-AEAD-5FACA39591D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tiêu chí trả lời một câu hỏi khác nhau về năng lực giao tiếp.</a:t>
            </a:r>
          </a:p>
        </p:txBody>
      </p:sp>
      <p:sp>
        <p:nvSpPr>
          <p:cNvPr id="4" name="">
            <a:extLst xmlns:a="http://schemas.openxmlformats.org/drawingml/2006/main">
              <a:ext uri="{FF2B5EF4-FFF2-40B4-BE49-F238E27FC236}">
                <a16:creationId xmlns:a16="http://schemas.microsoft.com/office/drawing/2014/main" id="{8533A94C-BF9A-489C-805A-1C67D511B703}"/>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70BEECE-8F5F-489B-8212-9E0652B7E3C4}"/>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6C31BEC6-D2FF-446D-85BC-2AA06C491568}"/>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10</a:t>
            </a:r>
          </a:p>
        </p:txBody>
      </p:sp>
      <p:sp>
        <p:nvSpPr>
          <p:cNvPr id="7" name="">
            <a:extLst xmlns:a="http://schemas.openxmlformats.org/drawingml/2006/main">
              <a:ext uri="{FF2B5EF4-FFF2-40B4-BE49-F238E27FC236}">
                <a16:creationId xmlns:a16="http://schemas.microsoft.com/office/drawing/2014/main" id="{9297413E-89C4-4F46-8439-0601AE41DDE8}"/>
              </a:ext>
            </a:extLst>
          </p:cNvPr>
          <p:cNvSpPr>
            <a:spLocks xmlns:a="http://schemas.openxmlformats.org/drawingml/2006/main" noGrp="1"/>
          </p:cNvSpPr>
          <p:nvPr/>
        </p:nvSpPr>
        <p:spPr>
          <a:xfrm xmlns:a="http://schemas.openxmlformats.org/drawingml/2006/main">
            <a:off x="742950" y="2095500"/>
            <a:ext cx="3238500" cy="38100"/>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0355BE-D9AE-4D3B-A066-4E0FA8C50B4A}"/>
              </a:ext>
            </a:extLst>
          </p:cNvPr>
          <p:cNvSpPr>
            <a:spLocks xmlns:a="http://schemas.openxmlformats.org/drawingml/2006/main" noGrp="1"/>
          </p:cNvSpPr>
          <p:nvPr/>
        </p:nvSpPr>
        <p:spPr>
          <a:xfrm xmlns:a="http://schemas.openxmlformats.org/drawingml/2006/main">
            <a:off x="742950" y="22669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1F5EAC"/>
                </a:solidFill>
                <a:latin typeface="Aptos"/>
                <a:ea typeface="Aptos"/>
                <a:cs typeface="Aptos"/>
              </a:defRPr>
            </a:pPr>
            <a:r>
              <a:rPr sz="1800" b="1" i="0">
                <a:solidFill>
                  <a:srgbClr val="1F5EAC"/>
                </a:solidFill>
                <a:latin typeface="Aptos"/>
                <a:ea typeface="Aptos"/>
                <a:cs typeface="Aptos"/>
              </a:rPr>
              <a:t>Range</a:t>
            </a:r>
          </a:p>
        </p:txBody>
      </p:sp>
      <p:sp>
        <p:nvSpPr>
          <p:cNvPr id="9" name="">
            <a:extLst xmlns:a="http://schemas.openxmlformats.org/drawingml/2006/main">
              <a:ext uri="{FF2B5EF4-FFF2-40B4-BE49-F238E27FC236}">
                <a16:creationId xmlns:a16="http://schemas.microsoft.com/office/drawing/2014/main" id="{F8E3621A-F20F-4347-A9B7-61E2EC5DA63A}"/>
              </a:ext>
            </a:extLst>
          </p:cNvPr>
          <p:cNvSpPr>
            <a:spLocks xmlns:a="http://schemas.openxmlformats.org/drawingml/2006/main" noGrp="1"/>
          </p:cNvSpPr>
          <p:nvPr/>
        </p:nvSpPr>
        <p:spPr>
          <a:xfrm xmlns:a="http://schemas.openxmlformats.org/drawingml/2006/main">
            <a:off x="742950" y="26860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Có đủ từ và cấu trúc để diễn đạt?</a:t>
            </a:r>
          </a:p>
        </p:txBody>
      </p:sp>
      <p:sp>
        <p:nvSpPr>
          <p:cNvPr id="10" name="">
            <a:extLst xmlns:a="http://schemas.openxmlformats.org/drawingml/2006/main">
              <a:ext uri="{FF2B5EF4-FFF2-40B4-BE49-F238E27FC236}">
                <a16:creationId xmlns:a16="http://schemas.microsoft.com/office/drawing/2014/main" id="{26E41586-B786-4115-BC99-57CF9FE74035}"/>
              </a:ext>
            </a:extLst>
          </p:cNvPr>
          <p:cNvSpPr>
            <a:spLocks xmlns:a="http://schemas.openxmlformats.org/drawingml/2006/main" noGrp="1"/>
          </p:cNvSpPr>
          <p:nvPr/>
        </p:nvSpPr>
        <p:spPr>
          <a:xfrm xmlns:a="http://schemas.openxmlformats.org/drawingml/2006/main">
            <a:off x="4552950" y="2095500"/>
            <a:ext cx="3238500" cy="3810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193364C-F092-4AB5-B305-22C9439E7117}"/>
              </a:ext>
            </a:extLst>
          </p:cNvPr>
          <p:cNvSpPr>
            <a:spLocks xmlns:a="http://schemas.openxmlformats.org/drawingml/2006/main" noGrp="1"/>
          </p:cNvSpPr>
          <p:nvPr/>
        </p:nvSpPr>
        <p:spPr>
          <a:xfrm xmlns:a="http://schemas.openxmlformats.org/drawingml/2006/main">
            <a:off x="4552950" y="22669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2F7D5C"/>
                </a:solidFill>
                <a:latin typeface="Aptos"/>
                <a:ea typeface="Aptos"/>
                <a:cs typeface="Aptos"/>
              </a:defRPr>
            </a:pPr>
            <a:r>
              <a:rPr sz="1800" b="1" i="0">
                <a:solidFill>
                  <a:srgbClr val="2F7D5C"/>
                </a:solidFill>
                <a:latin typeface="Aptos"/>
                <a:ea typeface="Aptos"/>
                <a:cs typeface="Aptos"/>
              </a:rPr>
              <a:t>Accuracy</a:t>
            </a:r>
          </a:p>
        </p:txBody>
      </p:sp>
      <p:sp>
        <p:nvSpPr>
          <p:cNvPr id="12" name="">
            <a:extLst xmlns:a="http://schemas.openxmlformats.org/drawingml/2006/main">
              <a:ext uri="{FF2B5EF4-FFF2-40B4-BE49-F238E27FC236}">
                <a16:creationId xmlns:a16="http://schemas.microsoft.com/office/drawing/2014/main" id="{E374C8C1-87E6-4FAB-9D41-0F015CC64884}"/>
              </a:ext>
            </a:extLst>
          </p:cNvPr>
          <p:cNvSpPr>
            <a:spLocks xmlns:a="http://schemas.openxmlformats.org/drawingml/2006/main" noGrp="1"/>
          </p:cNvSpPr>
          <p:nvPr/>
        </p:nvSpPr>
        <p:spPr>
          <a:xfrm xmlns:a="http://schemas.openxmlformats.org/drawingml/2006/main">
            <a:off x="4552950" y="26860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Kiểm soát ngữ pháp đến đâu?</a:t>
            </a:r>
          </a:p>
        </p:txBody>
      </p:sp>
      <p:sp>
        <p:nvSpPr>
          <p:cNvPr id="13" name="">
            <a:extLst xmlns:a="http://schemas.openxmlformats.org/drawingml/2006/main">
              <a:ext uri="{FF2B5EF4-FFF2-40B4-BE49-F238E27FC236}">
                <a16:creationId xmlns:a16="http://schemas.microsoft.com/office/drawing/2014/main" id="{D84E414A-BDD0-4545-B609-309EC5FD1DCA}"/>
              </a:ext>
            </a:extLst>
          </p:cNvPr>
          <p:cNvSpPr>
            <a:spLocks xmlns:a="http://schemas.openxmlformats.org/drawingml/2006/main" noGrp="1"/>
          </p:cNvSpPr>
          <p:nvPr/>
        </p:nvSpPr>
        <p:spPr>
          <a:xfrm xmlns:a="http://schemas.openxmlformats.org/drawingml/2006/main">
            <a:off x="8362950" y="2095500"/>
            <a:ext cx="3238500" cy="38100"/>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30A9B7-E401-42C6-9DA7-DBAB31BE8992}"/>
              </a:ext>
            </a:extLst>
          </p:cNvPr>
          <p:cNvSpPr>
            <a:spLocks xmlns:a="http://schemas.openxmlformats.org/drawingml/2006/main" noGrp="1"/>
          </p:cNvSpPr>
          <p:nvPr/>
        </p:nvSpPr>
        <p:spPr>
          <a:xfrm xmlns:a="http://schemas.openxmlformats.org/drawingml/2006/main">
            <a:off x="8362950" y="226695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A96500"/>
                </a:solidFill>
                <a:latin typeface="Aptos"/>
                <a:ea typeface="Aptos"/>
                <a:cs typeface="Aptos"/>
              </a:defRPr>
            </a:pPr>
            <a:r>
              <a:rPr sz="1800" b="1" i="0">
                <a:solidFill>
                  <a:srgbClr val="A96500"/>
                </a:solidFill>
                <a:latin typeface="Aptos"/>
                <a:ea typeface="Aptos"/>
                <a:cs typeface="Aptos"/>
              </a:rPr>
              <a:t>Fluency</a:t>
            </a:r>
          </a:p>
        </p:txBody>
      </p:sp>
      <p:sp>
        <p:nvSpPr>
          <p:cNvPr id="15" name="">
            <a:extLst xmlns:a="http://schemas.openxmlformats.org/drawingml/2006/main">
              <a:ext uri="{FF2B5EF4-FFF2-40B4-BE49-F238E27FC236}">
                <a16:creationId xmlns:a16="http://schemas.microsoft.com/office/drawing/2014/main" id="{C31E38A8-120E-4BFC-A16B-C220E15A9AD8}"/>
              </a:ext>
            </a:extLst>
          </p:cNvPr>
          <p:cNvSpPr>
            <a:spLocks xmlns:a="http://schemas.openxmlformats.org/drawingml/2006/main" noGrp="1"/>
          </p:cNvSpPr>
          <p:nvPr/>
        </p:nvSpPr>
        <p:spPr>
          <a:xfrm xmlns:a="http://schemas.openxmlformats.org/drawingml/2006/main">
            <a:off x="8362950" y="268605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Duy trì lời nói và ngắt nghỉ ra sao?</a:t>
            </a:r>
          </a:p>
        </p:txBody>
      </p:sp>
      <p:sp>
        <p:nvSpPr>
          <p:cNvPr id="16" name="">
            <a:extLst xmlns:a="http://schemas.openxmlformats.org/drawingml/2006/main">
              <a:ext uri="{FF2B5EF4-FFF2-40B4-BE49-F238E27FC236}">
                <a16:creationId xmlns:a16="http://schemas.microsoft.com/office/drawing/2014/main" id="{B5753444-A2B1-424F-B68E-193DD4A23EFC}"/>
              </a:ext>
            </a:extLst>
          </p:cNvPr>
          <p:cNvSpPr>
            <a:spLocks xmlns:a="http://schemas.openxmlformats.org/drawingml/2006/main" noGrp="1"/>
          </p:cNvSpPr>
          <p:nvPr/>
        </p:nvSpPr>
        <p:spPr>
          <a:xfrm xmlns:a="http://schemas.openxmlformats.org/drawingml/2006/main">
            <a:off x="742950" y="3714750"/>
            <a:ext cx="3238500" cy="38100"/>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F840220-6F7D-4077-8F5B-6679AEA3B6C4}"/>
              </a:ext>
            </a:extLst>
          </p:cNvPr>
          <p:cNvSpPr>
            <a:spLocks xmlns:a="http://schemas.openxmlformats.org/drawingml/2006/main" noGrp="1"/>
          </p:cNvSpPr>
          <p:nvPr/>
        </p:nvSpPr>
        <p:spPr>
          <a:xfrm xmlns:a="http://schemas.openxmlformats.org/drawingml/2006/main">
            <a:off x="742950" y="38862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6C4FA3"/>
                </a:solidFill>
                <a:latin typeface="Aptos"/>
                <a:ea typeface="Aptos"/>
                <a:cs typeface="Aptos"/>
              </a:defRPr>
            </a:pPr>
            <a:r>
              <a:rPr sz="1800" b="1" i="0">
                <a:solidFill>
                  <a:srgbClr val="6C4FA3"/>
                </a:solidFill>
                <a:latin typeface="Aptos"/>
                <a:ea typeface="Aptos"/>
                <a:cs typeface="Aptos"/>
              </a:rPr>
              <a:t>Coherence</a:t>
            </a:r>
          </a:p>
        </p:txBody>
      </p:sp>
      <p:sp>
        <p:nvSpPr>
          <p:cNvPr id="18" name="">
            <a:extLst xmlns:a="http://schemas.openxmlformats.org/drawingml/2006/main">
              <a:ext uri="{FF2B5EF4-FFF2-40B4-BE49-F238E27FC236}">
                <a16:creationId xmlns:a16="http://schemas.microsoft.com/office/drawing/2014/main" id="{21027E05-0E7F-4F00-83AB-E3DB407E92C6}"/>
              </a:ext>
            </a:extLst>
          </p:cNvPr>
          <p:cNvSpPr>
            <a:spLocks xmlns:a="http://schemas.openxmlformats.org/drawingml/2006/main" noGrp="1"/>
          </p:cNvSpPr>
          <p:nvPr/>
        </p:nvSpPr>
        <p:spPr>
          <a:xfrm xmlns:a="http://schemas.openxmlformats.org/drawingml/2006/main">
            <a:off x="742950" y="43053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Ý có phát triển và liên kết không?</a:t>
            </a:r>
          </a:p>
        </p:txBody>
      </p:sp>
      <p:sp>
        <p:nvSpPr>
          <p:cNvPr id="19" name="">
            <a:extLst xmlns:a="http://schemas.openxmlformats.org/drawingml/2006/main">
              <a:ext uri="{FF2B5EF4-FFF2-40B4-BE49-F238E27FC236}">
                <a16:creationId xmlns:a16="http://schemas.microsoft.com/office/drawing/2014/main" id="{63AE1A0A-A474-4AE3-8D1E-7AA6F1BFC787}"/>
              </a:ext>
            </a:extLst>
          </p:cNvPr>
          <p:cNvSpPr>
            <a:spLocks xmlns:a="http://schemas.openxmlformats.org/drawingml/2006/main" noGrp="1"/>
          </p:cNvSpPr>
          <p:nvPr/>
        </p:nvSpPr>
        <p:spPr>
          <a:xfrm xmlns:a="http://schemas.openxmlformats.org/drawingml/2006/main">
            <a:off x="4552950" y="3714750"/>
            <a:ext cx="3238500" cy="3810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EC72581-C621-4CB0-9BA8-397EE07CEFD0}"/>
              </a:ext>
            </a:extLst>
          </p:cNvPr>
          <p:cNvSpPr>
            <a:spLocks xmlns:a="http://schemas.openxmlformats.org/drawingml/2006/main" noGrp="1"/>
          </p:cNvSpPr>
          <p:nvPr/>
        </p:nvSpPr>
        <p:spPr>
          <a:xfrm xmlns:a="http://schemas.openxmlformats.org/drawingml/2006/main">
            <a:off x="4552950" y="38862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B43D3D"/>
                </a:solidFill>
                <a:latin typeface="Aptos"/>
                <a:ea typeface="Aptos"/>
                <a:cs typeface="Aptos"/>
              </a:defRPr>
            </a:pPr>
            <a:r>
              <a:rPr sz="1800" b="1" i="0">
                <a:solidFill>
                  <a:srgbClr val="B43D3D"/>
                </a:solidFill>
                <a:latin typeface="Aptos"/>
                <a:ea typeface="Aptos"/>
                <a:cs typeface="Aptos"/>
              </a:rPr>
              <a:t>Interaction</a:t>
            </a:r>
          </a:p>
        </p:txBody>
      </p:sp>
      <p:sp>
        <p:nvSpPr>
          <p:cNvPr id="21" name="">
            <a:extLst xmlns:a="http://schemas.openxmlformats.org/drawingml/2006/main">
              <a:ext uri="{FF2B5EF4-FFF2-40B4-BE49-F238E27FC236}">
                <a16:creationId xmlns:a16="http://schemas.microsoft.com/office/drawing/2014/main" id="{77B9B4AC-5962-491F-801C-7CD2DCC777D7}"/>
              </a:ext>
            </a:extLst>
          </p:cNvPr>
          <p:cNvSpPr>
            <a:spLocks xmlns:a="http://schemas.openxmlformats.org/drawingml/2006/main" noGrp="1"/>
          </p:cNvSpPr>
          <p:nvPr/>
        </p:nvSpPr>
        <p:spPr>
          <a:xfrm xmlns:a="http://schemas.openxmlformats.org/drawingml/2006/main">
            <a:off x="4552950" y="43053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Có phối hợp được trong hội thoại?</a:t>
            </a:r>
          </a:p>
        </p:txBody>
      </p:sp>
      <p:sp>
        <p:nvSpPr>
          <p:cNvPr id="22" name="">
            <a:extLst xmlns:a="http://schemas.openxmlformats.org/drawingml/2006/main">
              <a:ext uri="{FF2B5EF4-FFF2-40B4-BE49-F238E27FC236}">
                <a16:creationId xmlns:a16="http://schemas.microsoft.com/office/drawing/2014/main" id="{F1495634-365B-4E15-A7FF-0C7300A3AB12}"/>
              </a:ext>
            </a:extLst>
          </p:cNvPr>
          <p:cNvSpPr>
            <a:spLocks xmlns:a="http://schemas.openxmlformats.org/drawingml/2006/main" noGrp="1"/>
          </p:cNvSpPr>
          <p:nvPr/>
        </p:nvSpPr>
        <p:spPr>
          <a:xfrm xmlns:a="http://schemas.openxmlformats.org/drawingml/2006/main">
            <a:off x="8362950" y="3714750"/>
            <a:ext cx="3238500" cy="38100"/>
          </a:xfrm>
          <a:prstGeom xmlns:a="http://schemas.openxmlformats.org/drawingml/2006/main" prst="rect">
            <a:avLst/>
          </a:prstGeom>
          <a:solidFill xmlns:a="http://schemas.openxmlformats.org/drawingml/2006/main">
            <a:srgbClr val="28788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B6CABF-D461-4F40-845D-E4D93E132EAE}"/>
              </a:ext>
            </a:extLst>
          </p:cNvPr>
          <p:cNvSpPr>
            <a:spLocks xmlns:a="http://schemas.openxmlformats.org/drawingml/2006/main" noGrp="1"/>
          </p:cNvSpPr>
          <p:nvPr/>
        </p:nvSpPr>
        <p:spPr>
          <a:xfrm xmlns:a="http://schemas.openxmlformats.org/drawingml/2006/main">
            <a:off x="8362950" y="3886200"/>
            <a:ext cx="323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28788C"/>
                </a:solidFill>
                <a:latin typeface="Aptos"/>
                <a:ea typeface="Aptos"/>
                <a:cs typeface="Aptos"/>
              </a:defRPr>
            </a:pPr>
            <a:r>
              <a:rPr sz="1800" b="1" i="0">
                <a:solidFill>
                  <a:srgbClr val="28788C"/>
                </a:solidFill>
                <a:latin typeface="Aptos"/>
                <a:ea typeface="Aptos"/>
                <a:cs typeface="Aptos"/>
              </a:rPr>
              <a:t>Phonology</a:t>
            </a:r>
          </a:p>
        </p:txBody>
      </p:sp>
      <p:sp>
        <p:nvSpPr>
          <p:cNvPr id="24" name="">
            <a:extLst xmlns:a="http://schemas.openxmlformats.org/drawingml/2006/main">
              <a:ext uri="{FF2B5EF4-FFF2-40B4-BE49-F238E27FC236}">
                <a16:creationId xmlns:a16="http://schemas.microsoft.com/office/drawing/2014/main" id="{E9E186DE-30BB-440B-886B-A6CFDF878C2E}"/>
              </a:ext>
            </a:extLst>
          </p:cNvPr>
          <p:cNvSpPr>
            <a:spLocks xmlns:a="http://schemas.openxmlformats.org/drawingml/2006/main" noGrp="1"/>
          </p:cNvSpPr>
          <p:nvPr/>
        </p:nvSpPr>
        <p:spPr>
          <a:xfrm xmlns:a="http://schemas.openxmlformats.org/drawingml/2006/main">
            <a:off x="8362950" y="4305300"/>
            <a:ext cx="3238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Thông điệp có dễ hiểu qua âm và ngữ điệu?</a:t>
            </a:r>
          </a:p>
        </p:txBody>
      </p:sp>
      <p:sp>
        <p:nvSpPr>
          <p:cNvPr id="25" name="">
            <a:extLst xmlns:a="http://schemas.openxmlformats.org/drawingml/2006/main">
              <a:ext uri="{FF2B5EF4-FFF2-40B4-BE49-F238E27FC236}">
                <a16:creationId xmlns:a16="http://schemas.microsoft.com/office/drawing/2014/main" id="{2893BDCF-1B69-4FE5-A212-4C8E164DB0ED}"/>
              </a:ext>
            </a:extLst>
          </p:cNvPr>
          <p:cNvSpPr>
            <a:spLocks xmlns:a="http://schemas.openxmlformats.org/drawingml/2006/main" noGrp="1"/>
          </p:cNvSpPr>
          <p:nvPr/>
        </p:nvSpPr>
        <p:spPr>
          <a:xfrm xmlns:a="http://schemas.openxmlformats.org/drawingml/2006/main">
            <a:off x="1666875" y="5429250"/>
            <a:ext cx="8858250" cy="609600"/>
          </a:xfrm>
          <a:prstGeom xmlns:a="http://schemas.openxmlformats.org/drawingml/2006/main" prst="roundRect">
            <a:avLst>
              <a:gd name="adj" fmla="val 9375"/>
            </a:avLst>
          </a:prstGeom>
          <a:solidFill xmlns:a="http://schemas.openxmlformats.org/drawingml/2006/main">
            <a:srgbClr val="E8F2FB"/>
          </a:solidFill>
          <a:ln xmlns:a="http://schemas.openxmlformats.org/drawingml/2006/main" w="9525">
            <a:solidFill>
              <a:srgbClr val="1F5EAC"/>
            </a:solidFill>
            <a:prstDash val="solid"/>
          </a:ln>
        </p:spPr>
      </p:sp>
      <p:sp>
        <p:nvSpPr>
          <p:cNvPr id="26" name="">
            <a:extLst xmlns:a="http://schemas.openxmlformats.org/drawingml/2006/main">
              <a:ext uri="{FF2B5EF4-FFF2-40B4-BE49-F238E27FC236}">
                <a16:creationId xmlns:a16="http://schemas.microsoft.com/office/drawing/2014/main" id="{6C03CB4D-E523-4FE4-BA7C-9913E4E8F74D}"/>
              </a:ext>
            </a:extLst>
          </p:cNvPr>
          <p:cNvSpPr>
            <a:spLocks xmlns:a="http://schemas.openxmlformats.org/drawingml/2006/main" noGrp="1"/>
          </p:cNvSpPr>
          <p:nvPr/>
        </p:nvSpPr>
        <p:spPr>
          <a:xfrm xmlns:a="http://schemas.openxmlformats.org/drawingml/2006/main">
            <a:off x="1857375" y="5562600"/>
            <a:ext cx="8477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1F5EAC"/>
                </a:solidFill>
                <a:latin typeface="Aptos"/>
                <a:ea typeface="Aptos"/>
                <a:cs typeface="Aptos"/>
              </a:defRPr>
            </a:pPr>
            <a:r>
              <a:rPr sz="1575" b="1" i="0">
                <a:solidFill>
                  <a:srgbClr val="1F5EAC"/>
                </a:solidFill>
                <a:latin typeface="Aptos"/>
                <a:ea typeface="Aptos"/>
                <a:cs typeface="Aptos"/>
              </a:rPr>
              <a:t>Overall chỉ được tạo sau khi xem profile 6 tiêu chí và bằng chứng của từng nhiệm vụ.</a:t>
            </a:r>
          </a:p>
        </p:txBody>
      </p:sp>
    </p:spTree>
    <p:extLst>
      <p:ext uri="{BB962C8B-B14F-4D97-AF65-F5344CB8AC3E}">
        <p14:creationId xmlns:p14="http://schemas.microsoft.com/office/powerpoint/2010/main" val="2076139909"/>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22C44678-0458-441F-981C-23ED83419E0D}"/>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RANGE • PHẠM VI NGÔN NGỮ</a:t>
            </a:r>
          </a:p>
        </p:txBody>
      </p:sp>
      <p:sp>
        <p:nvSpPr>
          <p:cNvPr id="2" name="">
            <a:extLst xmlns:a="http://schemas.openxmlformats.org/drawingml/2006/main">
              <a:ext uri="{FF2B5EF4-FFF2-40B4-BE49-F238E27FC236}">
                <a16:creationId xmlns:a16="http://schemas.microsoft.com/office/drawing/2014/main" id="{F5B2F65E-B0E8-4E09-A724-47137B36ECCE}"/>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Không hỏi “nói bao nhiêu từ”, mà hỏi “có đủ công cụ để diễn đạt ý không”</a:t>
            </a:r>
          </a:p>
        </p:txBody>
      </p:sp>
      <p:sp>
        <p:nvSpPr>
          <p:cNvPr id="3" name="">
            <a:extLst xmlns:a="http://schemas.openxmlformats.org/drawingml/2006/main">
              <a:ext uri="{FF2B5EF4-FFF2-40B4-BE49-F238E27FC236}">
                <a16:creationId xmlns:a16="http://schemas.microsoft.com/office/drawing/2014/main" id="{A23333C7-C6C6-4CE9-A44A-0CDA39502A58}"/>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AI quan sát độ đa dạng từ, cấu trúc và khả năng diễn đạt lại.</a:t>
            </a:r>
          </a:p>
        </p:txBody>
      </p:sp>
      <p:sp>
        <p:nvSpPr>
          <p:cNvPr id="4" name="">
            <a:extLst xmlns:a="http://schemas.openxmlformats.org/drawingml/2006/main">
              <a:ext uri="{FF2B5EF4-FFF2-40B4-BE49-F238E27FC236}">
                <a16:creationId xmlns:a16="http://schemas.microsoft.com/office/drawing/2014/main" id="{6CABCB54-5300-41C7-9F46-F00627DB1992}"/>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09EE14C-FDBF-4285-BCBC-0ED4A486BF15}"/>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2CDF8350-F5F7-46AC-9B53-9F30BD598288}"/>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11</a:t>
            </a:r>
          </a:p>
        </p:txBody>
      </p:sp>
      <p:sp>
        <p:nvSpPr>
          <p:cNvPr id="7" name="">
            <a:extLst xmlns:a="http://schemas.openxmlformats.org/drawingml/2006/main">
              <a:ext uri="{FF2B5EF4-FFF2-40B4-BE49-F238E27FC236}">
                <a16:creationId xmlns:a16="http://schemas.microsoft.com/office/drawing/2014/main" id="{C18A9422-D185-4118-96C4-8775F55BB973}"/>
              </a:ext>
            </a:extLst>
          </p:cNvPr>
          <p:cNvSpPr>
            <a:spLocks xmlns:a="http://schemas.openxmlformats.org/drawingml/2006/main" noGrp="1"/>
          </p:cNvSpPr>
          <p:nvPr/>
        </p:nvSpPr>
        <p:spPr>
          <a:xfrm xmlns:a="http://schemas.openxmlformats.org/drawingml/2006/main">
            <a:off x="666750" y="2143125"/>
            <a:ext cx="33337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8EC652-83F8-4F03-995F-A6BD3F5FDB62}"/>
              </a:ext>
            </a:extLst>
          </p:cNvPr>
          <p:cNvSpPr>
            <a:spLocks xmlns:a="http://schemas.openxmlformats.org/drawingml/2006/main" noGrp="1"/>
          </p:cNvSpPr>
          <p:nvPr/>
        </p:nvSpPr>
        <p:spPr>
          <a:xfrm xmlns:a="http://schemas.openxmlformats.org/drawingml/2006/main">
            <a:off x="666750" y="23145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Con người nghe gì?</a:t>
            </a:r>
          </a:p>
        </p:txBody>
      </p:sp>
      <p:sp>
        <p:nvSpPr>
          <p:cNvPr id="9" name="">
            <a:extLst xmlns:a="http://schemas.openxmlformats.org/drawingml/2006/main">
              <a:ext uri="{FF2B5EF4-FFF2-40B4-BE49-F238E27FC236}">
                <a16:creationId xmlns:a16="http://schemas.microsoft.com/office/drawing/2014/main" id="{A8FE4290-3AA0-4A4F-9238-F270352A09CD}"/>
              </a:ext>
            </a:extLst>
          </p:cNvPr>
          <p:cNvSpPr>
            <a:spLocks xmlns:a="http://schemas.openxmlformats.org/drawingml/2006/main" noGrp="1"/>
          </p:cNvSpPr>
          <p:nvPr/>
        </p:nvSpPr>
        <p:spPr>
          <a:xfrm xmlns:a="http://schemas.openxmlformats.org/drawingml/2006/main">
            <a:off x="666750" y="2886075"/>
            <a:ext cx="3333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Từ vựng có đủ cho chủ đề</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Có dùng câu ghép/mệnh đề phù hợp</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Có paraphrase khi thiếu từ</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Cụm từ có tự nhiên và đa dạng</a:t>
            </a:r>
          </a:p>
        </p:txBody>
      </p:sp>
      <p:sp>
        <p:nvSpPr>
          <p:cNvPr id="10" name="">
            <a:extLst xmlns:a="http://schemas.openxmlformats.org/drawingml/2006/main">
              <a:ext uri="{FF2B5EF4-FFF2-40B4-BE49-F238E27FC236}">
                <a16:creationId xmlns:a16="http://schemas.microsoft.com/office/drawing/2014/main" id="{BA4AA0AC-7685-420E-A95E-196D0A1B701C}"/>
              </a:ext>
            </a:extLst>
          </p:cNvPr>
          <p:cNvSpPr>
            <a:spLocks xmlns:a="http://schemas.openxmlformats.org/drawingml/2006/main" noGrp="1"/>
          </p:cNvSpPr>
          <p:nvPr/>
        </p:nvSpPr>
        <p:spPr>
          <a:xfrm xmlns:a="http://schemas.openxmlformats.org/drawingml/2006/main">
            <a:off x="4476750" y="2143125"/>
            <a:ext cx="33337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3C1F581-AD4C-4032-826B-17A82A47B623}"/>
              </a:ext>
            </a:extLst>
          </p:cNvPr>
          <p:cNvSpPr>
            <a:spLocks xmlns:a="http://schemas.openxmlformats.org/drawingml/2006/main" noGrp="1"/>
          </p:cNvSpPr>
          <p:nvPr/>
        </p:nvSpPr>
        <p:spPr>
          <a:xfrm xmlns:a="http://schemas.openxmlformats.org/drawingml/2006/main">
            <a:off x="4476750" y="23145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Máy đo gì?</a:t>
            </a:r>
          </a:p>
        </p:txBody>
      </p:sp>
      <p:sp>
        <p:nvSpPr>
          <p:cNvPr id="12" name="">
            <a:extLst xmlns:a="http://schemas.openxmlformats.org/drawingml/2006/main">
              <a:ext uri="{FF2B5EF4-FFF2-40B4-BE49-F238E27FC236}">
                <a16:creationId xmlns:a16="http://schemas.microsoft.com/office/drawing/2014/main" id="{FBF717B6-45B8-481A-A203-354A4BB4832F}"/>
              </a:ext>
            </a:extLst>
          </p:cNvPr>
          <p:cNvSpPr>
            <a:spLocks xmlns:a="http://schemas.openxmlformats.org/drawingml/2006/main" noGrp="1"/>
          </p:cNvSpPr>
          <p:nvPr/>
        </p:nvSpPr>
        <p:spPr>
          <a:xfrm xmlns:a="http://schemas.openxmlformats.org/drawingml/2006/main">
            <a:off x="4476750" y="2886075"/>
            <a:ext cx="3333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Lexical profile theo tần suất/mức độ</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MTLD hoặc HD-D cho lexical diversity</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Độ đa dạng cấu trúc câu</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N-gram/cụm từ và semantic coverage</a:t>
            </a:r>
          </a:p>
        </p:txBody>
      </p:sp>
      <p:sp>
        <p:nvSpPr>
          <p:cNvPr id="13" name="">
            <a:extLst xmlns:a="http://schemas.openxmlformats.org/drawingml/2006/main">
              <a:ext uri="{FF2B5EF4-FFF2-40B4-BE49-F238E27FC236}">
                <a16:creationId xmlns:a16="http://schemas.microsoft.com/office/drawing/2014/main" id="{BFB4D4C8-B9A4-43CD-BBB8-5F764704BCA8}"/>
              </a:ext>
            </a:extLst>
          </p:cNvPr>
          <p:cNvSpPr>
            <a:spLocks xmlns:a="http://schemas.openxmlformats.org/drawingml/2006/main" noGrp="1"/>
          </p:cNvSpPr>
          <p:nvPr/>
        </p:nvSpPr>
        <p:spPr>
          <a:xfrm xmlns:a="http://schemas.openxmlformats.org/drawingml/2006/main">
            <a:off x="8286750" y="2143125"/>
            <a:ext cx="323850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59788E-0546-4A6A-BFAF-D9D8EE6E4A5E}"/>
              </a:ext>
            </a:extLst>
          </p:cNvPr>
          <p:cNvSpPr>
            <a:spLocks xmlns:a="http://schemas.openxmlformats.org/drawingml/2006/main" noGrp="1"/>
          </p:cNvSpPr>
          <p:nvPr/>
        </p:nvSpPr>
        <p:spPr>
          <a:xfrm xmlns:a="http://schemas.openxmlformats.org/drawingml/2006/main">
            <a:off x="8286750" y="2314575"/>
            <a:ext cx="3238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Máy dễ hiểu sai gì?</a:t>
            </a:r>
          </a:p>
        </p:txBody>
      </p:sp>
      <p:sp>
        <p:nvSpPr>
          <p:cNvPr id="15" name="">
            <a:extLst xmlns:a="http://schemas.openxmlformats.org/drawingml/2006/main">
              <a:ext uri="{FF2B5EF4-FFF2-40B4-BE49-F238E27FC236}">
                <a16:creationId xmlns:a16="http://schemas.microsoft.com/office/drawing/2014/main" id="{541E83C4-58C6-4B8E-87C5-B2ED1F9B9B92}"/>
              </a:ext>
            </a:extLst>
          </p:cNvPr>
          <p:cNvSpPr>
            <a:spLocks xmlns:a="http://schemas.openxmlformats.org/drawingml/2006/main" noGrp="1"/>
          </p:cNvSpPr>
          <p:nvPr/>
        </p:nvSpPr>
        <p:spPr>
          <a:xfrm xmlns:a="http://schemas.openxmlformats.org/drawingml/2006/main">
            <a:off x="8286750" y="2886075"/>
            <a:ext cx="32385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Bài dài bị thưởng điểm</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Tên riêng làm “từ hiếm” tăng giả</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Transcript sai tạo từ lạ</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Dùng từ khó nhưng sai nghĩa</a:t>
            </a:r>
          </a:p>
        </p:txBody>
      </p:sp>
      <p:sp>
        <p:nvSpPr>
          <p:cNvPr id="16" name="">
            <a:extLst xmlns:a="http://schemas.openxmlformats.org/drawingml/2006/main">
              <a:ext uri="{FF2B5EF4-FFF2-40B4-BE49-F238E27FC236}">
                <a16:creationId xmlns:a16="http://schemas.microsoft.com/office/drawing/2014/main" id="{5DD6A4E2-26F1-477A-A52D-94BA81F2A78B}"/>
              </a:ext>
            </a:extLst>
          </p:cNvPr>
          <p:cNvSpPr>
            <a:spLocks xmlns:a="http://schemas.openxmlformats.org/drawingml/2006/main" noGrp="1"/>
          </p:cNvSpPr>
          <p:nvPr/>
        </p:nvSpPr>
        <p:spPr>
          <a:xfrm xmlns:a="http://schemas.openxmlformats.org/drawingml/2006/main">
            <a:off x="1428750" y="5314950"/>
            <a:ext cx="9334500" cy="704850"/>
          </a:xfrm>
          <a:prstGeom xmlns:a="http://schemas.openxmlformats.org/drawingml/2006/main" prst="roundRect">
            <a:avLst>
              <a:gd name="adj" fmla="val 8108"/>
            </a:avLst>
          </a:prstGeom>
          <a:solidFill xmlns:a="http://schemas.openxmlformats.org/drawingml/2006/main">
            <a:srgbClr val="FFF2D5"/>
          </a:solidFill>
          <a:ln xmlns:a="http://schemas.openxmlformats.org/drawingml/2006/main" w="9525">
            <a:solidFill>
              <a:srgbClr val="A96500"/>
            </a:solidFill>
            <a:prstDash val="solid"/>
          </a:ln>
        </p:spPr>
      </p:sp>
      <p:sp>
        <p:nvSpPr>
          <p:cNvPr id="17" name="">
            <a:extLst xmlns:a="http://schemas.openxmlformats.org/drawingml/2006/main">
              <a:ext uri="{FF2B5EF4-FFF2-40B4-BE49-F238E27FC236}">
                <a16:creationId xmlns:a16="http://schemas.microsoft.com/office/drawing/2014/main" id="{DFC85F65-DBF3-4F42-BBEB-F5A7CE71A555}"/>
              </a:ext>
            </a:extLst>
          </p:cNvPr>
          <p:cNvSpPr>
            <a:spLocks xmlns:a="http://schemas.openxmlformats.org/drawingml/2006/main" noGrp="1"/>
          </p:cNvSpPr>
          <p:nvPr/>
        </p:nvSpPr>
        <p:spPr>
          <a:xfrm xmlns:a="http://schemas.openxmlformats.org/drawingml/2006/main">
            <a:off x="1619250" y="5448300"/>
            <a:ext cx="895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A96500"/>
                </a:solidFill>
                <a:latin typeface="Aptos"/>
                <a:ea typeface="Aptos"/>
                <a:cs typeface="Aptos"/>
              </a:defRPr>
            </a:pPr>
            <a:r>
              <a:rPr sz="1575" b="1" i="0">
                <a:solidFill>
                  <a:srgbClr val="A96500"/>
                </a:solidFill>
                <a:latin typeface="Aptos"/>
                <a:ea typeface="Aptos"/>
                <a:cs typeface="Aptos"/>
              </a:rPr>
              <a:t>Nguyên tắc: chuẩn hóa theo độ dài và kiểm tra từ trong ngữ cảnh; không dùng word count làm điểm Range.</a:t>
            </a:r>
          </a:p>
        </p:txBody>
      </p:sp>
    </p:spTree>
    <p:extLst>
      <p:ext uri="{BB962C8B-B14F-4D97-AF65-F5344CB8AC3E}">
        <p14:creationId xmlns:p14="http://schemas.microsoft.com/office/powerpoint/2010/main" val="780427845"/>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C8C6070-5DF9-4709-8164-5353EC3304E4}"/>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ACCURACY • ĐỘ CHÍNH XÁC</a:t>
            </a:r>
          </a:p>
        </p:txBody>
      </p:sp>
      <p:sp>
        <p:nvSpPr>
          <p:cNvPr id="2" name="">
            <a:extLst xmlns:a="http://schemas.openxmlformats.org/drawingml/2006/main">
              <a:ext uri="{FF2B5EF4-FFF2-40B4-BE49-F238E27FC236}">
                <a16:creationId xmlns:a16="http://schemas.microsoft.com/office/drawing/2014/main" id="{1FAA5C2E-4BAE-4C77-A845-A653BCF837FF}"/>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Lỗi cần được tính theo mức kiểm soát, không phải đếm máy móc</a:t>
            </a:r>
          </a:p>
        </p:txBody>
      </p:sp>
      <p:sp>
        <p:nvSpPr>
          <p:cNvPr id="3" name="">
            <a:extLst xmlns:a="http://schemas.openxmlformats.org/drawingml/2006/main">
              <a:ext uri="{FF2B5EF4-FFF2-40B4-BE49-F238E27FC236}">
                <a16:creationId xmlns:a16="http://schemas.microsoft.com/office/drawing/2014/main" id="{6FC43588-EA64-48E3-B088-77511D7A95F8}"/>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Tự sửa là bằng chứng tích cực; lỗi ASR không được biến thành lỗi của sinh viên.</a:t>
            </a:r>
          </a:p>
        </p:txBody>
      </p:sp>
      <p:sp>
        <p:nvSpPr>
          <p:cNvPr id="4" name="">
            <a:extLst xmlns:a="http://schemas.openxmlformats.org/drawingml/2006/main">
              <a:ext uri="{FF2B5EF4-FFF2-40B4-BE49-F238E27FC236}">
                <a16:creationId xmlns:a16="http://schemas.microsoft.com/office/drawing/2014/main" id="{190F5F76-DD3A-4108-813C-6C405AC00A7A}"/>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500C4E1-F10C-4D59-8BD1-C9309F19B00A}"/>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AB7E86D5-2B93-4211-812C-7B04F7EA8D0D}"/>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12</a:t>
            </a:r>
          </a:p>
        </p:txBody>
      </p:sp>
      <p:sp>
        <p:nvSpPr>
          <p:cNvPr id="7" name="">
            <a:extLst xmlns:a="http://schemas.openxmlformats.org/drawingml/2006/main">
              <a:ext uri="{FF2B5EF4-FFF2-40B4-BE49-F238E27FC236}">
                <a16:creationId xmlns:a16="http://schemas.microsoft.com/office/drawing/2014/main" id="{938B592B-68CD-42D7-A147-D108FE2F42F3}"/>
              </a:ext>
            </a:extLst>
          </p:cNvPr>
          <p:cNvSpPr>
            <a:spLocks xmlns:a="http://schemas.openxmlformats.org/drawingml/2006/main" noGrp="1"/>
          </p:cNvSpPr>
          <p:nvPr/>
        </p:nvSpPr>
        <p:spPr>
          <a:xfrm xmlns:a="http://schemas.openxmlformats.org/drawingml/2006/main">
            <a:off x="1000125" y="2047875"/>
            <a:ext cx="6191250" cy="742950"/>
          </a:xfrm>
          <a:prstGeom xmlns:a="http://schemas.openxmlformats.org/drawingml/2006/main" prst="roundRect">
            <a:avLst>
              <a:gd name="adj" fmla="val 7692"/>
            </a:avLst>
          </a:prstGeom>
          <a:solidFill xmlns:a="http://schemas.openxmlformats.org/drawingml/2006/main">
            <a:srgbClr val="E8F2FB"/>
          </a:solidFill>
          <a:ln xmlns:a="http://schemas.openxmlformats.org/drawingml/2006/main" w="9525">
            <a:solidFill>
              <a:srgbClr val="1F5EAC"/>
            </a:solidFill>
            <a:prstDash val="solid"/>
          </a:ln>
        </p:spPr>
      </p:sp>
      <p:sp>
        <p:nvSpPr>
          <p:cNvPr id="8" name="">
            <a:extLst xmlns:a="http://schemas.openxmlformats.org/drawingml/2006/main">
              <a:ext uri="{FF2B5EF4-FFF2-40B4-BE49-F238E27FC236}">
                <a16:creationId xmlns:a16="http://schemas.microsoft.com/office/drawing/2014/main" id="{07B59F04-9624-40FC-B0AA-89C2BE49E5AB}"/>
              </a:ext>
            </a:extLst>
          </p:cNvPr>
          <p:cNvSpPr>
            <a:spLocks xmlns:a="http://schemas.openxmlformats.org/drawingml/2006/main" noGrp="1"/>
          </p:cNvSpPr>
          <p:nvPr/>
        </p:nvSpPr>
        <p:spPr>
          <a:xfrm xmlns:a="http://schemas.openxmlformats.org/drawingml/2006/main">
            <a:off x="1190625" y="2181225"/>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2100" b="1" i="0">
                <a:solidFill>
                  <a:srgbClr val="1F5EAC"/>
                </a:solidFill>
                <a:latin typeface="Aptos"/>
                <a:ea typeface="Aptos"/>
                <a:cs typeface="Aptos"/>
              </a:defRPr>
            </a:pPr>
            <a:r>
              <a:rPr sz="2100" b="1" i="0">
                <a:solidFill>
                  <a:srgbClr val="1F5EAC"/>
                </a:solidFill>
                <a:latin typeface="Aptos"/>
                <a:ea typeface="Aptos"/>
                <a:cs typeface="Aptos"/>
              </a:rPr>
              <a:t>“Yesterday I go… I mean, I went to school.”</a:t>
            </a:r>
          </a:p>
        </p:txBody>
      </p:sp>
      <p:sp>
        <p:nvSpPr>
          <p:cNvPr id="9" name="">
            <a:extLst xmlns:a="http://schemas.openxmlformats.org/drawingml/2006/main">
              <a:ext uri="{FF2B5EF4-FFF2-40B4-BE49-F238E27FC236}">
                <a16:creationId xmlns:a16="http://schemas.microsoft.com/office/drawing/2014/main" id="{D7281EE3-8333-42AA-AB7B-824AB6C87784}"/>
              </a:ext>
            </a:extLst>
          </p:cNvPr>
          <p:cNvSpPr>
            <a:spLocks xmlns:a="http://schemas.openxmlformats.org/drawingml/2006/main" noGrp="1"/>
          </p:cNvSpPr>
          <p:nvPr/>
        </p:nvSpPr>
        <p:spPr>
          <a:xfrm xmlns:a="http://schemas.openxmlformats.org/drawingml/2006/main">
            <a:off x="7667625" y="20955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142033"/>
                </a:solidFill>
                <a:latin typeface="Aptos"/>
                <a:ea typeface="Aptos"/>
                <a:cs typeface="Aptos"/>
              </a:defRPr>
            </a:pPr>
            <a:r>
              <a:rPr sz="1650" b="1" i="0">
                <a:solidFill>
                  <a:srgbClr val="142033"/>
                </a:solidFill>
                <a:latin typeface="Aptos"/>
                <a:ea typeface="Aptos"/>
                <a:cs typeface="Aptos"/>
              </a:rPr>
              <a:t>Máy phải ghi nhận hai sự kiện</a:t>
            </a:r>
          </a:p>
        </p:txBody>
      </p:sp>
      <p:sp>
        <p:nvSpPr>
          <p:cNvPr id="10" name="">
            <a:extLst xmlns:a="http://schemas.openxmlformats.org/drawingml/2006/main">
              <a:ext uri="{FF2B5EF4-FFF2-40B4-BE49-F238E27FC236}">
                <a16:creationId xmlns:a16="http://schemas.microsoft.com/office/drawing/2014/main" id="{7EA9F7BF-2D9C-47C5-BC1A-CAB1EDFCECF4}"/>
              </a:ext>
            </a:extLst>
          </p:cNvPr>
          <p:cNvSpPr>
            <a:spLocks xmlns:a="http://schemas.openxmlformats.org/drawingml/2006/main" noGrp="1"/>
          </p:cNvSpPr>
          <p:nvPr/>
        </p:nvSpPr>
        <p:spPr>
          <a:xfrm xmlns:a="http://schemas.openxmlformats.org/drawingml/2006/main">
            <a:off x="7762875" y="2600325"/>
            <a:ext cx="85725" cy="85725"/>
          </a:xfrm>
          <a:prstGeom xmlns:a="http://schemas.openxmlformats.org/drawingml/2006/main" prst="roundRect">
            <a:avLst>
              <a:gd name="adj" fmla="val 50000"/>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A790AE-5E67-4AAC-A878-CA85C8916162}"/>
              </a:ext>
            </a:extLst>
          </p:cNvPr>
          <p:cNvSpPr>
            <a:spLocks xmlns:a="http://schemas.openxmlformats.org/drawingml/2006/main" noGrp="1"/>
          </p:cNvSpPr>
          <p:nvPr/>
        </p:nvSpPr>
        <p:spPr>
          <a:xfrm xmlns:a="http://schemas.openxmlformats.org/drawingml/2006/main">
            <a:off x="7972425" y="2514600"/>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Sai thì ở lần nói đầu</a:t>
            </a:r>
          </a:p>
        </p:txBody>
      </p:sp>
      <p:sp>
        <p:nvSpPr>
          <p:cNvPr id="12" name="">
            <a:extLst xmlns:a="http://schemas.openxmlformats.org/drawingml/2006/main">
              <a:ext uri="{FF2B5EF4-FFF2-40B4-BE49-F238E27FC236}">
                <a16:creationId xmlns:a16="http://schemas.microsoft.com/office/drawing/2014/main" id="{8B357FD1-59F9-498D-B551-1B761353D3FF}"/>
              </a:ext>
            </a:extLst>
          </p:cNvPr>
          <p:cNvSpPr>
            <a:spLocks xmlns:a="http://schemas.openxmlformats.org/drawingml/2006/main" noGrp="1"/>
          </p:cNvSpPr>
          <p:nvPr/>
        </p:nvSpPr>
        <p:spPr>
          <a:xfrm xmlns:a="http://schemas.openxmlformats.org/drawingml/2006/main">
            <a:off x="7762875" y="2962275"/>
            <a:ext cx="85725" cy="85725"/>
          </a:xfrm>
          <a:prstGeom xmlns:a="http://schemas.openxmlformats.org/drawingml/2006/main" prst="roundRect">
            <a:avLst>
              <a:gd name="adj" fmla="val 50000"/>
            </a:avLst>
          </a:prstGeom>
          <a:solidFill xmlns:a="http://schemas.openxmlformats.org/drawingml/2006/main">
            <a:srgbClr val="2F7D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CB58F8E-AAB4-4BDC-9606-4EAF1A79A2CE}"/>
              </a:ext>
            </a:extLst>
          </p:cNvPr>
          <p:cNvSpPr>
            <a:spLocks xmlns:a="http://schemas.openxmlformats.org/drawingml/2006/main" noGrp="1"/>
          </p:cNvSpPr>
          <p:nvPr/>
        </p:nvSpPr>
        <p:spPr>
          <a:xfrm xmlns:a="http://schemas.openxmlformats.org/drawingml/2006/main">
            <a:off x="7972425" y="2876550"/>
            <a:ext cx="3124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28374A"/>
                </a:solidFill>
                <a:latin typeface="Aptos"/>
                <a:ea typeface="Aptos"/>
                <a:cs typeface="Aptos"/>
              </a:defRPr>
            </a:pPr>
            <a:r>
              <a:rPr sz="1500" b="0" i="0">
                <a:solidFill>
                  <a:srgbClr val="28374A"/>
                </a:solidFill>
                <a:latin typeface="Aptos"/>
                <a:ea typeface="Aptos"/>
                <a:cs typeface="Aptos"/>
              </a:rPr>
              <a:t>Tự phát hiện và sửa đúng</a:t>
            </a:r>
          </a:p>
        </p:txBody>
      </p:sp>
      <p:sp>
        <p:nvSpPr>
          <p:cNvPr id="14" name="">
            <a:extLst xmlns:a="http://schemas.openxmlformats.org/drawingml/2006/main">
              <a:ext uri="{FF2B5EF4-FFF2-40B4-BE49-F238E27FC236}">
                <a16:creationId xmlns:a16="http://schemas.microsoft.com/office/drawing/2014/main" id="{0AAF851A-D76E-4112-9500-1FE8EB8F2EC2}"/>
              </a:ext>
            </a:extLst>
          </p:cNvPr>
          <p:cNvSpPr>
            <a:spLocks xmlns:a="http://schemas.openxmlformats.org/drawingml/2006/main" noGrp="1"/>
          </p:cNvSpPr>
          <p:nvPr/>
        </p:nvSpPr>
        <p:spPr>
          <a:xfrm xmlns:a="http://schemas.openxmlformats.org/drawingml/2006/main">
            <a:off x="762000" y="3524250"/>
            <a:ext cx="3286125"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EF07E56-4B1E-429B-8DF3-96ADD7125CE0}"/>
              </a:ext>
            </a:extLst>
          </p:cNvPr>
          <p:cNvSpPr>
            <a:spLocks xmlns:a="http://schemas.openxmlformats.org/drawingml/2006/main" noGrp="1"/>
          </p:cNvSpPr>
          <p:nvPr/>
        </p:nvSpPr>
        <p:spPr>
          <a:xfrm xmlns:a="http://schemas.openxmlformats.org/drawingml/2006/main">
            <a:off x="762000" y="369570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Đơn vị phân tích</a:t>
            </a:r>
          </a:p>
        </p:txBody>
      </p:sp>
      <p:sp>
        <p:nvSpPr>
          <p:cNvPr id="16" name="">
            <a:extLst xmlns:a="http://schemas.openxmlformats.org/drawingml/2006/main">
              <a:ext uri="{FF2B5EF4-FFF2-40B4-BE49-F238E27FC236}">
                <a16:creationId xmlns:a16="http://schemas.microsoft.com/office/drawing/2014/main" id="{7E4C2E67-7196-49B9-ADC6-4B6B66892A25}"/>
              </a:ext>
            </a:extLst>
          </p:cNvPr>
          <p:cNvSpPr>
            <a:spLocks xmlns:a="http://schemas.openxmlformats.org/drawingml/2006/main" noGrp="1"/>
          </p:cNvSpPr>
          <p:nvPr/>
        </p:nvSpPr>
        <p:spPr>
          <a:xfrm xmlns:a="http://schemas.openxmlformats.org/drawingml/2006/main">
            <a:off x="762000" y="4267200"/>
            <a:ext cx="3286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AS-unit và clause phù hợp hơn “câu viết” vì lời nói thường dang dở, có ngập ngừng và tự sửa.</a:t>
            </a:r>
          </a:p>
        </p:txBody>
      </p:sp>
      <p:sp>
        <p:nvSpPr>
          <p:cNvPr id="17" name="">
            <a:extLst xmlns:a="http://schemas.openxmlformats.org/drawingml/2006/main">
              <a:ext uri="{FF2B5EF4-FFF2-40B4-BE49-F238E27FC236}">
                <a16:creationId xmlns:a16="http://schemas.microsoft.com/office/drawing/2014/main" id="{45074772-6DC1-4693-829D-656C1CAED00D}"/>
              </a:ext>
            </a:extLst>
          </p:cNvPr>
          <p:cNvSpPr>
            <a:spLocks xmlns:a="http://schemas.openxmlformats.org/drawingml/2006/main" noGrp="1"/>
          </p:cNvSpPr>
          <p:nvPr/>
        </p:nvSpPr>
        <p:spPr>
          <a:xfrm xmlns:a="http://schemas.openxmlformats.org/drawingml/2006/main">
            <a:off x="4476750" y="3524250"/>
            <a:ext cx="3286125"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6B759EB-7661-4702-BCED-0F968791603A}"/>
              </a:ext>
            </a:extLst>
          </p:cNvPr>
          <p:cNvSpPr>
            <a:spLocks xmlns:a="http://schemas.openxmlformats.org/drawingml/2006/main" noGrp="1"/>
          </p:cNvSpPr>
          <p:nvPr/>
        </p:nvSpPr>
        <p:spPr>
          <a:xfrm xmlns:a="http://schemas.openxmlformats.org/drawingml/2006/main">
            <a:off x="4476750" y="369570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Loại bằng chứng</a:t>
            </a:r>
          </a:p>
        </p:txBody>
      </p:sp>
      <p:sp>
        <p:nvSpPr>
          <p:cNvPr id="19" name="">
            <a:extLst xmlns:a="http://schemas.openxmlformats.org/drawingml/2006/main">
              <a:ext uri="{FF2B5EF4-FFF2-40B4-BE49-F238E27FC236}">
                <a16:creationId xmlns:a16="http://schemas.microsoft.com/office/drawing/2014/main" id="{6426AAFB-3D70-4E3A-A408-867F9835727D}"/>
              </a:ext>
            </a:extLst>
          </p:cNvPr>
          <p:cNvSpPr>
            <a:spLocks xmlns:a="http://schemas.openxmlformats.org/drawingml/2006/main" noGrp="1"/>
          </p:cNvSpPr>
          <p:nvPr/>
        </p:nvSpPr>
        <p:spPr>
          <a:xfrm xmlns:a="http://schemas.openxmlformats.org/drawingml/2006/main">
            <a:off x="4476750" y="4267200"/>
            <a:ext cx="3286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Agreement, tense, preposition, word form, clause accuracy, error-free unit và repair.</a:t>
            </a:r>
          </a:p>
        </p:txBody>
      </p:sp>
      <p:sp>
        <p:nvSpPr>
          <p:cNvPr id="20" name="">
            <a:extLst xmlns:a="http://schemas.openxmlformats.org/drawingml/2006/main">
              <a:ext uri="{FF2B5EF4-FFF2-40B4-BE49-F238E27FC236}">
                <a16:creationId xmlns:a16="http://schemas.microsoft.com/office/drawing/2014/main" id="{1AEB8C0D-5D79-4604-B219-DDFE32D463CC}"/>
              </a:ext>
            </a:extLst>
          </p:cNvPr>
          <p:cNvSpPr>
            <a:spLocks xmlns:a="http://schemas.openxmlformats.org/drawingml/2006/main" noGrp="1"/>
          </p:cNvSpPr>
          <p:nvPr/>
        </p:nvSpPr>
        <p:spPr>
          <a:xfrm xmlns:a="http://schemas.openxmlformats.org/drawingml/2006/main">
            <a:off x="8191500" y="3524250"/>
            <a:ext cx="3286125"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B5BD8A7-DCC8-4A0E-868D-23E85941F886}"/>
              </a:ext>
            </a:extLst>
          </p:cNvPr>
          <p:cNvSpPr>
            <a:spLocks xmlns:a="http://schemas.openxmlformats.org/drawingml/2006/main" noGrp="1"/>
          </p:cNvSpPr>
          <p:nvPr/>
        </p:nvSpPr>
        <p:spPr>
          <a:xfrm xmlns:a="http://schemas.openxmlformats.org/drawingml/2006/main">
            <a:off x="8191500" y="369570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Guardrail bắt buộc</a:t>
            </a:r>
          </a:p>
        </p:txBody>
      </p:sp>
      <p:sp>
        <p:nvSpPr>
          <p:cNvPr id="22" name="">
            <a:extLst xmlns:a="http://schemas.openxmlformats.org/drawingml/2006/main">
              <a:ext uri="{FF2B5EF4-FFF2-40B4-BE49-F238E27FC236}">
                <a16:creationId xmlns:a16="http://schemas.microsoft.com/office/drawing/2014/main" id="{530F75A1-CC1D-4A58-9C94-1720E9328A9E}"/>
              </a:ext>
            </a:extLst>
          </p:cNvPr>
          <p:cNvSpPr>
            <a:spLocks xmlns:a="http://schemas.openxmlformats.org/drawingml/2006/main" noGrp="1"/>
          </p:cNvSpPr>
          <p:nvPr/>
        </p:nvSpPr>
        <p:spPr>
          <a:xfrm xmlns:a="http://schemas.openxmlformats.org/drawingml/2006/main">
            <a:off x="8191500" y="4267200"/>
            <a:ext cx="328612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Token ASR confidence thấp không được dùng để kết luận lỗi; cần audit bằng transcript chép tay.</a:t>
            </a:r>
          </a:p>
        </p:txBody>
      </p:sp>
    </p:spTree>
    <p:extLst>
      <p:ext uri="{BB962C8B-B14F-4D97-AF65-F5344CB8AC3E}">
        <p14:creationId xmlns:p14="http://schemas.microsoft.com/office/powerpoint/2010/main" val="449186975"/>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7B293673-6AB0-4D78-825F-93619C096FCF}"/>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FLUENCY • ĐỘ TRÔI CHẢY</a:t>
            </a:r>
          </a:p>
        </p:txBody>
      </p:sp>
      <p:sp>
        <p:nvSpPr>
          <p:cNvPr id="2" name="">
            <a:extLst xmlns:a="http://schemas.openxmlformats.org/drawingml/2006/main">
              <a:ext uri="{FF2B5EF4-FFF2-40B4-BE49-F238E27FC236}">
                <a16:creationId xmlns:a16="http://schemas.microsoft.com/office/drawing/2014/main" id="{3A519E1C-574D-48C6-BD05-B0C11E7A6BDE}"/>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Nói nhanh không đồng nghĩa với nói trôi chảy</a:t>
            </a:r>
          </a:p>
        </p:txBody>
      </p:sp>
      <p:sp>
        <p:nvSpPr>
          <p:cNvPr id="3" name="">
            <a:extLst xmlns:a="http://schemas.openxmlformats.org/drawingml/2006/main">
              <a:ext uri="{FF2B5EF4-FFF2-40B4-BE49-F238E27FC236}">
                <a16:creationId xmlns:a16="http://schemas.microsoft.com/office/drawing/2014/main" id="{1F03D53F-3212-400D-A9EA-895A96D5ACBC}"/>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Fluency là khả năng duy trì lời nói với nhịp và khoảng dừng phù hợp nhiệm vụ.</a:t>
            </a:r>
          </a:p>
        </p:txBody>
      </p:sp>
      <p:sp>
        <p:nvSpPr>
          <p:cNvPr id="4" name="">
            <a:extLst xmlns:a="http://schemas.openxmlformats.org/drawingml/2006/main">
              <a:ext uri="{FF2B5EF4-FFF2-40B4-BE49-F238E27FC236}">
                <a16:creationId xmlns:a16="http://schemas.microsoft.com/office/drawing/2014/main" id="{E1AFBDEA-711C-4F72-A8FE-5F60EFBED3BD}"/>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DB5F1F4-C4D7-4E29-B779-027717C316FC}"/>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59B48609-5D49-4F33-84F5-B22263422FDD}"/>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13</a:t>
            </a:r>
          </a:p>
        </p:txBody>
      </p:sp>
      <p:sp>
        <p:nvSpPr>
          <p:cNvPr id="7" name="">
            <a:extLst xmlns:a="http://schemas.openxmlformats.org/drawingml/2006/main">
              <a:ext uri="{FF2B5EF4-FFF2-40B4-BE49-F238E27FC236}">
                <a16:creationId xmlns:a16="http://schemas.microsoft.com/office/drawing/2014/main" id="{3FFB8A1B-8C26-491E-8733-A1017267D069}"/>
              </a:ext>
            </a:extLst>
          </p:cNvPr>
          <p:cNvSpPr>
            <a:spLocks xmlns:a="http://schemas.openxmlformats.org/drawingml/2006/main" noGrp="1"/>
          </p:cNvSpPr>
          <p:nvPr/>
        </p:nvSpPr>
        <p:spPr>
          <a:xfrm xmlns:a="http://schemas.openxmlformats.org/drawingml/2006/main">
            <a:off x="714375" y="2114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B43D3D"/>
                </a:solidFill>
                <a:latin typeface="Aptos"/>
                <a:ea typeface="Aptos"/>
                <a:cs typeface="Aptos"/>
              </a:defRPr>
            </a:pPr>
            <a:r>
              <a:rPr sz="1575" b="1" i="0">
                <a:solidFill>
                  <a:srgbClr val="B43D3D"/>
                </a:solidFill>
                <a:latin typeface="Aptos"/>
                <a:ea typeface="Aptos"/>
                <a:cs typeface="Aptos"/>
              </a:rPr>
              <a:t>A • Nhanh nhưng vỡ vụn</a:t>
            </a:r>
          </a:p>
        </p:txBody>
      </p:sp>
      <p:sp>
        <p:nvSpPr>
          <p:cNvPr id="8" name="">
            <a:extLst xmlns:a="http://schemas.openxmlformats.org/drawingml/2006/main">
              <a:ext uri="{FF2B5EF4-FFF2-40B4-BE49-F238E27FC236}">
                <a16:creationId xmlns:a16="http://schemas.microsoft.com/office/drawing/2014/main" id="{D6AA8894-A48A-4A8A-BAD3-2CAEEB007B8B}"/>
              </a:ext>
            </a:extLst>
          </p:cNvPr>
          <p:cNvSpPr>
            <a:spLocks xmlns:a="http://schemas.openxmlformats.org/drawingml/2006/main" noGrp="1"/>
          </p:cNvSpPr>
          <p:nvPr/>
        </p:nvSpPr>
        <p:spPr>
          <a:xfrm xmlns:a="http://schemas.openxmlformats.org/drawingml/2006/main">
            <a:off x="714375" y="2552700"/>
            <a:ext cx="1619250" cy="20955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9B8F3B-0767-4F97-B287-1463C021D3FF}"/>
              </a:ext>
            </a:extLst>
          </p:cNvPr>
          <p:cNvSpPr>
            <a:spLocks xmlns:a="http://schemas.openxmlformats.org/drawingml/2006/main" noGrp="1"/>
          </p:cNvSpPr>
          <p:nvPr/>
        </p:nvSpPr>
        <p:spPr>
          <a:xfrm xmlns:a="http://schemas.openxmlformats.org/drawingml/2006/main">
            <a:off x="2381250" y="2552700"/>
            <a:ext cx="619125" cy="2095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4B4A20D-49FA-4B7C-811E-704675ACA171}"/>
              </a:ext>
            </a:extLst>
          </p:cNvPr>
          <p:cNvSpPr>
            <a:spLocks xmlns:a="http://schemas.openxmlformats.org/drawingml/2006/main" noGrp="1"/>
          </p:cNvSpPr>
          <p:nvPr/>
        </p:nvSpPr>
        <p:spPr>
          <a:xfrm xmlns:a="http://schemas.openxmlformats.org/drawingml/2006/main">
            <a:off x="3048000" y="2552700"/>
            <a:ext cx="1476375" cy="20955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4B07E6-695F-4486-9508-9A9A2A00FCF8}"/>
              </a:ext>
            </a:extLst>
          </p:cNvPr>
          <p:cNvSpPr>
            <a:spLocks xmlns:a="http://schemas.openxmlformats.org/drawingml/2006/main" noGrp="1"/>
          </p:cNvSpPr>
          <p:nvPr/>
        </p:nvSpPr>
        <p:spPr>
          <a:xfrm xmlns:a="http://schemas.openxmlformats.org/drawingml/2006/main">
            <a:off x="4572000" y="2552700"/>
            <a:ext cx="904875" cy="2095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C7BC747-5D7E-46A3-BE20-DE820C8149E1}"/>
              </a:ext>
            </a:extLst>
          </p:cNvPr>
          <p:cNvSpPr>
            <a:spLocks xmlns:a="http://schemas.openxmlformats.org/drawingml/2006/main" noGrp="1"/>
          </p:cNvSpPr>
          <p:nvPr/>
        </p:nvSpPr>
        <p:spPr>
          <a:xfrm xmlns:a="http://schemas.openxmlformats.org/drawingml/2006/main">
            <a:off x="5524500" y="2552700"/>
            <a:ext cx="1143000" cy="20955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85E6168-6B58-4847-B2BE-843D58DA2BDB}"/>
              </a:ext>
            </a:extLst>
          </p:cNvPr>
          <p:cNvSpPr>
            <a:spLocks xmlns:a="http://schemas.openxmlformats.org/drawingml/2006/main" noGrp="1"/>
          </p:cNvSpPr>
          <p:nvPr/>
        </p:nvSpPr>
        <p:spPr>
          <a:xfrm xmlns:a="http://schemas.openxmlformats.org/drawingml/2006/main">
            <a:off x="714375" y="2876550"/>
            <a:ext cx="595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667487"/>
                </a:solidFill>
                <a:latin typeface="Aptos"/>
                <a:ea typeface="Aptos"/>
                <a:cs typeface="Aptos"/>
              </a:defRPr>
            </a:pPr>
            <a:r>
              <a:rPr sz="1350" b="0" i="0">
                <a:solidFill>
                  <a:srgbClr val="667487"/>
                </a:solidFill>
                <a:latin typeface="Aptos"/>
                <a:ea typeface="Aptos"/>
                <a:cs typeface="Aptos"/>
              </a:rPr>
              <a:t>Nhiều pause giữa ý, lặp và restart</a:t>
            </a:r>
          </a:p>
        </p:txBody>
      </p:sp>
      <p:sp>
        <p:nvSpPr>
          <p:cNvPr id="14" name="">
            <a:extLst xmlns:a="http://schemas.openxmlformats.org/drawingml/2006/main">
              <a:ext uri="{FF2B5EF4-FFF2-40B4-BE49-F238E27FC236}">
                <a16:creationId xmlns:a16="http://schemas.microsoft.com/office/drawing/2014/main" id="{2709C3DD-EABA-4004-BD6F-186A762CD7D7}"/>
              </a:ext>
            </a:extLst>
          </p:cNvPr>
          <p:cNvSpPr>
            <a:spLocks xmlns:a="http://schemas.openxmlformats.org/drawingml/2006/main" noGrp="1"/>
          </p:cNvSpPr>
          <p:nvPr/>
        </p:nvSpPr>
        <p:spPr>
          <a:xfrm xmlns:a="http://schemas.openxmlformats.org/drawingml/2006/main">
            <a:off x="714375" y="35242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2F7D5C"/>
                </a:solidFill>
                <a:latin typeface="Aptos"/>
                <a:ea typeface="Aptos"/>
                <a:cs typeface="Aptos"/>
              </a:defRPr>
            </a:pPr>
            <a:r>
              <a:rPr sz="1575" b="1" i="0">
                <a:solidFill>
                  <a:srgbClr val="2F7D5C"/>
                </a:solidFill>
                <a:latin typeface="Aptos"/>
                <a:ea typeface="Aptos"/>
                <a:cs typeface="Aptos"/>
              </a:rPr>
              <a:t>B • Chậm hơn nhưng ổn định</a:t>
            </a:r>
          </a:p>
        </p:txBody>
      </p:sp>
      <p:sp>
        <p:nvSpPr>
          <p:cNvPr id="15" name="">
            <a:extLst xmlns:a="http://schemas.openxmlformats.org/drawingml/2006/main">
              <a:ext uri="{FF2B5EF4-FFF2-40B4-BE49-F238E27FC236}">
                <a16:creationId xmlns:a16="http://schemas.microsoft.com/office/drawing/2014/main" id="{A216F31E-EEF1-42AE-AD6A-B00FB9F32BA5}"/>
              </a:ext>
            </a:extLst>
          </p:cNvPr>
          <p:cNvSpPr>
            <a:spLocks xmlns:a="http://schemas.openxmlformats.org/drawingml/2006/main" noGrp="1"/>
          </p:cNvSpPr>
          <p:nvPr/>
        </p:nvSpPr>
        <p:spPr>
          <a:xfrm xmlns:a="http://schemas.openxmlformats.org/drawingml/2006/main">
            <a:off x="714375" y="3962400"/>
            <a:ext cx="2476500" cy="20955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BD7852F-FC57-4DE9-A219-80C69305F51C}"/>
              </a:ext>
            </a:extLst>
          </p:cNvPr>
          <p:cNvSpPr>
            <a:spLocks xmlns:a="http://schemas.openxmlformats.org/drawingml/2006/main" noGrp="1"/>
          </p:cNvSpPr>
          <p:nvPr/>
        </p:nvSpPr>
        <p:spPr>
          <a:xfrm xmlns:a="http://schemas.openxmlformats.org/drawingml/2006/main">
            <a:off x="3238500" y="3962400"/>
            <a:ext cx="304800" cy="2095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8820C51-6318-477F-8F3E-338289E153C4}"/>
              </a:ext>
            </a:extLst>
          </p:cNvPr>
          <p:cNvSpPr>
            <a:spLocks xmlns:a="http://schemas.openxmlformats.org/drawingml/2006/main" noGrp="1"/>
          </p:cNvSpPr>
          <p:nvPr/>
        </p:nvSpPr>
        <p:spPr>
          <a:xfrm xmlns:a="http://schemas.openxmlformats.org/drawingml/2006/main">
            <a:off x="3590925" y="3962400"/>
            <a:ext cx="2952750" cy="20955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EFDB17A-6950-43A6-9B82-186E538D6175}"/>
              </a:ext>
            </a:extLst>
          </p:cNvPr>
          <p:cNvSpPr>
            <a:spLocks xmlns:a="http://schemas.openxmlformats.org/drawingml/2006/main" noGrp="1"/>
          </p:cNvSpPr>
          <p:nvPr/>
        </p:nvSpPr>
        <p:spPr>
          <a:xfrm xmlns:a="http://schemas.openxmlformats.org/drawingml/2006/main">
            <a:off x="714375" y="4286250"/>
            <a:ext cx="5953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667487"/>
                </a:solidFill>
                <a:latin typeface="Aptos"/>
                <a:ea typeface="Aptos"/>
                <a:cs typeface="Aptos"/>
              </a:defRPr>
            </a:pPr>
            <a:r>
              <a:rPr sz="1350" b="0" i="0">
                <a:solidFill>
                  <a:srgbClr val="667487"/>
                </a:solidFill>
                <a:latin typeface="Aptos"/>
                <a:ea typeface="Aptos"/>
                <a:cs typeface="Aptos"/>
              </a:rPr>
              <a:t>Pause ở ranh giới ý; mean run length dài hơn</a:t>
            </a:r>
          </a:p>
        </p:txBody>
      </p:sp>
      <p:sp>
        <p:nvSpPr>
          <p:cNvPr id="19" name="">
            <a:extLst xmlns:a="http://schemas.openxmlformats.org/drawingml/2006/main">
              <a:ext uri="{FF2B5EF4-FFF2-40B4-BE49-F238E27FC236}">
                <a16:creationId xmlns:a16="http://schemas.microsoft.com/office/drawing/2014/main" id="{3AB43409-C467-446D-8BEB-56FB8EFB5448}"/>
              </a:ext>
            </a:extLst>
          </p:cNvPr>
          <p:cNvSpPr>
            <a:spLocks xmlns:a="http://schemas.openxmlformats.org/drawingml/2006/main" noGrp="1"/>
          </p:cNvSpPr>
          <p:nvPr/>
        </p:nvSpPr>
        <p:spPr>
          <a:xfrm xmlns:a="http://schemas.openxmlformats.org/drawingml/2006/main">
            <a:off x="7429500" y="2047875"/>
            <a:ext cx="3905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A5EC31E3-9987-45DF-A930-E20BC93F8631}"/>
              </a:ext>
            </a:extLst>
          </p:cNvPr>
          <p:cNvSpPr>
            <a:spLocks xmlns:a="http://schemas.openxmlformats.org/drawingml/2006/main" noGrp="1"/>
          </p:cNvSpPr>
          <p:nvPr/>
        </p:nvSpPr>
        <p:spPr>
          <a:xfrm xmlns:a="http://schemas.openxmlformats.org/drawingml/2006/main">
            <a:off x="7429500" y="2219325"/>
            <a:ext cx="3905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Tín hiệu AI quan sát</a:t>
            </a:r>
          </a:p>
        </p:txBody>
      </p:sp>
      <p:sp>
        <p:nvSpPr>
          <p:cNvPr id="21" name="">
            <a:extLst xmlns:a="http://schemas.openxmlformats.org/drawingml/2006/main">
              <a:ext uri="{FF2B5EF4-FFF2-40B4-BE49-F238E27FC236}">
                <a16:creationId xmlns:a16="http://schemas.microsoft.com/office/drawing/2014/main" id="{E2BA1FAB-E3ED-4EC2-890B-E6658360CE49}"/>
              </a:ext>
            </a:extLst>
          </p:cNvPr>
          <p:cNvSpPr>
            <a:spLocks xmlns:a="http://schemas.openxmlformats.org/drawingml/2006/main" noGrp="1"/>
          </p:cNvSpPr>
          <p:nvPr/>
        </p:nvSpPr>
        <p:spPr>
          <a:xfrm xmlns:a="http://schemas.openxmlformats.org/drawingml/2006/main">
            <a:off x="7429500" y="2790825"/>
            <a:ext cx="3905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Articulation rate</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Pause count / duration / ratio</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Mean run length</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Repetition và restart</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 Filled pause: um, uh, er</a:t>
            </a:r>
          </a:p>
        </p:txBody>
      </p:sp>
      <p:sp>
        <p:nvSpPr>
          <p:cNvPr id="22" name="">
            <a:extLst xmlns:a="http://schemas.openxmlformats.org/drawingml/2006/main">
              <a:ext uri="{FF2B5EF4-FFF2-40B4-BE49-F238E27FC236}">
                <a16:creationId xmlns:a16="http://schemas.microsoft.com/office/drawing/2014/main" id="{0BA63280-C7AB-49CF-B1F2-DE21DAC3F3D6}"/>
              </a:ext>
            </a:extLst>
          </p:cNvPr>
          <p:cNvSpPr>
            <a:spLocks xmlns:a="http://schemas.openxmlformats.org/drawingml/2006/main" noGrp="1"/>
          </p:cNvSpPr>
          <p:nvPr/>
        </p:nvSpPr>
        <p:spPr>
          <a:xfrm xmlns:a="http://schemas.openxmlformats.org/drawingml/2006/main">
            <a:off x="1809750" y="5286375"/>
            <a:ext cx="8572500" cy="666750"/>
          </a:xfrm>
          <a:prstGeom xmlns:a="http://schemas.openxmlformats.org/drawingml/2006/main" prst="roundRect">
            <a:avLst>
              <a:gd name="adj" fmla="val 8571"/>
            </a:avLst>
          </a:prstGeom>
          <a:solidFill xmlns:a="http://schemas.openxmlformats.org/drawingml/2006/main">
            <a:srgbClr val="FFF2D5"/>
          </a:solidFill>
          <a:ln xmlns:a="http://schemas.openxmlformats.org/drawingml/2006/main" w="9525">
            <a:solidFill>
              <a:srgbClr val="A96500"/>
            </a:solidFill>
            <a:prstDash val="solid"/>
          </a:ln>
        </p:spPr>
      </p:sp>
      <p:sp>
        <p:nvSpPr>
          <p:cNvPr id="23" name="">
            <a:extLst xmlns:a="http://schemas.openxmlformats.org/drawingml/2006/main">
              <a:ext uri="{FF2B5EF4-FFF2-40B4-BE49-F238E27FC236}">
                <a16:creationId xmlns:a16="http://schemas.microsoft.com/office/drawing/2014/main" id="{AEB5FCE8-625F-495B-8FD7-DF8C3AB79F19}"/>
              </a:ext>
            </a:extLst>
          </p:cNvPr>
          <p:cNvSpPr>
            <a:spLocks xmlns:a="http://schemas.openxmlformats.org/drawingml/2006/main" noGrp="1"/>
          </p:cNvSpPr>
          <p:nvPr/>
        </p:nvSpPr>
        <p:spPr>
          <a:xfrm xmlns:a="http://schemas.openxmlformats.org/drawingml/2006/main">
            <a:off x="2000250" y="5419725"/>
            <a:ext cx="819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5640"/>
          </a:bodyPr>
          <a:lstStyle xmlns:a="http://schemas.openxmlformats.org/drawingml/2006/main"/>
          <a:p xmlns:a="http://schemas.openxmlformats.org/drawingml/2006/main">
            <a:pPr algn="l">
              <a:lnSpc>
                <a:spcPct val="105000"/>
              </a:lnSpc>
              <a:buNone/>
              <a:defRPr sz="1575" b="1" i="0">
                <a:solidFill>
                  <a:srgbClr val="A96500"/>
                </a:solidFill>
                <a:latin typeface="Aptos"/>
                <a:ea typeface="Aptos"/>
                <a:cs typeface="Aptos"/>
              </a:defRPr>
            </a:pPr>
            <a:r>
              <a:rPr sz="1575" b="1" i="0">
                <a:solidFill>
                  <a:srgbClr val="A96500"/>
                </a:solidFill>
                <a:latin typeface="Aptos"/>
                <a:ea typeface="Aptos"/>
                <a:cs typeface="Aptos"/>
              </a:rPr>
              <a:t>Phải chuẩn hóa theo loại nhiệm vụ: kể chuyện, nêu quan điểm và hội thoại có nhịp tự nhiên khác nhau.</a:t>
            </a:r>
          </a:p>
        </p:txBody>
      </p:sp>
    </p:spTree>
    <p:extLst>
      <p:ext uri="{BB962C8B-B14F-4D97-AF65-F5344CB8AC3E}">
        <p14:creationId xmlns:p14="http://schemas.microsoft.com/office/powerpoint/2010/main" val="217633905"/>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CBDCCCC-BF0A-4389-BC30-0490052E57FB}"/>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COHERENCE • TÍNH MẠCH LẠC</a:t>
            </a:r>
          </a:p>
        </p:txBody>
      </p:sp>
      <p:sp>
        <p:nvSpPr>
          <p:cNvPr id="2" name="">
            <a:extLst xmlns:a="http://schemas.openxmlformats.org/drawingml/2006/main">
              <a:ext uri="{FF2B5EF4-FFF2-40B4-BE49-F238E27FC236}">
                <a16:creationId xmlns:a16="http://schemas.microsoft.com/office/drawing/2014/main" id="{B5246237-8F5A-4D81-8714-C87108BC7514}"/>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Một bài đúng ngữ pháp vẫn có thể khó theo dõi nếu ý rời rạc</a:t>
            </a:r>
          </a:p>
        </p:txBody>
      </p:sp>
      <p:sp>
        <p:nvSpPr>
          <p:cNvPr id="3" name="">
            <a:extLst xmlns:a="http://schemas.openxmlformats.org/drawingml/2006/main">
              <a:ext uri="{FF2B5EF4-FFF2-40B4-BE49-F238E27FC236}">
                <a16:creationId xmlns:a16="http://schemas.microsoft.com/office/drawing/2014/main" id="{FC2D9585-C643-466F-9C31-76AFAF38AD96}"/>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Coherence nhìn cách ý được mở, phát triển, minh họa và kết lại.</a:t>
            </a:r>
          </a:p>
        </p:txBody>
      </p:sp>
      <p:sp>
        <p:nvSpPr>
          <p:cNvPr id="4" name="">
            <a:extLst xmlns:a="http://schemas.openxmlformats.org/drawingml/2006/main">
              <a:ext uri="{FF2B5EF4-FFF2-40B4-BE49-F238E27FC236}">
                <a16:creationId xmlns:a16="http://schemas.microsoft.com/office/drawing/2014/main" id="{CF6B69B9-E957-44EF-B833-53FB71760D33}"/>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BF6691-8437-4B15-AAEB-51A020149A9C}"/>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4BC0C494-C63E-45AA-A47A-9A2C7D93E113}"/>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14</a:t>
            </a:r>
          </a:p>
        </p:txBody>
      </p:sp>
      <p:sp>
        <p:nvSpPr>
          <p:cNvPr id="7" name="">
            <a:extLst xmlns:a="http://schemas.openxmlformats.org/drawingml/2006/main">
              <a:ext uri="{FF2B5EF4-FFF2-40B4-BE49-F238E27FC236}">
                <a16:creationId xmlns:a16="http://schemas.microsoft.com/office/drawing/2014/main" id="{38A0D5CA-4DBC-40F2-955A-8ADF9C11E838}"/>
              </a:ext>
            </a:extLst>
          </p:cNvPr>
          <p:cNvSpPr>
            <a:spLocks xmlns:a="http://schemas.openxmlformats.org/drawingml/2006/main" noGrp="1"/>
          </p:cNvSpPr>
          <p:nvPr/>
        </p:nvSpPr>
        <p:spPr>
          <a:xfrm xmlns:a="http://schemas.openxmlformats.org/drawingml/2006/main">
            <a:off x="268224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481E85-8280-4A4F-98AA-B0C37213057B}"/>
              </a:ext>
            </a:extLst>
          </p:cNvPr>
          <p:cNvSpPr>
            <a:spLocks xmlns:a="http://schemas.openxmlformats.org/drawingml/2006/main" noGrp="1"/>
          </p:cNvSpPr>
          <p:nvPr/>
        </p:nvSpPr>
        <p:spPr>
          <a:xfrm xmlns:a="http://schemas.openxmlformats.org/drawingml/2006/main">
            <a:off x="277749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CCBCC547-D4BF-48C7-B833-41E20A7BD2EC}"/>
              </a:ext>
            </a:extLst>
          </p:cNvPr>
          <p:cNvSpPr>
            <a:spLocks xmlns:a="http://schemas.openxmlformats.org/drawingml/2006/main" noGrp="1"/>
          </p:cNvSpPr>
          <p:nvPr/>
        </p:nvSpPr>
        <p:spPr>
          <a:xfrm xmlns:a="http://schemas.openxmlformats.org/drawingml/2006/main">
            <a:off x="490728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C4E6788-85CD-4F5B-B6D4-4BCE7EED2A71}"/>
              </a:ext>
            </a:extLst>
          </p:cNvPr>
          <p:cNvSpPr>
            <a:spLocks xmlns:a="http://schemas.openxmlformats.org/drawingml/2006/main" noGrp="1"/>
          </p:cNvSpPr>
          <p:nvPr/>
        </p:nvSpPr>
        <p:spPr>
          <a:xfrm xmlns:a="http://schemas.openxmlformats.org/drawingml/2006/main">
            <a:off x="500253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0BCA7F7-4852-4454-88DA-F40F0419B7AE}"/>
              </a:ext>
            </a:extLst>
          </p:cNvPr>
          <p:cNvSpPr>
            <a:spLocks xmlns:a="http://schemas.openxmlformats.org/drawingml/2006/main" noGrp="1"/>
          </p:cNvSpPr>
          <p:nvPr/>
        </p:nvSpPr>
        <p:spPr>
          <a:xfrm xmlns:a="http://schemas.openxmlformats.org/drawingml/2006/main">
            <a:off x="713232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C4A7075-E129-47F7-B23A-3BA21AE205C5}"/>
              </a:ext>
            </a:extLst>
          </p:cNvPr>
          <p:cNvSpPr>
            <a:spLocks xmlns:a="http://schemas.openxmlformats.org/drawingml/2006/main" noGrp="1"/>
          </p:cNvSpPr>
          <p:nvPr/>
        </p:nvSpPr>
        <p:spPr>
          <a:xfrm xmlns:a="http://schemas.openxmlformats.org/drawingml/2006/main">
            <a:off x="722757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6A138FC-0566-4584-8082-D5474C813559}"/>
              </a:ext>
            </a:extLst>
          </p:cNvPr>
          <p:cNvSpPr>
            <a:spLocks xmlns:a="http://schemas.openxmlformats.org/drawingml/2006/main" noGrp="1"/>
          </p:cNvSpPr>
          <p:nvPr/>
        </p:nvSpPr>
        <p:spPr>
          <a:xfrm xmlns:a="http://schemas.openxmlformats.org/drawingml/2006/main">
            <a:off x="935736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84BC9B-05D1-42FA-8815-F92C4A72B89D}"/>
              </a:ext>
            </a:extLst>
          </p:cNvPr>
          <p:cNvSpPr>
            <a:spLocks xmlns:a="http://schemas.openxmlformats.org/drawingml/2006/main" noGrp="1"/>
          </p:cNvSpPr>
          <p:nvPr/>
        </p:nvSpPr>
        <p:spPr>
          <a:xfrm xmlns:a="http://schemas.openxmlformats.org/drawingml/2006/main">
            <a:off x="945261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0826FC3-D0B7-4A4D-8747-C6786AB7E620}"/>
              </a:ext>
            </a:extLst>
          </p:cNvPr>
          <p:cNvSpPr>
            <a:spLocks xmlns:a="http://schemas.openxmlformats.org/drawingml/2006/main" noGrp="1"/>
          </p:cNvSpPr>
          <p:nvPr/>
        </p:nvSpPr>
        <p:spPr>
          <a:xfrm xmlns:a="http://schemas.openxmlformats.org/drawingml/2006/main">
            <a:off x="619125" y="2333625"/>
            <a:ext cx="2053590" cy="990600"/>
          </a:xfrm>
          <a:prstGeom xmlns:a="http://schemas.openxmlformats.org/drawingml/2006/main" prst="roundRect">
            <a:avLst>
              <a:gd name="adj" fmla="val 5769"/>
            </a:avLst>
          </a:prstGeom>
          <a:solidFill xmlns:a="http://schemas.openxmlformats.org/drawingml/2006/main">
            <a:srgbClr val="E8F2FB"/>
          </a:solidFill>
          <a:ln xmlns:a="http://schemas.openxmlformats.org/drawingml/2006/main" w="9525">
            <a:solidFill>
              <a:srgbClr val="1F5EAC"/>
            </a:solidFill>
            <a:prstDash val="solid"/>
          </a:ln>
        </p:spPr>
      </p:sp>
      <p:sp>
        <p:nvSpPr>
          <p:cNvPr id="16" name="">
            <a:extLst xmlns:a="http://schemas.openxmlformats.org/drawingml/2006/main">
              <a:ext uri="{FF2B5EF4-FFF2-40B4-BE49-F238E27FC236}">
                <a16:creationId xmlns:a16="http://schemas.microsoft.com/office/drawing/2014/main" id="{FDAA515B-9740-4459-9686-C0112DF5BD93}"/>
              </a:ext>
            </a:extLst>
          </p:cNvPr>
          <p:cNvSpPr>
            <a:spLocks xmlns:a="http://schemas.openxmlformats.org/drawingml/2006/main" noGrp="1"/>
          </p:cNvSpPr>
          <p:nvPr/>
        </p:nvSpPr>
        <p:spPr>
          <a:xfrm xmlns:a="http://schemas.openxmlformats.org/drawingml/2006/main">
            <a:off x="73342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Nêu ý</a:t>
            </a:r>
          </a:p>
        </p:txBody>
      </p:sp>
      <p:sp>
        <p:nvSpPr>
          <p:cNvPr id="17" name="">
            <a:extLst xmlns:a="http://schemas.openxmlformats.org/drawingml/2006/main">
              <a:ext uri="{FF2B5EF4-FFF2-40B4-BE49-F238E27FC236}">
                <a16:creationId xmlns:a16="http://schemas.microsoft.com/office/drawing/2014/main" id="{04D77C95-02E3-4807-A9B8-5F670E4BB9A1}"/>
              </a:ext>
            </a:extLst>
          </p:cNvPr>
          <p:cNvSpPr>
            <a:spLocks xmlns:a="http://schemas.openxmlformats.org/drawingml/2006/main" noGrp="1"/>
          </p:cNvSpPr>
          <p:nvPr/>
        </p:nvSpPr>
        <p:spPr>
          <a:xfrm xmlns:a="http://schemas.openxmlformats.org/drawingml/2006/main">
            <a:off x="73342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I prefer online learning</a:t>
            </a:r>
          </a:p>
        </p:txBody>
      </p:sp>
      <p:sp>
        <p:nvSpPr>
          <p:cNvPr id="18" name="">
            <a:extLst xmlns:a="http://schemas.openxmlformats.org/drawingml/2006/main">
              <a:ext uri="{FF2B5EF4-FFF2-40B4-BE49-F238E27FC236}">
                <a16:creationId xmlns:a16="http://schemas.microsoft.com/office/drawing/2014/main" id="{61BE2D0D-0A36-4D5F-A9EB-6DF5E2E9A281}"/>
              </a:ext>
            </a:extLst>
          </p:cNvPr>
          <p:cNvSpPr>
            <a:spLocks xmlns:a="http://schemas.openxmlformats.org/drawingml/2006/main" noGrp="1"/>
          </p:cNvSpPr>
          <p:nvPr/>
        </p:nvSpPr>
        <p:spPr>
          <a:xfrm xmlns:a="http://schemas.openxmlformats.org/drawingml/2006/main">
            <a:off x="2844165" y="2333625"/>
            <a:ext cx="2053590"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1F5EAC"/>
            </a:solidFill>
            <a:prstDash val="solid"/>
          </a:ln>
        </p:spPr>
      </p:sp>
      <p:sp>
        <p:nvSpPr>
          <p:cNvPr id="19" name="">
            <a:extLst xmlns:a="http://schemas.openxmlformats.org/drawingml/2006/main">
              <a:ext uri="{FF2B5EF4-FFF2-40B4-BE49-F238E27FC236}">
                <a16:creationId xmlns:a16="http://schemas.microsoft.com/office/drawing/2014/main" id="{93114412-AA23-46F2-BABD-28ABF4B6CE52}"/>
              </a:ext>
            </a:extLst>
          </p:cNvPr>
          <p:cNvSpPr>
            <a:spLocks xmlns:a="http://schemas.openxmlformats.org/drawingml/2006/main" noGrp="1"/>
          </p:cNvSpPr>
          <p:nvPr/>
        </p:nvSpPr>
        <p:spPr>
          <a:xfrm xmlns:a="http://schemas.openxmlformats.org/drawingml/2006/main">
            <a:off x="295846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Lý do</a:t>
            </a:r>
          </a:p>
        </p:txBody>
      </p:sp>
      <p:sp>
        <p:nvSpPr>
          <p:cNvPr id="20" name="">
            <a:extLst xmlns:a="http://schemas.openxmlformats.org/drawingml/2006/main">
              <a:ext uri="{FF2B5EF4-FFF2-40B4-BE49-F238E27FC236}">
                <a16:creationId xmlns:a16="http://schemas.microsoft.com/office/drawing/2014/main" id="{6B760280-BCD4-4AAA-B7BC-F36AF87FDC03}"/>
              </a:ext>
            </a:extLst>
          </p:cNvPr>
          <p:cNvSpPr>
            <a:spLocks xmlns:a="http://schemas.openxmlformats.org/drawingml/2006/main" noGrp="1"/>
          </p:cNvSpPr>
          <p:nvPr/>
        </p:nvSpPr>
        <p:spPr>
          <a:xfrm xmlns:a="http://schemas.openxmlformats.org/drawingml/2006/main">
            <a:off x="295846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because it saves travel time</a:t>
            </a:r>
          </a:p>
        </p:txBody>
      </p:sp>
      <p:sp>
        <p:nvSpPr>
          <p:cNvPr id="21" name="">
            <a:extLst xmlns:a="http://schemas.openxmlformats.org/drawingml/2006/main">
              <a:ext uri="{FF2B5EF4-FFF2-40B4-BE49-F238E27FC236}">
                <a16:creationId xmlns:a16="http://schemas.microsoft.com/office/drawing/2014/main" id="{D9042987-42AF-4791-B0B6-79E0F83DF830}"/>
              </a:ext>
            </a:extLst>
          </p:cNvPr>
          <p:cNvSpPr>
            <a:spLocks xmlns:a="http://schemas.openxmlformats.org/drawingml/2006/main" noGrp="1"/>
          </p:cNvSpPr>
          <p:nvPr/>
        </p:nvSpPr>
        <p:spPr>
          <a:xfrm xmlns:a="http://schemas.openxmlformats.org/drawingml/2006/main">
            <a:off x="5069205" y="2333625"/>
            <a:ext cx="2053590" cy="990600"/>
          </a:xfrm>
          <a:prstGeom xmlns:a="http://schemas.openxmlformats.org/drawingml/2006/main" prst="roundRect">
            <a:avLst>
              <a:gd name="adj" fmla="val 5769"/>
            </a:avLst>
          </a:prstGeom>
          <a:solidFill xmlns:a="http://schemas.openxmlformats.org/drawingml/2006/main">
            <a:srgbClr val="E7F4ED"/>
          </a:solidFill>
          <a:ln xmlns:a="http://schemas.openxmlformats.org/drawingml/2006/main" w="9525">
            <a:solidFill>
              <a:srgbClr val="2F7D5C"/>
            </a:solidFill>
            <a:prstDash val="solid"/>
          </a:ln>
        </p:spPr>
      </p:sp>
      <p:sp>
        <p:nvSpPr>
          <p:cNvPr id="22" name="">
            <a:extLst xmlns:a="http://schemas.openxmlformats.org/drawingml/2006/main">
              <a:ext uri="{FF2B5EF4-FFF2-40B4-BE49-F238E27FC236}">
                <a16:creationId xmlns:a16="http://schemas.microsoft.com/office/drawing/2014/main" id="{84F010BB-C5E3-4F34-8665-E4AD8275243C}"/>
              </a:ext>
            </a:extLst>
          </p:cNvPr>
          <p:cNvSpPr>
            <a:spLocks xmlns:a="http://schemas.openxmlformats.org/drawingml/2006/main" noGrp="1"/>
          </p:cNvSpPr>
          <p:nvPr/>
        </p:nvSpPr>
        <p:spPr>
          <a:xfrm xmlns:a="http://schemas.openxmlformats.org/drawingml/2006/main">
            <a:off x="518350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Ví dụ</a:t>
            </a:r>
          </a:p>
        </p:txBody>
      </p:sp>
      <p:sp>
        <p:nvSpPr>
          <p:cNvPr id="23" name="">
            <a:extLst xmlns:a="http://schemas.openxmlformats.org/drawingml/2006/main">
              <a:ext uri="{FF2B5EF4-FFF2-40B4-BE49-F238E27FC236}">
                <a16:creationId xmlns:a16="http://schemas.microsoft.com/office/drawing/2014/main" id="{512FB1C4-0960-4D27-AF49-0CFDD9440E84}"/>
              </a:ext>
            </a:extLst>
          </p:cNvPr>
          <p:cNvSpPr>
            <a:spLocks xmlns:a="http://schemas.openxmlformats.org/drawingml/2006/main" noGrp="1"/>
          </p:cNvSpPr>
          <p:nvPr/>
        </p:nvSpPr>
        <p:spPr>
          <a:xfrm xmlns:a="http://schemas.openxmlformats.org/drawingml/2006/main">
            <a:off x="518350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for example, recorded lectures</a:t>
            </a:r>
          </a:p>
        </p:txBody>
      </p:sp>
      <p:sp>
        <p:nvSpPr>
          <p:cNvPr id="24" name="">
            <a:extLst xmlns:a="http://schemas.openxmlformats.org/drawingml/2006/main">
              <a:ext uri="{FF2B5EF4-FFF2-40B4-BE49-F238E27FC236}">
                <a16:creationId xmlns:a16="http://schemas.microsoft.com/office/drawing/2014/main" id="{C4B6414A-4DFD-433A-8FFA-B43781F389DA}"/>
              </a:ext>
            </a:extLst>
          </p:cNvPr>
          <p:cNvSpPr>
            <a:spLocks xmlns:a="http://schemas.openxmlformats.org/drawingml/2006/main" noGrp="1"/>
          </p:cNvSpPr>
          <p:nvPr/>
        </p:nvSpPr>
        <p:spPr>
          <a:xfrm xmlns:a="http://schemas.openxmlformats.org/drawingml/2006/main">
            <a:off x="7294245" y="2333625"/>
            <a:ext cx="2053590" cy="990600"/>
          </a:xfrm>
          <a:prstGeom xmlns:a="http://schemas.openxmlformats.org/drawingml/2006/main" prst="roundRect">
            <a:avLst>
              <a:gd name="adj" fmla="val 5769"/>
            </a:avLst>
          </a:prstGeom>
          <a:solidFill xmlns:a="http://schemas.openxmlformats.org/drawingml/2006/main">
            <a:srgbClr val="FFF2D5"/>
          </a:solidFill>
          <a:ln xmlns:a="http://schemas.openxmlformats.org/drawingml/2006/main" w="9525">
            <a:solidFill>
              <a:srgbClr val="A96500"/>
            </a:solidFill>
            <a:prstDash val="solid"/>
          </a:ln>
        </p:spPr>
      </p:sp>
      <p:sp>
        <p:nvSpPr>
          <p:cNvPr id="25" name="">
            <a:extLst xmlns:a="http://schemas.openxmlformats.org/drawingml/2006/main">
              <a:ext uri="{FF2B5EF4-FFF2-40B4-BE49-F238E27FC236}">
                <a16:creationId xmlns:a16="http://schemas.microsoft.com/office/drawing/2014/main" id="{F6052431-B559-40BF-972B-927D994B5A81}"/>
              </a:ext>
            </a:extLst>
          </p:cNvPr>
          <p:cNvSpPr>
            <a:spLocks xmlns:a="http://schemas.openxmlformats.org/drawingml/2006/main" noGrp="1"/>
          </p:cNvSpPr>
          <p:nvPr/>
        </p:nvSpPr>
        <p:spPr>
          <a:xfrm xmlns:a="http://schemas.openxmlformats.org/drawingml/2006/main">
            <a:off x="740854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Giới hạn</a:t>
            </a:r>
          </a:p>
        </p:txBody>
      </p:sp>
      <p:sp>
        <p:nvSpPr>
          <p:cNvPr id="26" name="">
            <a:extLst xmlns:a="http://schemas.openxmlformats.org/drawingml/2006/main">
              <a:ext uri="{FF2B5EF4-FFF2-40B4-BE49-F238E27FC236}">
                <a16:creationId xmlns:a16="http://schemas.microsoft.com/office/drawing/2014/main" id="{DEE44FEA-925D-4159-B4D2-E03E5C9EC902}"/>
              </a:ext>
            </a:extLst>
          </p:cNvPr>
          <p:cNvSpPr>
            <a:spLocks xmlns:a="http://schemas.openxmlformats.org/drawingml/2006/main" noGrp="1"/>
          </p:cNvSpPr>
          <p:nvPr/>
        </p:nvSpPr>
        <p:spPr>
          <a:xfrm xmlns:a="http://schemas.openxmlformats.org/drawingml/2006/main">
            <a:off x="740854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however, interaction is weaker</a:t>
            </a:r>
          </a:p>
        </p:txBody>
      </p:sp>
      <p:sp>
        <p:nvSpPr>
          <p:cNvPr id="27" name="">
            <a:extLst xmlns:a="http://schemas.openxmlformats.org/drawingml/2006/main">
              <a:ext uri="{FF2B5EF4-FFF2-40B4-BE49-F238E27FC236}">
                <a16:creationId xmlns:a16="http://schemas.microsoft.com/office/drawing/2014/main" id="{EBA3737C-7164-4842-884D-F0065B7B1184}"/>
              </a:ext>
            </a:extLst>
          </p:cNvPr>
          <p:cNvSpPr>
            <a:spLocks xmlns:a="http://schemas.openxmlformats.org/drawingml/2006/main" noGrp="1"/>
          </p:cNvSpPr>
          <p:nvPr/>
        </p:nvSpPr>
        <p:spPr>
          <a:xfrm xmlns:a="http://schemas.openxmlformats.org/drawingml/2006/main">
            <a:off x="9519285" y="2333625"/>
            <a:ext cx="2053590" cy="990600"/>
          </a:xfrm>
          <a:prstGeom xmlns:a="http://schemas.openxmlformats.org/drawingml/2006/main" prst="roundRect">
            <a:avLst>
              <a:gd name="adj" fmla="val 5769"/>
            </a:avLst>
          </a:prstGeom>
          <a:solidFill xmlns:a="http://schemas.openxmlformats.org/drawingml/2006/main">
            <a:srgbClr val="F0ECF8"/>
          </a:solidFill>
          <a:ln xmlns:a="http://schemas.openxmlformats.org/drawingml/2006/main" w="9525">
            <a:solidFill>
              <a:srgbClr val="6C4FA3"/>
            </a:solidFill>
            <a:prstDash val="solid"/>
          </a:ln>
        </p:spPr>
      </p:sp>
      <p:sp>
        <p:nvSpPr>
          <p:cNvPr id="28" name="">
            <a:extLst xmlns:a="http://schemas.openxmlformats.org/drawingml/2006/main">
              <a:ext uri="{FF2B5EF4-FFF2-40B4-BE49-F238E27FC236}">
                <a16:creationId xmlns:a16="http://schemas.microsoft.com/office/drawing/2014/main" id="{7DF105D4-0882-449F-AD80-2DC39C3AFFFF}"/>
              </a:ext>
            </a:extLst>
          </p:cNvPr>
          <p:cNvSpPr>
            <a:spLocks xmlns:a="http://schemas.openxmlformats.org/drawingml/2006/main" noGrp="1"/>
          </p:cNvSpPr>
          <p:nvPr/>
        </p:nvSpPr>
        <p:spPr>
          <a:xfrm xmlns:a="http://schemas.openxmlformats.org/drawingml/2006/main">
            <a:off x="963358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6C4FA3"/>
                </a:solidFill>
                <a:latin typeface="Aptos"/>
                <a:ea typeface="Aptos"/>
                <a:cs typeface="Aptos"/>
              </a:defRPr>
            </a:pPr>
            <a:r>
              <a:rPr sz="1350" b="1" i="0">
                <a:solidFill>
                  <a:srgbClr val="6C4FA3"/>
                </a:solidFill>
                <a:latin typeface="Aptos"/>
                <a:ea typeface="Aptos"/>
                <a:cs typeface="Aptos"/>
              </a:rPr>
              <a:t>Kết</a:t>
            </a:r>
          </a:p>
        </p:txBody>
      </p:sp>
      <p:sp>
        <p:nvSpPr>
          <p:cNvPr id="29" name="">
            <a:extLst xmlns:a="http://schemas.openxmlformats.org/drawingml/2006/main">
              <a:ext uri="{FF2B5EF4-FFF2-40B4-BE49-F238E27FC236}">
                <a16:creationId xmlns:a16="http://schemas.microsoft.com/office/drawing/2014/main" id="{0CED948F-029F-43DC-B0AE-448C38A0E1D1}"/>
              </a:ext>
            </a:extLst>
          </p:cNvPr>
          <p:cNvSpPr>
            <a:spLocks xmlns:a="http://schemas.openxmlformats.org/drawingml/2006/main" noGrp="1"/>
          </p:cNvSpPr>
          <p:nvPr/>
        </p:nvSpPr>
        <p:spPr>
          <a:xfrm xmlns:a="http://schemas.openxmlformats.org/drawingml/2006/main">
            <a:off x="963358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so a blended model is better</a:t>
            </a:r>
          </a:p>
        </p:txBody>
      </p:sp>
      <p:sp>
        <p:nvSpPr>
          <p:cNvPr id="30" name="">
            <a:extLst xmlns:a="http://schemas.openxmlformats.org/drawingml/2006/main">
              <a:ext uri="{FF2B5EF4-FFF2-40B4-BE49-F238E27FC236}">
                <a16:creationId xmlns:a16="http://schemas.microsoft.com/office/drawing/2014/main" id="{65EAB86F-458F-492F-8F29-40444C2E937A}"/>
              </a:ext>
            </a:extLst>
          </p:cNvPr>
          <p:cNvSpPr>
            <a:spLocks xmlns:a="http://schemas.openxmlformats.org/drawingml/2006/main" noGrp="1"/>
          </p:cNvSpPr>
          <p:nvPr/>
        </p:nvSpPr>
        <p:spPr>
          <a:xfrm xmlns:a="http://schemas.openxmlformats.org/drawingml/2006/main">
            <a:off x="1047750" y="3905250"/>
            <a:ext cx="4286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3EDDD3C-9E9E-4D7F-9FC8-7B144112B26B}"/>
              </a:ext>
            </a:extLst>
          </p:cNvPr>
          <p:cNvSpPr>
            <a:spLocks xmlns:a="http://schemas.openxmlformats.org/drawingml/2006/main" noGrp="1"/>
          </p:cNvSpPr>
          <p:nvPr/>
        </p:nvSpPr>
        <p:spPr>
          <a:xfrm xmlns:a="http://schemas.openxmlformats.org/drawingml/2006/main">
            <a:off x="1047750" y="40767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Máy quan sát</a:t>
            </a:r>
          </a:p>
        </p:txBody>
      </p:sp>
      <p:sp>
        <p:nvSpPr>
          <p:cNvPr id="32" name="">
            <a:extLst xmlns:a="http://schemas.openxmlformats.org/drawingml/2006/main">
              <a:ext uri="{FF2B5EF4-FFF2-40B4-BE49-F238E27FC236}">
                <a16:creationId xmlns:a16="http://schemas.microsoft.com/office/drawing/2014/main" id="{B43E7E06-876C-4D68-B940-A3FDCE924AF3}"/>
              </a:ext>
            </a:extLst>
          </p:cNvPr>
          <p:cNvSpPr>
            <a:spLocks xmlns:a="http://schemas.openxmlformats.org/drawingml/2006/main" noGrp="1"/>
          </p:cNvSpPr>
          <p:nvPr/>
        </p:nvSpPr>
        <p:spPr>
          <a:xfrm xmlns:a="http://schemas.openxmlformats.org/drawingml/2006/main">
            <a:off x="1047750" y="4648200"/>
            <a:ext cx="4286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Discourse markers, semantic continuity, idea progression, topic relevance và cấu trúc lập luận.</a:t>
            </a:r>
          </a:p>
        </p:txBody>
      </p:sp>
      <p:sp>
        <p:nvSpPr>
          <p:cNvPr id="33" name="">
            <a:extLst xmlns:a="http://schemas.openxmlformats.org/drawingml/2006/main">
              <a:ext uri="{FF2B5EF4-FFF2-40B4-BE49-F238E27FC236}">
                <a16:creationId xmlns:a16="http://schemas.microsoft.com/office/drawing/2014/main" id="{8D41AE21-1426-40D7-9630-80458273B513}"/>
              </a:ext>
            </a:extLst>
          </p:cNvPr>
          <p:cNvSpPr>
            <a:spLocks xmlns:a="http://schemas.openxmlformats.org/drawingml/2006/main" noGrp="1"/>
          </p:cNvSpPr>
          <p:nvPr/>
        </p:nvSpPr>
        <p:spPr>
          <a:xfrm xmlns:a="http://schemas.openxmlformats.org/drawingml/2006/main">
            <a:off x="6762750" y="3905250"/>
            <a:ext cx="42862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55BD196F-8710-4235-89A9-035A646B0EF0}"/>
              </a:ext>
            </a:extLst>
          </p:cNvPr>
          <p:cNvSpPr>
            <a:spLocks xmlns:a="http://schemas.openxmlformats.org/drawingml/2006/main" noGrp="1"/>
          </p:cNvSpPr>
          <p:nvPr/>
        </p:nvSpPr>
        <p:spPr>
          <a:xfrm xmlns:a="http://schemas.openxmlformats.org/drawingml/2006/main">
            <a:off x="6762750" y="40767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Rủi ro</a:t>
            </a:r>
          </a:p>
        </p:txBody>
      </p:sp>
      <p:sp>
        <p:nvSpPr>
          <p:cNvPr id="35" name="">
            <a:extLst xmlns:a="http://schemas.openxmlformats.org/drawingml/2006/main">
              <a:ext uri="{FF2B5EF4-FFF2-40B4-BE49-F238E27FC236}">
                <a16:creationId xmlns:a16="http://schemas.microsoft.com/office/drawing/2014/main" id="{265FA380-3D1C-4759-AB7F-5DCD25A4E636}"/>
              </a:ext>
            </a:extLst>
          </p:cNvPr>
          <p:cNvSpPr>
            <a:spLocks xmlns:a="http://schemas.openxmlformats.org/drawingml/2006/main" noGrp="1"/>
          </p:cNvSpPr>
          <p:nvPr/>
        </p:nvSpPr>
        <p:spPr>
          <a:xfrm xmlns:a="http://schemas.openxmlformats.org/drawingml/2006/main">
            <a:off x="6762750" y="4648200"/>
            <a:ext cx="42862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Transcript mất từ nối hoặc nhận sai từ khóa có thể làm mô hình kết luận bài lạc ý.</a:t>
            </a:r>
          </a:p>
        </p:txBody>
      </p:sp>
      <p:sp>
        <p:nvSpPr>
          <p:cNvPr id="36" name="">
            <a:extLst xmlns:a="http://schemas.openxmlformats.org/drawingml/2006/main">
              <a:ext uri="{FF2B5EF4-FFF2-40B4-BE49-F238E27FC236}">
                <a16:creationId xmlns:a16="http://schemas.microsoft.com/office/drawing/2014/main" id="{58CD1386-F8D8-4791-81C5-6771FEBD5BCC}"/>
              </a:ext>
            </a:extLst>
          </p:cNvPr>
          <p:cNvSpPr>
            <a:spLocks xmlns:a="http://schemas.openxmlformats.org/drawingml/2006/main" noGrp="1"/>
          </p:cNvSpPr>
          <p:nvPr/>
        </p:nvSpPr>
        <p:spPr>
          <a:xfrm xmlns:a="http://schemas.openxmlformats.org/drawingml/2006/main">
            <a:off x="1857375" y="5429250"/>
            <a:ext cx="8477250" cy="590550"/>
          </a:xfrm>
          <a:prstGeom xmlns:a="http://schemas.openxmlformats.org/drawingml/2006/main" prst="roundRect">
            <a:avLst>
              <a:gd name="adj" fmla="val 9677"/>
            </a:avLst>
          </a:prstGeom>
          <a:solidFill xmlns:a="http://schemas.openxmlformats.org/drawingml/2006/main">
            <a:srgbClr val="F0ECF8"/>
          </a:solidFill>
          <a:ln xmlns:a="http://schemas.openxmlformats.org/drawingml/2006/main" w="9525">
            <a:solidFill>
              <a:srgbClr val="6C4FA3"/>
            </a:solidFill>
            <a:prstDash val="solid"/>
          </a:ln>
        </p:spPr>
      </p:sp>
      <p:sp>
        <p:nvSpPr>
          <p:cNvPr id="37" name="">
            <a:extLst xmlns:a="http://schemas.openxmlformats.org/drawingml/2006/main">
              <a:ext uri="{FF2B5EF4-FFF2-40B4-BE49-F238E27FC236}">
                <a16:creationId xmlns:a16="http://schemas.microsoft.com/office/drawing/2014/main" id="{C8DD9A2B-79D8-47E5-AADC-8635253E68E1}"/>
              </a:ext>
            </a:extLst>
          </p:cNvPr>
          <p:cNvSpPr>
            <a:spLocks xmlns:a="http://schemas.openxmlformats.org/drawingml/2006/main" noGrp="1"/>
          </p:cNvSpPr>
          <p:nvPr/>
        </p:nvSpPr>
        <p:spPr>
          <a:xfrm xmlns:a="http://schemas.openxmlformats.org/drawingml/2006/main">
            <a:off x="2047875" y="556260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i="0">
                <a:solidFill>
                  <a:srgbClr val="6C4FA3"/>
                </a:solidFill>
                <a:latin typeface="Aptos"/>
                <a:ea typeface="Aptos"/>
                <a:cs typeface="Aptos"/>
              </a:defRPr>
            </a:pPr>
            <a:r>
              <a:rPr sz="1500" b="1" i="0">
                <a:solidFill>
                  <a:srgbClr val="6C4FA3"/>
                </a:solidFill>
                <a:latin typeface="Aptos"/>
                <a:ea typeface="Aptos"/>
                <a:cs typeface="Aptos"/>
              </a:rPr>
              <a:t>LLM có thể hỗ trợ đánh giá mạch lạc, nhưng phải bị ràng buộc bởi rubric và evidence đã lưu.</a:t>
            </a:r>
          </a:p>
        </p:txBody>
      </p:sp>
    </p:spTree>
    <p:extLst>
      <p:ext uri="{BB962C8B-B14F-4D97-AF65-F5344CB8AC3E}">
        <p14:creationId xmlns:p14="http://schemas.microsoft.com/office/powerpoint/2010/main" val="1344327819"/>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64F87DD-7B59-495F-AD5F-F1E2F6DFA54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INTERACTION • KHẢ NĂNG TƯƠNG TÁC</a:t>
            </a:r>
          </a:p>
        </p:txBody>
      </p:sp>
      <p:sp>
        <p:nvSpPr>
          <p:cNvPr id="2" name="">
            <a:extLst xmlns:a="http://schemas.openxmlformats.org/drawingml/2006/main">
              <a:ext uri="{FF2B5EF4-FFF2-40B4-BE49-F238E27FC236}">
                <a16:creationId xmlns:a16="http://schemas.microsoft.com/office/drawing/2014/main" id="{8558ADF0-32FB-40EC-95D6-DAFEAA50F34D}"/>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Không có hội thoại thì không có đủ bằng chứng để chấm Interaction</a:t>
            </a:r>
          </a:p>
        </p:txBody>
      </p:sp>
      <p:sp>
        <p:nvSpPr>
          <p:cNvPr id="3" name="">
            <a:extLst xmlns:a="http://schemas.openxmlformats.org/drawingml/2006/main">
              <a:ext uri="{FF2B5EF4-FFF2-40B4-BE49-F238E27FC236}">
                <a16:creationId xmlns:a16="http://schemas.microsoft.com/office/drawing/2014/main" id="{BE8BA7AC-FB6F-4FBC-A421-0B0BA8B0BC2F}"/>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Tiêu chí này chỉ được tính ở Task C có nhiều lượt nói được kiểm soát.</a:t>
            </a:r>
          </a:p>
        </p:txBody>
      </p:sp>
      <p:sp>
        <p:nvSpPr>
          <p:cNvPr id="4" name="">
            <a:extLst xmlns:a="http://schemas.openxmlformats.org/drawingml/2006/main">
              <a:ext uri="{FF2B5EF4-FFF2-40B4-BE49-F238E27FC236}">
                <a16:creationId xmlns:a16="http://schemas.microsoft.com/office/drawing/2014/main" id="{C3A4CDBC-E197-4305-9DCA-7EE0BA5C4A14}"/>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6F6A05B-82D9-402A-B9E8-1C6F36D9C4B8}"/>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936B1163-6762-4481-BBB1-702A60A3327F}"/>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15</a:t>
            </a:r>
          </a:p>
        </p:txBody>
      </p:sp>
      <p:sp>
        <p:nvSpPr>
          <p:cNvPr id="7" name="">
            <a:extLst xmlns:a="http://schemas.openxmlformats.org/drawingml/2006/main">
              <a:ext uri="{FF2B5EF4-FFF2-40B4-BE49-F238E27FC236}">
                <a16:creationId xmlns:a16="http://schemas.microsoft.com/office/drawing/2014/main" id="{A42C7C2F-B9A0-4669-8CAE-3056604358A0}"/>
              </a:ext>
            </a:extLst>
          </p:cNvPr>
          <p:cNvSpPr>
            <a:spLocks xmlns:a="http://schemas.openxmlformats.org/drawingml/2006/main" noGrp="1"/>
          </p:cNvSpPr>
          <p:nvPr/>
        </p:nvSpPr>
        <p:spPr>
          <a:xfrm xmlns:a="http://schemas.openxmlformats.org/drawingml/2006/main">
            <a:off x="857250" y="2095500"/>
            <a:ext cx="4857750" cy="742950"/>
          </a:xfrm>
          <a:prstGeom xmlns:a="http://schemas.openxmlformats.org/drawingml/2006/main" prst="roundRect">
            <a:avLst>
              <a:gd name="adj" fmla="val 7692"/>
            </a:avLst>
          </a:prstGeom>
          <a:solidFill xmlns:a="http://schemas.openxmlformats.org/drawingml/2006/main">
            <a:srgbClr val="E8F2FB"/>
          </a:solidFill>
          <a:ln xmlns:a="http://schemas.openxmlformats.org/drawingml/2006/main" w="9525">
            <a:solidFill>
              <a:srgbClr val="1F5EAC"/>
            </a:solidFill>
            <a:prstDash val="solid"/>
          </a:ln>
        </p:spPr>
      </p:sp>
      <p:sp>
        <p:nvSpPr>
          <p:cNvPr id="8" name="">
            <a:extLst xmlns:a="http://schemas.openxmlformats.org/drawingml/2006/main">
              <a:ext uri="{FF2B5EF4-FFF2-40B4-BE49-F238E27FC236}">
                <a16:creationId xmlns:a16="http://schemas.microsoft.com/office/drawing/2014/main" id="{80F684B9-701D-44BC-A9EA-9D502E06CDEF}"/>
              </a:ext>
            </a:extLst>
          </p:cNvPr>
          <p:cNvSpPr>
            <a:spLocks xmlns:a="http://schemas.openxmlformats.org/drawingml/2006/main" noGrp="1"/>
          </p:cNvSpPr>
          <p:nvPr/>
        </p:nvSpPr>
        <p:spPr>
          <a:xfrm xmlns:a="http://schemas.openxmlformats.org/drawingml/2006/main">
            <a:off x="1066800" y="2305050"/>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1F5EAC"/>
                </a:solidFill>
                <a:latin typeface="Aptos"/>
                <a:ea typeface="Aptos"/>
                <a:cs typeface="Aptos"/>
              </a:defRPr>
            </a:pPr>
            <a:r>
              <a:rPr sz="1500" b="1" i="0">
                <a:solidFill>
                  <a:srgbClr val="1F5EAC"/>
                </a:solidFill>
                <a:latin typeface="Aptos"/>
                <a:ea typeface="Aptos"/>
                <a:cs typeface="Aptos"/>
              </a:rPr>
              <a:t>AI: Could you explain why you prefer studying at home?</a:t>
            </a:r>
          </a:p>
        </p:txBody>
      </p:sp>
      <p:sp>
        <p:nvSpPr>
          <p:cNvPr id="9" name="">
            <a:extLst xmlns:a="http://schemas.openxmlformats.org/drawingml/2006/main">
              <a:ext uri="{FF2B5EF4-FFF2-40B4-BE49-F238E27FC236}">
                <a16:creationId xmlns:a16="http://schemas.microsoft.com/office/drawing/2014/main" id="{F6F6DA08-16E1-43C0-B91C-A33BDC9A4114}"/>
              </a:ext>
            </a:extLst>
          </p:cNvPr>
          <p:cNvSpPr>
            <a:spLocks xmlns:a="http://schemas.openxmlformats.org/drawingml/2006/main" noGrp="1"/>
          </p:cNvSpPr>
          <p:nvPr/>
        </p:nvSpPr>
        <p:spPr>
          <a:xfrm xmlns:a="http://schemas.openxmlformats.org/drawingml/2006/main">
            <a:off x="3333750" y="3048000"/>
            <a:ext cx="7429500" cy="876300"/>
          </a:xfrm>
          <a:prstGeom xmlns:a="http://schemas.openxmlformats.org/drawingml/2006/main" prst="roundRect">
            <a:avLst>
              <a:gd name="adj" fmla="val 6522"/>
            </a:avLst>
          </a:prstGeom>
          <a:solidFill xmlns:a="http://schemas.openxmlformats.org/drawingml/2006/main">
            <a:srgbClr val="E7F4ED"/>
          </a:solidFill>
          <a:ln xmlns:a="http://schemas.openxmlformats.org/drawingml/2006/main" w="9525">
            <a:solidFill>
              <a:srgbClr val="2F7D5C"/>
            </a:solidFill>
            <a:prstDash val="solid"/>
          </a:ln>
        </p:spPr>
      </p:sp>
      <p:sp>
        <p:nvSpPr>
          <p:cNvPr id="10" name="">
            <a:extLst xmlns:a="http://schemas.openxmlformats.org/drawingml/2006/main">
              <a:ext uri="{FF2B5EF4-FFF2-40B4-BE49-F238E27FC236}">
                <a16:creationId xmlns:a16="http://schemas.microsoft.com/office/drawing/2014/main" id="{C203AE91-F3EC-44E9-94EB-2963D31E2B0F}"/>
              </a:ext>
            </a:extLst>
          </p:cNvPr>
          <p:cNvSpPr>
            <a:spLocks xmlns:a="http://schemas.openxmlformats.org/drawingml/2006/main" noGrp="1"/>
          </p:cNvSpPr>
          <p:nvPr/>
        </p:nvSpPr>
        <p:spPr>
          <a:xfrm xmlns:a="http://schemas.openxmlformats.org/drawingml/2006/main">
            <a:off x="3571875" y="3267075"/>
            <a:ext cx="695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2F7D5C"/>
                </a:solidFill>
                <a:latin typeface="Aptos"/>
                <a:ea typeface="Aptos"/>
                <a:cs typeface="Aptos"/>
              </a:defRPr>
            </a:pPr>
            <a:r>
              <a:rPr sz="1575" b="1" i="0">
                <a:solidFill>
                  <a:srgbClr val="2F7D5C"/>
                </a:solidFill>
                <a:latin typeface="Aptos"/>
                <a:ea typeface="Aptos"/>
                <a:cs typeface="Aptos"/>
              </a:rPr>
              <a:t>Sinh viên: I can focus better there. Do you mean compared with the library?</a:t>
            </a:r>
          </a:p>
        </p:txBody>
      </p:sp>
      <p:sp>
        <p:nvSpPr>
          <p:cNvPr id="11" name="">
            <a:extLst xmlns:a="http://schemas.openxmlformats.org/drawingml/2006/main">
              <a:ext uri="{FF2B5EF4-FFF2-40B4-BE49-F238E27FC236}">
                <a16:creationId xmlns:a16="http://schemas.microsoft.com/office/drawing/2014/main" id="{1183A4D4-11D3-4FEA-8378-0D07867FF313}"/>
              </a:ext>
            </a:extLst>
          </p:cNvPr>
          <p:cNvSpPr>
            <a:spLocks xmlns:a="http://schemas.openxmlformats.org/drawingml/2006/main" noGrp="1"/>
          </p:cNvSpPr>
          <p:nvPr/>
        </p:nvSpPr>
        <p:spPr>
          <a:xfrm xmlns:a="http://schemas.openxmlformats.org/drawingml/2006/main">
            <a:off x="857250" y="4143375"/>
            <a:ext cx="5810250" cy="742950"/>
          </a:xfrm>
          <a:prstGeom xmlns:a="http://schemas.openxmlformats.org/drawingml/2006/main" prst="roundRect">
            <a:avLst>
              <a:gd name="adj" fmla="val 7692"/>
            </a:avLst>
          </a:prstGeom>
          <a:solidFill xmlns:a="http://schemas.openxmlformats.org/drawingml/2006/main">
            <a:srgbClr val="E8F2FB"/>
          </a:solidFill>
          <a:ln xmlns:a="http://schemas.openxmlformats.org/drawingml/2006/main" w="9525">
            <a:solidFill>
              <a:srgbClr val="1F5EAC"/>
            </a:solidFill>
            <a:prstDash val="solid"/>
          </a:ln>
        </p:spPr>
      </p:sp>
      <p:sp>
        <p:nvSpPr>
          <p:cNvPr id="12" name="">
            <a:extLst xmlns:a="http://schemas.openxmlformats.org/drawingml/2006/main">
              <a:ext uri="{FF2B5EF4-FFF2-40B4-BE49-F238E27FC236}">
                <a16:creationId xmlns:a16="http://schemas.microsoft.com/office/drawing/2014/main" id="{8122ADE9-9BBE-42AA-B3D3-2A5649987421}"/>
              </a:ext>
            </a:extLst>
          </p:cNvPr>
          <p:cNvSpPr>
            <a:spLocks xmlns:a="http://schemas.openxmlformats.org/drawingml/2006/main" noGrp="1"/>
          </p:cNvSpPr>
          <p:nvPr/>
        </p:nvSpPr>
        <p:spPr>
          <a:xfrm xmlns:a="http://schemas.openxmlformats.org/drawingml/2006/main">
            <a:off x="1066800" y="4352925"/>
            <a:ext cx="5391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1" i="0">
                <a:solidFill>
                  <a:srgbClr val="1F5EAC"/>
                </a:solidFill>
                <a:latin typeface="Aptos"/>
                <a:ea typeface="Aptos"/>
                <a:cs typeface="Aptos"/>
              </a:defRPr>
            </a:pPr>
            <a:r>
              <a:rPr sz="1500" b="1" i="0">
                <a:solidFill>
                  <a:srgbClr val="1F5EAC"/>
                </a:solidFill>
                <a:latin typeface="Aptos"/>
                <a:ea typeface="Aptos"/>
                <a:cs typeface="Aptos"/>
              </a:rPr>
              <a:t>AI: Yes. What makes the library less suitable for you?</a:t>
            </a:r>
          </a:p>
        </p:txBody>
      </p:sp>
      <p:sp>
        <p:nvSpPr>
          <p:cNvPr id="13" name="">
            <a:extLst xmlns:a="http://schemas.openxmlformats.org/drawingml/2006/main">
              <a:ext uri="{FF2B5EF4-FFF2-40B4-BE49-F238E27FC236}">
                <a16:creationId xmlns:a16="http://schemas.microsoft.com/office/drawing/2014/main" id="{36B4D319-D5DF-4904-A5B5-6DC5F81FAB0D}"/>
              </a:ext>
            </a:extLst>
          </p:cNvPr>
          <p:cNvSpPr>
            <a:spLocks xmlns:a="http://schemas.openxmlformats.org/drawingml/2006/main" noGrp="1"/>
          </p:cNvSpPr>
          <p:nvPr/>
        </p:nvSpPr>
        <p:spPr>
          <a:xfrm xmlns:a="http://schemas.openxmlformats.org/drawingml/2006/main">
            <a:off x="7239000" y="4143375"/>
            <a:ext cx="37147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BFC8F4C-BC91-45CD-9627-29C7B0DA2C4C}"/>
              </a:ext>
            </a:extLst>
          </p:cNvPr>
          <p:cNvSpPr>
            <a:spLocks xmlns:a="http://schemas.openxmlformats.org/drawingml/2006/main" noGrp="1"/>
          </p:cNvSpPr>
          <p:nvPr/>
        </p:nvSpPr>
        <p:spPr>
          <a:xfrm xmlns:a="http://schemas.openxmlformats.org/drawingml/2006/main">
            <a:off x="7239000" y="4314825"/>
            <a:ext cx="3714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Máy có thể đo</a:t>
            </a:r>
          </a:p>
        </p:txBody>
      </p:sp>
      <p:sp>
        <p:nvSpPr>
          <p:cNvPr id="15" name="">
            <a:extLst xmlns:a="http://schemas.openxmlformats.org/drawingml/2006/main">
              <a:ext uri="{FF2B5EF4-FFF2-40B4-BE49-F238E27FC236}">
                <a16:creationId xmlns:a16="http://schemas.microsoft.com/office/drawing/2014/main" id="{4423739A-1D46-47BF-93B6-7A69730C1AC9}"/>
              </a:ext>
            </a:extLst>
          </p:cNvPr>
          <p:cNvSpPr>
            <a:spLocks xmlns:a="http://schemas.openxmlformats.org/drawingml/2006/main" noGrp="1"/>
          </p:cNvSpPr>
          <p:nvPr/>
        </p:nvSpPr>
        <p:spPr>
          <a:xfrm xmlns:a="http://schemas.openxmlformats.org/drawingml/2006/main">
            <a:off x="7239000" y="4886325"/>
            <a:ext cx="3714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Latency phía client, hoàn thành lượt, relevance, clarification, repair và khả năng phản hồi follow-up.</a:t>
            </a:r>
          </a:p>
        </p:txBody>
      </p:sp>
      <p:sp>
        <p:nvSpPr>
          <p:cNvPr id="16" name="">
            <a:extLst xmlns:a="http://schemas.openxmlformats.org/drawingml/2006/main">
              <a:ext uri="{FF2B5EF4-FFF2-40B4-BE49-F238E27FC236}">
                <a16:creationId xmlns:a16="http://schemas.microsoft.com/office/drawing/2014/main" id="{2AD03E95-E63D-4902-A821-86DBDA2BA75A}"/>
              </a:ext>
            </a:extLst>
          </p:cNvPr>
          <p:cNvSpPr>
            <a:spLocks xmlns:a="http://schemas.openxmlformats.org/drawingml/2006/main" noGrp="1"/>
          </p:cNvSpPr>
          <p:nvPr/>
        </p:nvSpPr>
        <p:spPr>
          <a:xfrm xmlns:a="http://schemas.openxmlformats.org/drawingml/2006/main">
            <a:off x="1952625" y="5476875"/>
            <a:ext cx="8286750" cy="552450"/>
          </a:xfrm>
          <a:prstGeom xmlns:a="http://schemas.openxmlformats.org/drawingml/2006/main" prst="roundRect">
            <a:avLst>
              <a:gd name="adj" fmla="val 10345"/>
            </a:avLst>
          </a:prstGeom>
          <a:solidFill xmlns:a="http://schemas.openxmlformats.org/drawingml/2006/main">
            <a:srgbClr val="FFF2D5"/>
          </a:solidFill>
          <a:ln xmlns:a="http://schemas.openxmlformats.org/drawingml/2006/main" w="9525">
            <a:solidFill>
              <a:srgbClr val="A96500"/>
            </a:solidFill>
            <a:prstDash val="solid"/>
          </a:ln>
        </p:spPr>
      </p:sp>
      <p:sp>
        <p:nvSpPr>
          <p:cNvPr id="17" name="">
            <a:extLst xmlns:a="http://schemas.openxmlformats.org/drawingml/2006/main">
              <a:ext uri="{FF2B5EF4-FFF2-40B4-BE49-F238E27FC236}">
                <a16:creationId xmlns:a16="http://schemas.microsoft.com/office/drawing/2014/main" id="{57C8A516-8E27-4014-A195-64A8E9401E2B}"/>
              </a:ext>
            </a:extLst>
          </p:cNvPr>
          <p:cNvSpPr>
            <a:spLocks xmlns:a="http://schemas.openxmlformats.org/drawingml/2006/main" noGrp="1"/>
          </p:cNvSpPr>
          <p:nvPr/>
        </p:nvSpPr>
        <p:spPr>
          <a:xfrm xmlns:a="http://schemas.openxmlformats.org/drawingml/2006/main">
            <a:off x="2143125" y="5610225"/>
            <a:ext cx="790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A96500"/>
                </a:solidFill>
                <a:latin typeface="Aptos"/>
                <a:ea typeface="Aptos"/>
                <a:cs typeface="Aptos"/>
              </a:defRPr>
            </a:pPr>
            <a:r>
              <a:rPr sz="1575" b="1" i="0">
                <a:solidFill>
                  <a:srgbClr val="A96500"/>
                </a:solidFill>
                <a:latin typeface="Aptos"/>
                <a:ea typeface="Aptos"/>
                <a:cs typeface="Aptos"/>
              </a:rPr>
              <a:t>Nếu chỉ làm độc thoại: ghi “chưa đủ bằng chứng”, không tự cho 0 điểm.</a:t>
            </a:r>
          </a:p>
        </p:txBody>
      </p:sp>
    </p:spTree>
    <p:extLst>
      <p:ext uri="{BB962C8B-B14F-4D97-AF65-F5344CB8AC3E}">
        <p14:creationId xmlns:p14="http://schemas.microsoft.com/office/powerpoint/2010/main" val="1155297839"/>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9DF06C3-737E-493F-84DC-691D0798E61D}"/>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PHONOLOGY • PHÁT ÂM VÀ NGỮ ĐIỆU</a:t>
            </a:r>
          </a:p>
        </p:txBody>
      </p:sp>
      <p:sp>
        <p:nvSpPr>
          <p:cNvPr id="2" name="">
            <a:extLst xmlns:a="http://schemas.openxmlformats.org/drawingml/2006/main">
              <a:ext uri="{FF2B5EF4-FFF2-40B4-BE49-F238E27FC236}">
                <a16:creationId xmlns:a16="http://schemas.microsoft.com/office/drawing/2014/main" id="{FE3ECFD8-7FF2-45D0-AF5F-99FA2632D9A9}"/>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Mục tiêu là dễ hiểu, không phải xóa giọng Việt</a:t>
            </a:r>
          </a:p>
        </p:txBody>
      </p:sp>
      <p:sp>
        <p:nvSpPr>
          <p:cNvPr id="3" name="">
            <a:extLst xmlns:a="http://schemas.openxmlformats.org/drawingml/2006/main">
              <a:ext uri="{FF2B5EF4-FFF2-40B4-BE49-F238E27FC236}">
                <a16:creationId xmlns:a16="http://schemas.microsoft.com/office/drawing/2014/main" id="{823C6551-4321-4828-9312-EF886E22979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Đây là tiêu chí có construct coverage yếu nhất trong phiên bản 10 tuần.</a:t>
            </a:r>
          </a:p>
        </p:txBody>
      </p:sp>
      <p:sp>
        <p:nvSpPr>
          <p:cNvPr id="4" name="">
            <a:extLst xmlns:a="http://schemas.openxmlformats.org/drawingml/2006/main">
              <a:ext uri="{FF2B5EF4-FFF2-40B4-BE49-F238E27FC236}">
                <a16:creationId xmlns:a16="http://schemas.microsoft.com/office/drawing/2014/main" id="{78848209-4092-42D8-B085-02D80E8BA179}"/>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22240DA-2893-46A6-AA3C-E5CD5612E0A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40381114-D858-492C-9942-C29AED757563}"/>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16</a:t>
            </a:r>
          </a:p>
        </p:txBody>
      </p:sp>
      <p:sp>
        <p:nvSpPr>
          <p:cNvPr id="7" name="">
            <a:extLst xmlns:a="http://schemas.openxmlformats.org/drawingml/2006/main">
              <a:ext uri="{FF2B5EF4-FFF2-40B4-BE49-F238E27FC236}">
                <a16:creationId xmlns:a16="http://schemas.microsoft.com/office/drawing/2014/main" id="{F5596ADE-BD30-4293-BEB1-0A89B1DC4E13}"/>
              </a:ext>
            </a:extLst>
          </p:cNvPr>
          <p:cNvSpPr>
            <a:spLocks xmlns:a="http://schemas.openxmlformats.org/drawingml/2006/main" noGrp="1"/>
          </p:cNvSpPr>
          <p:nvPr/>
        </p:nvSpPr>
        <p:spPr>
          <a:xfrm xmlns:a="http://schemas.openxmlformats.org/drawingml/2006/main">
            <a:off x="666750" y="2143125"/>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5EEDE9-8410-45B1-A830-7E3EAA695D5F}"/>
              </a:ext>
            </a:extLst>
          </p:cNvPr>
          <p:cNvSpPr>
            <a:spLocks xmlns:a="http://schemas.openxmlformats.org/drawingml/2006/main" noGrp="1"/>
          </p:cNvSpPr>
          <p:nvPr/>
        </p:nvSpPr>
        <p:spPr>
          <a:xfrm xmlns:a="http://schemas.openxmlformats.org/drawingml/2006/main">
            <a:off x="666750"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1. Âm cục bộ</a:t>
            </a:r>
          </a:p>
        </p:txBody>
      </p:sp>
      <p:sp>
        <p:nvSpPr>
          <p:cNvPr id="9" name="">
            <a:extLst xmlns:a="http://schemas.openxmlformats.org/drawingml/2006/main">
              <a:ext uri="{FF2B5EF4-FFF2-40B4-BE49-F238E27FC236}">
                <a16:creationId xmlns:a16="http://schemas.microsoft.com/office/drawing/2014/main" id="{B039EA05-64DA-46A5-B08C-6FEB4060E572}"/>
              </a:ext>
            </a:extLst>
          </p:cNvPr>
          <p:cNvSpPr>
            <a:spLocks xmlns:a="http://schemas.openxmlformats.org/drawingml/2006/main" noGrp="1"/>
          </p:cNvSpPr>
          <p:nvPr/>
        </p:nvSpPr>
        <p:spPr>
          <a:xfrm xmlns:a="http://schemas.openxmlformats.org/drawingml/2006/main">
            <a:off x="666750" y="2886075"/>
            <a:ext cx="3143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Forced alignment + GOP ước lượng âm nào khác xa mẫu; ví dụ phụ âm cuối hoặc nguyên âm dễ nhầm.</a:t>
            </a:r>
          </a:p>
        </p:txBody>
      </p:sp>
      <p:sp>
        <p:nvSpPr>
          <p:cNvPr id="10" name="">
            <a:extLst xmlns:a="http://schemas.openxmlformats.org/drawingml/2006/main">
              <a:ext uri="{FF2B5EF4-FFF2-40B4-BE49-F238E27FC236}">
                <a16:creationId xmlns:a16="http://schemas.microsoft.com/office/drawing/2014/main" id="{98A7654C-0CF9-4A96-A507-2BAB869132EB}"/>
              </a:ext>
            </a:extLst>
          </p:cNvPr>
          <p:cNvSpPr>
            <a:spLocks xmlns:a="http://schemas.openxmlformats.org/drawingml/2006/main" noGrp="1"/>
          </p:cNvSpPr>
          <p:nvPr/>
        </p:nvSpPr>
        <p:spPr>
          <a:xfrm xmlns:a="http://schemas.openxmlformats.org/drawingml/2006/main">
            <a:off x="4524375" y="2143125"/>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AC2CE6B-95FE-4E19-8185-6506FD0556B3}"/>
              </a:ext>
            </a:extLst>
          </p:cNvPr>
          <p:cNvSpPr>
            <a:spLocks xmlns:a="http://schemas.openxmlformats.org/drawingml/2006/main" noGrp="1"/>
          </p:cNvSpPr>
          <p:nvPr/>
        </p:nvSpPr>
        <p:spPr>
          <a:xfrm xmlns:a="http://schemas.openxmlformats.org/drawingml/2006/main">
            <a:off x="4524375"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2. Prosody</a:t>
            </a:r>
          </a:p>
        </p:txBody>
      </p:sp>
      <p:sp>
        <p:nvSpPr>
          <p:cNvPr id="12" name="">
            <a:extLst xmlns:a="http://schemas.openxmlformats.org/drawingml/2006/main">
              <a:ext uri="{FF2B5EF4-FFF2-40B4-BE49-F238E27FC236}">
                <a16:creationId xmlns:a16="http://schemas.microsoft.com/office/drawing/2014/main" id="{31764139-3D08-40BD-9385-4A4634BCED96}"/>
              </a:ext>
            </a:extLst>
          </p:cNvPr>
          <p:cNvSpPr>
            <a:spLocks xmlns:a="http://schemas.openxmlformats.org/drawingml/2006/main" noGrp="1"/>
          </p:cNvSpPr>
          <p:nvPr/>
        </p:nvSpPr>
        <p:spPr>
          <a:xfrm xmlns:a="http://schemas.openxmlformats.org/drawingml/2006/main">
            <a:off x="4524375" y="2886075"/>
            <a:ext cx="3143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F0 range, trọng âm, nhịp, độ dài và đường ngữ điệu giúp mô tả phần vượt ra ngoài từng âm riêng lẻ.</a:t>
            </a:r>
          </a:p>
        </p:txBody>
      </p:sp>
      <p:sp>
        <p:nvSpPr>
          <p:cNvPr id="13" name="">
            <a:extLst xmlns:a="http://schemas.openxmlformats.org/drawingml/2006/main">
              <a:ext uri="{FF2B5EF4-FFF2-40B4-BE49-F238E27FC236}">
                <a16:creationId xmlns:a16="http://schemas.microsoft.com/office/drawing/2014/main" id="{246007B1-70A5-40B7-A146-954733258333}"/>
              </a:ext>
            </a:extLst>
          </p:cNvPr>
          <p:cNvSpPr>
            <a:spLocks xmlns:a="http://schemas.openxmlformats.org/drawingml/2006/main" noGrp="1"/>
          </p:cNvSpPr>
          <p:nvPr/>
        </p:nvSpPr>
        <p:spPr>
          <a:xfrm xmlns:a="http://schemas.openxmlformats.org/drawingml/2006/main">
            <a:off x="8382000" y="2143125"/>
            <a:ext cx="3143250" cy="4762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15CDBCA-C569-4258-AD57-ABBD36BAE4F8}"/>
              </a:ext>
            </a:extLst>
          </p:cNvPr>
          <p:cNvSpPr>
            <a:spLocks xmlns:a="http://schemas.openxmlformats.org/drawingml/2006/main" noGrp="1"/>
          </p:cNvSpPr>
          <p:nvPr/>
        </p:nvSpPr>
        <p:spPr>
          <a:xfrm xmlns:a="http://schemas.openxmlformats.org/drawingml/2006/main">
            <a:off x="8382000"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A96500"/>
                </a:solidFill>
                <a:latin typeface="Aptos"/>
                <a:ea typeface="Aptos"/>
                <a:cs typeface="Aptos"/>
              </a:defRPr>
            </a:pPr>
            <a:r>
              <a:rPr sz="1875" b="1" i="0">
                <a:solidFill>
                  <a:srgbClr val="A96500"/>
                </a:solidFill>
                <a:latin typeface="Aptos"/>
                <a:ea typeface="Aptos"/>
                <a:cs typeface="Aptos"/>
              </a:rPr>
              <a:t>3. Intelligibility</a:t>
            </a:r>
          </a:p>
        </p:txBody>
      </p:sp>
      <p:sp>
        <p:nvSpPr>
          <p:cNvPr id="15" name="">
            <a:extLst xmlns:a="http://schemas.openxmlformats.org/drawingml/2006/main">
              <a:ext uri="{FF2B5EF4-FFF2-40B4-BE49-F238E27FC236}">
                <a16:creationId xmlns:a16="http://schemas.microsoft.com/office/drawing/2014/main" id="{0B50DFA0-CE6B-4627-8FFB-2666711937DF}"/>
              </a:ext>
            </a:extLst>
          </p:cNvPr>
          <p:cNvSpPr>
            <a:spLocks xmlns:a="http://schemas.openxmlformats.org/drawingml/2006/main" noGrp="1"/>
          </p:cNvSpPr>
          <p:nvPr/>
        </p:nvSpPr>
        <p:spPr>
          <a:xfrm xmlns:a="http://schemas.openxmlformats.org/drawingml/2006/main">
            <a:off x="8382000" y="2886075"/>
            <a:ext cx="31432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Điều CEFR quan tâm nhất: người nghe có hiểu không và cần cố gắng bao nhiêu để hiểu.</a:t>
            </a:r>
          </a:p>
        </p:txBody>
      </p:sp>
      <p:sp>
        <p:nvSpPr>
          <p:cNvPr id="16" name="">
            <a:extLst xmlns:a="http://schemas.openxmlformats.org/drawingml/2006/main">
              <a:ext uri="{FF2B5EF4-FFF2-40B4-BE49-F238E27FC236}">
                <a16:creationId xmlns:a16="http://schemas.microsoft.com/office/drawing/2014/main" id="{9694405C-7807-4CB9-A9D0-2D6BA152772D}"/>
              </a:ext>
            </a:extLst>
          </p:cNvPr>
          <p:cNvSpPr>
            <a:spLocks xmlns:a="http://schemas.openxmlformats.org/drawingml/2006/main" noGrp="1"/>
          </p:cNvSpPr>
          <p:nvPr/>
        </p:nvSpPr>
        <p:spPr>
          <a:xfrm xmlns:a="http://schemas.openxmlformats.org/drawingml/2006/main">
            <a:off x="1333500" y="5048250"/>
            <a:ext cx="9525000" cy="781050"/>
          </a:xfrm>
          <a:prstGeom xmlns:a="http://schemas.openxmlformats.org/drawingml/2006/main" prst="roundRect">
            <a:avLst>
              <a:gd name="adj" fmla="val 7317"/>
            </a:avLst>
          </a:prstGeom>
          <a:solidFill xmlns:a="http://schemas.openxmlformats.org/drawingml/2006/main">
            <a:srgbClr val="FBEAEA"/>
          </a:solidFill>
          <a:ln xmlns:a="http://schemas.openxmlformats.org/drawingml/2006/main" w="9525">
            <a:solidFill>
              <a:srgbClr val="B43D3D"/>
            </a:solidFill>
            <a:prstDash val="solid"/>
          </a:ln>
        </p:spPr>
      </p:sp>
      <p:sp>
        <p:nvSpPr>
          <p:cNvPr id="17" name="">
            <a:extLst xmlns:a="http://schemas.openxmlformats.org/drawingml/2006/main">
              <a:ext uri="{FF2B5EF4-FFF2-40B4-BE49-F238E27FC236}">
                <a16:creationId xmlns:a16="http://schemas.microsoft.com/office/drawing/2014/main" id="{69EE6A8D-A477-482B-94D9-FD37DEA91753}"/>
              </a:ext>
            </a:extLst>
          </p:cNvPr>
          <p:cNvSpPr>
            <a:spLocks xmlns:a="http://schemas.openxmlformats.org/drawingml/2006/main" noGrp="1"/>
          </p:cNvSpPr>
          <p:nvPr/>
        </p:nvSpPr>
        <p:spPr>
          <a:xfrm xmlns:a="http://schemas.openxmlformats.org/drawingml/2006/main">
            <a:off x="1524000" y="518160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403"/>
          </a:bodyPr>
          <a:lstStyle xmlns:a="http://schemas.openxmlformats.org/drawingml/2006/main"/>
          <a:p xmlns:a="http://schemas.openxmlformats.org/drawingml/2006/main">
            <a:pPr algn="l">
              <a:lnSpc>
                <a:spcPct val="105000"/>
              </a:lnSpc>
              <a:buNone/>
              <a:defRPr sz="1650" b="1" i="0">
                <a:solidFill>
                  <a:srgbClr val="B43D3D"/>
                </a:solidFill>
                <a:latin typeface="Aptos"/>
                <a:ea typeface="Aptos"/>
                <a:cs typeface="Aptos"/>
              </a:defRPr>
            </a:pPr>
            <a:r>
              <a:rPr sz="1650" b="1" i="0">
                <a:solidFill>
                  <a:srgbClr val="B43D3D"/>
                </a:solidFill>
                <a:latin typeface="Aptos"/>
                <a:ea typeface="Aptos"/>
                <a:cs typeface="Aptos"/>
              </a:rPr>
              <a:t>GOP thấp ≠ phát âm kém. Có thể do accent, thiết bị, alignment hoặc dữ liệu huấn luyện không đại diện người Việt.</a:t>
            </a:r>
          </a:p>
        </p:txBody>
      </p:sp>
      <p:sp>
        <p:nvSpPr>
          <p:cNvPr id="18" name="">
            <a:extLst xmlns:a="http://schemas.openxmlformats.org/drawingml/2006/main">
              <a:ext uri="{FF2B5EF4-FFF2-40B4-BE49-F238E27FC236}">
                <a16:creationId xmlns:a16="http://schemas.microsoft.com/office/drawing/2014/main" id="{85CCC0FE-016E-492C-B3E4-2DC2DBC9E0EA}"/>
              </a:ext>
            </a:extLst>
          </p:cNvPr>
          <p:cNvSpPr>
            <a:spLocks xmlns:a="http://schemas.openxmlformats.org/drawingml/2006/main" noGrp="1"/>
          </p:cNvSpPr>
          <p:nvPr/>
        </p:nvSpPr>
        <p:spPr>
          <a:xfrm xmlns:a="http://schemas.openxmlformats.org/drawingml/2006/main">
            <a:off x="1714500" y="5972175"/>
            <a:ext cx="876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2F7D5C"/>
                </a:solidFill>
                <a:latin typeface="Aptos"/>
                <a:ea typeface="Aptos"/>
                <a:cs typeface="Aptos"/>
              </a:defRPr>
            </a:pPr>
            <a:r>
              <a:rPr sz="1425" b="1" i="0">
                <a:solidFill>
                  <a:srgbClr val="2F7D5C"/>
                </a:solidFill>
                <a:latin typeface="Aptos"/>
                <a:ea typeface="Aptos"/>
                <a:cs typeface="Aptos"/>
              </a:rPr>
              <a:t>Guardrail: không phạt accent nếu thông điệp vẫn dễ hiểu; ca không chắc phải chuyển giảng viên.</a:t>
            </a:r>
          </a:p>
        </p:txBody>
      </p:sp>
    </p:spTree>
    <p:extLst>
      <p:ext uri="{BB962C8B-B14F-4D97-AF65-F5344CB8AC3E}">
        <p14:creationId xmlns:p14="http://schemas.microsoft.com/office/powerpoint/2010/main" val="279146315"/>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459C943-1743-498E-AEEC-984576580CAC}"/>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NGUYÊN TẮC QUAN TRỌNG</a:t>
            </a:r>
          </a:p>
        </p:txBody>
      </p:sp>
      <p:sp>
        <p:nvSpPr>
          <p:cNvPr id="2" name="">
            <a:extLst xmlns:a="http://schemas.openxmlformats.org/drawingml/2006/main">
              <a:ext uri="{FF2B5EF4-FFF2-40B4-BE49-F238E27FC236}">
                <a16:creationId xmlns:a16="http://schemas.microsoft.com/office/drawing/2014/main" id="{1E7A2215-5166-4163-8414-AE3B7FAAC912}"/>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Feature là bằng chứng gián tiếp; feature không phải chính tiêu chí CEFR</a:t>
            </a:r>
          </a:p>
        </p:txBody>
      </p:sp>
      <p:sp>
        <p:nvSpPr>
          <p:cNvPr id="3" name="">
            <a:extLst xmlns:a="http://schemas.openxmlformats.org/drawingml/2006/main">
              <a:ext uri="{FF2B5EF4-FFF2-40B4-BE49-F238E27FC236}">
                <a16:creationId xmlns:a16="http://schemas.microsoft.com/office/drawing/2014/main" id="{8F87E2CB-C5DA-4C98-9267-DEEC79175C8C}"/>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chỉ số cần trả lời được: nó hỗ trợ kết luận nào, và khi nào nó không còn đáng tin?</a:t>
            </a:r>
          </a:p>
        </p:txBody>
      </p:sp>
      <p:sp>
        <p:nvSpPr>
          <p:cNvPr id="4" name="">
            <a:extLst xmlns:a="http://schemas.openxmlformats.org/drawingml/2006/main">
              <a:ext uri="{FF2B5EF4-FFF2-40B4-BE49-F238E27FC236}">
                <a16:creationId xmlns:a16="http://schemas.microsoft.com/office/drawing/2014/main" id="{68583974-675B-49CE-BB63-7388605B8743}"/>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56D3AE5-2672-42C7-8E86-3892851A7CBC}"/>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CÁCH CHẤM</a:t>
            </a:r>
          </a:p>
        </p:txBody>
      </p:sp>
      <p:sp>
        <p:nvSpPr>
          <p:cNvPr id="6" name="">
            <a:extLst xmlns:a="http://schemas.openxmlformats.org/drawingml/2006/main">
              <a:ext uri="{FF2B5EF4-FFF2-40B4-BE49-F238E27FC236}">
                <a16:creationId xmlns:a16="http://schemas.microsoft.com/office/drawing/2014/main" id="{404B09AE-1FDE-4FDF-B657-B2754A8D0E14}"/>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17</a:t>
            </a:r>
          </a:p>
        </p:txBody>
      </p:sp>
      <p:sp>
        <p:nvSpPr>
          <p:cNvPr id="7" name="">
            <a:extLst xmlns:a="http://schemas.openxmlformats.org/drawingml/2006/main">
              <a:ext uri="{FF2B5EF4-FFF2-40B4-BE49-F238E27FC236}">
                <a16:creationId xmlns:a16="http://schemas.microsoft.com/office/drawing/2014/main" id="{7E7E5234-8F58-42E0-9BB0-3F11AE95BAFA}"/>
              </a:ext>
            </a:extLst>
          </p:cNvPr>
          <p:cNvSpPr>
            <a:spLocks xmlns:a="http://schemas.openxmlformats.org/drawingml/2006/main" noGrp="1"/>
          </p:cNvSpPr>
          <p:nvPr/>
        </p:nvSpPr>
        <p:spPr>
          <a:xfrm xmlns:a="http://schemas.openxmlformats.org/drawingml/2006/main">
            <a:off x="714375" y="2143125"/>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3C1E977-6619-437C-9F46-FCBC258B3CD5}"/>
              </a:ext>
            </a:extLst>
          </p:cNvPr>
          <p:cNvSpPr>
            <a:spLocks xmlns:a="http://schemas.openxmlformats.org/drawingml/2006/main" noGrp="1"/>
          </p:cNvSpPr>
          <p:nvPr/>
        </p:nvSpPr>
        <p:spPr>
          <a:xfrm xmlns:a="http://schemas.openxmlformats.org/drawingml/2006/main">
            <a:off x="714375"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Máy đo trực tiếp</a:t>
            </a:r>
          </a:p>
        </p:txBody>
      </p:sp>
      <p:sp>
        <p:nvSpPr>
          <p:cNvPr id="9" name="">
            <a:extLst xmlns:a="http://schemas.openxmlformats.org/drawingml/2006/main">
              <a:ext uri="{FF2B5EF4-FFF2-40B4-BE49-F238E27FC236}">
                <a16:creationId xmlns:a16="http://schemas.microsoft.com/office/drawing/2014/main" id="{DB4C48AF-7E7C-47C3-9E29-228FB8E374C5}"/>
              </a:ext>
            </a:extLst>
          </p:cNvPr>
          <p:cNvSpPr>
            <a:spLocks xmlns:a="http://schemas.openxmlformats.org/drawingml/2006/main" noGrp="1"/>
          </p:cNvSpPr>
          <p:nvPr/>
        </p:nvSpPr>
        <p:spPr>
          <a:xfrm xmlns:a="http://schemas.openxmlformats.org/drawingml/2006/main">
            <a:off x="714375" y="2886075"/>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Tốc độ nói</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Số và độ dài pause</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Độ đa dạng từ</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ASR confidence</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F0 / rhythm</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Turn latency</a:t>
            </a:r>
          </a:p>
        </p:txBody>
      </p:sp>
      <p:sp>
        <p:nvSpPr>
          <p:cNvPr id="10" name="">
            <a:extLst xmlns:a="http://schemas.openxmlformats.org/drawingml/2006/main">
              <a:ext uri="{FF2B5EF4-FFF2-40B4-BE49-F238E27FC236}">
                <a16:creationId xmlns:a16="http://schemas.microsoft.com/office/drawing/2014/main" id="{C1C72CA0-4AD0-466C-A1F2-86918FB439D7}"/>
              </a:ext>
            </a:extLst>
          </p:cNvPr>
          <p:cNvSpPr>
            <a:spLocks xmlns:a="http://schemas.openxmlformats.org/drawingml/2006/main" noGrp="1"/>
          </p:cNvSpPr>
          <p:nvPr/>
        </p:nvSpPr>
        <p:spPr>
          <a:xfrm xmlns:a="http://schemas.openxmlformats.org/drawingml/2006/main">
            <a:off x="4238625" y="3190875"/>
            <a:ext cx="1428750" cy="457200"/>
          </a:xfrm>
          <a:prstGeom xmlns:a="http://schemas.openxmlformats.org/drawingml/2006/main" prst="roundRect">
            <a:avLst>
              <a:gd name="adj" fmla="val 125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49C160-79EB-492B-982B-7E5C39F2870C}"/>
              </a:ext>
            </a:extLst>
          </p:cNvPr>
          <p:cNvSpPr>
            <a:spLocks xmlns:a="http://schemas.openxmlformats.org/drawingml/2006/main" noGrp="1"/>
          </p:cNvSpPr>
          <p:nvPr/>
        </p:nvSpPr>
        <p:spPr>
          <a:xfrm xmlns:a="http://schemas.openxmlformats.org/drawingml/2006/main">
            <a:off x="4333875" y="33147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425" b="1" i="0">
                <a:solidFill>
                  <a:srgbClr val="667487"/>
                </a:solidFill>
                <a:latin typeface="Aptos"/>
                <a:ea typeface="Aptos"/>
                <a:cs typeface="Aptos"/>
              </a:defRPr>
            </a:pPr>
            <a:r>
              <a:rPr sz="1425" b="1" i="0">
                <a:solidFill>
                  <a:srgbClr val="667487"/>
                </a:solidFill>
                <a:latin typeface="Aptos"/>
                <a:ea typeface="Aptos"/>
                <a:cs typeface="Aptos"/>
              </a:rPr>
              <a:t>diễn giải</a:t>
            </a:r>
          </a:p>
        </p:txBody>
      </p:sp>
      <p:sp>
        <p:nvSpPr>
          <p:cNvPr id="12" name="">
            <a:extLst xmlns:a="http://schemas.openxmlformats.org/drawingml/2006/main">
              <a:ext uri="{FF2B5EF4-FFF2-40B4-BE49-F238E27FC236}">
                <a16:creationId xmlns:a16="http://schemas.microsoft.com/office/drawing/2014/main" id="{960E6475-B340-44A7-BB35-AECC256E2D6E}"/>
              </a:ext>
            </a:extLst>
          </p:cNvPr>
          <p:cNvSpPr>
            <a:spLocks xmlns:a="http://schemas.openxmlformats.org/drawingml/2006/main" noGrp="1"/>
          </p:cNvSpPr>
          <p:nvPr/>
        </p:nvSpPr>
        <p:spPr>
          <a:xfrm xmlns:a="http://schemas.openxmlformats.org/drawingml/2006/main">
            <a:off x="6048375" y="2143125"/>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2570122-FEE7-4EF8-9867-BAE2A2F59644}"/>
              </a:ext>
            </a:extLst>
          </p:cNvPr>
          <p:cNvSpPr>
            <a:spLocks xmlns:a="http://schemas.openxmlformats.org/drawingml/2006/main" noGrp="1"/>
          </p:cNvSpPr>
          <p:nvPr/>
        </p:nvSpPr>
        <p:spPr>
          <a:xfrm xmlns:a="http://schemas.openxmlformats.org/drawingml/2006/main">
            <a:off x="6048375"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Construct cần kết luận</a:t>
            </a:r>
          </a:p>
        </p:txBody>
      </p:sp>
      <p:sp>
        <p:nvSpPr>
          <p:cNvPr id="14" name="">
            <a:extLst xmlns:a="http://schemas.openxmlformats.org/drawingml/2006/main">
              <a:ext uri="{FF2B5EF4-FFF2-40B4-BE49-F238E27FC236}">
                <a16:creationId xmlns:a16="http://schemas.microsoft.com/office/drawing/2014/main" id="{D049D20F-2EC3-40F8-9C87-932D2F432E3A}"/>
              </a:ext>
            </a:extLst>
          </p:cNvPr>
          <p:cNvSpPr>
            <a:spLocks xmlns:a="http://schemas.openxmlformats.org/drawingml/2006/main" noGrp="1"/>
          </p:cNvSpPr>
          <p:nvPr/>
        </p:nvSpPr>
        <p:spPr>
          <a:xfrm xmlns:a="http://schemas.openxmlformats.org/drawingml/2006/main">
            <a:off x="6048375" y="2886075"/>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Fluency</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Range</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Accuracy</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Coherence</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Interaction</a:t>
            </a:r>
          </a:p>
          <a:p xmlns:a="http://schemas.openxmlformats.org/drawingml/2006/main">
            <a:pPr algn="l">
              <a:lnSpc>
                <a:spcPct val="108000"/>
              </a:lnSpc>
              <a:buNone/>
              <a:defRPr sz="1650" b="0" i="0">
                <a:solidFill>
                  <a:srgbClr val="28374A"/>
                </a:solidFill>
                <a:latin typeface="Aptos"/>
                <a:ea typeface="Aptos"/>
                <a:cs typeface="Aptos"/>
              </a:defRPr>
            </a:pPr>
            <a:r>
              <a:rPr sz="1650" b="0" i="0">
                <a:solidFill>
                  <a:srgbClr val="28374A"/>
                </a:solidFill>
                <a:latin typeface="Aptos"/>
                <a:ea typeface="Aptos"/>
                <a:cs typeface="Aptos"/>
              </a:rPr>
              <a:t>Phonology</a:t>
            </a:r>
          </a:p>
        </p:txBody>
      </p:sp>
      <p:sp>
        <p:nvSpPr>
          <p:cNvPr id="15" name="">
            <a:extLst xmlns:a="http://schemas.openxmlformats.org/drawingml/2006/main">
              <a:ext uri="{FF2B5EF4-FFF2-40B4-BE49-F238E27FC236}">
                <a16:creationId xmlns:a16="http://schemas.microsoft.com/office/drawing/2014/main" id="{279FF7CE-1B26-4F7F-AA1A-00E18BEA2883}"/>
              </a:ext>
            </a:extLst>
          </p:cNvPr>
          <p:cNvSpPr>
            <a:spLocks xmlns:a="http://schemas.openxmlformats.org/drawingml/2006/main" noGrp="1"/>
          </p:cNvSpPr>
          <p:nvPr/>
        </p:nvSpPr>
        <p:spPr>
          <a:xfrm xmlns:a="http://schemas.openxmlformats.org/drawingml/2006/main">
            <a:off x="9620250" y="2143125"/>
            <a:ext cx="190500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AF7E19C-A17A-4C71-B60C-5042A2FE2565}"/>
              </a:ext>
            </a:extLst>
          </p:cNvPr>
          <p:cNvSpPr>
            <a:spLocks xmlns:a="http://schemas.openxmlformats.org/drawingml/2006/main" noGrp="1"/>
          </p:cNvSpPr>
          <p:nvPr/>
        </p:nvSpPr>
        <p:spPr>
          <a:xfrm xmlns:a="http://schemas.openxmlformats.org/drawingml/2006/main">
            <a:off x="9620250" y="2314575"/>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Guardrails</a:t>
            </a:r>
          </a:p>
        </p:txBody>
      </p:sp>
      <p:sp>
        <p:nvSpPr>
          <p:cNvPr id="17" name="">
            <a:extLst xmlns:a="http://schemas.openxmlformats.org/drawingml/2006/main">
              <a:ext uri="{FF2B5EF4-FFF2-40B4-BE49-F238E27FC236}">
                <a16:creationId xmlns:a16="http://schemas.microsoft.com/office/drawing/2014/main" id="{20C08095-0827-4CC9-AE5D-33AB3246662C}"/>
              </a:ext>
            </a:extLst>
          </p:cNvPr>
          <p:cNvSpPr>
            <a:spLocks xmlns:a="http://schemas.openxmlformats.org/drawingml/2006/main" noGrp="1"/>
          </p:cNvSpPr>
          <p:nvPr/>
        </p:nvSpPr>
        <p:spPr>
          <a:xfrm xmlns:a="http://schemas.openxmlformats.org/drawingml/2006/main">
            <a:off x="9620250" y="2886075"/>
            <a:ext cx="190500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Task phù hợp</a:t>
            </a:r>
          </a:p>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ASR risk</a:t>
            </a:r>
          </a:p>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Audio QC</a:t>
            </a:r>
          </a:p>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Accent audit</a:t>
            </a:r>
          </a:p>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Confidence</a:t>
            </a:r>
          </a:p>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Teacher review</a:t>
            </a:r>
          </a:p>
        </p:txBody>
      </p:sp>
      <p:sp>
        <p:nvSpPr>
          <p:cNvPr id="18" name="">
            <a:extLst xmlns:a="http://schemas.openxmlformats.org/drawingml/2006/main">
              <a:ext uri="{FF2B5EF4-FFF2-40B4-BE49-F238E27FC236}">
                <a16:creationId xmlns:a16="http://schemas.microsoft.com/office/drawing/2014/main" id="{076CA8A2-FEC3-4E34-A518-102D75892480}"/>
              </a:ext>
            </a:extLst>
          </p:cNvPr>
          <p:cNvSpPr>
            <a:spLocks xmlns:a="http://schemas.openxmlformats.org/drawingml/2006/main" noGrp="1"/>
          </p:cNvSpPr>
          <p:nvPr/>
        </p:nvSpPr>
        <p:spPr>
          <a:xfrm xmlns:a="http://schemas.openxmlformats.org/drawingml/2006/main">
            <a:off x="1695450" y="5286375"/>
            <a:ext cx="8801100" cy="685800"/>
          </a:xfrm>
          <a:prstGeom xmlns:a="http://schemas.openxmlformats.org/drawingml/2006/main" prst="roundRect">
            <a:avLst>
              <a:gd name="adj" fmla="val 8333"/>
            </a:avLst>
          </a:prstGeom>
          <a:solidFill xmlns:a="http://schemas.openxmlformats.org/drawingml/2006/main">
            <a:srgbClr val="FFF2D5"/>
          </a:solidFill>
          <a:ln xmlns:a="http://schemas.openxmlformats.org/drawingml/2006/main" w="9525">
            <a:solidFill>
              <a:srgbClr val="A96500"/>
            </a:solidFill>
            <a:prstDash val="solid"/>
          </a:ln>
        </p:spPr>
      </p:sp>
      <p:sp>
        <p:nvSpPr>
          <p:cNvPr id="19" name="">
            <a:extLst xmlns:a="http://schemas.openxmlformats.org/drawingml/2006/main">
              <a:ext uri="{FF2B5EF4-FFF2-40B4-BE49-F238E27FC236}">
                <a16:creationId xmlns:a16="http://schemas.microsoft.com/office/drawing/2014/main" id="{52A1F110-6811-426B-B4EB-D9F3FE39074F}"/>
              </a:ext>
            </a:extLst>
          </p:cNvPr>
          <p:cNvSpPr>
            <a:spLocks xmlns:a="http://schemas.openxmlformats.org/drawingml/2006/main" noGrp="1"/>
          </p:cNvSpPr>
          <p:nvPr/>
        </p:nvSpPr>
        <p:spPr>
          <a:xfrm xmlns:a="http://schemas.openxmlformats.org/drawingml/2006/main">
            <a:off x="1885950" y="5419725"/>
            <a:ext cx="8420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i="0">
                <a:solidFill>
                  <a:srgbClr val="A96500"/>
                </a:solidFill>
                <a:latin typeface="Aptos"/>
                <a:ea typeface="Aptos"/>
                <a:cs typeface="Aptos"/>
              </a:defRPr>
            </a:pPr>
            <a:r>
              <a:rPr sz="1650" b="1" i="0">
                <a:solidFill>
                  <a:srgbClr val="A96500"/>
                </a:solidFill>
                <a:latin typeface="Aptos"/>
                <a:ea typeface="Aptos"/>
                <a:cs typeface="Aptos"/>
              </a:rPr>
              <a:t>Ví dụ: articulation rate cao chỉ cho biết nói nhanh; không đủ để kết luận Fluency cao.</a:t>
            </a:r>
          </a:p>
        </p:txBody>
      </p:sp>
    </p:spTree>
    <p:extLst>
      <p:ext uri="{BB962C8B-B14F-4D97-AF65-F5344CB8AC3E}">
        <p14:creationId xmlns:p14="http://schemas.microsoft.com/office/powerpoint/2010/main" val="76672587"/>
      </p:ext>
    </p:extLst>
  </p:cSld>
</p:sld>
</file>

<file path=ppt/slides/slide1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0FA1794-D21A-4DDC-8678-6B4BD0B885F0}"/>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TASK BLUEPRINT</a:t>
            </a:r>
          </a:p>
        </p:txBody>
      </p:sp>
      <p:sp>
        <p:nvSpPr>
          <p:cNvPr id="2" name="">
            <a:extLst xmlns:a="http://schemas.openxmlformats.org/drawingml/2006/main">
              <a:ext uri="{FF2B5EF4-FFF2-40B4-BE49-F238E27FC236}">
                <a16:creationId xmlns:a16="http://schemas.microsoft.com/office/drawing/2014/main" id="{04E70253-2FE3-4667-915B-135853439CAE}"/>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Ba nhiệm vụ tạo ba loại bằng chứng bổ sung cho nhau</a:t>
            </a:r>
          </a:p>
        </p:txBody>
      </p:sp>
      <p:sp>
        <p:nvSpPr>
          <p:cNvPr id="3" name="">
            <a:extLst xmlns:a="http://schemas.openxmlformats.org/drawingml/2006/main">
              <a:ext uri="{FF2B5EF4-FFF2-40B4-BE49-F238E27FC236}">
                <a16:creationId xmlns:a16="http://schemas.microsoft.com/office/drawing/2014/main" id="{959FDFF5-47A7-4EF3-B594-19A10BCD7362}"/>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Không có một task duy nhất đo tốt cả sáu tiêu chí.</a:t>
            </a:r>
          </a:p>
        </p:txBody>
      </p:sp>
      <p:sp>
        <p:nvSpPr>
          <p:cNvPr id="4" name="">
            <a:extLst xmlns:a="http://schemas.openxmlformats.org/drawingml/2006/main">
              <a:ext uri="{FF2B5EF4-FFF2-40B4-BE49-F238E27FC236}">
                <a16:creationId xmlns:a16="http://schemas.microsoft.com/office/drawing/2014/main" id="{923A4B21-3224-4B57-81A3-4989A71A130E}"/>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34C3D02-ACA0-456C-92AB-F6E655D4341F}"/>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NHIỆM VỤ</a:t>
            </a:r>
          </a:p>
        </p:txBody>
      </p:sp>
      <p:sp>
        <p:nvSpPr>
          <p:cNvPr id="6" name="">
            <a:extLst xmlns:a="http://schemas.openxmlformats.org/drawingml/2006/main">
              <a:ext uri="{FF2B5EF4-FFF2-40B4-BE49-F238E27FC236}">
                <a16:creationId xmlns:a16="http://schemas.microsoft.com/office/drawing/2014/main" id="{C313C3B3-859B-400E-8323-02EEF5E50966}"/>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18</a:t>
            </a:r>
          </a:p>
        </p:txBody>
      </p:sp>
      <p:sp>
        <p:nvSpPr>
          <p:cNvPr id="7" name="">
            <a:extLst xmlns:a="http://schemas.openxmlformats.org/drawingml/2006/main">
              <a:ext uri="{FF2B5EF4-FFF2-40B4-BE49-F238E27FC236}">
                <a16:creationId xmlns:a16="http://schemas.microsoft.com/office/drawing/2014/main" id="{6166AB16-AF88-4B3A-A2BB-2D80EAF350E8}"/>
              </a:ext>
            </a:extLst>
          </p:cNvPr>
          <p:cNvSpPr>
            <a:spLocks xmlns:a="http://schemas.openxmlformats.org/drawingml/2006/main" noGrp="1"/>
          </p:cNvSpPr>
          <p:nvPr/>
        </p:nvSpPr>
        <p:spPr>
          <a:xfrm xmlns:a="http://schemas.openxmlformats.org/drawingml/2006/main">
            <a:off x="666750" y="2143125"/>
            <a:ext cx="3190875"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CC1D04F-1D47-4A78-A4B8-D591581CBC5E}"/>
              </a:ext>
            </a:extLst>
          </p:cNvPr>
          <p:cNvSpPr>
            <a:spLocks xmlns:a="http://schemas.openxmlformats.org/drawingml/2006/main" noGrp="1"/>
          </p:cNvSpPr>
          <p:nvPr/>
        </p:nvSpPr>
        <p:spPr>
          <a:xfrm xmlns:a="http://schemas.openxmlformats.org/drawingml/2006/main">
            <a:off x="666750" y="23145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Task A • Kể / mô tả</a:t>
            </a:r>
          </a:p>
        </p:txBody>
      </p:sp>
      <p:sp>
        <p:nvSpPr>
          <p:cNvPr id="9" name="">
            <a:extLst xmlns:a="http://schemas.openxmlformats.org/drawingml/2006/main">
              <a:ext uri="{FF2B5EF4-FFF2-40B4-BE49-F238E27FC236}">
                <a16:creationId xmlns:a16="http://schemas.microsoft.com/office/drawing/2014/main" id="{D88A09C9-A3C9-42AE-A2C8-8B89D6E43BED}"/>
              </a:ext>
            </a:extLst>
          </p:cNvPr>
          <p:cNvSpPr>
            <a:spLocks xmlns:a="http://schemas.openxmlformats.org/drawingml/2006/main" noGrp="1"/>
          </p:cNvSpPr>
          <p:nvPr/>
        </p:nvSpPr>
        <p:spPr>
          <a:xfrm xmlns:a="http://schemas.openxmlformats.org/drawingml/2006/main">
            <a:off x="666750" y="2886075"/>
            <a:ext cx="3190875"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90–120 giây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Chủ đề quen thuộc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2 prompt tương đương</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Mạnh về: Range, Fluency, Coherence, Phonology</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Không chấm Interaction</a:t>
            </a:r>
          </a:p>
        </p:txBody>
      </p:sp>
      <p:sp>
        <p:nvSpPr>
          <p:cNvPr id="10" name="">
            <a:extLst xmlns:a="http://schemas.openxmlformats.org/drawingml/2006/main">
              <a:ext uri="{FF2B5EF4-FFF2-40B4-BE49-F238E27FC236}">
                <a16:creationId xmlns:a16="http://schemas.microsoft.com/office/drawing/2014/main" id="{C17A04F4-956F-4DCD-AA8D-176A7E98FEC0}"/>
              </a:ext>
            </a:extLst>
          </p:cNvPr>
          <p:cNvSpPr>
            <a:spLocks xmlns:a="http://schemas.openxmlformats.org/drawingml/2006/main" noGrp="1"/>
          </p:cNvSpPr>
          <p:nvPr/>
        </p:nvSpPr>
        <p:spPr>
          <a:xfrm xmlns:a="http://schemas.openxmlformats.org/drawingml/2006/main">
            <a:off x="4495800" y="2143125"/>
            <a:ext cx="3190875"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E54C5CD-201B-40D6-AD01-5D098A18811A}"/>
              </a:ext>
            </a:extLst>
          </p:cNvPr>
          <p:cNvSpPr>
            <a:spLocks xmlns:a="http://schemas.openxmlformats.org/drawingml/2006/main" noGrp="1"/>
          </p:cNvSpPr>
          <p:nvPr/>
        </p:nvSpPr>
        <p:spPr>
          <a:xfrm xmlns:a="http://schemas.openxmlformats.org/drawingml/2006/main">
            <a:off x="4495800" y="23145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Task B • Nêu quan điểm</a:t>
            </a:r>
          </a:p>
        </p:txBody>
      </p:sp>
      <p:sp>
        <p:nvSpPr>
          <p:cNvPr id="12" name="">
            <a:extLst xmlns:a="http://schemas.openxmlformats.org/drawingml/2006/main">
              <a:ext uri="{FF2B5EF4-FFF2-40B4-BE49-F238E27FC236}">
                <a16:creationId xmlns:a16="http://schemas.microsoft.com/office/drawing/2014/main" id="{8DD1794F-0859-44D5-AC28-6F15B4219EFA}"/>
              </a:ext>
            </a:extLst>
          </p:cNvPr>
          <p:cNvSpPr>
            <a:spLocks xmlns:a="http://schemas.openxmlformats.org/drawingml/2006/main" noGrp="1"/>
          </p:cNvSpPr>
          <p:nvPr/>
        </p:nvSpPr>
        <p:spPr>
          <a:xfrm xmlns:a="http://schemas.openxmlformats.org/drawingml/2006/main">
            <a:off x="4495800" y="2886075"/>
            <a:ext cx="3190875"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Khoảng 120 giây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30 giây chuẩn bị</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3 bullet gợi ý cho A2</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Mạnh về: Range, Accuracy, Coherence, relevance</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Kiểm soát kiến thức nền</a:t>
            </a:r>
          </a:p>
        </p:txBody>
      </p:sp>
      <p:sp>
        <p:nvSpPr>
          <p:cNvPr id="13" name="">
            <a:extLst xmlns:a="http://schemas.openxmlformats.org/drawingml/2006/main">
              <a:ext uri="{FF2B5EF4-FFF2-40B4-BE49-F238E27FC236}">
                <a16:creationId xmlns:a16="http://schemas.microsoft.com/office/drawing/2014/main" id="{1807CDFE-D39B-4DAC-915B-0863B6EAAD8B}"/>
              </a:ext>
            </a:extLst>
          </p:cNvPr>
          <p:cNvSpPr>
            <a:spLocks xmlns:a="http://schemas.openxmlformats.org/drawingml/2006/main" noGrp="1"/>
          </p:cNvSpPr>
          <p:nvPr/>
        </p:nvSpPr>
        <p:spPr>
          <a:xfrm xmlns:a="http://schemas.openxmlformats.org/drawingml/2006/main">
            <a:off x="8324850" y="2143125"/>
            <a:ext cx="3190875"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3D14828-37C6-44C6-BD96-EE9CA03F2E57}"/>
              </a:ext>
            </a:extLst>
          </p:cNvPr>
          <p:cNvSpPr>
            <a:spLocks xmlns:a="http://schemas.openxmlformats.org/drawingml/2006/main" noGrp="1"/>
          </p:cNvSpPr>
          <p:nvPr/>
        </p:nvSpPr>
        <p:spPr>
          <a:xfrm xmlns:a="http://schemas.openxmlformats.org/drawingml/2006/main">
            <a:off x="8324850" y="2314575"/>
            <a:ext cx="31908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Task C • Hội thoại</a:t>
            </a:r>
          </a:p>
        </p:txBody>
      </p:sp>
      <p:sp>
        <p:nvSpPr>
          <p:cNvPr id="15" name="">
            <a:extLst xmlns:a="http://schemas.openxmlformats.org/drawingml/2006/main">
              <a:ext uri="{FF2B5EF4-FFF2-40B4-BE49-F238E27FC236}">
                <a16:creationId xmlns:a16="http://schemas.microsoft.com/office/drawing/2014/main" id="{39521A28-2C31-4247-B058-1D2C7503F9FF}"/>
              </a:ext>
            </a:extLst>
          </p:cNvPr>
          <p:cNvSpPr>
            <a:spLocks xmlns:a="http://schemas.openxmlformats.org/drawingml/2006/main" noGrp="1"/>
          </p:cNvSpPr>
          <p:nvPr/>
        </p:nvSpPr>
        <p:spPr>
          <a:xfrm xmlns:a="http://schemas.openxmlformats.org/drawingml/2006/main">
            <a:off x="8324850" y="2886075"/>
            <a:ext cx="3190875" cy="2495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3 lượt nói</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Prompt tree cố định</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Audio câu hỏi ghi sẵn</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Mạnh về: Interaction, Fluency, clarification</a:t>
            </a:r>
          </a:p>
          <a:p xmlns:a="http://schemas.openxmlformats.org/drawingml/2006/main">
            <a:r>
              <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Pilot trên 25–30 người</a:t>
            </a:r>
          </a:p>
        </p:txBody>
      </p:sp>
    </p:spTree>
    <p:extLst>
      <p:ext uri="{BB962C8B-B14F-4D97-AF65-F5344CB8AC3E}">
        <p14:creationId xmlns:p14="http://schemas.microsoft.com/office/powerpoint/2010/main" val="1596700053"/>
      </p:ext>
    </p:extLst>
  </p:cSld>
</p:sld>
</file>

<file path=ppt/slides/slide1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9EF201C4-16CF-4E92-B461-7E9889E5A3CB}"/>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TRẢI NGHIỆM SỬ DỤNG</a:t>
            </a:r>
          </a:p>
        </p:txBody>
      </p:sp>
      <p:sp>
        <p:nvSpPr>
          <p:cNvPr id="2" name="">
            <a:extLst xmlns:a="http://schemas.openxmlformats.org/drawingml/2006/main">
              <a:ext uri="{FF2B5EF4-FFF2-40B4-BE49-F238E27FC236}">
                <a16:creationId xmlns:a16="http://schemas.microsoft.com/office/drawing/2014/main" id="{C3BF3865-418D-4733-B415-E7A84D4F71A7}"/>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Sản phẩm là một vòng lặp học tập ngắn, không phải màn hình trả điểm</a:t>
            </a:r>
          </a:p>
        </p:txBody>
      </p:sp>
      <p:sp>
        <p:nvSpPr>
          <p:cNvPr id="3" name="">
            <a:extLst xmlns:a="http://schemas.openxmlformats.org/drawingml/2006/main">
              <a:ext uri="{FF2B5EF4-FFF2-40B4-BE49-F238E27FC236}">
                <a16:creationId xmlns:a16="http://schemas.microsoft.com/office/drawing/2014/main" id="{E7826C08-4265-40AA-AEB3-617DC5B336CB}"/>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Elicit → Assess → Explain → Review → Practice.</a:t>
            </a:r>
          </a:p>
        </p:txBody>
      </p:sp>
      <p:sp>
        <p:nvSpPr>
          <p:cNvPr id="4" name="">
            <a:extLst xmlns:a="http://schemas.openxmlformats.org/drawingml/2006/main">
              <a:ext uri="{FF2B5EF4-FFF2-40B4-BE49-F238E27FC236}">
                <a16:creationId xmlns:a16="http://schemas.microsoft.com/office/drawing/2014/main" id="{C6B699F7-342A-401E-BFED-69D4A716BF54}"/>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7EE98A0-C462-46E8-BC48-568204A989F0}"/>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GIẢI PHÁP</a:t>
            </a:r>
          </a:p>
        </p:txBody>
      </p:sp>
      <p:sp>
        <p:nvSpPr>
          <p:cNvPr id="6" name="">
            <a:extLst xmlns:a="http://schemas.openxmlformats.org/drawingml/2006/main">
              <a:ext uri="{FF2B5EF4-FFF2-40B4-BE49-F238E27FC236}">
                <a16:creationId xmlns:a16="http://schemas.microsoft.com/office/drawing/2014/main" id="{6729BDEE-451A-4A06-AAA7-07C2FC8A8DCC}"/>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19</a:t>
            </a:r>
          </a:p>
        </p:txBody>
      </p:sp>
      <p:sp>
        <p:nvSpPr>
          <p:cNvPr id="7" name="">
            <a:extLst xmlns:a="http://schemas.openxmlformats.org/drawingml/2006/main">
              <a:ext uri="{FF2B5EF4-FFF2-40B4-BE49-F238E27FC236}">
                <a16:creationId xmlns:a16="http://schemas.microsoft.com/office/drawing/2014/main" id="{C62F6938-22A6-4852-BC9B-19212CBFF60D}"/>
              </a:ext>
            </a:extLst>
          </p:cNvPr>
          <p:cNvSpPr>
            <a:spLocks xmlns:a="http://schemas.openxmlformats.org/drawingml/2006/main" noGrp="1"/>
          </p:cNvSpPr>
          <p:nvPr/>
        </p:nvSpPr>
        <p:spPr>
          <a:xfrm xmlns:a="http://schemas.openxmlformats.org/drawingml/2006/main">
            <a:off x="2682240" y="28098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D4194A-C35B-4B74-BF82-8139DFD03085}"/>
              </a:ext>
            </a:extLst>
          </p:cNvPr>
          <p:cNvSpPr>
            <a:spLocks xmlns:a="http://schemas.openxmlformats.org/drawingml/2006/main" noGrp="1"/>
          </p:cNvSpPr>
          <p:nvPr/>
        </p:nvSpPr>
        <p:spPr>
          <a:xfrm xmlns:a="http://schemas.openxmlformats.org/drawingml/2006/main">
            <a:off x="2777490" y="27622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335C164-554D-4B24-B5BB-57E4EDD8A568}"/>
              </a:ext>
            </a:extLst>
          </p:cNvPr>
          <p:cNvSpPr>
            <a:spLocks xmlns:a="http://schemas.openxmlformats.org/drawingml/2006/main" noGrp="1"/>
          </p:cNvSpPr>
          <p:nvPr/>
        </p:nvSpPr>
        <p:spPr>
          <a:xfrm xmlns:a="http://schemas.openxmlformats.org/drawingml/2006/main">
            <a:off x="4907280" y="28098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09FDF7B-1191-4DD4-81A5-6C91E8AD35A7}"/>
              </a:ext>
            </a:extLst>
          </p:cNvPr>
          <p:cNvSpPr>
            <a:spLocks xmlns:a="http://schemas.openxmlformats.org/drawingml/2006/main" noGrp="1"/>
          </p:cNvSpPr>
          <p:nvPr/>
        </p:nvSpPr>
        <p:spPr>
          <a:xfrm xmlns:a="http://schemas.openxmlformats.org/drawingml/2006/main">
            <a:off x="5002530" y="27622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459ACA6-AB10-4282-B60F-DC34F136CC0A}"/>
              </a:ext>
            </a:extLst>
          </p:cNvPr>
          <p:cNvSpPr>
            <a:spLocks xmlns:a="http://schemas.openxmlformats.org/drawingml/2006/main" noGrp="1"/>
          </p:cNvSpPr>
          <p:nvPr/>
        </p:nvSpPr>
        <p:spPr>
          <a:xfrm xmlns:a="http://schemas.openxmlformats.org/drawingml/2006/main">
            <a:off x="7132320" y="28098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A40DBE-A2A5-4F44-9CF7-38EAFD84E682}"/>
              </a:ext>
            </a:extLst>
          </p:cNvPr>
          <p:cNvSpPr>
            <a:spLocks xmlns:a="http://schemas.openxmlformats.org/drawingml/2006/main" noGrp="1"/>
          </p:cNvSpPr>
          <p:nvPr/>
        </p:nvSpPr>
        <p:spPr>
          <a:xfrm xmlns:a="http://schemas.openxmlformats.org/drawingml/2006/main">
            <a:off x="7227570" y="27622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0D7A06D-BA5D-42D0-A91D-0CB3E625723B}"/>
              </a:ext>
            </a:extLst>
          </p:cNvPr>
          <p:cNvSpPr>
            <a:spLocks xmlns:a="http://schemas.openxmlformats.org/drawingml/2006/main" noGrp="1"/>
          </p:cNvSpPr>
          <p:nvPr/>
        </p:nvSpPr>
        <p:spPr>
          <a:xfrm xmlns:a="http://schemas.openxmlformats.org/drawingml/2006/main">
            <a:off x="9357360" y="28098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184467E-38F4-47AD-9065-D63F4AB98963}"/>
              </a:ext>
            </a:extLst>
          </p:cNvPr>
          <p:cNvSpPr>
            <a:spLocks xmlns:a="http://schemas.openxmlformats.org/drawingml/2006/main" noGrp="1"/>
          </p:cNvSpPr>
          <p:nvPr/>
        </p:nvSpPr>
        <p:spPr>
          <a:xfrm xmlns:a="http://schemas.openxmlformats.org/drawingml/2006/main">
            <a:off x="9452610" y="27622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501FCA8-67DF-44B1-A9BF-CCE631410D2F}"/>
              </a:ext>
            </a:extLst>
          </p:cNvPr>
          <p:cNvSpPr>
            <a:spLocks xmlns:a="http://schemas.openxmlformats.org/drawingml/2006/main" noGrp="1"/>
          </p:cNvSpPr>
          <p:nvPr/>
        </p:nvSpPr>
        <p:spPr>
          <a:xfrm xmlns:a="http://schemas.openxmlformats.org/drawingml/2006/main">
            <a:off x="619125" y="2333625"/>
            <a:ext cx="2053590" cy="1009650"/>
          </a:xfrm>
          <a:prstGeom xmlns:a="http://schemas.openxmlformats.org/drawingml/2006/main" prst="roundRect">
            <a:avLst>
              <a:gd name="adj" fmla="val 5660"/>
            </a:avLst>
          </a:prstGeom>
          <a:solidFill xmlns:a="http://schemas.openxmlformats.org/drawingml/2006/main">
            <a:srgbClr val="E8F2FB"/>
          </a:solidFill>
          <a:ln xmlns:a="http://schemas.openxmlformats.org/drawingml/2006/main" w="9525">
            <a:solidFill>
              <a:srgbClr val="1F5EAC"/>
            </a:solidFill>
            <a:prstDash val="solid"/>
          </a:ln>
        </p:spPr>
      </p:sp>
      <p:sp>
        <p:nvSpPr>
          <p:cNvPr id="16" name="">
            <a:extLst xmlns:a="http://schemas.openxmlformats.org/drawingml/2006/main">
              <a:ext uri="{FF2B5EF4-FFF2-40B4-BE49-F238E27FC236}">
                <a16:creationId xmlns:a16="http://schemas.microsoft.com/office/drawing/2014/main" id="{CBAB738E-B57B-46A0-9232-FD88EE640041}"/>
              </a:ext>
            </a:extLst>
          </p:cNvPr>
          <p:cNvSpPr>
            <a:spLocks xmlns:a="http://schemas.openxmlformats.org/drawingml/2006/main" noGrp="1"/>
          </p:cNvSpPr>
          <p:nvPr/>
        </p:nvSpPr>
        <p:spPr>
          <a:xfrm xmlns:a="http://schemas.openxmlformats.org/drawingml/2006/main">
            <a:off x="73342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1. Elicit</a:t>
            </a:r>
          </a:p>
        </p:txBody>
      </p:sp>
      <p:sp>
        <p:nvSpPr>
          <p:cNvPr id="17" name="">
            <a:extLst xmlns:a="http://schemas.openxmlformats.org/drawingml/2006/main">
              <a:ext uri="{FF2B5EF4-FFF2-40B4-BE49-F238E27FC236}">
                <a16:creationId xmlns:a16="http://schemas.microsoft.com/office/drawing/2014/main" id="{A3F1F8E1-C5DD-48CB-A540-B5C2790EDFE7}"/>
              </a:ext>
            </a:extLst>
          </p:cNvPr>
          <p:cNvSpPr>
            <a:spLocks xmlns:a="http://schemas.openxmlformats.org/drawingml/2006/main" noGrp="1"/>
          </p:cNvSpPr>
          <p:nvPr/>
        </p:nvSpPr>
        <p:spPr>
          <a:xfrm xmlns:a="http://schemas.openxmlformats.org/drawingml/2006/main">
            <a:off x="73342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Sinh viên làm Task A/B/C</a:t>
            </a:r>
          </a:p>
        </p:txBody>
      </p:sp>
      <p:sp>
        <p:nvSpPr>
          <p:cNvPr id="18" name="">
            <a:extLst xmlns:a="http://schemas.openxmlformats.org/drawingml/2006/main">
              <a:ext uri="{FF2B5EF4-FFF2-40B4-BE49-F238E27FC236}">
                <a16:creationId xmlns:a16="http://schemas.microsoft.com/office/drawing/2014/main" id="{6C0C5D8C-863E-4F6D-B592-AE27FA45231A}"/>
              </a:ext>
            </a:extLst>
          </p:cNvPr>
          <p:cNvSpPr>
            <a:spLocks xmlns:a="http://schemas.openxmlformats.org/drawingml/2006/main" noGrp="1"/>
          </p:cNvSpPr>
          <p:nvPr/>
        </p:nvSpPr>
        <p:spPr>
          <a:xfrm xmlns:a="http://schemas.openxmlformats.org/drawingml/2006/main">
            <a:off x="2844165" y="2333625"/>
            <a:ext cx="2053590" cy="1009650"/>
          </a:xfrm>
          <a:prstGeom xmlns:a="http://schemas.openxmlformats.org/drawingml/2006/main" prst="roundRect">
            <a:avLst>
              <a:gd name="adj" fmla="val 5660"/>
            </a:avLst>
          </a:prstGeom>
          <a:solidFill xmlns:a="http://schemas.openxmlformats.org/drawingml/2006/main">
            <a:srgbClr val="FFFFFF"/>
          </a:solidFill>
          <a:ln xmlns:a="http://schemas.openxmlformats.org/drawingml/2006/main" w="9525">
            <a:solidFill>
              <a:srgbClr val="1F5EAC"/>
            </a:solidFill>
            <a:prstDash val="solid"/>
          </a:ln>
        </p:spPr>
      </p:sp>
      <p:sp>
        <p:nvSpPr>
          <p:cNvPr id="19" name="">
            <a:extLst xmlns:a="http://schemas.openxmlformats.org/drawingml/2006/main">
              <a:ext uri="{FF2B5EF4-FFF2-40B4-BE49-F238E27FC236}">
                <a16:creationId xmlns:a16="http://schemas.microsoft.com/office/drawing/2014/main" id="{E9FCCF2B-41BB-4EC2-AC70-B44589FF50C2}"/>
              </a:ext>
            </a:extLst>
          </p:cNvPr>
          <p:cNvSpPr>
            <a:spLocks xmlns:a="http://schemas.openxmlformats.org/drawingml/2006/main" noGrp="1"/>
          </p:cNvSpPr>
          <p:nvPr/>
        </p:nvSpPr>
        <p:spPr>
          <a:xfrm xmlns:a="http://schemas.openxmlformats.org/drawingml/2006/main">
            <a:off x="295846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2. Assess</a:t>
            </a:r>
          </a:p>
        </p:txBody>
      </p:sp>
      <p:sp>
        <p:nvSpPr>
          <p:cNvPr id="20" name="">
            <a:extLst xmlns:a="http://schemas.openxmlformats.org/drawingml/2006/main">
              <a:ext uri="{FF2B5EF4-FFF2-40B4-BE49-F238E27FC236}">
                <a16:creationId xmlns:a16="http://schemas.microsoft.com/office/drawing/2014/main" id="{988894F7-7635-46EE-B2DD-0920F7A669F9}"/>
              </a:ext>
            </a:extLst>
          </p:cNvPr>
          <p:cNvSpPr>
            <a:spLocks xmlns:a="http://schemas.openxmlformats.org/drawingml/2006/main" noGrp="1"/>
          </p:cNvSpPr>
          <p:nvPr/>
        </p:nvSpPr>
        <p:spPr>
          <a:xfrm xmlns:a="http://schemas.openxmlformats.org/drawingml/2006/main">
            <a:off x="295846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AI tạo điểm sơ bộ</a:t>
            </a:r>
          </a:p>
        </p:txBody>
      </p:sp>
      <p:sp>
        <p:nvSpPr>
          <p:cNvPr id="21" name="">
            <a:extLst xmlns:a="http://schemas.openxmlformats.org/drawingml/2006/main">
              <a:ext uri="{FF2B5EF4-FFF2-40B4-BE49-F238E27FC236}">
                <a16:creationId xmlns:a16="http://schemas.microsoft.com/office/drawing/2014/main" id="{C4502925-B65D-4757-B038-CB50AB3DDB08}"/>
              </a:ext>
            </a:extLst>
          </p:cNvPr>
          <p:cNvSpPr>
            <a:spLocks xmlns:a="http://schemas.openxmlformats.org/drawingml/2006/main" noGrp="1"/>
          </p:cNvSpPr>
          <p:nvPr/>
        </p:nvSpPr>
        <p:spPr>
          <a:xfrm xmlns:a="http://schemas.openxmlformats.org/drawingml/2006/main">
            <a:off x="5069205" y="2333625"/>
            <a:ext cx="2053590" cy="1009650"/>
          </a:xfrm>
          <a:prstGeom xmlns:a="http://schemas.openxmlformats.org/drawingml/2006/main" prst="roundRect">
            <a:avLst>
              <a:gd name="adj" fmla="val 5660"/>
            </a:avLst>
          </a:prstGeom>
          <a:solidFill xmlns:a="http://schemas.openxmlformats.org/drawingml/2006/main">
            <a:srgbClr val="FFF2D5"/>
          </a:solidFill>
          <a:ln xmlns:a="http://schemas.openxmlformats.org/drawingml/2006/main" w="9525">
            <a:solidFill>
              <a:srgbClr val="A96500"/>
            </a:solidFill>
            <a:prstDash val="solid"/>
          </a:ln>
        </p:spPr>
      </p:sp>
      <p:sp>
        <p:nvSpPr>
          <p:cNvPr id="22" name="">
            <a:extLst xmlns:a="http://schemas.openxmlformats.org/drawingml/2006/main">
              <a:ext uri="{FF2B5EF4-FFF2-40B4-BE49-F238E27FC236}">
                <a16:creationId xmlns:a16="http://schemas.microsoft.com/office/drawing/2014/main" id="{72C367F7-DA8D-4BD2-A275-1A63BEF5A9AD}"/>
              </a:ext>
            </a:extLst>
          </p:cNvPr>
          <p:cNvSpPr>
            <a:spLocks xmlns:a="http://schemas.openxmlformats.org/drawingml/2006/main" noGrp="1"/>
          </p:cNvSpPr>
          <p:nvPr/>
        </p:nvSpPr>
        <p:spPr>
          <a:xfrm xmlns:a="http://schemas.openxmlformats.org/drawingml/2006/main">
            <a:off x="518350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3. Explain</a:t>
            </a:r>
          </a:p>
        </p:txBody>
      </p:sp>
      <p:sp>
        <p:nvSpPr>
          <p:cNvPr id="23" name="">
            <a:extLst xmlns:a="http://schemas.openxmlformats.org/drawingml/2006/main">
              <a:ext uri="{FF2B5EF4-FFF2-40B4-BE49-F238E27FC236}">
                <a16:creationId xmlns:a16="http://schemas.microsoft.com/office/drawing/2014/main" id="{A3119E7F-1BD8-4F95-AE86-14A555710A36}"/>
              </a:ext>
            </a:extLst>
          </p:cNvPr>
          <p:cNvSpPr>
            <a:spLocks xmlns:a="http://schemas.openxmlformats.org/drawingml/2006/main" noGrp="1"/>
          </p:cNvSpPr>
          <p:nvPr/>
        </p:nvSpPr>
        <p:spPr>
          <a:xfrm xmlns:a="http://schemas.openxmlformats.org/drawingml/2006/main">
            <a:off x="518350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Hiện bằng chứng dễ hiểu</a:t>
            </a:r>
          </a:p>
        </p:txBody>
      </p:sp>
      <p:sp>
        <p:nvSpPr>
          <p:cNvPr id="24" name="">
            <a:extLst xmlns:a="http://schemas.openxmlformats.org/drawingml/2006/main">
              <a:ext uri="{FF2B5EF4-FFF2-40B4-BE49-F238E27FC236}">
                <a16:creationId xmlns:a16="http://schemas.microsoft.com/office/drawing/2014/main" id="{1F297D4B-56DB-4E57-8AB6-F995CE6D78F4}"/>
              </a:ext>
            </a:extLst>
          </p:cNvPr>
          <p:cNvSpPr>
            <a:spLocks xmlns:a="http://schemas.openxmlformats.org/drawingml/2006/main" noGrp="1"/>
          </p:cNvSpPr>
          <p:nvPr/>
        </p:nvSpPr>
        <p:spPr>
          <a:xfrm xmlns:a="http://schemas.openxmlformats.org/drawingml/2006/main">
            <a:off x="7294245" y="2333625"/>
            <a:ext cx="2053590" cy="1009650"/>
          </a:xfrm>
          <a:prstGeom xmlns:a="http://schemas.openxmlformats.org/drawingml/2006/main" prst="roundRect">
            <a:avLst>
              <a:gd name="adj" fmla="val 5660"/>
            </a:avLst>
          </a:prstGeom>
          <a:solidFill xmlns:a="http://schemas.openxmlformats.org/drawingml/2006/main">
            <a:srgbClr val="FBEAEA"/>
          </a:solidFill>
          <a:ln xmlns:a="http://schemas.openxmlformats.org/drawingml/2006/main" w="9525">
            <a:solidFill>
              <a:srgbClr val="B43D3D"/>
            </a:solidFill>
            <a:prstDash val="solid"/>
          </a:ln>
        </p:spPr>
      </p:sp>
      <p:sp>
        <p:nvSpPr>
          <p:cNvPr id="25" name="">
            <a:extLst xmlns:a="http://schemas.openxmlformats.org/drawingml/2006/main">
              <a:ext uri="{FF2B5EF4-FFF2-40B4-BE49-F238E27FC236}">
                <a16:creationId xmlns:a16="http://schemas.microsoft.com/office/drawing/2014/main" id="{5D04669D-9B3F-44B0-B4D2-D6C77F997445}"/>
              </a:ext>
            </a:extLst>
          </p:cNvPr>
          <p:cNvSpPr>
            <a:spLocks xmlns:a="http://schemas.openxmlformats.org/drawingml/2006/main" noGrp="1"/>
          </p:cNvSpPr>
          <p:nvPr/>
        </p:nvSpPr>
        <p:spPr>
          <a:xfrm xmlns:a="http://schemas.openxmlformats.org/drawingml/2006/main">
            <a:off x="740854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4. Review</a:t>
            </a:r>
          </a:p>
        </p:txBody>
      </p:sp>
      <p:sp>
        <p:nvSpPr>
          <p:cNvPr id="26" name="">
            <a:extLst xmlns:a="http://schemas.openxmlformats.org/drawingml/2006/main">
              <a:ext uri="{FF2B5EF4-FFF2-40B4-BE49-F238E27FC236}">
                <a16:creationId xmlns:a16="http://schemas.microsoft.com/office/drawing/2014/main" id="{55E5BE90-9AC7-41EA-917F-2F01E9F67C30}"/>
              </a:ext>
            </a:extLst>
          </p:cNvPr>
          <p:cNvSpPr>
            <a:spLocks xmlns:a="http://schemas.openxmlformats.org/drawingml/2006/main" noGrp="1"/>
          </p:cNvSpPr>
          <p:nvPr/>
        </p:nvSpPr>
        <p:spPr>
          <a:xfrm xmlns:a="http://schemas.openxmlformats.org/drawingml/2006/main">
            <a:off x="740854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Giảng viên duyệt ca khó</a:t>
            </a:r>
          </a:p>
        </p:txBody>
      </p:sp>
      <p:sp>
        <p:nvSpPr>
          <p:cNvPr id="27" name="">
            <a:extLst xmlns:a="http://schemas.openxmlformats.org/drawingml/2006/main">
              <a:ext uri="{FF2B5EF4-FFF2-40B4-BE49-F238E27FC236}">
                <a16:creationId xmlns:a16="http://schemas.microsoft.com/office/drawing/2014/main" id="{AF05D7F4-49AB-4B15-97E8-F631A3E29FAE}"/>
              </a:ext>
            </a:extLst>
          </p:cNvPr>
          <p:cNvSpPr>
            <a:spLocks xmlns:a="http://schemas.openxmlformats.org/drawingml/2006/main" noGrp="1"/>
          </p:cNvSpPr>
          <p:nvPr/>
        </p:nvSpPr>
        <p:spPr>
          <a:xfrm xmlns:a="http://schemas.openxmlformats.org/drawingml/2006/main">
            <a:off x="9519285" y="2333625"/>
            <a:ext cx="2053590" cy="1009650"/>
          </a:xfrm>
          <a:prstGeom xmlns:a="http://schemas.openxmlformats.org/drawingml/2006/main" prst="roundRect">
            <a:avLst>
              <a:gd name="adj" fmla="val 5660"/>
            </a:avLst>
          </a:prstGeom>
          <a:solidFill xmlns:a="http://schemas.openxmlformats.org/drawingml/2006/main">
            <a:srgbClr val="E7F4ED"/>
          </a:solidFill>
          <a:ln xmlns:a="http://schemas.openxmlformats.org/drawingml/2006/main" w="9525">
            <a:solidFill>
              <a:srgbClr val="2F7D5C"/>
            </a:solidFill>
            <a:prstDash val="solid"/>
          </a:ln>
        </p:spPr>
      </p:sp>
      <p:sp>
        <p:nvSpPr>
          <p:cNvPr id="28" name="">
            <a:extLst xmlns:a="http://schemas.openxmlformats.org/drawingml/2006/main">
              <a:ext uri="{FF2B5EF4-FFF2-40B4-BE49-F238E27FC236}">
                <a16:creationId xmlns:a16="http://schemas.microsoft.com/office/drawing/2014/main" id="{E4FF5727-F599-479B-945E-CB55CFA44B2C}"/>
              </a:ext>
            </a:extLst>
          </p:cNvPr>
          <p:cNvSpPr>
            <a:spLocks xmlns:a="http://schemas.openxmlformats.org/drawingml/2006/main" noGrp="1"/>
          </p:cNvSpPr>
          <p:nvPr/>
        </p:nvSpPr>
        <p:spPr>
          <a:xfrm xmlns:a="http://schemas.openxmlformats.org/drawingml/2006/main">
            <a:off x="9633585" y="246697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5. Practice</a:t>
            </a:r>
          </a:p>
        </p:txBody>
      </p:sp>
      <p:sp>
        <p:nvSpPr>
          <p:cNvPr id="29" name="">
            <a:extLst xmlns:a="http://schemas.openxmlformats.org/drawingml/2006/main">
              <a:ext uri="{FF2B5EF4-FFF2-40B4-BE49-F238E27FC236}">
                <a16:creationId xmlns:a16="http://schemas.microsoft.com/office/drawing/2014/main" id="{3F4FC220-4652-4DA6-B45B-3AA5781E87E9}"/>
              </a:ext>
            </a:extLst>
          </p:cNvPr>
          <p:cNvSpPr>
            <a:spLocks xmlns:a="http://schemas.openxmlformats.org/drawingml/2006/main" noGrp="1"/>
          </p:cNvSpPr>
          <p:nvPr/>
        </p:nvSpPr>
        <p:spPr>
          <a:xfrm xmlns:a="http://schemas.openxmlformats.org/drawingml/2006/main">
            <a:off x="9633585" y="275272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Một nhiệm vụ luyện tiếp</a:t>
            </a:r>
          </a:p>
        </p:txBody>
      </p:sp>
      <p:sp>
        <p:nvSpPr>
          <p:cNvPr id="30" name="">
            <a:extLst xmlns:a="http://schemas.openxmlformats.org/drawingml/2006/main">
              <a:ext uri="{FF2B5EF4-FFF2-40B4-BE49-F238E27FC236}">
                <a16:creationId xmlns:a16="http://schemas.microsoft.com/office/drawing/2014/main" id="{4EDFFFD2-C6F0-48FF-A53E-51D999E03E64}"/>
              </a:ext>
            </a:extLst>
          </p:cNvPr>
          <p:cNvSpPr>
            <a:spLocks xmlns:a="http://schemas.openxmlformats.org/drawingml/2006/main" noGrp="1"/>
          </p:cNvSpPr>
          <p:nvPr/>
        </p:nvSpPr>
        <p:spPr>
          <a:xfrm xmlns:a="http://schemas.openxmlformats.org/drawingml/2006/main">
            <a:off x="1428750" y="4048125"/>
            <a:ext cx="9334500" cy="838200"/>
          </a:xfrm>
          <a:prstGeom xmlns:a="http://schemas.openxmlformats.org/drawingml/2006/main" prst="roundRect">
            <a:avLst>
              <a:gd name="adj" fmla="val 6818"/>
            </a:avLst>
          </a:prstGeom>
          <a:solidFill xmlns:a="http://schemas.openxmlformats.org/drawingml/2006/main">
            <a:srgbClr val="E7F4ED"/>
          </a:solidFill>
          <a:ln xmlns:a="http://schemas.openxmlformats.org/drawingml/2006/main" w="9525">
            <a:solidFill>
              <a:srgbClr val="2F7D5C"/>
            </a:solidFill>
            <a:prstDash val="solid"/>
          </a:ln>
        </p:spPr>
      </p:sp>
      <p:sp>
        <p:nvSpPr>
          <p:cNvPr id="31" name="">
            <a:extLst xmlns:a="http://schemas.openxmlformats.org/drawingml/2006/main">
              <a:ext uri="{FF2B5EF4-FFF2-40B4-BE49-F238E27FC236}">
                <a16:creationId xmlns:a16="http://schemas.microsoft.com/office/drawing/2014/main" id="{FDDB1B12-5534-4A1F-86B8-F027674A1C40}"/>
              </a:ext>
            </a:extLst>
          </p:cNvPr>
          <p:cNvSpPr>
            <a:spLocks xmlns:a="http://schemas.openxmlformats.org/drawingml/2006/main" noGrp="1"/>
          </p:cNvSpPr>
          <p:nvPr/>
        </p:nvSpPr>
        <p:spPr>
          <a:xfrm xmlns:a="http://schemas.openxmlformats.org/drawingml/2006/main">
            <a:off x="1619250" y="4181475"/>
            <a:ext cx="895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i="0">
                <a:solidFill>
                  <a:srgbClr val="2F7D5C"/>
                </a:solidFill>
                <a:latin typeface="Aptos"/>
                <a:ea typeface="Aptos"/>
                <a:cs typeface="Aptos"/>
              </a:defRPr>
            </a:pPr>
            <a:r>
              <a:rPr sz="1650" b="1" i="0">
                <a:solidFill>
                  <a:srgbClr val="2F7D5C"/>
                </a:solidFill>
                <a:latin typeface="Aptos"/>
                <a:ea typeface="Aptos"/>
                <a:cs typeface="Aptos"/>
              </a:rPr>
              <a:t>Ví dụ gợi ý: kể lại cùng chủ đề trong 90 giây, dùng ít nhất ba từ nối và giữ mỗi ý trong một cụm nói hoàn chỉnh.</a:t>
            </a:r>
          </a:p>
        </p:txBody>
      </p:sp>
      <p:sp>
        <p:nvSpPr>
          <p:cNvPr id="32" name="">
            <a:extLst xmlns:a="http://schemas.openxmlformats.org/drawingml/2006/main">
              <a:ext uri="{FF2B5EF4-FFF2-40B4-BE49-F238E27FC236}">
                <a16:creationId xmlns:a16="http://schemas.microsoft.com/office/drawing/2014/main" id="{8E2342D2-C2C3-4A60-AE51-5B7D63AFF306}"/>
              </a:ext>
            </a:extLst>
          </p:cNvPr>
          <p:cNvSpPr>
            <a:spLocks xmlns:a="http://schemas.openxmlformats.org/drawingml/2006/main" noGrp="1"/>
          </p:cNvSpPr>
          <p:nvPr/>
        </p:nvSpPr>
        <p:spPr>
          <a:xfrm xmlns:a="http://schemas.openxmlformats.org/drawingml/2006/main">
            <a:off x="1952625" y="5286375"/>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00" b="1" i="0">
                <a:solidFill>
                  <a:srgbClr val="B43D3D"/>
                </a:solidFill>
                <a:latin typeface="Aptos"/>
                <a:ea typeface="Aptos"/>
                <a:cs typeface="Aptos"/>
              </a:defRPr>
            </a:pPr>
            <a:r>
              <a:rPr sz="1500" b="1" i="0">
                <a:solidFill>
                  <a:srgbClr val="B43D3D"/>
                </a:solidFill>
                <a:latin typeface="Aptos"/>
                <a:ea typeface="Aptos"/>
                <a:cs typeface="Aptos"/>
              </a:rPr>
              <a:t>Chỉ sinh gợi ý khi có đủ evidence và confidence đạt ngưỡng.</a:t>
            </a:r>
          </a:p>
        </p:txBody>
      </p:sp>
    </p:spTree>
    <p:extLst>
      <p:ext uri="{BB962C8B-B14F-4D97-AF65-F5344CB8AC3E}">
        <p14:creationId xmlns:p14="http://schemas.microsoft.com/office/powerpoint/2010/main" val="635334652"/>
      </p:ext>
    </p:extLst>
  </p:cSld>
</p:sld>
</file>

<file path=ppt/slides/slide2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54F4F09-5EC0-41D6-8FFD-9A48E8284A36}"/>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KIẾN TRÚC TỔNG THỂ</a:t>
            </a:r>
          </a:p>
        </p:txBody>
      </p:sp>
      <p:sp>
        <p:nvSpPr>
          <p:cNvPr id="2" name="">
            <a:extLst xmlns:a="http://schemas.openxmlformats.org/drawingml/2006/main">
              <a:ext uri="{FF2B5EF4-FFF2-40B4-BE49-F238E27FC236}">
                <a16:creationId xmlns:a16="http://schemas.microsoft.com/office/drawing/2014/main" id="{D084847A-3C06-4EB9-9B43-94F6521E0211}"/>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Pipeline tách dữ liệu gốc, bằng chứng, mô hình chấm và lớp phản hồi</a:t>
            </a:r>
          </a:p>
        </p:txBody>
      </p:sp>
      <p:sp>
        <p:nvSpPr>
          <p:cNvPr id="3" name="">
            <a:extLst xmlns:a="http://schemas.openxmlformats.org/drawingml/2006/main">
              <a:ext uri="{FF2B5EF4-FFF2-40B4-BE49-F238E27FC236}">
                <a16:creationId xmlns:a16="http://schemas.microsoft.com/office/drawing/2014/main" id="{F33BC617-885D-429A-ACE8-C566B4984BB6}"/>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Tách lớp giúp chạy lại thí nghiệm và truy vết khi điểm bị sửa.</a:t>
            </a:r>
          </a:p>
        </p:txBody>
      </p:sp>
      <p:sp>
        <p:nvSpPr>
          <p:cNvPr id="4" name="">
            <a:extLst xmlns:a="http://schemas.openxmlformats.org/drawingml/2006/main">
              <a:ext uri="{FF2B5EF4-FFF2-40B4-BE49-F238E27FC236}">
                <a16:creationId xmlns:a16="http://schemas.microsoft.com/office/drawing/2014/main" id="{ECD3376F-B892-4C84-9570-E40117907CFD}"/>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84571B-AC79-4992-8DD4-5D763927E0DA}"/>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KIẾN TRÚC</a:t>
            </a:r>
          </a:p>
        </p:txBody>
      </p:sp>
      <p:sp>
        <p:nvSpPr>
          <p:cNvPr id="6" name="">
            <a:extLst xmlns:a="http://schemas.openxmlformats.org/drawingml/2006/main">
              <a:ext uri="{FF2B5EF4-FFF2-40B4-BE49-F238E27FC236}">
                <a16:creationId xmlns:a16="http://schemas.microsoft.com/office/drawing/2014/main" id="{A3069F20-EBA7-41A7-A3CE-DF695BF4D942}"/>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20</a:t>
            </a:r>
          </a:p>
        </p:txBody>
      </p:sp>
      <p:sp>
        <p:nvSpPr>
          <p:cNvPr id="7" name="">
            <a:extLst xmlns:a="http://schemas.openxmlformats.org/drawingml/2006/main">
              <a:ext uri="{FF2B5EF4-FFF2-40B4-BE49-F238E27FC236}">
                <a16:creationId xmlns:a16="http://schemas.microsoft.com/office/drawing/2014/main" id="{91A7EE8C-6770-4F81-9CBD-43BAF3F243B5}"/>
              </a:ext>
            </a:extLst>
          </p:cNvPr>
          <p:cNvSpPr>
            <a:spLocks xmlns:a="http://schemas.openxmlformats.org/drawingml/2006/main" noGrp="1"/>
          </p:cNvSpPr>
          <p:nvPr/>
        </p:nvSpPr>
        <p:spPr>
          <a:xfrm xmlns:a="http://schemas.openxmlformats.org/drawingml/2006/main">
            <a:off x="222885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0B2511-6931-40BC-8FEB-EF83FDF7775D}"/>
              </a:ext>
            </a:extLst>
          </p:cNvPr>
          <p:cNvSpPr>
            <a:spLocks xmlns:a="http://schemas.openxmlformats.org/drawingml/2006/main" noGrp="1"/>
          </p:cNvSpPr>
          <p:nvPr/>
        </p:nvSpPr>
        <p:spPr>
          <a:xfrm xmlns:a="http://schemas.openxmlformats.org/drawingml/2006/main">
            <a:off x="232410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0B7B85D-2521-412B-84C6-CB5561C6DF80}"/>
              </a:ext>
            </a:extLst>
          </p:cNvPr>
          <p:cNvSpPr>
            <a:spLocks xmlns:a="http://schemas.openxmlformats.org/drawingml/2006/main" noGrp="1"/>
          </p:cNvSpPr>
          <p:nvPr/>
        </p:nvSpPr>
        <p:spPr>
          <a:xfrm xmlns:a="http://schemas.openxmlformats.org/drawingml/2006/main">
            <a:off x="412432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59805DB-F0DD-4142-AF19-57360E03CC8E}"/>
              </a:ext>
            </a:extLst>
          </p:cNvPr>
          <p:cNvSpPr>
            <a:spLocks xmlns:a="http://schemas.openxmlformats.org/drawingml/2006/main" noGrp="1"/>
          </p:cNvSpPr>
          <p:nvPr/>
        </p:nvSpPr>
        <p:spPr>
          <a:xfrm xmlns:a="http://schemas.openxmlformats.org/drawingml/2006/main">
            <a:off x="421957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60B9DA-6BC5-4DF3-8F56-5B91799B4C7C}"/>
              </a:ext>
            </a:extLst>
          </p:cNvPr>
          <p:cNvSpPr>
            <a:spLocks xmlns:a="http://schemas.openxmlformats.org/drawingml/2006/main" noGrp="1"/>
          </p:cNvSpPr>
          <p:nvPr/>
        </p:nvSpPr>
        <p:spPr>
          <a:xfrm xmlns:a="http://schemas.openxmlformats.org/drawingml/2006/main">
            <a:off x="601980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371B2AB-58E0-4A7D-BE00-0BBDC2337431}"/>
              </a:ext>
            </a:extLst>
          </p:cNvPr>
          <p:cNvSpPr>
            <a:spLocks xmlns:a="http://schemas.openxmlformats.org/drawingml/2006/main" noGrp="1"/>
          </p:cNvSpPr>
          <p:nvPr/>
        </p:nvSpPr>
        <p:spPr>
          <a:xfrm xmlns:a="http://schemas.openxmlformats.org/drawingml/2006/main">
            <a:off x="611505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72E5859-342C-48B4-B386-20110E231416}"/>
              </a:ext>
            </a:extLst>
          </p:cNvPr>
          <p:cNvSpPr>
            <a:spLocks xmlns:a="http://schemas.openxmlformats.org/drawingml/2006/main" noGrp="1"/>
          </p:cNvSpPr>
          <p:nvPr/>
        </p:nvSpPr>
        <p:spPr>
          <a:xfrm xmlns:a="http://schemas.openxmlformats.org/drawingml/2006/main">
            <a:off x="7915275"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2AC24C-39C9-4709-8F1B-E63764265057}"/>
              </a:ext>
            </a:extLst>
          </p:cNvPr>
          <p:cNvSpPr>
            <a:spLocks xmlns:a="http://schemas.openxmlformats.org/drawingml/2006/main" noGrp="1"/>
          </p:cNvSpPr>
          <p:nvPr/>
        </p:nvSpPr>
        <p:spPr>
          <a:xfrm xmlns:a="http://schemas.openxmlformats.org/drawingml/2006/main">
            <a:off x="8010525"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C715DE4-6E56-4ACD-B204-11C54B2786C2}"/>
              </a:ext>
            </a:extLst>
          </p:cNvPr>
          <p:cNvSpPr>
            <a:spLocks xmlns:a="http://schemas.openxmlformats.org/drawingml/2006/main" noGrp="1"/>
          </p:cNvSpPr>
          <p:nvPr/>
        </p:nvSpPr>
        <p:spPr>
          <a:xfrm xmlns:a="http://schemas.openxmlformats.org/drawingml/2006/main">
            <a:off x="9810750" y="28003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83474F1-757E-40D6-9827-88C15175C9E2}"/>
              </a:ext>
            </a:extLst>
          </p:cNvPr>
          <p:cNvSpPr>
            <a:spLocks xmlns:a="http://schemas.openxmlformats.org/drawingml/2006/main" noGrp="1"/>
          </p:cNvSpPr>
          <p:nvPr/>
        </p:nvSpPr>
        <p:spPr>
          <a:xfrm xmlns:a="http://schemas.openxmlformats.org/drawingml/2006/main">
            <a:off x="9906000" y="27527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6D2E171-7635-47DD-BE58-614FE45012C3}"/>
              </a:ext>
            </a:extLst>
          </p:cNvPr>
          <p:cNvSpPr>
            <a:spLocks xmlns:a="http://schemas.openxmlformats.org/drawingml/2006/main" noGrp="1"/>
          </p:cNvSpPr>
          <p:nvPr/>
        </p:nvSpPr>
        <p:spPr>
          <a:xfrm xmlns:a="http://schemas.openxmlformats.org/drawingml/2006/main">
            <a:off x="495300" y="2333625"/>
            <a:ext cx="1724025" cy="990600"/>
          </a:xfrm>
          <a:prstGeom xmlns:a="http://schemas.openxmlformats.org/drawingml/2006/main" prst="roundRect">
            <a:avLst>
              <a:gd name="adj" fmla="val 5769"/>
            </a:avLst>
          </a:prstGeom>
          <a:solidFill xmlns:a="http://schemas.openxmlformats.org/drawingml/2006/main">
            <a:srgbClr val="FFFFFF"/>
          </a:solidFill>
          <a:ln xmlns:a="http://schemas.openxmlformats.org/drawingml/2006/main" w="9525">
            <a:solidFill>
              <a:srgbClr val="1F5EAC"/>
            </a:solidFill>
            <a:prstDash val="solid"/>
          </a:ln>
        </p:spPr>
      </p:sp>
      <p:sp>
        <p:nvSpPr>
          <p:cNvPr id="18" name="">
            <a:extLst xmlns:a="http://schemas.openxmlformats.org/drawingml/2006/main">
              <a:ext uri="{FF2B5EF4-FFF2-40B4-BE49-F238E27FC236}">
                <a16:creationId xmlns:a16="http://schemas.microsoft.com/office/drawing/2014/main" id="{20D634A7-C098-4F21-931A-52F2F25208CA}"/>
              </a:ext>
            </a:extLst>
          </p:cNvPr>
          <p:cNvSpPr>
            <a:spLocks xmlns:a="http://schemas.openxmlformats.org/drawingml/2006/main" noGrp="1"/>
          </p:cNvSpPr>
          <p:nvPr/>
        </p:nvSpPr>
        <p:spPr>
          <a:xfrm xmlns:a="http://schemas.openxmlformats.org/drawingml/2006/main">
            <a:off x="609600"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Thu bài</a:t>
            </a:r>
          </a:p>
        </p:txBody>
      </p:sp>
      <p:sp>
        <p:nvSpPr>
          <p:cNvPr id="19" name="">
            <a:extLst xmlns:a="http://schemas.openxmlformats.org/drawingml/2006/main">
              <a:ext uri="{FF2B5EF4-FFF2-40B4-BE49-F238E27FC236}">
                <a16:creationId xmlns:a16="http://schemas.microsoft.com/office/drawing/2014/main" id="{96A96F91-541F-4835-A6AA-907670497ED0}"/>
              </a:ext>
            </a:extLst>
          </p:cNvPr>
          <p:cNvSpPr>
            <a:spLocks xmlns:a="http://schemas.openxmlformats.org/drawingml/2006/main" noGrp="1"/>
          </p:cNvSpPr>
          <p:nvPr/>
        </p:nvSpPr>
        <p:spPr>
          <a:xfrm xmlns:a="http://schemas.openxmlformats.org/drawingml/2006/main">
            <a:off x="609600"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Recorder + metadata</a:t>
            </a:r>
          </a:p>
        </p:txBody>
      </p:sp>
      <p:sp>
        <p:nvSpPr>
          <p:cNvPr id="20" name="">
            <a:extLst xmlns:a="http://schemas.openxmlformats.org/drawingml/2006/main">
              <a:ext uri="{FF2B5EF4-FFF2-40B4-BE49-F238E27FC236}">
                <a16:creationId xmlns:a16="http://schemas.microsoft.com/office/drawing/2014/main" id="{CE45DDDA-6498-47B3-AE0D-3D4D3E7B6450}"/>
              </a:ext>
            </a:extLst>
          </p:cNvPr>
          <p:cNvSpPr>
            <a:spLocks xmlns:a="http://schemas.openxmlformats.org/drawingml/2006/main" noGrp="1"/>
          </p:cNvSpPr>
          <p:nvPr/>
        </p:nvSpPr>
        <p:spPr>
          <a:xfrm xmlns:a="http://schemas.openxmlformats.org/drawingml/2006/main">
            <a:off x="2390775" y="2333625"/>
            <a:ext cx="1724025" cy="990600"/>
          </a:xfrm>
          <a:prstGeom xmlns:a="http://schemas.openxmlformats.org/drawingml/2006/main" prst="roundRect">
            <a:avLst>
              <a:gd name="adj" fmla="val 5769"/>
            </a:avLst>
          </a:prstGeom>
          <a:solidFill xmlns:a="http://schemas.openxmlformats.org/drawingml/2006/main">
            <a:srgbClr val="FFF2D5"/>
          </a:solidFill>
          <a:ln xmlns:a="http://schemas.openxmlformats.org/drawingml/2006/main" w="9525">
            <a:solidFill>
              <a:srgbClr val="A96500"/>
            </a:solidFill>
            <a:prstDash val="solid"/>
          </a:ln>
        </p:spPr>
      </p:sp>
      <p:sp>
        <p:nvSpPr>
          <p:cNvPr id="21" name="">
            <a:extLst xmlns:a="http://schemas.openxmlformats.org/drawingml/2006/main">
              <a:ext uri="{FF2B5EF4-FFF2-40B4-BE49-F238E27FC236}">
                <a16:creationId xmlns:a16="http://schemas.microsoft.com/office/drawing/2014/main" id="{072AA42A-E690-4AD0-9B27-DB9272A9AF2A}"/>
              </a:ext>
            </a:extLst>
          </p:cNvPr>
          <p:cNvSpPr>
            <a:spLocks xmlns:a="http://schemas.openxmlformats.org/drawingml/2006/main" noGrp="1"/>
          </p:cNvSpPr>
          <p:nvPr/>
        </p:nvSpPr>
        <p:spPr>
          <a:xfrm xmlns:a="http://schemas.openxmlformats.org/drawingml/2006/main">
            <a:off x="2505075"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Quality gate</a:t>
            </a:r>
          </a:p>
        </p:txBody>
      </p:sp>
      <p:sp>
        <p:nvSpPr>
          <p:cNvPr id="22" name="">
            <a:extLst xmlns:a="http://schemas.openxmlformats.org/drawingml/2006/main">
              <a:ext uri="{FF2B5EF4-FFF2-40B4-BE49-F238E27FC236}">
                <a16:creationId xmlns:a16="http://schemas.microsoft.com/office/drawing/2014/main" id="{24E8A27D-B552-495F-865A-6B758ACC3FD7}"/>
              </a:ext>
            </a:extLst>
          </p:cNvPr>
          <p:cNvSpPr>
            <a:spLocks xmlns:a="http://schemas.openxmlformats.org/drawingml/2006/main" noGrp="1"/>
          </p:cNvSpPr>
          <p:nvPr/>
        </p:nvSpPr>
        <p:spPr>
          <a:xfrm xmlns:a="http://schemas.openxmlformats.org/drawingml/2006/main">
            <a:off x="2505075"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Noise, clipping, silence</a:t>
            </a:r>
          </a:p>
        </p:txBody>
      </p:sp>
      <p:sp>
        <p:nvSpPr>
          <p:cNvPr id="23" name="">
            <a:extLst xmlns:a="http://schemas.openxmlformats.org/drawingml/2006/main">
              <a:ext uri="{FF2B5EF4-FFF2-40B4-BE49-F238E27FC236}">
                <a16:creationId xmlns:a16="http://schemas.microsoft.com/office/drawing/2014/main" id="{F7ADAF29-2EB8-479A-B4EE-27224A330F47}"/>
              </a:ext>
            </a:extLst>
          </p:cNvPr>
          <p:cNvSpPr>
            <a:spLocks xmlns:a="http://schemas.openxmlformats.org/drawingml/2006/main" noGrp="1"/>
          </p:cNvSpPr>
          <p:nvPr/>
        </p:nvSpPr>
        <p:spPr>
          <a:xfrm xmlns:a="http://schemas.openxmlformats.org/drawingml/2006/main">
            <a:off x="4286250" y="2333625"/>
            <a:ext cx="1724025" cy="990600"/>
          </a:xfrm>
          <a:prstGeom xmlns:a="http://schemas.openxmlformats.org/drawingml/2006/main" prst="roundRect">
            <a:avLst>
              <a:gd name="adj" fmla="val 5769"/>
            </a:avLst>
          </a:prstGeom>
          <a:solidFill xmlns:a="http://schemas.openxmlformats.org/drawingml/2006/main">
            <a:srgbClr val="E8F2FB"/>
          </a:solidFill>
          <a:ln xmlns:a="http://schemas.openxmlformats.org/drawingml/2006/main" w="9525">
            <a:solidFill>
              <a:srgbClr val="1F5EAC"/>
            </a:solidFill>
            <a:prstDash val="solid"/>
          </a:ln>
        </p:spPr>
      </p:sp>
      <p:sp>
        <p:nvSpPr>
          <p:cNvPr id="24" name="">
            <a:extLst xmlns:a="http://schemas.openxmlformats.org/drawingml/2006/main">
              <a:ext uri="{FF2B5EF4-FFF2-40B4-BE49-F238E27FC236}">
                <a16:creationId xmlns:a16="http://schemas.microsoft.com/office/drawing/2014/main" id="{50A9435A-F31D-43D0-8E2B-490F13D461DF}"/>
              </a:ext>
            </a:extLst>
          </p:cNvPr>
          <p:cNvSpPr>
            <a:spLocks xmlns:a="http://schemas.openxmlformats.org/drawingml/2006/main" noGrp="1"/>
          </p:cNvSpPr>
          <p:nvPr/>
        </p:nvSpPr>
        <p:spPr>
          <a:xfrm xmlns:a="http://schemas.openxmlformats.org/drawingml/2006/main">
            <a:off x="4400550"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Evidence</a:t>
            </a:r>
          </a:p>
        </p:txBody>
      </p:sp>
      <p:sp>
        <p:nvSpPr>
          <p:cNvPr id="25" name="">
            <a:extLst xmlns:a="http://schemas.openxmlformats.org/drawingml/2006/main">
              <a:ext uri="{FF2B5EF4-FFF2-40B4-BE49-F238E27FC236}">
                <a16:creationId xmlns:a16="http://schemas.microsoft.com/office/drawing/2014/main" id="{399E6F56-197B-42E3-A873-7C459DFD7258}"/>
              </a:ext>
            </a:extLst>
          </p:cNvPr>
          <p:cNvSpPr>
            <a:spLocks xmlns:a="http://schemas.openxmlformats.org/drawingml/2006/main" noGrp="1"/>
          </p:cNvSpPr>
          <p:nvPr/>
        </p:nvSpPr>
        <p:spPr>
          <a:xfrm xmlns:a="http://schemas.openxmlformats.org/drawingml/2006/main">
            <a:off x="4400550"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Audio + text + turns</a:t>
            </a:r>
          </a:p>
        </p:txBody>
      </p:sp>
      <p:sp>
        <p:nvSpPr>
          <p:cNvPr id="26" name="">
            <a:extLst xmlns:a="http://schemas.openxmlformats.org/drawingml/2006/main">
              <a:ext uri="{FF2B5EF4-FFF2-40B4-BE49-F238E27FC236}">
                <a16:creationId xmlns:a16="http://schemas.microsoft.com/office/drawing/2014/main" id="{D7F337BB-8B51-4927-9DE4-8B68127ECDC9}"/>
              </a:ext>
            </a:extLst>
          </p:cNvPr>
          <p:cNvSpPr>
            <a:spLocks xmlns:a="http://schemas.openxmlformats.org/drawingml/2006/main" noGrp="1"/>
          </p:cNvSpPr>
          <p:nvPr/>
        </p:nvSpPr>
        <p:spPr>
          <a:xfrm xmlns:a="http://schemas.openxmlformats.org/drawingml/2006/main">
            <a:off x="6181725" y="2333625"/>
            <a:ext cx="1724025" cy="990600"/>
          </a:xfrm>
          <a:prstGeom xmlns:a="http://schemas.openxmlformats.org/drawingml/2006/main" prst="roundRect">
            <a:avLst>
              <a:gd name="adj" fmla="val 5769"/>
            </a:avLst>
          </a:prstGeom>
          <a:solidFill xmlns:a="http://schemas.openxmlformats.org/drawingml/2006/main">
            <a:srgbClr val="F0ECF8"/>
          </a:solidFill>
          <a:ln xmlns:a="http://schemas.openxmlformats.org/drawingml/2006/main" w="9525">
            <a:solidFill>
              <a:srgbClr val="6C4FA3"/>
            </a:solidFill>
            <a:prstDash val="solid"/>
          </a:ln>
        </p:spPr>
      </p:sp>
      <p:sp>
        <p:nvSpPr>
          <p:cNvPr id="27" name="">
            <a:extLst xmlns:a="http://schemas.openxmlformats.org/drawingml/2006/main">
              <a:ext uri="{FF2B5EF4-FFF2-40B4-BE49-F238E27FC236}">
                <a16:creationId xmlns:a16="http://schemas.microsoft.com/office/drawing/2014/main" id="{D657594D-4055-4E73-B30F-0EFD92C06437}"/>
              </a:ext>
            </a:extLst>
          </p:cNvPr>
          <p:cNvSpPr>
            <a:spLocks xmlns:a="http://schemas.openxmlformats.org/drawingml/2006/main" noGrp="1"/>
          </p:cNvSpPr>
          <p:nvPr/>
        </p:nvSpPr>
        <p:spPr>
          <a:xfrm xmlns:a="http://schemas.openxmlformats.org/drawingml/2006/main">
            <a:off x="6296025"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6C4FA3"/>
                </a:solidFill>
                <a:latin typeface="Aptos"/>
                <a:ea typeface="Aptos"/>
                <a:cs typeface="Aptos"/>
              </a:defRPr>
            </a:pPr>
            <a:r>
              <a:rPr sz="1350" b="1" i="0">
                <a:solidFill>
                  <a:srgbClr val="6C4FA3"/>
                </a:solidFill>
                <a:latin typeface="Aptos"/>
                <a:ea typeface="Aptos"/>
                <a:cs typeface="Aptos"/>
              </a:rPr>
              <a:t>Scoring</a:t>
            </a:r>
          </a:p>
        </p:txBody>
      </p:sp>
      <p:sp>
        <p:nvSpPr>
          <p:cNvPr id="28" name="">
            <a:extLst xmlns:a="http://schemas.openxmlformats.org/drawingml/2006/main">
              <a:ext uri="{FF2B5EF4-FFF2-40B4-BE49-F238E27FC236}">
                <a16:creationId xmlns:a16="http://schemas.microsoft.com/office/drawing/2014/main" id="{AD78F77D-BD82-4608-B930-18C182482C53}"/>
              </a:ext>
            </a:extLst>
          </p:cNvPr>
          <p:cNvSpPr>
            <a:spLocks xmlns:a="http://schemas.openxmlformats.org/drawingml/2006/main" noGrp="1"/>
          </p:cNvSpPr>
          <p:nvPr/>
        </p:nvSpPr>
        <p:spPr>
          <a:xfrm xmlns:a="http://schemas.openxmlformats.org/drawingml/2006/main">
            <a:off x="6296025"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Models + late fusion</a:t>
            </a:r>
          </a:p>
        </p:txBody>
      </p:sp>
      <p:sp>
        <p:nvSpPr>
          <p:cNvPr id="29" name="">
            <a:extLst xmlns:a="http://schemas.openxmlformats.org/drawingml/2006/main">
              <a:ext uri="{FF2B5EF4-FFF2-40B4-BE49-F238E27FC236}">
                <a16:creationId xmlns:a16="http://schemas.microsoft.com/office/drawing/2014/main" id="{AE2151FA-E12A-4126-9955-99076D35B0FA}"/>
              </a:ext>
            </a:extLst>
          </p:cNvPr>
          <p:cNvSpPr>
            <a:spLocks xmlns:a="http://schemas.openxmlformats.org/drawingml/2006/main" noGrp="1"/>
          </p:cNvSpPr>
          <p:nvPr/>
        </p:nvSpPr>
        <p:spPr>
          <a:xfrm xmlns:a="http://schemas.openxmlformats.org/drawingml/2006/main">
            <a:off x="8077200" y="2333625"/>
            <a:ext cx="1724025" cy="990600"/>
          </a:xfrm>
          <a:prstGeom xmlns:a="http://schemas.openxmlformats.org/drawingml/2006/main" prst="roundRect">
            <a:avLst>
              <a:gd name="adj" fmla="val 5769"/>
            </a:avLst>
          </a:prstGeom>
          <a:solidFill xmlns:a="http://schemas.openxmlformats.org/drawingml/2006/main">
            <a:srgbClr val="FBEAEA"/>
          </a:solidFill>
          <a:ln xmlns:a="http://schemas.openxmlformats.org/drawingml/2006/main" w="9525">
            <a:solidFill>
              <a:srgbClr val="B43D3D"/>
            </a:solidFill>
            <a:prstDash val="solid"/>
          </a:ln>
        </p:spPr>
      </p:sp>
      <p:sp>
        <p:nvSpPr>
          <p:cNvPr id="30" name="">
            <a:extLst xmlns:a="http://schemas.openxmlformats.org/drawingml/2006/main">
              <a:ext uri="{FF2B5EF4-FFF2-40B4-BE49-F238E27FC236}">
                <a16:creationId xmlns:a16="http://schemas.microsoft.com/office/drawing/2014/main" id="{8C3D85C7-1DC3-461F-997D-6F12381D8900}"/>
              </a:ext>
            </a:extLst>
          </p:cNvPr>
          <p:cNvSpPr>
            <a:spLocks xmlns:a="http://schemas.openxmlformats.org/drawingml/2006/main" noGrp="1"/>
          </p:cNvSpPr>
          <p:nvPr/>
        </p:nvSpPr>
        <p:spPr>
          <a:xfrm xmlns:a="http://schemas.openxmlformats.org/drawingml/2006/main">
            <a:off x="8191500"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Calibration</a:t>
            </a:r>
          </a:p>
        </p:txBody>
      </p:sp>
      <p:sp>
        <p:nvSpPr>
          <p:cNvPr id="31" name="">
            <a:extLst xmlns:a="http://schemas.openxmlformats.org/drawingml/2006/main">
              <a:ext uri="{FF2B5EF4-FFF2-40B4-BE49-F238E27FC236}">
                <a16:creationId xmlns:a16="http://schemas.microsoft.com/office/drawing/2014/main" id="{748C0D7A-77C5-4826-B010-AF9D4115C318}"/>
              </a:ext>
            </a:extLst>
          </p:cNvPr>
          <p:cNvSpPr>
            <a:spLocks xmlns:a="http://schemas.openxmlformats.org/drawingml/2006/main" noGrp="1"/>
          </p:cNvSpPr>
          <p:nvPr/>
        </p:nvSpPr>
        <p:spPr>
          <a:xfrm xmlns:a="http://schemas.openxmlformats.org/drawingml/2006/main">
            <a:off x="8191500"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Confidence + thresholds</a:t>
            </a:r>
          </a:p>
        </p:txBody>
      </p:sp>
      <p:sp>
        <p:nvSpPr>
          <p:cNvPr id="32" name="">
            <a:extLst xmlns:a="http://schemas.openxmlformats.org/drawingml/2006/main">
              <a:ext uri="{FF2B5EF4-FFF2-40B4-BE49-F238E27FC236}">
                <a16:creationId xmlns:a16="http://schemas.microsoft.com/office/drawing/2014/main" id="{5E25D936-5D94-40BD-983F-31060BF4D9BA}"/>
              </a:ext>
            </a:extLst>
          </p:cNvPr>
          <p:cNvSpPr>
            <a:spLocks xmlns:a="http://schemas.openxmlformats.org/drawingml/2006/main" noGrp="1"/>
          </p:cNvSpPr>
          <p:nvPr/>
        </p:nvSpPr>
        <p:spPr>
          <a:xfrm xmlns:a="http://schemas.openxmlformats.org/drawingml/2006/main">
            <a:off x="9972675" y="2333625"/>
            <a:ext cx="1724025" cy="990600"/>
          </a:xfrm>
          <a:prstGeom xmlns:a="http://schemas.openxmlformats.org/drawingml/2006/main" prst="roundRect">
            <a:avLst>
              <a:gd name="adj" fmla="val 5769"/>
            </a:avLst>
          </a:prstGeom>
          <a:solidFill xmlns:a="http://schemas.openxmlformats.org/drawingml/2006/main">
            <a:srgbClr val="E7F4ED"/>
          </a:solidFill>
          <a:ln xmlns:a="http://schemas.openxmlformats.org/drawingml/2006/main" w="9525">
            <a:solidFill>
              <a:srgbClr val="2F7D5C"/>
            </a:solidFill>
            <a:prstDash val="solid"/>
          </a:ln>
        </p:spPr>
      </p:sp>
      <p:sp>
        <p:nvSpPr>
          <p:cNvPr id="33" name="">
            <a:extLst xmlns:a="http://schemas.openxmlformats.org/drawingml/2006/main">
              <a:ext uri="{FF2B5EF4-FFF2-40B4-BE49-F238E27FC236}">
                <a16:creationId xmlns:a16="http://schemas.microsoft.com/office/drawing/2014/main" id="{52350617-A3CE-42AE-93E8-DE4AC9E0121E}"/>
              </a:ext>
            </a:extLst>
          </p:cNvPr>
          <p:cNvSpPr>
            <a:spLocks xmlns:a="http://schemas.openxmlformats.org/drawingml/2006/main" noGrp="1"/>
          </p:cNvSpPr>
          <p:nvPr/>
        </p:nvSpPr>
        <p:spPr>
          <a:xfrm xmlns:a="http://schemas.openxmlformats.org/drawingml/2006/main">
            <a:off x="10086975" y="2466975"/>
            <a:ext cx="1495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Report</a:t>
            </a:r>
          </a:p>
        </p:txBody>
      </p:sp>
      <p:sp>
        <p:nvSpPr>
          <p:cNvPr id="34" name="">
            <a:extLst xmlns:a="http://schemas.openxmlformats.org/drawingml/2006/main">
              <a:ext uri="{FF2B5EF4-FFF2-40B4-BE49-F238E27FC236}">
                <a16:creationId xmlns:a16="http://schemas.microsoft.com/office/drawing/2014/main" id="{0ACC4DE5-D8C9-4C92-B5B3-58FB6E74717F}"/>
              </a:ext>
            </a:extLst>
          </p:cNvPr>
          <p:cNvSpPr>
            <a:spLocks xmlns:a="http://schemas.openxmlformats.org/drawingml/2006/main" noGrp="1"/>
          </p:cNvSpPr>
          <p:nvPr/>
        </p:nvSpPr>
        <p:spPr>
          <a:xfrm xmlns:a="http://schemas.openxmlformats.org/drawingml/2006/main">
            <a:off x="10086975" y="2752725"/>
            <a:ext cx="14954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Profile + teacher queue</a:t>
            </a:r>
          </a:p>
        </p:txBody>
      </p:sp>
      <p:sp>
        <p:nvSpPr>
          <p:cNvPr id="35" name="">
            <a:extLst xmlns:a="http://schemas.openxmlformats.org/drawingml/2006/main">
              <a:ext uri="{FF2B5EF4-FFF2-40B4-BE49-F238E27FC236}">
                <a16:creationId xmlns:a16="http://schemas.microsoft.com/office/drawing/2014/main" id="{D5F3E78F-CA5A-4557-9A3F-7084986BA19E}"/>
              </a:ext>
            </a:extLst>
          </p:cNvPr>
          <p:cNvSpPr>
            <a:spLocks xmlns:a="http://schemas.openxmlformats.org/drawingml/2006/main" noGrp="1"/>
          </p:cNvSpPr>
          <p:nvPr/>
        </p:nvSpPr>
        <p:spPr>
          <a:xfrm xmlns:a="http://schemas.openxmlformats.org/drawingml/2006/main">
            <a:off x="1143000" y="3905250"/>
            <a:ext cx="4286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116F1AF7-564C-4EC5-80C4-15417EE68664}"/>
              </a:ext>
            </a:extLst>
          </p:cNvPr>
          <p:cNvSpPr>
            <a:spLocks xmlns:a="http://schemas.openxmlformats.org/drawingml/2006/main" noGrp="1"/>
          </p:cNvSpPr>
          <p:nvPr/>
        </p:nvSpPr>
        <p:spPr>
          <a:xfrm xmlns:a="http://schemas.openxmlformats.org/drawingml/2006/main">
            <a:off x="1143000" y="40767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Nguyên tắc version hóa</a:t>
            </a:r>
          </a:p>
        </p:txBody>
      </p:sp>
      <p:sp>
        <p:nvSpPr>
          <p:cNvPr id="37" name="">
            <a:extLst xmlns:a="http://schemas.openxmlformats.org/drawingml/2006/main">
              <a:ext uri="{FF2B5EF4-FFF2-40B4-BE49-F238E27FC236}">
                <a16:creationId xmlns:a16="http://schemas.microsoft.com/office/drawing/2014/main" id="{0D08E8DA-B340-4D3E-A0AC-B523E3BE9B72}"/>
              </a:ext>
            </a:extLst>
          </p:cNvPr>
          <p:cNvSpPr>
            <a:spLocks xmlns:a="http://schemas.openxmlformats.org/drawingml/2006/main" noGrp="1"/>
          </p:cNvSpPr>
          <p:nvPr/>
        </p:nvSpPr>
        <p:spPr>
          <a:xfrm xmlns:a="http://schemas.openxmlformats.org/drawingml/2006/main">
            <a:off x="1143000" y="4648200"/>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audio_id, transcript_version, feature_version, rubric_version, model_version và calibration_version.</a:t>
            </a:r>
          </a:p>
        </p:txBody>
      </p:sp>
      <p:sp>
        <p:nvSpPr>
          <p:cNvPr id="38" name="">
            <a:extLst xmlns:a="http://schemas.openxmlformats.org/drawingml/2006/main">
              <a:ext uri="{FF2B5EF4-FFF2-40B4-BE49-F238E27FC236}">
                <a16:creationId xmlns:a16="http://schemas.microsoft.com/office/drawing/2014/main" id="{BF16391F-72DA-4EB3-9BE8-02796773D136}"/>
              </a:ext>
            </a:extLst>
          </p:cNvPr>
          <p:cNvSpPr>
            <a:spLocks xmlns:a="http://schemas.openxmlformats.org/drawingml/2006/main" noGrp="1"/>
          </p:cNvSpPr>
          <p:nvPr/>
        </p:nvSpPr>
        <p:spPr>
          <a:xfrm xmlns:a="http://schemas.openxmlformats.org/drawingml/2006/main">
            <a:off x="6762750" y="3905250"/>
            <a:ext cx="4286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96824D4-B3CD-4BB2-B4A3-35A75A8BC9BC}"/>
              </a:ext>
            </a:extLst>
          </p:cNvPr>
          <p:cNvSpPr>
            <a:spLocks xmlns:a="http://schemas.openxmlformats.org/drawingml/2006/main" noGrp="1"/>
          </p:cNvSpPr>
          <p:nvPr/>
        </p:nvSpPr>
        <p:spPr>
          <a:xfrm xmlns:a="http://schemas.openxmlformats.org/drawingml/2006/main">
            <a:off x="6762750" y="4076700"/>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Nguyên tắc truy vết</a:t>
            </a:r>
          </a:p>
        </p:txBody>
      </p:sp>
      <p:sp>
        <p:nvSpPr>
          <p:cNvPr id="40" name="">
            <a:extLst xmlns:a="http://schemas.openxmlformats.org/drawingml/2006/main">
              <a:ext uri="{FF2B5EF4-FFF2-40B4-BE49-F238E27FC236}">
                <a16:creationId xmlns:a16="http://schemas.microsoft.com/office/drawing/2014/main" id="{2B5F88E2-E987-4538-9C7A-C117007D9A04}"/>
              </a:ext>
            </a:extLst>
          </p:cNvPr>
          <p:cNvSpPr>
            <a:spLocks xmlns:a="http://schemas.openxmlformats.org/drawingml/2006/main" noGrp="1"/>
          </p:cNvSpPr>
          <p:nvPr/>
        </p:nvSpPr>
        <p:spPr>
          <a:xfrm xmlns:a="http://schemas.openxmlformats.org/drawingml/2006/main">
            <a:off x="6762750" y="4648200"/>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Mỗi nhận xét phải trỏ về evidence_id, timestamp hoặc đoạn transcript cụ thể.</a:t>
            </a:r>
          </a:p>
        </p:txBody>
      </p:sp>
    </p:spTree>
    <p:extLst>
      <p:ext uri="{BB962C8B-B14F-4D97-AF65-F5344CB8AC3E}">
        <p14:creationId xmlns:p14="http://schemas.microsoft.com/office/powerpoint/2010/main" val="347524060"/>
      </p:ext>
    </p:extLst>
  </p:cSld>
</p:sld>
</file>

<file path=ppt/slides/slide2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C185AAF-7FDF-46E5-8EB1-499D42328CBE}"/>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TRÍCH XUẤT ĐẶC TRƯNG</a:t>
            </a:r>
          </a:p>
        </p:txBody>
      </p:sp>
      <p:sp>
        <p:nvSpPr>
          <p:cNvPr id="2" name="">
            <a:extLst xmlns:a="http://schemas.openxmlformats.org/drawingml/2006/main">
              <a:ext uri="{FF2B5EF4-FFF2-40B4-BE49-F238E27FC236}">
                <a16:creationId xmlns:a16="http://schemas.microsoft.com/office/drawing/2014/main" id="{07AEAAB5-15E0-41AE-BD0C-2B710408837E}"/>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Ba nhánh bằng chứng được tạo độc lập trước khi kết hợp</a:t>
            </a:r>
          </a:p>
        </p:txBody>
      </p:sp>
      <p:sp>
        <p:nvSpPr>
          <p:cNvPr id="3" name="">
            <a:extLst xmlns:a="http://schemas.openxmlformats.org/drawingml/2006/main">
              <a:ext uri="{FF2B5EF4-FFF2-40B4-BE49-F238E27FC236}">
                <a16:creationId xmlns:a16="http://schemas.microsoft.com/office/drawing/2014/main" id="{13052B80-5CAA-47F0-876B-E0AF837AE3EA}"/>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Khi một nguồn sai, nhóm có thể biết mô hình đang dựa vào đâu.</a:t>
            </a:r>
          </a:p>
        </p:txBody>
      </p:sp>
      <p:sp>
        <p:nvSpPr>
          <p:cNvPr id="4" name="">
            <a:extLst xmlns:a="http://schemas.openxmlformats.org/drawingml/2006/main">
              <a:ext uri="{FF2B5EF4-FFF2-40B4-BE49-F238E27FC236}">
                <a16:creationId xmlns:a16="http://schemas.microsoft.com/office/drawing/2014/main" id="{F3BF92D4-12C6-473D-86DD-E66133424FA6}"/>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52BBE37-C6B9-44C2-9DBE-D245911E05E0}"/>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KIẾN TRÚC</a:t>
            </a:r>
          </a:p>
        </p:txBody>
      </p:sp>
      <p:sp>
        <p:nvSpPr>
          <p:cNvPr id="6" name="">
            <a:extLst xmlns:a="http://schemas.openxmlformats.org/drawingml/2006/main">
              <a:ext uri="{FF2B5EF4-FFF2-40B4-BE49-F238E27FC236}">
                <a16:creationId xmlns:a16="http://schemas.microsoft.com/office/drawing/2014/main" id="{022AF310-679B-4A3F-A0B3-E8E39AC28F9E}"/>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21</a:t>
            </a:r>
          </a:p>
        </p:txBody>
      </p:sp>
      <p:sp>
        <p:nvSpPr>
          <p:cNvPr id="7" name="">
            <a:extLst xmlns:a="http://schemas.openxmlformats.org/drawingml/2006/main">
              <a:ext uri="{FF2B5EF4-FFF2-40B4-BE49-F238E27FC236}">
                <a16:creationId xmlns:a16="http://schemas.microsoft.com/office/drawing/2014/main" id="{8D2E80D7-A0C2-4691-89EB-4FCA76D8EBC2}"/>
              </a:ext>
            </a:extLst>
          </p:cNvPr>
          <p:cNvSpPr>
            <a:spLocks xmlns:a="http://schemas.openxmlformats.org/drawingml/2006/main" noGrp="1"/>
          </p:cNvSpPr>
          <p:nvPr/>
        </p:nvSpPr>
        <p:spPr>
          <a:xfrm xmlns:a="http://schemas.openxmlformats.org/drawingml/2006/main">
            <a:off x="666750" y="2143125"/>
            <a:ext cx="33337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D6D5D7B-5F9E-48E2-8F59-281C889C9A8D}"/>
              </a:ext>
            </a:extLst>
          </p:cNvPr>
          <p:cNvSpPr>
            <a:spLocks xmlns:a="http://schemas.openxmlformats.org/drawingml/2006/main" noGrp="1"/>
          </p:cNvSpPr>
          <p:nvPr/>
        </p:nvSpPr>
        <p:spPr>
          <a:xfrm xmlns:a="http://schemas.openxmlformats.org/drawingml/2006/main">
            <a:off x="666750" y="23145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Audio</a:t>
            </a:r>
          </a:p>
        </p:txBody>
      </p:sp>
      <p:sp>
        <p:nvSpPr>
          <p:cNvPr id="9" name="">
            <a:extLst xmlns:a="http://schemas.openxmlformats.org/drawingml/2006/main">
              <a:ext uri="{FF2B5EF4-FFF2-40B4-BE49-F238E27FC236}">
                <a16:creationId xmlns:a16="http://schemas.microsoft.com/office/drawing/2014/main" id="{76D0BFC5-AC2E-4E8E-80DA-F397F4D355C6}"/>
              </a:ext>
            </a:extLst>
          </p:cNvPr>
          <p:cNvSpPr>
            <a:spLocks xmlns:a="http://schemas.openxmlformats.org/drawingml/2006/main" noGrp="1"/>
          </p:cNvSpPr>
          <p:nvPr/>
        </p:nvSpPr>
        <p:spPr>
          <a:xfrm xmlns:a="http://schemas.openxmlformats.org/drawingml/2006/main">
            <a:off x="666750" y="2886075"/>
            <a:ext cx="3333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Duration, voiced ratio, pause, articulation rate, F0, rhythm, GOP và chất lượng thu âm.</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Dùng chủ yếu cho Fluency và Phonology.</a:t>
            </a:r>
          </a:p>
        </p:txBody>
      </p:sp>
      <p:sp>
        <p:nvSpPr>
          <p:cNvPr id="10" name="">
            <a:extLst xmlns:a="http://schemas.openxmlformats.org/drawingml/2006/main">
              <a:ext uri="{FF2B5EF4-FFF2-40B4-BE49-F238E27FC236}">
                <a16:creationId xmlns:a16="http://schemas.microsoft.com/office/drawing/2014/main" id="{D35E99A0-74DF-406D-A50A-61EB9BE8DD4F}"/>
              </a:ext>
            </a:extLst>
          </p:cNvPr>
          <p:cNvSpPr>
            <a:spLocks xmlns:a="http://schemas.openxmlformats.org/drawingml/2006/main" noGrp="1"/>
          </p:cNvSpPr>
          <p:nvPr/>
        </p:nvSpPr>
        <p:spPr>
          <a:xfrm xmlns:a="http://schemas.openxmlformats.org/drawingml/2006/main">
            <a:off x="4429125" y="2143125"/>
            <a:ext cx="33337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5C9BB5C-8E84-4191-A874-3C43F9DB2720}"/>
              </a:ext>
            </a:extLst>
          </p:cNvPr>
          <p:cNvSpPr>
            <a:spLocks xmlns:a="http://schemas.openxmlformats.org/drawingml/2006/main" noGrp="1"/>
          </p:cNvSpPr>
          <p:nvPr/>
        </p:nvSpPr>
        <p:spPr>
          <a:xfrm xmlns:a="http://schemas.openxmlformats.org/drawingml/2006/main">
            <a:off x="4429125" y="23145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Transcript</a:t>
            </a:r>
          </a:p>
        </p:txBody>
      </p:sp>
      <p:sp>
        <p:nvSpPr>
          <p:cNvPr id="12" name="">
            <a:extLst xmlns:a="http://schemas.openxmlformats.org/drawingml/2006/main">
              <a:ext uri="{FF2B5EF4-FFF2-40B4-BE49-F238E27FC236}">
                <a16:creationId xmlns:a16="http://schemas.microsoft.com/office/drawing/2014/main" id="{4FD0DD02-B499-4E32-A1A9-7142B8539155}"/>
              </a:ext>
            </a:extLst>
          </p:cNvPr>
          <p:cNvSpPr>
            <a:spLocks xmlns:a="http://schemas.openxmlformats.org/drawingml/2006/main" noGrp="1"/>
          </p:cNvSpPr>
          <p:nvPr/>
        </p:nvSpPr>
        <p:spPr>
          <a:xfrm xmlns:a="http://schemas.openxmlformats.org/drawingml/2006/main">
            <a:off x="4429125" y="2886075"/>
            <a:ext cx="3333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Từ vựng, cấu trúc, lỗi, từ nối, semantic relevance và self-repair.</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Dùng chủ yếu cho Range, Accuracy và Coherence.</a:t>
            </a:r>
          </a:p>
        </p:txBody>
      </p:sp>
      <p:sp>
        <p:nvSpPr>
          <p:cNvPr id="13" name="">
            <a:extLst xmlns:a="http://schemas.openxmlformats.org/drawingml/2006/main">
              <a:ext uri="{FF2B5EF4-FFF2-40B4-BE49-F238E27FC236}">
                <a16:creationId xmlns:a16="http://schemas.microsoft.com/office/drawing/2014/main" id="{DC682D89-E947-41A4-9F2C-EF9318307088}"/>
              </a:ext>
            </a:extLst>
          </p:cNvPr>
          <p:cNvSpPr>
            <a:spLocks xmlns:a="http://schemas.openxmlformats.org/drawingml/2006/main" noGrp="1"/>
          </p:cNvSpPr>
          <p:nvPr/>
        </p:nvSpPr>
        <p:spPr>
          <a:xfrm xmlns:a="http://schemas.openxmlformats.org/drawingml/2006/main">
            <a:off x="8191500" y="2143125"/>
            <a:ext cx="33337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D1F2DD-1C99-4A56-9C95-8F9AAD07D046}"/>
              </a:ext>
            </a:extLst>
          </p:cNvPr>
          <p:cNvSpPr>
            <a:spLocks xmlns:a="http://schemas.openxmlformats.org/drawingml/2006/main" noGrp="1"/>
          </p:cNvSpPr>
          <p:nvPr/>
        </p:nvSpPr>
        <p:spPr>
          <a:xfrm xmlns:a="http://schemas.openxmlformats.org/drawingml/2006/main">
            <a:off x="8191500" y="2314575"/>
            <a:ext cx="3333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Interaction</a:t>
            </a:r>
          </a:p>
        </p:txBody>
      </p:sp>
      <p:sp>
        <p:nvSpPr>
          <p:cNvPr id="15" name="">
            <a:extLst xmlns:a="http://schemas.openxmlformats.org/drawingml/2006/main">
              <a:ext uri="{FF2B5EF4-FFF2-40B4-BE49-F238E27FC236}">
                <a16:creationId xmlns:a16="http://schemas.microsoft.com/office/drawing/2014/main" id="{99F9A8EB-4833-4200-89AA-3E0E51DDD0F2}"/>
              </a:ext>
            </a:extLst>
          </p:cNvPr>
          <p:cNvSpPr>
            <a:spLocks xmlns:a="http://schemas.openxmlformats.org/drawingml/2006/main" noGrp="1"/>
          </p:cNvSpPr>
          <p:nvPr/>
        </p:nvSpPr>
        <p:spPr>
          <a:xfrm xmlns:a="http://schemas.openxmlformats.org/drawingml/2006/main">
            <a:off x="8191500" y="2886075"/>
            <a:ext cx="33337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Turn count, latency client-side, clarification, follow-up, relevance và completion.</a:t>
            </a:r>
          </a:p>
          <a:p xmlns:a="http://schemas.openxmlformats.org/drawingml/2006/main">
            <a:r>
              <a:t/>
            </a:r>
          </a:p>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Chỉ dùng khi Task C cung cấp đủ lượt nói.</a:t>
            </a:r>
          </a:p>
        </p:txBody>
      </p:sp>
      <p:sp>
        <p:nvSpPr>
          <p:cNvPr id="16" name="">
            <a:extLst xmlns:a="http://schemas.openxmlformats.org/drawingml/2006/main">
              <a:ext uri="{FF2B5EF4-FFF2-40B4-BE49-F238E27FC236}">
                <a16:creationId xmlns:a16="http://schemas.microsoft.com/office/drawing/2014/main" id="{064DD3F4-1E49-4476-83AC-FE47F480E93F}"/>
              </a:ext>
            </a:extLst>
          </p:cNvPr>
          <p:cNvSpPr>
            <a:spLocks xmlns:a="http://schemas.openxmlformats.org/drawingml/2006/main" noGrp="1"/>
          </p:cNvSpPr>
          <p:nvPr/>
        </p:nvSpPr>
        <p:spPr>
          <a:xfrm xmlns:a="http://schemas.openxmlformats.org/drawingml/2006/main">
            <a:off x="1285875" y="5286375"/>
            <a:ext cx="9620250" cy="704850"/>
          </a:xfrm>
          <a:prstGeom xmlns:a="http://schemas.openxmlformats.org/drawingml/2006/main" prst="roundRect">
            <a:avLst>
              <a:gd name="adj" fmla="val 8108"/>
            </a:avLst>
          </a:prstGeom>
          <a:solidFill xmlns:a="http://schemas.openxmlformats.org/drawingml/2006/main">
            <a:srgbClr val="FFF2D5"/>
          </a:solidFill>
          <a:ln xmlns:a="http://schemas.openxmlformats.org/drawingml/2006/main" w="9525">
            <a:solidFill>
              <a:srgbClr val="A96500"/>
            </a:solidFill>
            <a:prstDash val="solid"/>
          </a:ln>
        </p:spPr>
      </p:sp>
      <p:sp>
        <p:nvSpPr>
          <p:cNvPr id="17" name="">
            <a:extLst xmlns:a="http://schemas.openxmlformats.org/drawingml/2006/main">
              <a:ext uri="{FF2B5EF4-FFF2-40B4-BE49-F238E27FC236}">
                <a16:creationId xmlns:a16="http://schemas.microsoft.com/office/drawing/2014/main" id="{CA5EDB83-6D64-43D2-BD72-1886C7B6614C}"/>
              </a:ext>
            </a:extLst>
          </p:cNvPr>
          <p:cNvSpPr>
            <a:spLocks xmlns:a="http://schemas.openxmlformats.org/drawingml/2006/main" noGrp="1"/>
          </p:cNvSpPr>
          <p:nvPr/>
        </p:nvSpPr>
        <p:spPr>
          <a:xfrm xmlns:a="http://schemas.openxmlformats.org/drawingml/2006/main">
            <a:off x="1476375" y="5419725"/>
            <a:ext cx="923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017"/>
          </a:bodyPr>
          <a:lstStyle xmlns:a="http://schemas.openxmlformats.org/drawingml/2006/main"/>
          <a:p xmlns:a="http://schemas.openxmlformats.org/drawingml/2006/main">
            <a:pPr algn="l">
              <a:lnSpc>
                <a:spcPct val="105000"/>
              </a:lnSpc>
              <a:buNone/>
              <a:defRPr sz="1500" b="1" i="0">
                <a:solidFill>
                  <a:srgbClr val="A96500"/>
                </a:solidFill>
                <a:latin typeface="Aptos"/>
                <a:ea typeface="Aptos"/>
                <a:cs typeface="Aptos"/>
              </a:defRPr>
            </a:pPr>
            <a:r>
              <a:rPr sz="1500" b="1" i="0">
                <a:solidFill>
                  <a:srgbClr val="A96500"/>
                </a:solidFill>
                <a:latin typeface="Aptos"/>
                <a:ea typeface="Aptos"/>
                <a:cs typeface="Aptos"/>
              </a:rPr>
              <a:t>Quality là nhánh kiểm soát: noise, clipping và ASR risk quyết định reject/review; không được dùng trực tiếp làm điểm năng lực.</a:t>
            </a:r>
          </a:p>
        </p:txBody>
      </p:sp>
    </p:spTree>
    <p:extLst>
      <p:ext uri="{BB962C8B-B14F-4D97-AF65-F5344CB8AC3E}">
        <p14:creationId xmlns:p14="http://schemas.microsoft.com/office/powerpoint/2010/main" val="1957188746"/>
      </p:ext>
    </p:extLst>
  </p:cSld>
</p:sld>
</file>

<file path=ppt/slides/slide2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E5CEC36-2BD8-4F53-BE46-2374B722E21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RỦI RO ASR</a:t>
            </a:r>
          </a:p>
        </p:txBody>
      </p:sp>
      <p:sp>
        <p:nvSpPr>
          <p:cNvPr id="2" name="">
            <a:extLst xmlns:a="http://schemas.openxmlformats.org/drawingml/2006/main">
              <a:ext uri="{FF2B5EF4-FFF2-40B4-BE49-F238E27FC236}">
                <a16:creationId xmlns:a16="http://schemas.microsoft.com/office/drawing/2014/main" id="{AE9E8560-587A-49A4-8F53-1C9C113A2E28}"/>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Một từ nhận sai có thể tạo thành nhiều lỗi giả ở các bước phía sau</a:t>
            </a:r>
          </a:p>
        </p:txBody>
      </p:sp>
      <p:sp>
        <p:nvSpPr>
          <p:cNvPr id="3" name="">
            <a:extLst xmlns:a="http://schemas.openxmlformats.org/drawingml/2006/main">
              <a:ext uri="{FF2B5EF4-FFF2-40B4-BE49-F238E27FC236}">
                <a16:creationId xmlns:a16="http://schemas.microsoft.com/office/drawing/2014/main" id="{862435E5-520A-4998-B95B-8CF145B9C29C}"/>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ASR là cảm biến không hoàn hảo, không phải ground truth.</a:t>
            </a:r>
          </a:p>
        </p:txBody>
      </p:sp>
      <p:sp>
        <p:nvSpPr>
          <p:cNvPr id="4" name="">
            <a:extLst xmlns:a="http://schemas.openxmlformats.org/drawingml/2006/main">
              <a:ext uri="{FF2B5EF4-FFF2-40B4-BE49-F238E27FC236}">
                <a16:creationId xmlns:a16="http://schemas.microsoft.com/office/drawing/2014/main" id="{BF459853-3BB2-404A-B78A-2CFE1973D301}"/>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AE81DB-6D5D-4CE2-B544-7197D84FEDD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KIẾN TRÚC</a:t>
            </a:r>
          </a:p>
        </p:txBody>
      </p:sp>
      <p:sp>
        <p:nvSpPr>
          <p:cNvPr id="6" name="">
            <a:extLst xmlns:a="http://schemas.openxmlformats.org/drawingml/2006/main">
              <a:ext uri="{FF2B5EF4-FFF2-40B4-BE49-F238E27FC236}">
                <a16:creationId xmlns:a16="http://schemas.microsoft.com/office/drawing/2014/main" id="{1AA8E8AB-3978-41F3-8AAC-6A20EFB76C00}"/>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22</a:t>
            </a:r>
          </a:p>
        </p:txBody>
      </p:sp>
      <p:sp>
        <p:nvSpPr>
          <p:cNvPr id="7" name="">
            <a:extLst xmlns:a="http://schemas.openxmlformats.org/drawingml/2006/main">
              <a:ext uri="{FF2B5EF4-FFF2-40B4-BE49-F238E27FC236}">
                <a16:creationId xmlns:a16="http://schemas.microsoft.com/office/drawing/2014/main" id="{91E55A3B-652B-498E-8553-2B5A971D2A07}"/>
              </a:ext>
            </a:extLst>
          </p:cNvPr>
          <p:cNvSpPr>
            <a:spLocks xmlns:a="http://schemas.openxmlformats.org/drawingml/2006/main" noGrp="1"/>
          </p:cNvSpPr>
          <p:nvPr/>
        </p:nvSpPr>
        <p:spPr>
          <a:xfrm xmlns:a="http://schemas.openxmlformats.org/drawingml/2006/main">
            <a:off x="3405188" y="26860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62D8A9-50D4-4373-BD5D-C8D1DFCE3B35}"/>
              </a:ext>
            </a:extLst>
          </p:cNvPr>
          <p:cNvSpPr>
            <a:spLocks xmlns:a="http://schemas.openxmlformats.org/drawingml/2006/main" noGrp="1"/>
          </p:cNvSpPr>
          <p:nvPr/>
        </p:nvSpPr>
        <p:spPr>
          <a:xfrm xmlns:a="http://schemas.openxmlformats.org/drawingml/2006/main">
            <a:off x="3500438" y="26384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A39374C-E8CD-45BB-9648-44833C705EB8}"/>
              </a:ext>
            </a:extLst>
          </p:cNvPr>
          <p:cNvSpPr>
            <a:spLocks xmlns:a="http://schemas.openxmlformats.org/drawingml/2006/main" noGrp="1"/>
          </p:cNvSpPr>
          <p:nvPr/>
        </p:nvSpPr>
        <p:spPr>
          <a:xfrm xmlns:a="http://schemas.openxmlformats.org/drawingml/2006/main">
            <a:off x="6019800" y="26860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627E867-22AD-43BE-8F89-E20169422E3C}"/>
              </a:ext>
            </a:extLst>
          </p:cNvPr>
          <p:cNvSpPr>
            <a:spLocks xmlns:a="http://schemas.openxmlformats.org/drawingml/2006/main" noGrp="1"/>
          </p:cNvSpPr>
          <p:nvPr/>
        </p:nvSpPr>
        <p:spPr>
          <a:xfrm xmlns:a="http://schemas.openxmlformats.org/drawingml/2006/main">
            <a:off x="6115050" y="26384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5DBE4B3-6D74-4644-928F-3A14D493D4E1}"/>
              </a:ext>
            </a:extLst>
          </p:cNvPr>
          <p:cNvSpPr>
            <a:spLocks xmlns:a="http://schemas.openxmlformats.org/drawingml/2006/main" noGrp="1"/>
          </p:cNvSpPr>
          <p:nvPr/>
        </p:nvSpPr>
        <p:spPr>
          <a:xfrm xmlns:a="http://schemas.openxmlformats.org/drawingml/2006/main">
            <a:off x="8634413" y="2686050"/>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F8D437-44EE-4237-8273-1739A78C701A}"/>
              </a:ext>
            </a:extLst>
          </p:cNvPr>
          <p:cNvSpPr>
            <a:spLocks xmlns:a="http://schemas.openxmlformats.org/drawingml/2006/main" noGrp="1"/>
          </p:cNvSpPr>
          <p:nvPr/>
        </p:nvSpPr>
        <p:spPr>
          <a:xfrm xmlns:a="http://schemas.openxmlformats.org/drawingml/2006/main">
            <a:off x="8729663" y="2638425"/>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CC405B-71F6-4472-8F3A-D0E1CAFBFC1D}"/>
              </a:ext>
            </a:extLst>
          </p:cNvPr>
          <p:cNvSpPr>
            <a:spLocks xmlns:a="http://schemas.openxmlformats.org/drawingml/2006/main" noGrp="1"/>
          </p:cNvSpPr>
          <p:nvPr/>
        </p:nvSpPr>
        <p:spPr>
          <a:xfrm xmlns:a="http://schemas.openxmlformats.org/drawingml/2006/main">
            <a:off x="952500" y="2238375"/>
            <a:ext cx="2443163" cy="952500"/>
          </a:xfrm>
          <a:prstGeom xmlns:a="http://schemas.openxmlformats.org/drawingml/2006/main" prst="roundRect">
            <a:avLst>
              <a:gd name="adj" fmla="val 6000"/>
            </a:avLst>
          </a:prstGeom>
          <a:solidFill xmlns:a="http://schemas.openxmlformats.org/drawingml/2006/main">
            <a:srgbClr val="E7F4ED"/>
          </a:solidFill>
          <a:ln xmlns:a="http://schemas.openxmlformats.org/drawingml/2006/main" w="9525">
            <a:solidFill>
              <a:srgbClr val="2F7D5C"/>
            </a:solidFill>
            <a:prstDash val="solid"/>
          </a:ln>
        </p:spPr>
      </p:sp>
      <p:sp>
        <p:nvSpPr>
          <p:cNvPr id="14" name="">
            <a:extLst xmlns:a="http://schemas.openxmlformats.org/drawingml/2006/main">
              <a:ext uri="{FF2B5EF4-FFF2-40B4-BE49-F238E27FC236}">
                <a16:creationId xmlns:a16="http://schemas.microsoft.com/office/drawing/2014/main" id="{AA4A5EE0-1FB8-4197-AD2A-971CC8B44630}"/>
              </a:ext>
            </a:extLst>
          </p:cNvPr>
          <p:cNvSpPr>
            <a:spLocks xmlns:a="http://schemas.openxmlformats.org/drawingml/2006/main" noGrp="1"/>
          </p:cNvSpPr>
          <p:nvPr/>
        </p:nvSpPr>
        <p:spPr>
          <a:xfrm xmlns:a="http://schemas.openxmlformats.org/drawingml/2006/main">
            <a:off x="1066800" y="2371725"/>
            <a:ext cx="2214563"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Người học nói đúng</a:t>
            </a:r>
          </a:p>
        </p:txBody>
      </p:sp>
      <p:sp>
        <p:nvSpPr>
          <p:cNvPr id="15" name="">
            <a:extLst xmlns:a="http://schemas.openxmlformats.org/drawingml/2006/main">
              <a:ext uri="{FF2B5EF4-FFF2-40B4-BE49-F238E27FC236}">
                <a16:creationId xmlns:a16="http://schemas.microsoft.com/office/drawing/2014/main" id="{337DD9B0-9DEA-4B49-A8E7-ED163FEDFC4C}"/>
              </a:ext>
            </a:extLst>
          </p:cNvPr>
          <p:cNvSpPr>
            <a:spLocks xmlns:a="http://schemas.openxmlformats.org/drawingml/2006/main" noGrp="1"/>
          </p:cNvSpPr>
          <p:nvPr/>
        </p:nvSpPr>
        <p:spPr>
          <a:xfrm xmlns:a="http://schemas.openxmlformats.org/drawingml/2006/main">
            <a:off x="1066800" y="2657475"/>
            <a:ext cx="22145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“I went to school”</a:t>
            </a:r>
          </a:p>
        </p:txBody>
      </p:sp>
      <p:sp>
        <p:nvSpPr>
          <p:cNvPr id="16" name="">
            <a:extLst xmlns:a="http://schemas.openxmlformats.org/drawingml/2006/main">
              <a:ext uri="{FF2B5EF4-FFF2-40B4-BE49-F238E27FC236}">
                <a16:creationId xmlns:a16="http://schemas.microsoft.com/office/drawing/2014/main" id="{56712812-F5FD-4211-A03C-0C11E41284B8}"/>
              </a:ext>
            </a:extLst>
          </p:cNvPr>
          <p:cNvSpPr>
            <a:spLocks xmlns:a="http://schemas.openxmlformats.org/drawingml/2006/main" noGrp="1"/>
          </p:cNvSpPr>
          <p:nvPr/>
        </p:nvSpPr>
        <p:spPr>
          <a:xfrm xmlns:a="http://schemas.openxmlformats.org/drawingml/2006/main">
            <a:off x="3567113" y="2238375"/>
            <a:ext cx="2443163" cy="952500"/>
          </a:xfrm>
          <a:prstGeom xmlns:a="http://schemas.openxmlformats.org/drawingml/2006/main" prst="roundRect">
            <a:avLst>
              <a:gd name="adj" fmla="val 6000"/>
            </a:avLst>
          </a:prstGeom>
          <a:solidFill xmlns:a="http://schemas.openxmlformats.org/drawingml/2006/main">
            <a:srgbClr val="FBEAEA"/>
          </a:solidFill>
          <a:ln xmlns:a="http://schemas.openxmlformats.org/drawingml/2006/main" w="9525">
            <a:solidFill>
              <a:srgbClr val="B43D3D"/>
            </a:solidFill>
            <a:prstDash val="solid"/>
          </a:ln>
        </p:spPr>
      </p:sp>
      <p:sp>
        <p:nvSpPr>
          <p:cNvPr id="17" name="">
            <a:extLst xmlns:a="http://schemas.openxmlformats.org/drawingml/2006/main">
              <a:ext uri="{FF2B5EF4-FFF2-40B4-BE49-F238E27FC236}">
                <a16:creationId xmlns:a16="http://schemas.microsoft.com/office/drawing/2014/main" id="{98E9453D-0276-4E4A-8BE9-86BC84EB8BD0}"/>
              </a:ext>
            </a:extLst>
          </p:cNvPr>
          <p:cNvSpPr>
            <a:spLocks xmlns:a="http://schemas.openxmlformats.org/drawingml/2006/main" noGrp="1"/>
          </p:cNvSpPr>
          <p:nvPr/>
        </p:nvSpPr>
        <p:spPr>
          <a:xfrm xmlns:a="http://schemas.openxmlformats.org/drawingml/2006/main">
            <a:off x="3681413" y="2371725"/>
            <a:ext cx="2214563"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ASR nhận sai</a:t>
            </a:r>
          </a:p>
        </p:txBody>
      </p:sp>
      <p:sp>
        <p:nvSpPr>
          <p:cNvPr id="18" name="">
            <a:extLst xmlns:a="http://schemas.openxmlformats.org/drawingml/2006/main">
              <a:ext uri="{FF2B5EF4-FFF2-40B4-BE49-F238E27FC236}">
                <a16:creationId xmlns:a16="http://schemas.microsoft.com/office/drawing/2014/main" id="{7F60935C-8196-4B0F-A52C-AD3302EB651B}"/>
              </a:ext>
            </a:extLst>
          </p:cNvPr>
          <p:cNvSpPr>
            <a:spLocks xmlns:a="http://schemas.openxmlformats.org/drawingml/2006/main" noGrp="1"/>
          </p:cNvSpPr>
          <p:nvPr/>
        </p:nvSpPr>
        <p:spPr>
          <a:xfrm xmlns:a="http://schemas.openxmlformats.org/drawingml/2006/main">
            <a:off x="3681413" y="2657475"/>
            <a:ext cx="22145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“I want school”</a:t>
            </a:r>
          </a:p>
        </p:txBody>
      </p:sp>
      <p:sp>
        <p:nvSpPr>
          <p:cNvPr id="19" name="">
            <a:extLst xmlns:a="http://schemas.openxmlformats.org/drawingml/2006/main">
              <a:ext uri="{FF2B5EF4-FFF2-40B4-BE49-F238E27FC236}">
                <a16:creationId xmlns:a16="http://schemas.microsoft.com/office/drawing/2014/main" id="{530D677B-BD4E-4693-B153-0853A4D8CBDC}"/>
              </a:ext>
            </a:extLst>
          </p:cNvPr>
          <p:cNvSpPr>
            <a:spLocks xmlns:a="http://schemas.openxmlformats.org/drawingml/2006/main" noGrp="1"/>
          </p:cNvSpPr>
          <p:nvPr/>
        </p:nvSpPr>
        <p:spPr>
          <a:xfrm xmlns:a="http://schemas.openxmlformats.org/drawingml/2006/main">
            <a:off x="6181725" y="2238375"/>
            <a:ext cx="2443163" cy="952500"/>
          </a:xfrm>
          <a:prstGeom xmlns:a="http://schemas.openxmlformats.org/drawingml/2006/main" prst="roundRect">
            <a:avLst>
              <a:gd name="adj" fmla="val 6000"/>
            </a:avLst>
          </a:prstGeom>
          <a:solidFill xmlns:a="http://schemas.openxmlformats.org/drawingml/2006/main">
            <a:srgbClr val="FFF2D5"/>
          </a:solidFill>
          <a:ln xmlns:a="http://schemas.openxmlformats.org/drawingml/2006/main" w="9525">
            <a:solidFill>
              <a:srgbClr val="A96500"/>
            </a:solidFill>
            <a:prstDash val="solid"/>
          </a:ln>
        </p:spPr>
      </p:sp>
      <p:sp>
        <p:nvSpPr>
          <p:cNvPr id="20" name="">
            <a:extLst xmlns:a="http://schemas.openxmlformats.org/drawingml/2006/main">
              <a:ext uri="{FF2B5EF4-FFF2-40B4-BE49-F238E27FC236}">
                <a16:creationId xmlns:a16="http://schemas.microsoft.com/office/drawing/2014/main" id="{A4BAC1F2-AE5B-4141-B226-33DBFFBE623C}"/>
              </a:ext>
            </a:extLst>
          </p:cNvPr>
          <p:cNvSpPr>
            <a:spLocks xmlns:a="http://schemas.openxmlformats.org/drawingml/2006/main" noGrp="1"/>
          </p:cNvSpPr>
          <p:nvPr/>
        </p:nvSpPr>
        <p:spPr>
          <a:xfrm xmlns:a="http://schemas.openxmlformats.org/drawingml/2006/main">
            <a:off x="6296025" y="2371725"/>
            <a:ext cx="2214563"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NLP kết luận sai</a:t>
            </a:r>
          </a:p>
        </p:txBody>
      </p:sp>
      <p:sp>
        <p:nvSpPr>
          <p:cNvPr id="21" name="">
            <a:extLst xmlns:a="http://schemas.openxmlformats.org/drawingml/2006/main">
              <a:ext uri="{FF2B5EF4-FFF2-40B4-BE49-F238E27FC236}">
                <a16:creationId xmlns:a16="http://schemas.microsoft.com/office/drawing/2014/main" id="{0E55A6FC-594E-465B-BF52-0E5F4C98A4FD}"/>
              </a:ext>
            </a:extLst>
          </p:cNvPr>
          <p:cNvSpPr>
            <a:spLocks xmlns:a="http://schemas.openxmlformats.org/drawingml/2006/main" noGrp="1"/>
          </p:cNvSpPr>
          <p:nvPr/>
        </p:nvSpPr>
        <p:spPr>
          <a:xfrm xmlns:a="http://schemas.openxmlformats.org/drawingml/2006/main">
            <a:off x="6296025" y="2657475"/>
            <a:ext cx="22145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thiếu giới từ / sai nghĩa</a:t>
            </a:r>
          </a:p>
        </p:txBody>
      </p:sp>
      <p:sp>
        <p:nvSpPr>
          <p:cNvPr id="22" name="">
            <a:extLst xmlns:a="http://schemas.openxmlformats.org/drawingml/2006/main">
              <a:ext uri="{FF2B5EF4-FFF2-40B4-BE49-F238E27FC236}">
                <a16:creationId xmlns:a16="http://schemas.microsoft.com/office/drawing/2014/main" id="{9DC378E5-71B6-4A1A-AD61-D96A051A047C}"/>
              </a:ext>
            </a:extLst>
          </p:cNvPr>
          <p:cNvSpPr>
            <a:spLocks xmlns:a="http://schemas.openxmlformats.org/drawingml/2006/main" noGrp="1"/>
          </p:cNvSpPr>
          <p:nvPr/>
        </p:nvSpPr>
        <p:spPr>
          <a:xfrm xmlns:a="http://schemas.openxmlformats.org/drawingml/2006/main">
            <a:off x="8796338" y="2238375"/>
            <a:ext cx="2443163" cy="952500"/>
          </a:xfrm>
          <a:prstGeom xmlns:a="http://schemas.openxmlformats.org/drawingml/2006/main" prst="roundRect">
            <a:avLst>
              <a:gd name="adj" fmla="val 6000"/>
            </a:avLst>
          </a:prstGeom>
          <a:solidFill xmlns:a="http://schemas.openxmlformats.org/drawingml/2006/main">
            <a:srgbClr val="FBEAEA"/>
          </a:solidFill>
          <a:ln xmlns:a="http://schemas.openxmlformats.org/drawingml/2006/main" w="9525">
            <a:solidFill>
              <a:srgbClr val="B43D3D"/>
            </a:solidFill>
            <a:prstDash val="solid"/>
          </a:ln>
        </p:spPr>
      </p:sp>
      <p:sp>
        <p:nvSpPr>
          <p:cNvPr id="23" name="">
            <a:extLst xmlns:a="http://schemas.openxmlformats.org/drawingml/2006/main">
              <a:ext uri="{FF2B5EF4-FFF2-40B4-BE49-F238E27FC236}">
                <a16:creationId xmlns:a16="http://schemas.microsoft.com/office/drawing/2014/main" id="{79D00024-181F-4516-AA13-4FB39E6536AD}"/>
              </a:ext>
            </a:extLst>
          </p:cNvPr>
          <p:cNvSpPr>
            <a:spLocks xmlns:a="http://schemas.openxmlformats.org/drawingml/2006/main" noGrp="1"/>
          </p:cNvSpPr>
          <p:nvPr/>
        </p:nvSpPr>
        <p:spPr>
          <a:xfrm xmlns:a="http://schemas.openxmlformats.org/drawingml/2006/main">
            <a:off x="8910638" y="2371725"/>
            <a:ext cx="2214563"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Điểm giảm giả</a:t>
            </a:r>
          </a:p>
        </p:txBody>
      </p:sp>
      <p:sp>
        <p:nvSpPr>
          <p:cNvPr id="24" name="">
            <a:extLst xmlns:a="http://schemas.openxmlformats.org/drawingml/2006/main">
              <a:ext uri="{FF2B5EF4-FFF2-40B4-BE49-F238E27FC236}">
                <a16:creationId xmlns:a16="http://schemas.microsoft.com/office/drawing/2014/main" id="{A0A2EC11-CAC9-4789-876D-D8E7DE9CE076}"/>
              </a:ext>
            </a:extLst>
          </p:cNvPr>
          <p:cNvSpPr>
            <a:spLocks xmlns:a="http://schemas.openxmlformats.org/drawingml/2006/main" noGrp="1"/>
          </p:cNvSpPr>
          <p:nvPr/>
        </p:nvSpPr>
        <p:spPr>
          <a:xfrm xmlns:a="http://schemas.openxmlformats.org/drawingml/2006/main">
            <a:off x="8910638" y="2657475"/>
            <a:ext cx="2214563"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Accuracy + Coherence</a:t>
            </a:r>
          </a:p>
        </p:txBody>
      </p:sp>
      <p:sp>
        <p:nvSpPr>
          <p:cNvPr id="25" name="">
            <a:extLst xmlns:a="http://schemas.openxmlformats.org/drawingml/2006/main">
              <a:ext uri="{FF2B5EF4-FFF2-40B4-BE49-F238E27FC236}">
                <a16:creationId xmlns:a16="http://schemas.microsoft.com/office/drawing/2014/main" id="{71CC7A52-3E2B-468F-9A99-5339A11041BB}"/>
              </a:ext>
            </a:extLst>
          </p:cNvPr>
          <p:cNvSpPr>
            <a:spLocks xmlns:a="http://schemas.openxmlformats.org/drawingml/2006/main" noGrp="1"/>
          </p:cNvSpPr>
          <p:nvPr/>
        </p:nvSpPr>
        <p:spPr>
          <a:xfrm xmlns:a="http://schemas.openxmlformats.org/drawingml/2006/main">
            <a:off x="952500" y="3810000"/>
            <a:ext cx="40957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C4BE9EA-1606-4A58-A73E-37F40DC3BF39}"/>
              </a:ext>
            </a:extLst>
          </p:cNvPr>
          <p:cNvSpPr>
            <a:spLocks xmlns:a="http://schemas.openxmlformats.org/drawingml/2006/main" noGrp="1"/>
          </p:cNvSpPr>
          <p:nvPr/>
        </p:nvSpPr>
        <p:spPr>
          <a:xfrm xmlns:a="http://schemas.openxmlformats.org/drawingml/2006/main">
            <a:off x="952500" y="39814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Guardrails</a:t>
            </a:r>
          </a:p>
        </p:txBody>
      </p:sp>
      <p:sp>
        <p:nvSpPr>
          <p:cNvPr id="27" name="">
            <a:extLst xmlns:a="http://schemas.openxmlformats.org/drawingml/2006/main">
              <a:ext uri="{FF2B5EF4-FFF2-40B4-BE49-F238E27FC236}">
                <a16:creationId xmlns:a16="http://schemas.microsoft.com/office/drawing/2014/main" id="{197D72AC-B939-4ACA-827D-589013AAB05F}"/>
              </a:ext>
            </a:extLst>
          </p:cNvPr>
          <p:cNvSpPr>
            <a:spLocks xmlns:a="http://schemas.openxmlformats.org/drawingml/2006/main" noGrp="1"/>
          </p:cNvSpPr>
          <p:nvPr/>
        </p:nvSpPr>
        <p:spPr>
          <a:xfrm xmlns:a="http://schemas.openxmlformats.org/drawingml/2006/main">
            <a:off x="952500" y="455295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Lưu word/token confidence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So WER trên transcript chép tay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Giảm trọng số vùng không chắc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Log accent, thiết bị và noise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Chuyển review khi vượt ngưỡng</a:t>
            </a:r>
          </a:p>
        </p:txBody>
      </p:sp>
      <p:sp>
        <p:nvSpPr>
          <p:cNvPr id="28" name="">
            <a:extLst xmlns:a="http://schemas.openxmlformats.org/drawingml/2006/main">
              <a:ext uri="{FF2B5EF4-FFF2-40B4-BE49-F238E27FC236}">
                <a16:creationId xmlns:a16="http://schemas.microsoft.com/office/drawing/2014/main" id="{AF7C7C49-B0A1-4F70-AB43-C48C551BEF67}"/>
              </a:ext>
            </a:extLst>
          </p:cNvPr>
          <p:cNvSpPr>
            <a:spLocks xmlns:a="http://schemas.openxmlformats.org/drawingml/2006/main" noGrp="1"/>
          </p:cNvSpPr>
          <p:nvPr/>
        </p:nvSpPr>
        <p:spPr>
          <a:xfrm xmlns:a="http://schemas.openxmlformats.org/drawingml/2006/main">
            <a:off x="6858000" y="3810000"/>
            <a:ext cx="40957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63419832-EBE6-4526-9D0E-1B70EF79C967}"/>
              </a:ext>
            </a:extLst>
          </p:cNvPr>
          <p:cNvSpPr>
            <a:spLocks xmlns:a="http://schemas.openxmlformats.org/drawingml/2006/main" noGrp="1"/>
          </p:cNvSpPr>
          <p:nvPr/>
        </p:nvSpPr>
        <p:spPr>
          <a:xfrm xmlns:a="http://schemas.openxmlformats.org/drawingml/2006/main">
            <a:off x="6858000" y="39814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Audit bắt buộc</a:t>
            </a:r>
          </a:p>
        </p:txBody>
      </p:sp>
      <p:sp>
        <p:nvSpPr>
          <p:cNvPr id="30" name="">
            <a:extLst xmlns:a="http://schemas.openxmlformats.org/drawingml/2006/main">
              <a:ext uri="{FF2B5EF4-FFF2-40B4-BE49-F238E27FC236}">
                <a16:creationId xmlns:a16="http://schemas.microsoft.com/office/drawing/2014/main" id="{728B185C-76A2-4DFA-9FF2-DFFD4F789732}"/>
              </a:ext>
            </a:extLst>
          </p:cNvPr>
          <p:cNvSpPr>
            <a:spLocks xmlns:a="http://schemas.openxmlformats.org/drawingml/2006/main" noGrp="1"/>
          </p:cNvSpPr>
          <p:nvPr/>
        </p:nvSpPr>
        <p:spPr>
          <a:xfrm xmlns:a="http://schemas.openxmlformats.org/drawingml/2006/main">
            <a:off x="6858000" y="4552950"/>
            <a:ext cx="4095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Chọn 15–20 bài đa dạng band, accent và thiết bị để chép tay hoàn toàn; so lỗi model trên ASR và transcript chuẩn.</a:t>
            </a:r>
          </a:p>
        </p:txBody>
      </p:sp>
    </p:spTree>
    <p:extLst>
      <p:ext uri="{BB962C8B-B14F-4D97-AF65-F5344CB8AC3E}">
        <p14:creationId xmlns:p14="http://schemas.microsoft.com/office/powerpoint/2010/main" val="1258180693"/>
      </p:ext>
    </p:extLst>
  </p:cSld>
</p:sld>
</file>

<file path=ppt/slides/slide2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8CEC2A0E-B397-49A8-AF92-3E23C770A3AB}"/>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MÔ HÌNH CHẤM</a:t>
            </a:r>
          </a:p>
        </p:txBody>
      </p:sp>
      <p:sp>
        <p:nvSpPr>
          <p:cNvPr id="2" name="">
            <a:extLst xmlns:a="http://schemas.openxmlformats.org/drawingml/2006/main">
              <a:ext uri="{FF2B5EF4-FFF2-40B4-BE49-F238E27FC236}">
                <a16:creationId xmlns:a16="http://schemas.microsoft.com/office/drawing/2014/main" id="{1FDFE047-EED1-4E49-8E9C-660EFBF55D61}"/>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Late fusion giữ được nguồn bằng chứng và dễ kiểm tra hơn một mô hình hộp đen duy nhất</a:t>
            </a:r>
          </a:p>
        </p:txBody>
      </p:sp>
      <p:sp>
        <p:nvSpPr>
          <p:cNvPr id="3" name="">
            <a:extLst xmlns:a="http://schemas.openxmlformats.org/drawingml/2006/main">
              <a:ext uri="{FF2B5EF4-FFF2-40B4-BE49-F238E27FC236}">
                <a16:creationId xmlns:a16="http://schemas.microsoft.com/office/drawing/2014/main" id="{7293695C-660D-4C2C-96F2-8D06A246718D}"/>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nhánh tạo điểm/xác suất; bước cuối mới kết hợp và hiệu chỉnh confidence.</a:t>
            </a:r>
          </a:p>
        </p:txBody>
      </p:sp>
      <p:sp>
        <p:nvSpPr>
          <p:cNvPr id="4" name="">
            <a:extLst xmlns:a="http://schemas.openxmlformats.org/drawingml/2006/main">
              <a:ext uri="{FF2B5EF4-FFF2-40B4-BE49-F238E27FC236}">
                <a16:creationId xmlns:a16="http://schemas.microsoft.com/office/drawing/2014/main" id="{C0F70F82-2BB1-47D0-99B7-412077D3BB9E}"/>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0DC9581-20EF-4184-9E3B-EB11ADD467CA}"/>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MÔ HÌNH</a:t>
            </a:r>
          </a:p>
        </p:txBody>
      </p:sp>
      <p:sp>
        <p:nvSpPr>
          <p:cNvPr id="6" name="">
            <a:extLst xmlns:a="http://schemas.openxmlformats.org/drawingml/2006/main">
              <a:ext uri="{FF2B5EF4-FFF2-40B4-BE49-F238E27FC236}">
                <a16:creationId xmlns:a16="http://schemas.microsoft.com/office/drawing/2014/main" id="{3B2DC576-B1A0-4A45-99F6-B7861DC9FB41}"/>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23</a:t>
            </a:r>
          </a:p>
        </p:txBody>
      </p:sp>
      <p:sp>
        <p:nvSpPr>
          <p:cNvPr id="7" name="">
            <a:extLst xmlns:a="http://schemas.openxmlformats.org/drawingml/2006/main">
              <a:ext uri="{FF2B5EF4-FFF2-40B4-BE49-F238E27FC236}">
                <a16:creationId xmlns:a16="http://schemas.microsoft.com/office/drawing/2014/main" id="{80F995D5-68D2-478F-AD0C-22DCA61F88D1}"/>
              </a:ext>
            </a:extLst>
          </p:cNvPr>
          <p:cNvSpPr>
            <a:spLocks xmlns:a="http://schemas.openxmlformats.org/drawingml/2006/main" noGrp="1"/>
          </p:cNvSpPr>
          <p:nvPr/>
        </p:nvSpPr>
        <p:spPr>
          <a:xfrm xmlns:a="http://schemas.openxmlformats.org/drawingml/2006/main">
            <a:off x="3333750" y="2781300"/>
            <a:ext cx="15240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705E7F-0C37-4ACE-B4AD-1141FDBCC6B9}"/>
              </a:ext>
            </a:extLst>
          </p:cNvPr>
          <p:cNvSpPr>
            <a:spLocks xmlns:a="http://schemas.openxmlformats.org/drawingml/2006/main" noGrp="1"/>
          </p:cNvSpPr>
          <p:nvPr/>
        </p:nvSpPr>
        <p:spPr>
          <a:xfrm xmlns:a="http://schemas.openxmlformats.org/drawingml/2006/main">
            <a:off x="3333750" y="3924300"/>
            <a:ext cx="15240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4449BF5-ACD2-47F0-82D5-45DE1CF481A1}"/>
              </a:ext>
            </a:extLst>
          </p:cNvPr>
          <p:cNvSpPr>
            <a:spLocks xmlns:a="http://schemas.openxmlformats.org/drawingml/2006/main" noGrp="1"/>
          </p:cNvSpPr>
          <p:nvPr/>
        </p:nvSpPr>
        <p:spPr>
          <a:xfrm xmlns:a="http://schemas.openxmlformats.org/drawingml/2006/main">
            <a:off x="3333750" y="5067300"/>
            <a:ext cx="15240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6AF85F7-BEC2-4178-B370-3D097BB49904}"/>
              </a:ext>
            </a:extLst>
          </p:cNvPr>
          <p:cNvSpPr>
            <a:spLocks xmlns:a="http://schemas.openxmlformats.org/drawingml/2006/main" noGrp="1"/>
          </p:cNvSpPr>
          <p:nvPr/>
        </p:nvSpPr>
        <p:spPr>
          <a:xfrm xmlns:a="http://schemas.openxmlformats.org/drawingml/2006/main">
            <a:off x="7334250" y="3905250"/>
            <a:ext cx="1476375"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20606B1-A4B2-4E09-9EEA-52B882549985}"/>
              </a:ext>
            </a:extLst>
          </p:cNvPr>
          <p:cNvSpPr>
            <a:spLocks xmlns:a="http://schemas.openxmlformats.org/drawingml/2006/main" noGrp="1"/>
          </p:cNvSpPr>
          <p:nvPr/>
        </p:nvSpPr>
        <p:spPr>
          <a:xfrm xmlns:a="http://schemas.openxmlformats.org/drawingml/2006/main">
            <a:off x="762000" y="2238375"/>
            <a:ext cx="25717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02F9C3D-9B3A-43A5-8A49-63C53FA396CA}"/>
              </a:ext>
            </a:extLst>
          </p:cNvPr>
          <p:cNvSpPr>
            <a:spLocks xmlns:a="http://schemas.openxmlformats.org/drawingml/2006/main" noGrp="1"/>
          </p:cNvSpPr>
          <p:nvPr/>
        </p:nvSpPr>
        <p:spPr>
          <a:xfrm xmlns:a="http://schemas.openxmlformats.org/drawingml/2006/main">
            <a:off x="762000" y="2409825"/>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Audio model</a:t>
            </a:r>
          </a:p>
        </p:txBody>
      </p:sp>
      <p:sp>
        <p:nvSpPr>
          <p:cNvPr id="13" name="">
            <a:extLst xmlns:a="http://schemas.openxmlformats.org/drawingml/2006/main">
              <a:ext uri="{FF2B5EF4-FFF2-40B4-BE49-F238E27FC236}">
                <a16:creationId xmlns:a16="http://schemas.microsoft.com/office/drawing/2014/main" id="{90B13103-F958-49B0-826D-FB7477521521}"/>
              </a:ext>
            </a:extLst>
          </p:cNvPr>
          <p:cNvSpPr>
            <a:spLocks xmlns:a="http://schemas.openxmlformats.org/drawingml/2006/main" noGrp="1"/>
          </p:cNvSpPr>
          <p:nvPr/>
        </p:nvSpPr>
        <p:spPr>
          <a:xfrm xmlns:a="http://schemas.openxmlformats.org/drawingml/2006/main">
            <a:off x="762000" y="29813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Fluency / Phonology probabilities</a:t>
            </a:r>
          </a:p>
        </p:txBody>
      </p:sp>
      <p:sp>
        <p:nvSpPr>
          <p:cNvPr id="14" name="">
            <a:extLst xmlns:a="http://schemas.openxmlformats.org/drawingml/2006/main">
              <a:ext uri="{FF2B5EF4-FFF2-40B4-BE49-F238E27FC236}">
                <a16:creationId xmlns:a16="http://schemas.microsoft.com/office/drawing/2014/main" id="{632A6E9B-8AB9-4216-A5B5-52DF279E994E}"/>
              </a:ext>
            </a:extLst>
          </p:cNvPr>
          <p:cNvSpPr>
            <a:spLocks xmlns:a="http://schemas.openxmlformats.org/drawingml/2006/main" noGrp="1"/>
          </p:cNvSpPr>
          <p:nvPr/>
        </p:nvSpPr>
        <p:spPr>
          <a:xfrm xmlns:a="http://schemas.openxmlformats.org/drawingml/2006/main">
            <a:off x="762000" y="3381375"/>
            <a:ext cx="25717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DDD5A317-D137-4D72-A567-C16D1268C0CB}"/>
              </a:ext>
            </a:extLst>
          </p:cNvPr>
          <p:cNvSpPr>
            <a:spLocks xmlns:a="http://schemas.openxmlformats.org/drawingml/2006/main" noGrp="1"/>
          </p:cNvSpPr>
          <p:nvPr/>
        </p:nvSpPr>
        <p:spPr>
          <a:xfrm xmlns:a="http://schemas.openxmlformats.org/drawingml/2006/main">
            <a:off x="762000" y="3552825"/>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Text model</a:t>
            </a:r>
          </a:p>
        </p:txBody>
      </p:sp>
      <p:sp>
        <p:nvSpPr>
          <p:cNvPr id="16" name="">
            <a:extLst xmlns:a="http://schemas.openxmlformats.org/drawingml/2006/main">
              <a:ext uri="{FF2B5EF4-FFF2-40B4-BE49-F238E27FC236}">
                <a16:creationId xmlns:a16="http://schemas.microsoft.com/office/drawing/2014/main" id="{61DB67D1-1EF6-45E1-8D12-4C7EAE16F109}"/>
              </a:ext>
            </a:extLst>
          </p:cNvPr>
          <p:cNvSpPr>
            <a:spLocks xmlns:a="http://schemas.openxmlformats.org/drawingml/2006/main" noGrp="1"/>
          </p:cNvSpPr>
          <p:nvPr/>
        </p:nvSpPr>
        <p:spPr>
          <a:xfrm xmlns:a="http://schemas.openxmlformats.org/drawingml/2006/main">
            <a:off x="762000" y="41243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Range / Accuracy / Coherence probabilities</a:t>
            </a:r>
          </a:p>
        </p:txBody>
      </p:sp>
      <p:sp>
        <p:nvSpPr>
          <p:cNvPr id="17" name="">
            <a:extLst xmlns:a="http://schemas.openxmlformats.org/drawingml/2006/main">
              <a:ext uri="{FF2B5EF4-FFF2-40B4-BE49-F238E27FC236}">
                <a16:creationId xmlns:a16="http://schemas.microsoft.com/office/drawing/2014/main" id="{D45F1434-9E40-423F-A8CA-D2A02462EC85}"/>
              </a:ext>
            </a:extLst>
          </p:cNvPr>
          <p:cNvSpPr>
            <a:spLocks xmlns:a="http://schemas.openxmlformats.org/drawingml/2006/main" noGrp="1"/>
          </p:cNvSpPr>
          <p:nvPr/>
        </p:nvSpPr>
        <p:spPr>
          <a:xfrm xmlns:a="http://schemas.openxmlformats.org/drawingml/2006/main">
            <a:off x="762000" y="4524375"/>
            <a:ext cx="25717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98D3CDC-B17B-4148-A4C8-E75C6825E347}"/>
              </a:ext>
            </a:extLst>
          </p:cNvPr>
          <p:cNvSpPr>
            <a:spLocks xmlns:a="http://schemas.openxmlformats.org/drawingml/2006/main" noGrp="1"/>
          </p:cNvSpPr>
          <p:nvPr/>
        </p:nvSpPr>
        <p:spPr>
          <a:xfrm xmlns:a="http://schemas.openxmlformats.org/drawingml/2006/main">
            <a:off x="762000" y="4695825"/>
            <a:ext cx="2571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Interaction model</a:t>
            </a:r>
          </a:p>
        </p:txBody>
      </p:sp>
      <p:sp>
        <p:nvSpPr>
          <p:cNvPr id="19" name="">
            <a:extLst xmlns:a="http://schemas.openxmlformats.org/drawingml/2006/main">
              <a:ext uri="{FF2B5EF4-FFF2-40B4-BE49-F238E27FC236}">
                <a16:creationId xmlns:a16="http://schemas.microsoft.com/office/drawing/2014/main" id="{235960B7-9982-4115-A456-2C7A0E60580B}"/>
              </a:ext>
            </a:extLst>
          </p:cNvPr>
          <p:cNvSpPr>
            <a:spLocks xmlns:a="http://schemas.openxmlformats.org/drawingml/2006/main" noGrp="1"/>
          </p:cNvSpPr>
          <p:nvPr/>
        </p:nvSpPr>
        <p:spPr>
          <a:xfrm xmlns:a="http://schemas.openxmlformats.org/drawingml/2006/main">
            <a:off x="762000" y="52673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i="0">
                <a:solidFill>
                  <a:srgbClr val="28374A"/>
                </a:solidFill>
                <a:latin typeface="Aptos"/>
                <a:ea typeface="Aptos"/>
                <a:cs typeface="Aptos"/>
              </a:defRPr>
            </a:pPr>
            <a:r>
              <a:rPr sz="1350" b="0" i="0">
                <a:solidFill>
                  <a:srgbClr val="28374A"/>
                </a:solidFill>
                <a:latin typeface="Aptos"/>
                <a:ea typeface="Aptos"/>
                <a:cs typeface="Aptos"/>
              </a:rPr>
              <a:t>Interaction probability khi có Task C</a:t>
            </a:r>
          </a:p>
        </p:txBody>
      </p:sp>
      <p:sp>
        <p:nvSpPr>
          <p:cNvPr id="20" name="">
            <a:extLst xmlns:a="http://schemas.openxmlformats.org/drawingml/2006/main">
              <a:ext uri="{FF2B5EF4-FFF2-40B4-BE49-F238E27FC236}">
                <a16:creationId xmlns:a16="http://schemas.microsoft.com/office/drawing/2014/main" id="{7C2EA8DB-B78D-4F77-BFED-7A3D6E030F09}"/>
              </a:ext>
            </a:extLst>
          </p:cNvPr>
          <p:cNvSpPr>
            <a:spLocks xmlns:a="http://schemas.openxmlformats.org/drawingml/2006/main" noGrp="1"/>
          </p:cNvSpPr>
          <p:nvPr/>
        </p:nvSpPr>
        <p:spPr>
          <a:xfrm xmlns:a="http://schemas.openxmlformats.org/drawingml/2006/main">
            <a:off x="4857750" y="3000375"/>
            <a:ext cx="2476500" cy="1809750"/>
          </a:xfrm>
          <a:prstGeom xmlns:a="http://schemas.openxmlformats.org/drawingml/2006/main" prst="roundRect">
            <a:avLst>
              <a:gd name="adj" fmla="val 3158"/>
            </a:avLst>
          </a:prstGeom>
          <a:solidFill xmlns:a="http://schemas.openxmlformats.org/drawingml/2006/main">
            <a:srgbClr val="F0ECF8"/>
          </a:solidFill>
          <a:ln xmlns:a="http://schemas.openxmlformats.org/drawingml/2006/main" w="9525">
            <a:solidFill>
              <a:srgbClr val="6C4FA3"/>
            </a:solidFill>
            <a:prstDash val="solid"/>
          </a:ln>
        </p:spPr>
      </p:sp>
      <p:sp>
        <p:nvSpPr>
          <p:cNvPr id="21" name="">
            <a:extLst xmlns:a="http://schemas.openxmlformats.org/drawingml/2006/main">
              <a:ext uri="{FF2B5EF4-FFF2-40B4-BE49-F238E27FC236}">
                <a16:creationId xmlns:a16="http://schemas.microsoft.com/office/drawing/2014/main" id="{01583C95-28E8-4DE9-82C2-A76F3B6A6D9E}"/>
              </a:ext>
            </a:extLst>
          </p:cNvPr>
          <p:cNvSpPr>
            <a:spLocks xmlns:a="http://schemas.openxmlformats.org/drawingml/2006/main" noGrp="1"/>
          </p:cNvSpPr>
          <p:nvPr/>
        </p:nvSpPr>
        <p:spPr>
          <a:xfrm xmlns:a="http://schemas.openxmlformats.org/drawingml/2006/main">
            <a:off x="5143500" y="32766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i="0">
                <a:solidFill>
                  <a:srgbClr val="6C4FA3"/>
                </a:solidFill>
                <a:latin typeface="Aptos"/>
                <a:ea typeface="Aptos"/>
                <a:cs typeface="Aptos"/>
              </a:defRPr>
            </a:pPr>
            <a:r>
              <a:rPr sz="2100" b="1" i="0">
                <a:solidFill>
                  <a:srgbClr val="6C4FA3"/>
                </a:solidFill>
                <a:latin typeface="Aptos"/>
                <a:ea typeface="Aptos"/>
                <a:cs typeface="Aptos"/>
              </a:rPr>
              <a:t>Late fusion</a:t>
            </a:r>
          </a:p>
        </p:txBody>
      </p:sp>
      <p:sp>
        <p:nvSpPr>
          <p:cNvPr id="22" name="">
            <a:extLst xmlns:a="http://schemas.openxmlformats.org/drawingml/2006/main">
              <a:ext uri="{FF2B5EF4-FFF2-40B4-BE49-F238E27FC236}">
                <a16:creationId xmlns:a16="http://schemas.microsoft.com/office/drawing/2014/main" id="{6D12654C-DA8D-4AA0-A8B4-D74AC058E563}"/>
              </a:ext>
            </a:extLst>
          </p:cNvPr>
          <p:cNvSpPr>
            <a:spLocks xmlns:a="http://schemas.openxmlformats.org/drawingml/2006/main" noGrp="1"/>
          </p:cNvSpPr>
          <p:nvPr/>
        </p:nvSpPr>
        <p:spPr>
          <a:xfrm xmlns:a="http://schemas.openxmlformats.org/drawingml/2006/main">
            <a:off x="5143500" y="3790950"/>
            <a:ext cx="1905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Kết hợp xác suất + quality flags + missing criteria</a:t>
            </a:r>
          </a:p>
        </p:txBody>
      </p:sp>
      <p:sp>
        <p:nvSpPr>
          <p:cNvPr id="23" name="">
            <a:extLst xmlns:a="http://schemas.openxmlformats.org/drawingml/2006/main">
              <a:ext uri="{FF2B5EF4-FFF2-40B4-BE49-F238E27FC236}">
                <a16:creationId xmlns:a16="http://schemas.microsoft.com/office/drawing/2014/main" id="{778FBB3C-38DF-413B-9D6D-C31066387C82}"/>
              </a:ext>
            </a:extLst>
          </p:cNvPr>
          <p:cNvSpPr>
            <a:spLocks xmlns:a="http://schemas.openxmlformats.org/drawingml/2006/main" noGrp="1"/>
          </p:cNvSpPr>
          <p:nvPr/>
        </p:nvSpPr>
        <p:spPr>
          <a:xfrm xmlns:a="http://schemas.openxmlformats.org/drawingml/2006/main">
            <a:off x="8810625" y="3000375"/>
            <a:ext cx="2476500" cy="1809750"/>
          </a:xfrm>
          <a:prstGeom xmlns:a="http://schemas.openxmlformats.org/drawingml/2006/main" prst="roundRect">
            <a:avLst>
              <a:gd name="adj" fmla="val 3158"/>
            </a:avLst>
          </a:prstGeom>
          <a:solidFill xmlns:a="http://schemas.openxmlformats.org/drawingml/2006/main">
            <a:srgbClr val="FBEAEA"/>
          </a:solidFill>
          <a:ln xmlns:a="http://schemas.openxmlformats.org/drawingml/2006/main" w="9525">
            <a:solidFill>
              <a:srgbClr val="B43D3D"/>
            </a:solidFill>
            <a:prstDash val="solid"/>
          </a:ln>
        </p:spPr>
      </p:sp>
      <p:sp>
        <p:nvSpPr>
          <p:cNvPr id="24" name="">
            <a:extLst xmlns:a="http://schemas.openxmlformats.org/drawingml/2006/main">
              <a:ext uri="{FF2B5EF4-FFF2-40B4-BE49-F238E27FC236}">
                <a16:creationId xmlns:a16="http://schemas.microsoft.com/office/drawing/2014/main" id="{A7DEA1D6-DA64-4BFB-8D39-1B420401EC8E}"/>
              </a:ext>
            </a:extLst>
          </p:cNvPr>
          <p:cNvSpPr>
            <a:spLocks xmlns:a="http://schemas.openxmlformats.org/drawingml/2006/main" noGrp="1"/>
          </p:cNvSpPr>
          <p:nvPr/>
        </p:nvSpPr>
        <p:spPr>
          <a:xfrm xmlns:a="http://schemas.openxmlformats.org/drawingml/2006/main">
            <a:off x="9096375" y="3276600"/>
            <a:ext cx="190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2100" b="1" i="0">
                <a:solidFill>
                  <a:srgbClr val="B43D3D"/>
                </a:solidFill>
                <a:latin typeface="Aptos"/>
                <a:ea typeface="Aptos"/>
                <a:cs typeface="Aptos"/>
              </a:defRPr>
            </a:pPr>
            <a:r>
              <a:rPr sz="2100" b="1" i="0">
                <a:solidFill>
                  <a:srgbClr val="B43D3D"/>
                </a:solidFill>
                <a:latin typeface="Aptos"/>
                <a:ea typeface="Aptos"/>
                <a:cs typeface="Aptos"/>
              </a:rPr>
              <a:t>Calibration</a:t>
            </a:r>
          </a:p>
        </p:txBody>
      </p:sp>
      <p:sp>
        <p:nvSpPr>
          <p:cNvPr id="25" name="">
            <a:extLst xmlns:a="http://schemas.openxmlformats.org/drawingml/2006/main">
              <a:ext uri="{FF2B5EF4-FFF2-40B4-BE49-F238E27FC236}">
                <a16:creationId xmlns:a16="http://schemas.microsoft.com/office/drawing/2014/main" id="{BA9850E7-F4E4-4F12-B36B-A92FF47EF77F}"/>
              </a:ext>
            </a:extLst>
          </p:cNvPr>
          <p:cNvSpPr>
            <a:spLocks xmlns:a="http://schemas.openxmlformats.org/drawingml/2006/main" noGrp="1"/>
          </p:cNvSpPr>
          <p:nvPr/>
        </p:nvSpPr>
        <p:spPr>
          <a:xfrm xmlns:a="http://schemas.openxmlformats.org/drawingml/2006/main">
            <a:off x="9048750" y="3771900"/>
            <a:ext cx="2000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Confidence phản ánh đúng xác suất trả lời đúng; đặt ngưỡng teacher review</a:t>
            </a:r>
          </a:p>
        </p:txBody>
      </p:sp>
      <p:sp>
        <p:nvSpPr>
          <p:cNvPr id="26" name="">
            <a:extLst xmlns:a="http://schemas.openxmlformats.org/drawingml/2006/main">
              <a:ext uri="{FF2B5EF4-FFF2-40B4-BE49-F238E27FC236}">
                <a16:creationId xmlns:a16="http://schemas.microsoft.com/office/drawing/2014/main" id="{3DD6A628-101F-4F28-941C-F364BC1B7E0B}"/>
              </a:ext>
            </a:extLst>
          </p:cNvPr>
          <p:cNvSpPr>
            <a:spLocks xmlns:a="http://schemas.openxmlformats.org/drawingml/2006/main" noGrp="1"/>
          </p:cNvSpPr>
          <p:nvPr/>
        </p:nvSpPr>
        <p:spPr>
          <a:xfrm xmlns:a="http://schemas.openxmlformats.org/drawingml/2006/main">
            <a:off x="2381250" y="5638800"/>
            <a:ext cx="7429500" cy="514350"/>
          </a:xfrm>
          <a:prstGeom xmlns:a="http://schemas.openxmlformats.org/drawingml/2006/main" prst="roundRect">
            <a:avLst>
              <a:gd name="adj" fmla="val 11111"/>
            </a:avLst>
          </a:prstGeom>
          <a:solidFill xmlns:a="http://schemas.openxmlformats.org/drawingml/2006/main">
            <a:srgbClr val="E8F2FB"/>
          </a:solidFill>
          <a:ln xmlns:a="http://schemas.openxmlformats.org/drawingml/2006/main" w="9525">
            <a:solidFill>
              <a:srgbClr val="1F5EAC"/>
            </a:solidFill>
            <a:prstDash val="solid"/>
          </a:ln>
        </p:spPr>
      </p:sp>
      <p:sp>
        <p:nvSpPr>
          <p:cNvPr id="27" name="">
            <a:extLst xmlns:a="http://schemas.openxmlformats.org/drawingml/2006/main">
              <a:ext uri="{FF2B5EF4-FFF2-40B4-BE49-F238E27FC236}">
                <a16:creationId xmlns:a16="http://schemas.microsoft.com/office/drawing/2014/main" id="{A09DAD1A-8378-4264-ABE2-836D9A11034F}"/>
              </a:ext>
            </a:extLst>
          </p:cNvPr>
          <p:cNvSpPr>
            <a:spLocks xmlns:a="http://schemas.openxmlformats.org/drawingml/2006/main" noGrp="1"/>
          </p:cNvSpPr>
          <p:nvPr/>
        </p:nvSpPr>
        <p:spPr>
          <a:xfrm xmlns:a="http://schemas.openxmlformats.org/drawingml/2006/main">
            <a:off x="2571750" y="5772150"/>
            <a:ext cx="7048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i="0">
                <a:solidFill>
                  <a:srgbClr val="1F5EAC"/>
                </a:solidFill>
                <a:latin typeface="Aptos"/>
                <a:ea typeface="Aptos"/>
                <a:cs typeface="Aptos"/>
              </a:defRPr>
            </a:pPr>
            <a:r>
              <a:rPr sz="1425" b="1" i="0">
                <a:solidFill>
                  <a:srgbClr val="1F5EAC"/>
                </a:solidFill>
                <a:latin typeface="Aptos"/>
                <a:ea typeface="Aptos"/>
                <a:cs typeface="Aptos"/>
              </a:rPr>
              <a:t>Baseline bắt buộc: audio-only, transcript-only và frozen-rubric LLM local.</a:t>
            </a:r>
          </a:p>
        </p:txBody>
      </p:sp>
    </p:spTree>
    <p:extLst>
      <p:ext uri="{BB962C8B-B14F-4D97-AF65-F5344CB8AC3E}">
        <p14:creationId xmlns:p14="http://schemas.microsoft.com/office/powerpoint/2010/main" val="867819291"/>
      </p:ext>
    </p:extLst>
  </p:cSld>
</p:sld>
</file>

<file path=ppt/slides/slide2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4763105-90DB-4DE4-BB16-D67770C65D5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ĐẦU RA</a:t>
            </a:r>
          </a:p>
        </p:txBody>
      </p:sp>
      <p:sp>
        <p:nvSpPr>
          <p:cNvPr id="2" name="">
            <a:extLst xmlns:a="http://schemas.openxmlformats.org/drawingml/2006/main">
              <a:ext uri="{FF2B5EF4-FFF2-40B4-BE49-F238E27FC236}">
                <a16:creationId xmlns:a16="http://schemas.microsoft.com/office/drawing/2014/main" id="{2C8F45E1-3CB8-4661-9871-05B9C65C6A09}"/>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Báo cáo phải cho biết điểm, lý do và mức độ đáng tin</a:t>
            </a:r>
          </a:p>
        </p:txBody>
      </p:sp>
      <p:sp>
        <p:nvSpPr>
          <p:cNvPr id="3" name="">
            <a:extLst xmlns:a="http://schemas.openxmlformats.org/drawingml/2006/main">
              <a:ext uri="{FF2B5EF4-FFF2-40B4-BE49-F238E27FC236}">
                <a16:creationId xmlns:a16="http://schemas.microsoft.com/office/drawing/2014/main" id="{DFDC0CC3-C05F-49D3-93EE-781D34BFE10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Kết quả được chuẩn hóa thành speaking_profile để dùng cho phản hồi và module học tập phía sau.</a:t>
            </a:r>
          </a:p>
        </p:txBody>
      </p:sp>
      <p:sp>
        <p:nvSpPr>
          <p:cNvPr id="4" name="">
            <a:extLst xmlns:a="http://schemas.openxmlformats.org/drawingml/2006/main">
              <a:ext uri="{FF2B5EF4-FFF2-40B4-BE49-F238E27FC236}">
                <a16:creationId xmlns:a16="http://schemas.microsoft.com/office/drawing/2014/main" id="{47D8206D-BF1A-47E6-A1F0-8BA6E649D7E2}"/>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FCD3D5A-96E7-4014-8B7F-316FD98DDBC0}"/>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SẢN PHẨM</a:t>
            </a:r>
          </a:p>
        </p:txBody>
      </p:sp>
      <p:sp>
        <p:nvSpPr>
          <p:cNvPr id="6" name="">
            <a:extLst xmlns:a="http://schemas.openxmlformats.org/drawingml/2006/main">
              <a:ext uri="{FF2B5EF4-FFF2-40B4-BE49-F238E27FC236}">
                <a16:creationId xmlns:a16="http://schemas.microsoft.com/office/drawing/2014/main" id="{C6055BD9-7CC6-4A32-B418-34BE0FF7E129}"/>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24</a:t>
            </a:r>
          </a:p>
        </p:txBody>
      </p:sp>
      <p:sp>
        <p:nvSpPr>
          <p:cNvPr id="7" name="">
            <a:extLst xmlns:a="http://schemas.openxmlformats.org/drawingml/2006/main">
              <a:ext uri="{FF2B5EF4-FFF2-40B4-BE49-F238E27FC236}">
                <a16:creationId xmlns:a16="http://schemas.microsoft.com/office/drawing/2014/main" id="{F8021BB9-06C5-4AA3-B21D-DEA2AE8E7C68}"/>
              </a:ext>
            </a:extLst>
          </p:cNvPr>
          <p:cNvSpPr>
            <a:spLocks xmlns:a="http://schemas.openxmlformats.org/drawingml/2006/main" noGrp="1"/>
          </p:cNvSpPr>
          <p:nvPr/>
        </p:nvSpPr>
        <p:spPr>
          <a:xfrm xmlns:a="http://schemas.openxmlformats.org/drawingml/2006/main">
            <a:off x="666750" y="2095500"/>
            <a:ext cx="5143500" cy="3476625"/>
          </a:xfrm>
          <a:prstGeom xmlns:a="http://schemas.openxmlformats.org/drawingml/2006/main" prst="roundRect">
            <a:avLst>
              <a:gd name="adj" fmla="val 1644"/>
            </a:avLst>
          </a:prstGeom>
          <a:solidFill xmlns:a="http://schemas.openxmlformats.org/drawingml/2006/main">
            <a:srgbClr val="FFFFFF"/>
          </a:solidFill>
          <a:ln xmlns:a="http://schemas.openxmlformats.org/drawingml/2006/main" w="9525">
            <a:solidFill>
              <a:srgbClr val="D5DCE5"/>
            </a:solidFill>
            <a:prstDash val="solid"/>
          </a:ln>
        </p:spPr>
      </p:sp>
      <p:sp>
        <p:nvSpPr>
          <p:cNvPr id="8" name="">
            <a:extLst xmlns:a="http://schemas.openxmlformats.org/drawingml/2006/main">
              <a:ext uri="{FF2B5EF4-FFF2-40B4-BE49-F238E27FC236}">
                <a16:creationId xmlns:a16="http://schemas.microsoft.com/office/drawing/2014/main" id="{0D24F54C-9662-4CE0-813A-7AC30E81FE1C}"/>
              </a:ext>
            </a:extLst>
          </p:cNvPr>
          <p:cNvSpPr>
            <a:spLocks xmlns:a="http://schemas.openxmlformats.org/drawingml/2006/main" noGrp="1"/>
          </p:cNvSpPr>
          <p:nvPr/>
        </p:nvSpPr>
        <p:spPr>
          <a:xfrm xmlns:a="http://schemas.openxmlformats.org/drawingml/2006/main">
            <a:off x="904875" y="23241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1F5EAC"/>
                </a:solidFill>
                <a:latin typeface="Aptos"/>
                <a:ea typeface="Aptos"/>
                <a:cs typeface="Aptos"/>
              </a:defRPr>
            </a:pPr>
            <a:r>
              <a:rPr sz="1800" b="1" i="0">
                <a:solidFill>
                  <a:srgbClr val="1F5EAC"/>
                </a:solidFill>
                <a:latin typeface="Aptos"/>
                <a:ea typeface="Aptos"/>
                <a:cs typeface="Aptos"/>
              </a:rPr>
              <a:t>Hồ sơ hiển thị cho sinh viên</a:t>
            </a:r>
          </a:p>
        </p:txBody>
      </p:sp>
      <p:sp>
        <p:nvSpPr>
          <p:cNvPr id="9" name="">
            <a:extLst xmlns:a="http://schemas.openxmlformats.org/drawingml/2006/main">
              <a:ext uri="{FF2B5EF4-FFF2-40B4-BE49-F238E27FC236}">
                <a16:creationId xmlns:a16="http://schemas.microsoft.com/office/drawing/2014/main" id="{2330064F-F2FF-45C2-86BE-787C12A9989C}"/>
              </a:ext>
            </a:extLst>
          </p:cNvPr>
          <p:cNvSpPr>
            <a:spLocks xmlns:a="http://schemas.openxmlformats.org/drawingml/2006/main" noGrp="1"/>
          </p:cNvSpPr>
          <p:nvPr/>
        </p:nvSpPr>
        <p:spPr>
          <a:xfrm xmlns:a="http://schemas.openxmlformats.org/drawingml/2006/main">
            <a:off x="904875" y="2857500"/>
            <a:ext cx="466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142033"/>
                </a:solidFill>
                <a:latin typeface="Aptos"/>
                <a:ea typeface="Aptos"/>
                <a:cs typeface="Aptos"/>
              </a:defRPr>
            </a:pPr>
            <a:r>
              <a:rPr sz="1800" b="1" i="0">
                <a:solidFill>
                  <a:srgbClr val="142033"/>
                </a:solidFill>
                <a:latin typeface="Aptos"/>
                <a:ea typeface="Aptos"/>
                <a:cs typeface="Aptos"/>
              </a:rPr>
              <a:t>Overall: B1 • confidence: trung bình</a:t>
            </a:r>
          </a:p>
        </p:txBody>
      </p:sp>
      <p:sp>
        <p:nvSpPr>
          <p:cNvPr id="10" name="">
            <a:extLst xmlns:a="http://schemas.openxmlformats.org/drawingml/2006/main">
              <a:ext uri="{FF2B5EF4-FFF2-40B4-BE49-F238E27FC236}">
                <a16:creationId xmlns:a16="http://schemas.microsoft.com/office/drawing/2014/main" id="{E99CBA46-6FC3-4695-89B2-1C871DF8A2CB}"/>
              </a:ext>
            </a:extLst>
          </p:cNvPr>
          <p:cNvSpPr>
            <a:spLocks xmlns:a="http://schemas.openxmlformats.org/drawingml/2006/main" noGrp="1"/>
          </p:cNvSpPr>
          <p:nvPr/>
        </p:nvSpPr>
        <p:spPr>
          <a:xfrm xmlns:a="http://schemas.openxmlformats.org/drawingml/2006/main">
            <a:off x="904875" y="3333750"/>
            <a:ext cx="1143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202BE600-3D71-4C10-84C0-89F08039B05C}"/>
              </a:ext>
            </a:extLst>
          </p:cNvPr>
          <p:cNvSpPr>
            <a:spLocks xmlns:a="http://schemas.openxmlformats.org/drawingml/2006/main" noGrp="1"/>
          </p:cNvSpPr>
          <p:nvPr/>
        </p:nvSpPr>
        <p:spPr>
          <a:xfrm xmlns:a="http://schemas.openxmlformats.org/drawingml/2006/main">
            <a:off x="1000125" y="342900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050" b="1" i="0">
                <a:solidFill>
                  <a:srgbClr val="FFFFFF"/>
                </a:solidFill>
                <a:latin typeface="Aptos"/>
                <a:ea typeface="Aptos"/>
                <a:cs typeface="Aptos"/>
              </a:defRPr>
            </a:pPr>
            <a:r>
              <a:rPr sz="1050" b="1" i="0">
                <a:solidFill>
                  <a:srgbClr val="FFFFFF"/>
                </a:solidFill>
                <a:latin typeface="Aptos"/>
                <a:ea typeface="Aptos"/>
                <a:cs typeface="Aptos"/>
              </a:rPr>
              <a:t>Tiêu chí</a:t>
            </a:r>
          </a:p>
        </p:txBody>
      </p:sp>
      <p:sp>
        <p:nvSpPr>
          <p:cNvPr id="12" name="">
            <a:extLst xmlns:a="http://schemas.openxmlformats.org/drawingml/2006/main">
              <a:ext uri="{FF2B5EF4-FFF2-40B4-BE49-F238E27FC236}">
                <a16:creationId xmlns:a16="http://schemas.microsoft.com/office/drawing/2014/main" id="{12A98D1D-3006-44E1-943F-9CAEBB815802}"/>
              </a:ext>
            </a:extLst>
          </p:cNvPr>
          <p:cNvSpPr>
            <a:spLocks xmlns:a="http://schemas.openxmlformats.org/drawingml/2006/main" noGrp="1"/>
          </p:cNvSpPr>
          <p:nvPr/>
        </p:nvSpPr>
        <p:spPr>
          <a:xfrm xmlns:a="http://schemas.openxmlformats.org/drawingml/2006/main">
            <a:off x="2047875" y="3333750"/>
            <a:ext cx="762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45A45A29-1958-47CE-82CF-7D6E399E5C16}"/>
              </a:ext>
            </a:extLst>
          </p:cNvPr>
          <p:cNvSpPr>
            <a:spLocks xmlns:a="http://schemas.openxmlformats.org/drawingml/2006/main" noGrp="1"/>
          </p:cNvSpPr>
          <p:nvPr/>
        </p:nvSpPr>
        <p:spPr>
          <a:xfrm xmlns:a="http://schemas.openxmlformats.org/drawingml/2006/main">
            <a:off x="2143125" y="34290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050" b="1" i="0">
                <a:solidFill>
                  <a:srgbClr val="FFFFFF"/>
                </a:solidFill>
                <a:latin typeface="Aptos"/>
                <a:ea typeface="Aptos"/>
                <a:cs typeface="Aptos"/>
              </a:defRPr>
            </a:pPr>
            <a:r>
              <a:rPr sz="1050" b="1" i="0">
                <a:solidFill>
                  <a:srgbClr val="FFFFFF"/>
                </a:solidFill>
                <a:latin typeface="Aptos"/>
                <a:ea typeface="Aptos"/>
                <a:cs typeface="Aptos"/>
              </a:rPr>
              <a:t>Mức</a:t>
            </a:r>
          </a:p>
        </p:txBody>
      </p:sp>
      <p:sp>
        <p:nvSpPr>
          <p:cNvPr id="14" name="">
            <a:extLst xmlns:a="http://schemas.openxmlformats.org/drawingml/2006/main">
              <a:ext uri="{FF2B5EF4-FFF2-40B4-BE49-F238E27FC236}">
                <a16:creationId xmlns:a16="http://schemas.microsoft.com/office/drawing/2014/main" id="{C0EC347B-E1AC-458D-B407-81D6EEAF0698}"/>
              </a:ext>
            </a:extLst>
          </p:cNvPr>
          <p:cNvSpPr>
            <a:spLocks xmlns:a="http://schemas.openxmlformats.org/drawingml/2006/main" noGrp="1"/>
          </p:cNvSpPr>
          <p:nvPr/>
        </p:nvSpPr>
        <p:spPr>
          <a:xfrm xmlns:a="http://schemas.openxmlformats.org/drawingml/2006/main">
            <a:off x="2809875" y="3333750"/>
            <a:ext cx="2762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6DCC400A-E696-49FF-BF6C-3C986865F632}"/>
              </a:ext>
            </a:extLst>
          </p:cNvPr>
          <p:cNvSpPr>
            <a:spLocks xmlns:a="http://schemas.openxmlformats.org/drawingml/2006/main" noGrp="1"/>
          </p:cNvSpPr>
          <p:nvPr/>
        </p:nvSpPr>
        <p:spPr>
          <a:xfrm xmlns:a="http://schemas.openxmlformats.org/drawingml/2006/main">
            <a:off x="2905125" y="342900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050" b="1" i="0">
                <a:solidFill>
                  <a:srgbClr val="FFFFFF"/>
                </a:solidFill>
                <a:latin typeface="Aptos"/>
                <a:ea typeface="Aptos"/>
                <a:cs typeface="Aptos"/>
              </a:defRPr>
            </a:pPr>
            <a:r>
              <a:rPr sz="1050" b="1" i="0">
                <a:solidFill>
                  <a:srgbClr val="FFFFFF"/>
                </a:solidFill>
                <a:latin typeface="Aptos"/>
                <a:ea typeface="Aptos"/>
                <a:cs typeface="Aptos"/>
              </a:rPr>
              <a:t>Bằng chứng</a:t>
            </a:r>
          </a:p>
        </p:txBody>
      </p:sp>
      <p:sp>
        <p:nvSpPr>
          <p:cNvPr id="16" name="">
            <a:extLst xmlns:a="http://schemas.openxmlformats.org/drawingml/2006/main">
              <a:ext uri="{FF2B5EF4-FFF2-40B4-BE49-F238E27FC236}">
                <a16:creationId xmlns:a16="http://schemas.microsoft.com/office/drawing/2014/main" id="{476F63E0-2B5E-4940-AE2C-93CD3861CF14}"/>
              </a:ext>
            </a:extLst>
          </p:cNvPr>
          <p:cNvSpPr>
            <a:spLocks xmlns:a="http://schemas.openxmlformats.org/drawingml/2006/main" noGrp="1"/>
          </p:cNvSpPr>
          <p:nvPr/>
        </p:nvSpPr>
        <p:spPr>
          <a:xfrm xmlns:a="http://schemas.openxmlformats.org/drawingml/2006/main">
            <a:off x="904875" y="3790950"/>
            <a:ext cx="1143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7" name="">
            <a:extLst xmlns:a="http://schemas.openxmlformats.org/drawingml/2006/main">
              <a:ext uri="{FF2B5EF4-FFF2-40B4-BE49-F238E27FC236}">
                <a16:creationId xmlns:a16="http://schemas.microsoft.com/office/drawing/2014/main" id="{2A77F497-B361-468F-AE2A-09CB27320E6F}"/>
              </a:ext>
            </a:extLst>
          </p:cNvPr>
          <p:cNvSpPr>
            <a:spLocks xmlns:a="http://schemas.openxmlformats.org/drawingml/2006/main" noGrp="1"/>
          </p:cNvSpPr>
          <p:nvPr/>
        </p:nvSpPr>
        <p:spPr>
          <a:xfrm xmlns:a="http://schemas.openxmlformats.org/drawingml/2006/main">
            <a:off x="1000125" y="386715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Range</a:t>
            </a:r>
          </a:p>
        </p:txBody>
      </p:sp>
      <p:sp>
        <p:nvSpPr>
          <p:cNvPr id="18" name="">
            <a:extLst xmlns:a="http://schemas.openxmlformats.org/drawingml/2006/main">
              <a:ext uri="{FF2B5EF4-FFF2-40B4-BE49-F238E27FC236}">
                <a16:creationId xmlns:a16="http://schemas.microsoft.com/office/drawing/2014/main" id="{E0829094-55CB-43E4-AA39-5738B48FC5F4}"/>
              </a:ext>
            </a:extLst>
          </p:cNvPr>
          <p:cNvSpPr>
            <a:spLocks xmlns:a="http://schemas.openxmlformats.org/drawingml/2006/main" noGrp="1"/>
          </p:cNvSpPr>
          <p:nvPr/>
        </p:nvSpPr>
        <p:spPr>
          <a:xfrm xmlns:a="http://schemas.openxmlformats.org/drawingml/2006/main">
            <a:off x="2047875" y="3790950"/>
            <a:ext cx="762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9" name="">
            <a:extLst xmlns:a="http://schemas.openxmlformats.org/drawingml/2006/main">
              <a:ext uri="{FF2B5EF4-FFF2-40B4-BE49-F238E27FC236}">
                <a16:creationId xmlns:a16="http://schemas.microsoft.com/office/drawing/2014/main" id="{B9046350-A34C-4061-8A6A-6F99E556F745}"/>
              </a:ext>
            </a:extLst>
          </p:cNvPr>
          <p:cNvSpPr>
            <a:spLocks xmlns:a="http://schemas.openxmlformats.org/drawingml/2006/main" noGrp="1"/>
          </p:cNvSpPr>
          <p:nvPr/>
        </p:nvSpPr>
        <p:spPr>
          <a:xfrm xmlns:a="http://schemas.openxmlformats.org/drawingml/2006/main">
            <a:off x="2143125" y="38671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B1</a:t>
            </a:r>
          </a:p>
        </p:txBody>
      </p:sp>
      <p:sp>
        <p:nvSpPr>
          <p:cNvPr id="20" name="">
            <a:extLst xmlns:a="http://schemas.openxmlformats.org/drawingml/2006/main">
              <a:ext uri="{FF2B5EF4-FFF2-40B4-BE49-F238E27FC236}">
                <a16:creationId xmlns:a16="http://schemas.microsoft.com/office/drawing/2014/main" id="{5F968C64-8410-4180-8C1A-2FD0FBB72640}"/>
              </a:ext>
            </a:extLst>
          </p:cNvPr>
          <p:cNvSpPr>
            <a:spLocks xmlns:a="http://schemas.openxmlformats.org/drawingml/2006/main" noGrp="1"/>
          </p:cNvSpPr>
          <p:nvPr/>
        </p:nvSpPr>
        <p:spPr>
          <a:xfrm xmlns:a="http://schemas.openxmlformats.org/drawingml/2006/main">
            <a:off x="2809875" y="37909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1" name="">
            <a:extLst xmlns:a="http://schemas.openxmlformats.org/drawingml/2006/main">
              <a:ext uri="{FF2B5EF4-FFF2-40B4-BE49-F238E27FC236}">
                <a16:creationId xmlns:a16="http://schemas.microsoft.com/office/drawing/2014/main" id="{8D1DB2A9-6FE5-4B21-985D-C57A8677E93E}"/>
              </a:ext>
            </a:extLst>
          </p:cNvPr>
          <p:cNvSpPr>
            <a:spLocks xmlns:a="http://schemas.openxmlformats.org/drawingml/2006/main" noGrp="1"/>
          </p:cNvSpPr>
          <p:nvPr/>
        </p:nvSpPr>
        <p:spPr>
          <a:xfrm xmlns:a="http://schemas.openxmlformats.org/drawingml/2006/main">
            <a:off x="2905125" y="38671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Từ đủ chủ đề; còn lặp</a:t>
            </a:r>
          </a:p>
        </p:txBody>
      </p:sp>
      <p:sp>
        <p:nvSpPr>
          <p:cNvPr id="22" name="">
            <a:extLst xmlns:a="http://schemas.openxmlformats.org/drawingml/2006/main">
              <a:ext uri="{FF2B5EF4-FFF2-40B4-BE49-F238E27FC236}">
                <a16:creationId xmlns:a16="http://schemas.microsoft.com/office/drawing/2014/main" id="{07219690-9A2A-4043-A469-A5FAAFAE8A05}"/>
              </a:ext>
            </a:extLst>
          </p:cNvPr>
          <p:cNvSpPr>
            <a:spLocks xmlns:a="http://schemas.openxmlformats.org/drawingml/2006/main" noGrp="1"/>
          </p:cNvSpPr>
          <p:nvPr/>
        </p:nvSpPr>
        <p:spPr>
          <a:xfrm xmlns:a="http://schemas.openxmlformats.org/drawingml/2006/main">
            <a:off x="904875" y="4305300"/>
            <a:ext cx="1143000" cy="5143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3" name="">
            <a:extLst xmlns:a="http://schemas.openxmlformats.org/drawingml/2006/main">
              <a:ext uri="{FF2B5EF4-FFF2-40B4-BE49-F238E27FC236}">
                <a16:creationId xmlns:a16="http://schemas.microsoft.com/office/drawing/2014/main" id="{94C0038B-44BF-49C5-9B4B-24F74A7C7078}"/>
              </a:ext>
            </a:extLst>
          </p:cNvPr>
          <p:cNvSpPr>
            <a:spLocks xmlns:a="http://schemas.openxmlformats.org/drawingml/2006/main" noGrp="1"/>
          </p:cNvSpPr>
          <p:nvPr/>
        </p:nvSpPr>
        <p:spPr>
          <a:xfrm xmlns:a="http://schemas.openxmlformats.org/drawingml/2006/main">
            <a:off x="1000125" y="438150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Fluency</a:t>
            </a:r>
          </a:p>
        </p:txBody>
      </p:sp>
      <p:sp>
        <p:nvSpPr>
          <p:cNvPr id="24" name="">
            <a:extLst xmlns:a="http://schemas.openxmlformats.org/drawingml/2006/main">
              <a:ext uri="{FF2B5EF4-FFF2-40B4-BE49-F238E27FC236}">
                <a16:creationId xmlns:a16="http://schemas.microsoft.com/office/drawing/2014/main" id="{10D49640-16F9-4C7E-A2EC-819139B5EE1E}"/>
              </a:ext>
            </a:extLst>
          </p:cNvPr>
          <p:cNvSpPr>
            <a:spLocks xmlns:a="http://schemas.openxmlformats.org/drawingml/2006/main" noGrp="1"/>
          </p:cNvSpPr>
          <p:nvPr/>
        </p:nvSpPr>
        <p:spPr>
          <a:xfrm xmlns:a="http://schemas.openxmlformats.org/drawingml/2006/main">
            <a:off x="2047875" y="4305300"/>
            <a:ext cx="762000" cy="5143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5" name="">
            <a:extLst xmlns:a="http://schemas.openxmlformats.org/drawingml/2006/main">
              <a:ext uri="{FF2B5EF4-FFF2-40B4-BE49-F238E27FC236}">
                <a16:creationId xmlns:a16="http://schemas.microsoft.com/office/drawing/2014/main" id="{F021DF01-50BC-43A2-9A36-BBB3B5B23BC7}"/>
              </a:ext>
            </a:extLst>
          </p:cNvPr>
          <p:cNvSpPr>
            <a:spLocks xmlns:a="http://schemas.openxmlformats.org/drawingml/2006/main" noGrp="1"/>
          </p:cNvSpPr>
          <p:nvPr/>
        </p:nvSpPr>
        <p:spPr>
          <a:xfrm xmlns:a="http://schemas.openxmlformats.org/drawingml/2006/main">
            <a:off x="2143125" y="438150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A2+</a:t>
            </a:r>
          </a:p>
        </p:txBody>
      </p:sp>
      <p:sp>
        <p:nvSpPr>
          <p:cNvPr id="26" name="">
            <a:extLst xmlns:a="http://schemas.openxmlformats.org/drawingml/2006/main">
              <a:ext uri="{FF2B5EF4-FFF2-40B4-BE49-F238E27FC236}">
                <a16:creationId xmlns:a16="http://schemas.microsoft.com/office/drawing/2014/main" id="{46DA93F8-D575-41D5-A42F-BE1F01EB7EC5}"/>
              </a:ext>
            </a:extLst>
          </p:cNvPr>
          <p:cNvSpPr>
            <a:spLocks xmlns:a="http://schemas.openxmlformats.org/drawingml/2006/main" noGrp="1"/>
          </p:cNvSpPr>
          <p:nvPr/>
        </p:nvSpPr>
        <p:spPr>
          <a:xfrm xmlns:a="http://schemas.openxmlformats.org/drawingml/2006/main">
            <a:off x="2809875" y="4305300"/>
            <a:ext cx="2762250" cy="5143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7" name="">
            <a:extLst xmlns:a="http://schemas.openxmlformats.org/drawingml/2006/main">
              <a:ext uri="{FF2B5EF4-FFF2-40B4-BE49-F238E27FC236}">
                <a16:creationId xmlns:a16="http://schemas.microsoft.com/office/drawing/2014/main" id="{C1EAC084-5612-44CD-B10C-67C5D2E54F41}"/>
              </a:ext>
            </a:extLst>
          </p:cNvPr>
          <p:cNvSpPr>
            <a:spLocks xmlns:a="http://schemas.openxmlformats.org/drawingml/2006/main" noGrp="1"/>
          </p:cNvSpPr>
          <p:nvPr/>
        </p:nvSpPr>
        <p:spPr>
          <a:xfrm xmlns:a="http://schemas.openxmlformats.org/drawingml/2006/main">
            <a:off x="2905125" y="43815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2 pause dài tại 00:38, 01:04</a:t>
            </a:r>
          </a:p>
        </p:txBody>
      </p:sp>
      <p:sp>
        <p:nvSpPr>
          <p:cNvPr id="28" name="">
            <a:extLst xmlns:a="http://schemas.openxmlformats.org/drawingml/2006/main">
              <a:ext uri="{FF2B5EF4-FFF2-40B4-BE49-F238E27FC236}">
                <a16:creationId xmlns:a16="http://schemas.microsoft.com/office/drawing/2014/main" id="{E432CB34-3D25-45E9-86DF-2BBFBA5191BD}"/>
              </a:ext>
            </a:extLst>
          </p:cNvPr>
          <p:cNvSpPr>
            <a:spLocks xmlns:a="http://schemas.openxmlformats.org/drawingml/2006/main" noGrp="1"/>
          </p:cNvSpPr>
          <p:nvPr/>
        </p:nvSpPr>
        <p:spPr>
          <a:xfrm xmlns:a="http://schemas.openxmlformats.org/drawingml/2006/main">
            <a:off x="904875" y="4819650"/>
            <a:ext cx="1143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9" name="">
            <a:extLst xmlns:a="http://schemas.openxmlformats.org/drawingml/2006/main">
              <a:ext uri="{FF2B5EF4-FFF2-40B4-BE49-F238E27FC236}">
                <a16:creationId xmlns:a16="http://schemas.microsoft.com/office/drawing/2014/main" id="{31350A83-CBCD-4909-8941-B6F06C683000}"/>
              </a:ext>
            </a:extLst>
          </p:cNvPr>
          <p:cNvSpPr>
            <a:spLocks xmlns:a="http://schemas.openxmlformats.org/drawingml/2006/main" noGrp="1"/>
          </p:cNvSpPr>
          <p:nvPr/>
        </p:nvSpPr>
        <p:spPr>
          <a:xfrm xmlns:a="http://schemas.openxmlformats.org/drawingml/2006/main">
            <a:off x="1000125" y="4895850"/>
            <a:ext cx="95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Interaction</a:t>
            </a:r>
          </a:p>
        </p:txBody>
      </p:sp>
      <p:sp>
        <p:nvSpPr>
          <p:cNvPr id="30" name="">
            <a:extLst xmlns:a="http://schemas.openxmlformats.org/drawingml/2006/main">
              <a:ext uri="{FF2B5EF4-FFF2-40B4-BE49-F238E27FC236}">
                <a16:creationId xmlns:a16="http://schemas.microsoft.com/office/drawing/2014/main" id="{C82F64D2-17E6-4270-B24A-B32EF0BEB7DE}"/>
              </a:ext>
            </a:extLst>
          </p:cNvPr>
          <p:cNvSpPr>
            <a:spLocks xmlns:a="http://schemas.openxmlformats.org/drawingml/2006/main" noGrp="1"/>
          </p:cNvSpPr>
          <p:nvPr/>
        </p:nvSpPr>
        <p:spPr>
          <a:xfrm xmlns:a="http://schemas.openxmlformats.org/drawingml/2006/main">
            <a:off x="2047875" y="4819650"/>
            <a:ext cx="76200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1" name="">
            <a:extLst xmlns:a="http://schemas.openxmlformats.org/drawingml/2006/main">
              <a:ext uri="{FF2B5EF4-FFF2-40B4-BE49-F238E27FC236}">
                <a16:creationId xmlns:a16="http://schemas.microsoft.com/office/drawing/2014/main" id="{8B1F33CF-F99D-447C-BBC8-04EC2E79B2BB}"/>
              </a:ext>
            </a:extLst>
          </p:cNvPr>
          <p:cNvSpPr>
            <a:spLocks xmlns:a="http://schemas.openxmlformats.org/drawingml/2006/main" noGrp="1"/>
          </p:cNvSpPr>
          <p:nvPr/>
        </p:nvSpPr>
        <p:spPr>
          <a:xfrm xmlns:a="http://schemas.openxmlformats.org/drawingml/2006/main">
            <a:off x="2143125" y="4895850"/>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t>
            </a:r>
          </a:p>
        </p:txBody>
      </p:sp>
      <p:sp>
        <p:nvSpPr>
          <p:cNvPr id="32" name="">
            <a:extLst xmlns:a="http://schemas.openxmlformats.org/drawingml/2006/main">
              <a:ext uri="{FF2B5EF4-FFF2-40B4-BE49-F238E27FC236}">
                <a16:creationId xmlns:a16="http://schemas.microsoft.com/office/drawing/2014/main" id="{437DAC8C-C57B-4ADF-83CB-F034AB078485}"/>
              </a:ext>
            </a:extLst>
          </p:cNvPr>
          <p:cNvSpPr>
            <a:spLocks xmlns:a="http://schemas.openxmlformats.org/drawingml/2006/main" noGrp="1"/>
          </p:cNvSpPr>
          <p:nvPr/>
        </p:nvSpPr>
        <p:spPr>
          <a:xfrm xmlns:a="http://schemas.openxmlformats.org/drawingml/2006/main">
            <a:off x="2809875" y="4819650"/>
            <a:ext cx="2762250" cy="5143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3" name="">
            <a:extLst xmlns:a="http://schemas.openxmlformats.org/drawingml/2006/main">
              <a:ext uri="{FF2B5EF4-FFF2-40B4-BE49-F238E27FC236}">
                <a16:creationId xmlns:a16="http://schemas.microsoft.com/office/drawing/2014/main" id="{4FA70940-5567-438B-AC49-0FE581B74918}"/>
              </a:ext>
            </a:extLst>
          </p:cNvPr>
          <p:cNvSpPr>
            <a:spLocks xmlns:a="http://schemas.openxmlformats.org/drawingml/2006/main" noGrp="1"/>
          </p:cNvSpPr>
          <p:nvPr/>
        </p:nvSpPr>
        <p:spPr>
          <a:xfrm xmlns:a="http://schemas.openxmlformats.org/drawingml/2006/main">
            <a:off x="2905125" y="4895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Chưa làm Task C</a:t>
            </a:r>
          </a:p>
        </p:txBody>
      </p:sp>
      <p:sp>
        <p:nvSpPr>
          <p:cNvPr id="34" name="">
            <a:extLst xmlns:a="http://schemas.openxmlformats.org/drawingml/2006/main">
              <a:ext uri="{FF2B5EF4-FFF2-40B4-BE49-F238E27FC236}">
                <a16:creationId xmlns:a16="http://schemas.microsoft.com/office/drawing/2014/main" id="{9CA9C2B5-9CF3-476C-9832-8DD26C16272F}"/>
              </a:ext>
            </a:extLst>
          </p:cNvPr>
          <p:cNvSpPr>
            <a:spLocks xmlns:a="http://schemas.openxmlformats.org/drawingml/2006/main" noGrp="1"/>
          </p:cNvSpPr>
          <p:nvPr/>
        </p:nvSpPr>
        <p:spPr>
          <a:xfrm xmlns:a="http://schemas.openxmlformats.org/drawingml/2006/main">
            <a:off x="6572250" y="2095500"/>
            <a:ext cx="4762500" cy="3476625"/>
          </a:xfrm>
          <a:prstGeom xmlns:a="http://schemas.openxmlformats.org/drawingml/2006/main" prst="roundRect">
            <a:avLst>
              <a:gd name="adj" fmla="val 1644"/>
            </a:avLst>
          </a:prstGeom>
          <a:solidFill xmlns:a="http://schemas.openxmlformats.org/drawingml/2006/main">
            <a:srgbClr val="142033"/>
          </a:solidFill>
          <a:ln xmlns:a="http://schemas.openxmlformats.org/drawingml/2006/main" w="9525">
            <a:solidFill>
              <a:srgbClr val="142033"/>
            </a:solidFill>
            <a:prstDash val="solid"/>
          </a:ln>
        </p:spPr>
      </p:sp>
      <p:sp>
        <p:nvSpPr>
          <p:cNvPr id="35" name="">
            <a:extLst xmlns:a="http://schemas.openxmlformats.org/drawingml/2006/main">
              <a:ext uri="{FF2B5EF4-FFF2-40B4-BE49-F238E27FC236}">
                <a16:creationId xmlns:a16="http://schemas.microsoft.com/office/drawing/2014/main" id="{E846707E-3AB1-445B-A279-8CE4C97A3476}"/>
              </a:ext>
            </a:extLst>
          </p:cNvPr>
          <p:cNvSpPr>
            <a:spLocks xmlns:a="http://schemas.openxmlformats.org/drawingml/2006/main" noGrp="1"/>
          </p:cNvSpPr>
          <p:nvPr/>
        </p:nvSpPr>
        <p:spPr>
          <a:xfrm xmlns:a="http://schemas.openxmlformats.org/drawingml/2006/main">
            <a:off x="6858000" y="23241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FFFFFF"/>
                </a:solidFill>
                <a:latin typeface="Consolas"/>
                <a:ea typeface="Consolas"/>
                <a:cs typeface="Consolas"/>
              </a:defRPr>
            </a:pPr>
            <a:r>
              <a:rPr sz="1575" b="1" i="0">
                <a:solidFill>
                  <a:srgbClr val="FFFFFF"/>
                </a:solidFill>
                <a:latin typeface="Consolas"/>
                <a:ea typeface="Consolas"/>
                <a:cs typeface="Consolas"/>
              </a:rPr>
              <a:t>speaking_profile.json</a:t>
            </a:r>
          </a:p>
        </p:txBody>
      </p:sp>
      <p:sp>
        <p:nvSpPr>
          <p:cNvPr id="36" name="">
            <a:extLst xmlns:a="http://schemas.openxmlformats.org/drawingml/2006/main">
              <a:ext uri="{FF2B5EF4-FFF2-40B4-BE49-F238E27FC236}">
                <a16:creationId xmlns:a16="http://schemas.microsoft.com/office/drawing/2014/main" id="{D6FA14D9-4F9F-490D-B99F-FF46F46ECD2D}"/>
              </a:ext>
            </a:extLst>
          </p:cNvPr>
          <p:cNvSpPr>
            <a:spLocks xmlns:a="http://schemas.openxmlformats.org/drawingml/2006/main" noGrp="1"/>
          </p:cNvSpPr>
          <p:nvPr/>
        </p:nvSpPr>
        <p:spPr>
          <a:xfrm xmlns:a="http://schemas.openxmlformats.org/drawingml/2006/main">
            <a:off x="6858000" y="2809875"/>
            <a:ext cx="4191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"overall": {"band":"B1", "confidence":0.67},</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"criteria": {</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"range":"B1", "fluency":"A2+",</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"interaction":null</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"evidence_refs":["e17","e24"],</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"weakest_criteria":["fluency"],</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"next_task_hint":"retell_with_connectors",</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  "teacher_verified":false</a:t>
            </a:r>
          </a:p>
          <a:p xmlns:a="http://schemas.openxmlformats.org/drawingml/2006/main">
            <a:pPr algn="l">
              <a:lnSpc>
                <a:spcPct val="100000"/>
              </a:lnSpc>
              <a:buNone/>
              <a:defRPr sz="1275" b="0" i="0">
                <a:solidFill>
                  <a:srgbClr val="E6EDF7"/>
                </a:solidFill>
                <a:latin typeface="Consolas"/>
                <a:ea typeface="Consolas"/>
                <a:cs typeface="Consolas"/>
              </a:defRPr>
            </a:pPr>
            <a:r>
              <a:rPr sz="1275" b="0" i="0">
                <a:solidFill>
                  <a:srgbClr val="E6EDF7"/>
                </a:solidFill>
                <a:latin typeface="Consolas"/>
                <a:ea typeface="Consolas"/>
                <a:cs typeface="Consolas"/>
              </a:rPr>
              <a:t>}</a:t>
            </a:r>
          </a:p>
        </p:txBody>
      </p:sp>
    </p:spTree>
    <p:extLst>
      <p:ext uri="{BB962C8B-B14F-4D97-AF65-F5344CB8AC3E}">
        <p14:creationId xmlns:p14="http://schemas.microsoft.com/office/powerpoint/2010/main" val="723233700"/>
      </p:ext>
    </p:extLst>
  </p:cSld>
</p:sld>
</file>

<file path=ppt/slides/slide2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583BE84-E672-42B7-A3B8-D7483D27338B}"/>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KHẢO SÁT SẢN PHẨM VÀ NGHIÊN CỨU</a:t>
            </a:r>
          </a:p>
        </p:txBody>
      </p:sp>
      <p:sp>
        <p:nvSpPr>
          <p:cNvPr id="2" name="">
            <a:extLst xmlns:a="http://schemas.openxmlformats.org/drawingml/2006/main">
              <a:ext uri="{FF2B5EF4-FFF2-40B4-BE49-F238E27FC236}">
                <a16:creationId xmlns:a16="http://schemas.microsoft.com/office/drawing/2014/main" id="{D8B444CD-96A9-4C97-AFCF-EBCB042F61AB}"/>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Mỗi nguồn giải quyết tốt một phần, nhưng chưa khớp toàn bộ bài toán người Việt A2–B2</a:t>
            </a:r>
          </a:p>
        </p:txBody>
      </p:sp>
      <p:sp>
        <p:nvSpPr>
          <p:cNvPr id="3" name="">
            <a:extLst xmlns:a="http://schemas.openxmlformats.org/drawingml/2006/main">
              <a:ext uri="{FF2B5EF4-FFF2-40B4-BE49-F238E27FC236}">
                <a16:creationId xmlns:a16="http://schemas.microsoft.com/office/drawing/2014/main" id="{9ED55198-7E8A-4112-916F-47C1104201E8}"/>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Dùng các hệ thống này làm baseline, tham khảo kiến trúc hoặc học cách thiết kế trải nghiệm.</a:t>
            </a:r>
          </a:p>
        </p:txBody>
      </p:sp>
      <p:sp>
        <p:nvSpPr>
          <p:cNvPr id="4" name="">
            <a:extLst xmlns:a="http://schemas.openxmlformats.org/drawingml/2006/main">
              <a:ext uri="{FF2B5EF4-FFF2-40B4-BE49-F238E27FC236}">
                <a16:creationId xmlns:a16="http://schemas.microsoft.com/office/drawing/2014/main" id="{2C94AE94-F756-4B0B-8AC3-7D2F1C813643}"/>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4E1250F-799C-47D2-89FC-0F1B84B7A354}"/>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KHOẢNG TRỐNG</a:t>
            </a:r>
          </a:p>
        </p:txBody>
      </p:sp>
      <p:sp>
        <p:nvSpPr>
          <p:cNvPr id="6" name="">
            <a:extLst xmlns:a="http://schemas.openxmlformats.org/drawingml/2006/main">
              <a:ext uri="{FF2B5EF4-FFF2-40B4-BE49-F238E27FC236}">
                <a16:creationId xmlns:a16="http://schemas.microsoft.com/office/drawing/2014/main" id="{49D3B048-395B-43E8-927C-F79659E26AA5}"/>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25</a:t>
            </a:r>
          </a:p>
        </p:txBody>
      </p:sp>
      <p:sp>
        <p:nvSpPr>
          <p:cNvPr id="7" name="">
            <a:extLst xmlns:a="http://schemas.openxmlformats.org/drawingml/2006/main">
              <a:ext uri="{FF2B5EF4-FFF2-40B4-BE49-F238E27FC236}">
                <a16:creationId xmlns:a16="http://schemas.microsoft.com/office/drawing/2014/main" id="{DFD5F5EA-6BC3-4BA3-805F-8C43E933DC55}"/>
              </a:ext>
            </a:extLst>
          </p:cNvPr>
          <p:cNvSpPr>
            <a:spLocks xmlns:a="http://schemas.openxmlformats.org/drawingml/2006/main" noGrp="1"/>
          </p:cNvSpPr>
          <p:nvPr/>
        </p:nvSpPr>
        <p:spPr>
          <a:xfrm xmlns:a="http://schemas.openxmlformats.org/drawingml/2006/main">
            <a:off x="523875" y="2095500"/>
            <a:ext cx="2619375"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B98EE7-C15C-43B1-A6D6-4C3F5DC906FD}"/>
              </a:ext>
            </a:extLst>
          </p:cNvPr>
          <p:cNvSpPr>
            <a:spLocks xmlns:a="http://schemas.openxmlformats.org/drawingml/2006/main" noGrp="1"/>
          </p:cNvSpPr>
          <p:nvPr/>
        </p:nvSpPr>
        <p:spPr>
          <a:xfrm xmlns:a="http://schemas.openxmlformats.org/drawingml/2006/main">
            <a:off x="523875" y="22669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SpeechRater</a:t>
            </a:r>
          </a:p>
        </p:txBody>
      </p:sp>
      <p:sp>
        <p:nvSpPr>
          <p:cNvPr id="9" name="">
            <a:extLst xmlns:a="http://schemas.openxmlformats.org/drawingml/2006/main">
              <a:ext uri="{FF2B5EF4-FFF2-40B4-BE49-F238E27FC236}">
                <a16:creationId xmlns:a16="http://schemas.microsoft.com/office/drawing/2014/main" id="{FD366CA3-9816-4B3C-97FD-6EFF71FB87EA}"/>
              </a:ext>
            </a:extLst>
          </p:cNvPr>
          <p:cNvSpPr>
            <a:spLocks xmlns:a="http://schemas.openxmlformats.org/drawingml/2006/main" noGrp="1"/>
          </p:cNvSpPr>
          <p:nvPr/>
        </p:nvSpPr>
        <p:spPr>
          <a:xfrm xmlns:a="http://schemas.openxmlformats.org/drawingml/2006/main">
            <a:off x="523875" y="2838450"/>
            <a:ext cx="261937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Hệ thống chấm nói tự động kinh điển; mạnh về construct, feature và validation.</a:t>
            </a:r>
          </a:p>
          <a:p xmlns:a="http://schemas.openxmlformats.org/drawingml/2006/main">
            <a:r>
              <a:t/>
            </a:r>
          </a:p>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Thiếu: mã nguồn/định hướng riêng cho người Việt.</a:t>
            </a:r>
          </a:p>
        </p:txBody>
      </p:sp>
      <p:sp>
        <p:nvSpPr>
          <p:cNvPr id="10" name="">
            <a:extLst xmlns:a="http://schemas.openxmlformats.org/drawingml/2006/main">
              <a:ext uri="{FF2B5EF4-FFF2-40B4-BE49-F238E27FC236}">
                <a16:creationId xmlns:a16="http://schemas.microsoft.com/office/drawing/2014/main" id="{37BDF5BD-EB92-4C77-BA14-A4532DA29BED}"/>
              </a:ext>
            </a:extLst>
          </p:cNvPr>
          <p:cNvSpPr>
            <a:spLocks xmlns:a="http://schemas.openxmlformats.org/drawingml/2006/main" noGrp="1"/>
          </p:cNvSpPr>
          <p:nvPr/>
        </p:nvSpPr>
        <p:spPr>
          <a:xfrm xmlns:a="http://schemas.openxmlformats.org/drawingml/2006/main">
            <a:off x="3476625" y="2095500"/>
            <a:ext cx="2619375"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323E34-5178-45FA-9E1D-E61F12605159}"/>
              </a:ext>
            </a:extLst>
          </p:cNvPr>
          <p:cNvSpPr>
            <a:spLocks xmlns:a="http://schemas.openxmlformats.org/drawingml/2006/main" noGrp="1"/>
          </p:cNvSpPr>
          <p:nvPr/>
        </p:nvSpPr>
        <p:spPr>
          <a:xfrm xmlns:a="http://schemas.openxmlformats.org/drawingml/2006/main">
            <a:off x="3476625" y="22669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Speak &amp; Improve</a:t>
            </a:r>
          </a:p>
        </p:txBody>
      </p:sp>
      <p:sp>
        <p:nvSpPr>
          <p:cNvPr id="12" name="">
            <a:extLst xmlns:a="http://schemas.openxmlformats.org/drawingml/2006/main">
              <a:ext uri="{FF2B5EF4-FFF2-40B4-BE49-F238E27FC236}">
                <a16:creationId xmlns:a16="http://schemas.microsoft.com/office/drawing/2014/main" id="{50FCBCBE-A762-48A2-94AF-6452651E7330}"/>
              </a:ext>
            </a:extLst>
          </p:cNvPr>
          <p:cNvSpPr>
            <a:spLocks xmlns:a="http://schemas.openxmlformats.org/drawingml/2006/main" noGrp="1"/>
          </p:cNvSpPr>
          <p:nvPr/>
        </p:nvSpPr>
        <p:spPr>
          <a:xfrm xmlns:a="http://schemas.openxmlformats.org/drawingml/2006/main">
            <a:off x="3476625" y="2838450"/>
            <a:ext cx="261937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UX luyện nói và dữ liệu L2 lớn.</a:t>
            </a:r>
          </a:p>
          <a:p xmlns:a="http://schemas.openxmlformats.org/drawingml/2006/main">
            <a:r>
              <a:t/>
            </a:r>
          </a:p>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Thiếu: kiểm soát trực tiếp mô hình và xác nhận subset người Việt phù hợp.</a:t>
            </a:r>
          </a:p>
        </p:txBody>
      </p:sp>
      <p:sp>
        <p:nvSpPr>
          <p:cNvPr id="13" name="">
            <a:extLst xmlns:a="http://schemas.openxmlformats.org/drawingml/2006/main">
              <a:ext uri="{FF2B5EF4-FFF2-40B4-BE49-F238E27FC236}">
                <a16:creationId xmlns:a16="http://schemas.microsoft.com/office/drawing/2014/main" id="{D9B55609-106F-4E01-9250-38617FBE25BD}"/>
              </a:ext>
            </a:extLst>
          </p:cNvPr>
          <p:cNvSpPr>
            <a:spLocks xmlns:a="http://schemas.openxmlformats.org/drawingml/2006/main" noGrp="1"/>
          </p:cNvSpPr>
          <p:nvPr/>
        </p:nvSpPr>
        <p:spPr>
          <a:xfrm xmlns:a="http://schemas.openxmlformats.org/drawingml/2006/main">
            <a:off x="6429375" y="2095500"/>
            <a:ext cx="2619375" cy="47625"/>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616A9B3-C512-4A71-BBE3-49296FAC52F4}"/>
              </a:ext>
            </a:extLst>
          </p:cNvPr>
          <p:cNvSpPr>
            <a:spLocks xmlns:a="http://schemas.openxmlformats.org/drawingml/2006/main" noGrp="1"/>
          </p:cNvSpPr>
          <p:nvPr/>
        </p:nvSpPr>
        <p:spPr>
          <a:xfrm xmlns:a="http://schemas.openxmlformats.org/drawingml/2006/main">
            <a:off x="6429375" y="2266950"/>
            <a:ext cx="26193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6C4FA3"/>
                </a:solidFill>
                <a:latin typeface="Aptos"/>
                <a:ea typeface="Aptos"/>
                <a:cs typeface="Aptos"/>
              </a:defRPr>
            </a:pPr>
            <a:r>
              <a:rPr sz="1875" b="1" i="0">
                <a:solidFill>
                  <a:srgbClr val="6C4FA3"/>
                </a:solidFill>
                <a:latin typeface="Aptos"/>
                <a:ea typeface="Aptos"/>
                <a:cs typeface="Aptos"/>
              </a:rPr>
              <a:t>EvalYaks</a:t>
            </a:r>
          </a:p>
        </p:txBody>
      </p:sp>
      <p:sp>
        <p:nvSpPr>
          <p:cNvPr id="15" name="">
            <a:extLst xmlns:a="http://schemas.openxmlformats.org/drawingml/2006/main">
              <a:ext uri="{FF2B5EF4-FFF2-40B4-BE49-F238E27FC236}">
                <a16:creationId xmlns:a16="http://schemas.microsoft.com/office/drawing/2014/main" id="{E69EE25A-1749-4017-A2C3-C86156D447BD}"/>
              </a:ext>
            </a:extLst>
          </p:cNvPr>
          <p:cNvSpPr>
            <a:spLocks xmlns:a="http://schemas.openxmlformats.org/drawingml/2006/main" noGrp="1"/>
          </p:cNvSpPr>
          <p:nvPr/>
        </p:nvSpPr>
        <p:spPr>
          <a:xfrm xmlns:a="http://schemas.openxmlformats.org/drawingml/2006/main">
            <a:off x="6429375" y="2838450"/>
            <a:ext cx="2619375"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Mã nguồn/prompt cho đánh giá transcript theo B2.</a:t>
            </a:r>
          </a:p>
          <a:p xmlns:a="http://schemas.openxmlformats.org/drawingml/2006/main">
            <a:r>
              <a:t/>
            </a:r>
          </a:p>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Thiếu: audio, phát âm, fluency và các mức A2/B1.</a:t>
            </a:r>
          </a:p>
        </p:txBody>
      </p:sp>
      <p:sp>
        <p:nvSpPr>
          <p:cNvPr id="16" name="">
            <a:extLst xmlns:a="http://schemas.openxmlformats.org/drawingml/2006/main">
              <a:ext uri="{FF2B5EF4-FFF2-40B4-BE49-F238E27FC236}">
                <a16:creationId xmlns:a16="http://schemas.microsoft.com/office/drawing/2014/main" id="{FCC0A06B-61DE-4C46-9E87-92BF1443D26A}"/>
              </a:ext>
            </a:extLst>
          </p:cNvPr>
          <p:cNvSpPr>
            <a:spLocks xmlns:a="http://schemas.openxmlformats.org/drawingml/2006/main" noGrp="1"/>
          </p:cNvSpPr>
          <p:nvPr/>
        </p:nvSpPr>
        <p:spPr>
          <a:xfrm xmlns:a="http://schemas.openxmlformats.org/drawingml/2006/main">
            <a:off x="9382125" y="2095500"/>
            <a:ext cx="228600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CEFCD9-DEB3-46AC-B4F0-164EE47D32D9}"/>
              </a:ext>
            </a:extLst>
          </p:cNvPr>
          <p:cNvSpPr>
            <a:spLocks xmlns:a="http://schemas.openxmlformats.org/drawingml/2006/main" noGrp="1"/>
          </p:cNvSpPr>
          <p:nvPr/>
        </p:nvSpPr>
        <p:spPr>
          <a:xfrm xmlns:a="http://schemas.openxmlformats.org/drawingml/2006/main">
            <a:off x="9382125" y="22669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GOPT</a:t>
            </a:r>
          </a:p>
        </p:txBody>
      </p:sp>
      <p:sp>
        <p:nvSpPr>
          <p:cNvPr id="18" name="">
            <a:extLst xmlns:a="http://schemas.openxmlformats.org/drawingml/2006/main">
              <a:ext uri="{FF2B5EF4-FFF2-40B4-BE49-F238E27FC236}">
                <a16:creationId xmlns:a16="http://schemas.microsoft.com/office/drawing/2014/main" id="{60CB14CD-C654-4A91-B1F8-F7DCCA0984C4}"/>
              </a:ext>
            </a:extLst>
          </p:cNvPr>
          <p:cNvSpPr>
            <a:spLocks xmlns:a="http://schemas.openxmlformats.org/drawingml/2006/main" noGrp="1"/>
          </p:cNvSpPr>
          <p:nvPr/>
        </p:nvSpPr>
        <p:spPr>
          <a:xfrm xmlns:a="http://schemas.openxmlformats.org/drawingml/2006/main">
            <a:off x="9382125" y="2838450"/>
            <a:ext cx="22860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Baseline chấm phát âm nhiều mức.</a:t>
            </a:r>
          </a:p>
          <a:p xmlns:a="http://schemas.openxmlformats.org/drawingml/2006/main">
            <a:r>
              <a:t/>
            </a:r>
          </a:p>
          <a:p xmlns:a="http://schemas.openxmlformats.org/drawingml/2006/main">
            <a:pPr algn="l">
              <a:lnSpc>
                <a:spcPct val="108000"/>
              </a:lnSpc>
              <a:buNone/>
              <a:defRPr sz="1275" b="0" i="0">
                <a:solidFill>
                  <a:srgbClr val="28374A"/>
                </a:solidFill>
                <a:latin typeface="Aptos"/>
                <a:ea typeface="Aptos"/>
                <a:cs typeface="Aptos"/>
              </a:defRPr>
            </a:pPr>
            <a:r>
              <a:rPr sz="1275" b="0" i="0">
                <a:solidFill>
                  <a:srgbClr val="28374A"/>
                </a:solidFill>
                <a:latin typeface="Aptos"/>
                <a:ea typeface="Aptos"/>
                <a:cs typeface="Aptos"/>
              </a:rPr>
              <a:t>Thiếu: domain shift Mandarin L1 + scripted khi áp lên người Việt nói tự nhiên.</a:t>
            </a:r>
          </a:p>
        </p:txBody>
      </p:sp>
      <p:sp>
        <p:nvSpPr>
          <p:cNvPr id="19" name="">
            <a:extLst xmlns:a="http://schemas.openxmlformats.org/drawingml/2006/main">
              <a:ext uri="{FF2B5EF4-FFF2-40B4-BE49-F238E27FC236}">
                <a16:creationId xmlns:a16="http://schemas.microsoft.com/office/drawing/2014/main" id="{1106A325-E1E3-4C01-AD96-A15FCCF5B9AD}"/>
              </a:ext>
            </a:extLst>
          </p:cNvPr>
          <p:cNvSpPr>
            <a:spLocks xmlns:a="http://schemas.openxmlformats.org/drawingml/2006/main" noGrp="1"/>
          </p:cNvSpPr>
          <p:nvPr/>
        </p:nvSpPr>
        <p:spPr>
          <a:xfrm xmlns:a="http://schemas.openxmlformats.org/drawingml/2006/main">
            <a:off x="1143000" y="5410200"/>
            <a:ext cx="9906000" cy="609600"/>
          </a:xfrm>
          <a:prstGeom xmlns:a="http://schemas.openxmlformats.org/drawingml/2006/main" prst="roundRect">
            <a:avLst>
              <a:gd name="adj" fmla="val 9375"/>
            </a:avLst>
          </a:prstGeom>
          <a:solidFill xmlns:a="http://schemas.openxmlformats.org/drawingml/2006/main">
            <a:srgbClr val="FFF2D5"/>
          </a:solidFill>
          <a:ln xmlns:a="http://schemas.openxmlformats.org/drawingml/2006/main" w="9525">
            <a:solidFill>
              <a:srgbClr val="A96500"/>
            </a:solidFill>
            <a:prstDash val="solid"/>
          </a:ln>
        </p:spPr>
      </p:sp>
      <p:sp>
        <p:nvSpPr>
          <p:cNvPr id="20" name="">
            <a:extLst xmlns:a="http://schemas.openxmlformats.org/drawingml/2006/main">
              <a:ext uri="{FF2B5EF4-FFF2-40B4-BE49-F238E27FC236}">
                <a16:creationId xmlns:a16="http://schemas.microsoft.com/office/drawing/2014/main" id="{B828ACB7-D036-4269-8AA7-E48944FD6B42}"/>
              </a:ext>
            </a:extLst>
          </p:cNvPr>
          <p:cNvSpPr>
            <a:spLocks xmlns:a="http://schemas.openxmlformats.org/drawingml/2006/main" noGrp="1"/>
          </p:cNvSpPr>
          <p:nvPr/>
        </p:nvSpPr>
        <p:spPr>
          <a:xfrm xmlns:a="http://schemas.openxmlformats.org/drawingml/2006/main">
            <a:off x="1333500" y="554355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i="0">
                <a:solidFill>
                  <a:srgbClr val="A96500"/>
                </a:solidFill>
                <a:latin typeface="Aptos"/>
                <a:ea typeface="Aptos"/>
                <a:cs typeface="Aptos"/>
              </a:defRPr>
            </a:pPr>
            <a:r>
              <a:rPr sz="1500" b="1" i="0">
                <a:solidFill>
                  <a:srgbClr val="A96500"/>
                </a:solidFill>
                <a:latin typeface="Aptos"/>
                <a:ea typeface="Aptos"/>
                <a:cs typeface="Aptos"/>
              </a:rPr>
              <a:t>Khoảng trống nằm ở sự kết hợp: người Việt + audio tự nhiên + 6 tiêu chí + nhiều rater + confidence + teacher review.</a:t>
            </a:r>
          </a:p>
        </p:txBody>
      </p:sp>
    </p:spTree>
    <p:extLst>
      <p:ext uri="{BB962C8B-B14F-4D97-AF65-F5344CB8AC3E}">
        <p14:creationId xmlns:p14="http://schemas.microsoft.com/office/powerpoint/2010/main" val="534595598"/>
      </p:ext>
    </p:extLst>
  </p:cSld>
</p:sld>
</file>

<file path=ppt/slides/slide2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9A9F2B5-CE11-4108-8F9C-5D4DC13050DD}"/>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KHOẢNG TRỐNG NGHIÊN CỨU</a:t>
            </a:r>
          </a:p>
        </p:txBody>
      </p:sp>
      <p:sp>
        <p:nvSpPr>
          <p:cNvPr id="2" name="">
            <a:extLst xmlns:a="http://schemas.openxmlformats.org/drawingml/2006/main">
              <a:ext uri="{FF2B5EF4-FFF2-40B4-BE49-F238E27FC236}">
                <a16:creationId xmlns:a16="http://schemas.microsoft.com/office/drawing/2014/main" id="{2CADAC31-5FC2-4060-8A1B-6F461D387150}"/>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Điểm mới không nằm ở việc gọi một API, mà ở thiết kế đo lường và kiểm định</a:t>
            </a:r>
          </a:p>
        </p:txBody>
      </p:sp>
      <p:sp>
        <p:nvSpPr>
          <p:cNvPr id="3" name="">
            <a:extLst xmlns:a="http://schemas.openxmlformats.org/drawingml/2006/main">
              <a:ext uri="{FF2B5EF4-FFF2-40B4-BE49-F238E27FC236}">
                <a16:creationId xmlns:a16="http://schemas.microsoft.com/office/drawing/2014/main" id="{39BCD9A6-CA3A-43C1-AFA9-01B77055FA6F}"/>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Đề tài đóng góp bằng cách làm rõ mối nối giữa rubric, evidence, model và con người.</a:t>
            </a:r>
          </a:p>
        </p:txBody>
      </p:sp>
      <p:sp>
        <p:nvSpPr>
          <p:cNvPr id="4" name="">
            <a:extLst xmlns:a="http://schemas.openxmlformats.org/drawingml/2006/main">
              <a:ext uri="{FF2B5EF4-FFF2-40B4-BE49-F238E27FC236}">
                <a16:creationId xmlns:a16="http://schemas.microsoft.com/office/drawing/2014/main" id="{263EBC41-6740-4D82-894A-6ACBB1B697D4}"/>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9FBC74C-A6C3-48FE-BDEB-FCA3BBAE9235}"/>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KHOẢNG TRỐNG</a:t>
            </a:r>
          </a:p>
        </p:txBody>
      </p:sp>
      <p:sp>
        <p:nvSpPr>
          <p:cNvPr id="6" name="">
            <a:extLst xmlns:a="http://schemas.openxmlformats.org/drawingml/2006/main">
              <a:ext uri="{FF2B5EF4-FFF2-40B4-BE49-F238E27FC236}">
                <a16:creationId xmlns:a16="http://schemas.microsoft.com/office/drawing/2014/main" id="{05411EDE-F830-4184-ABCA-FFB28606485F}"/>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26</a:t>
            </a:r>
          </a:p>
        </p:txBody>
      </p:sp>
      <p:sp>
        <p:nvSpPr>
          <p:cNvPr id="7" name="">
            <a:extLst xmlns:a="http://schemas.openxmlformats.org/drawingml/2006/main">
              <a:ext uri="{FF2B5EF4-FFF2-40B4-BE49-F238E27FC236}">
                <a16:creationId xmlns:a16="http://schemas.microsoft.com/office/drawing/2014/main" id="{8F0427B8-4270-43D9-9338-4B3D7CC5CE1B}"/>
              </a:ext>
            </a:extLst>
          </p:cNvPr>
          <p:cNvSpPr>
            <a:spLocks xmlns:a="http://schemas.openxmlformats.org/drawingml/2006/main" noGrp="1"/>
          </p:cNvSpPr>
          <p:nvPr/>
        </p:nvSpPr>
        <p:spPr>
          <a:xfrm xmlns:a="http://schemas.openxmlformats.org/drawingml/2006/main">
            <a:off x="857250" y="21431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1F5EAC"/>
                </a:solidFill>
                <a:latin typeface="Aptos"/>
                <a:ea typeface="Aptos"/>
                <a:cs typeface="Aptos"/>
              </a:defRPr>
            </a:pPr>
            <a:r>
              <a:rPr sz="2250" b="1" i="0">
                <a:solidFill>
                  <a:srgbClr val="1F5EAC"/>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D9D980F6-6199-4621-BA97-4196ABAEE74A}"/>
              </a:ext>
            </a:extLst>
          </p:cNvPr>
          <p:cNvSpPr>
            <a:spLocks xmlns:a="http://schemas.openxmlformats.org/drawingml/2006/main" noGrp="1"/>
          </p:cNvSpPr>
          <p:nvPr/>
        </p:nvSpPr>
        <p:spPr>
          <a:xfrm xmlns:a="http://schemas.openxmlformats.org/drawingml/2006/main">
            <a:off x="1409700" y="214312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1F5EAC"/>
                </a:solidFill>
                <a:latin typeface="Aptos"/>
                <a:ea typeface="Aptos"/>
                <a:cs typeface="Aptos"/>
              </a:defRPr>
            </a:pPr>
            <a:r>
              <a:rPr sz="1650" b="1" i="0">
                <a:solidFill>
                  <a:srgbClr val="1F5EAC"/>
                </a:solidFill>
                <a:latin typeface="Aptos"/>
                <a:ea typeface="Aptos"/>
                <a:cs typeface="Aptos"/>
              </a:rPr>
              <a:t>Rubric CEFR được vận hành hóa thành bằng chứng máy đo được</a:t>
            </a:r>
          </a:p>
        </p:txBody>
      </p:sp>
      <p:sp>
        <p:nvSpPr>
          <p:cNvPr id="9" name="">
            <a:extLst xmlns:a="http://schemas.openxmlformats.org/drawingml/2006/main">
              <a:ext uri="{FF2B5EF4-FFF2-40B4-BE49-F238E27FC236}">
                <a16:creationId xmlns:a16="http://schemas.microsoft.com/office/drawing/2014/main" id="{C91B8B8C-EDB2-49C3-860E-7CCBA6856BD8}"/>
              </a:ext>
            </a:extLst>
          </p:cNvPr>
          <p:cNvSpPr>
            <a:spLocks xmlns:a="http://schemas.openxmlformats.org/drawingml/2006/main" noGrp="1"/>
          </p:cNvSpPr>
          <p:nvPr/>
        </p:nvSpPr>
        <p:spPr>
          <a:xfrm xmlns:a="http://schemas.openxmlformats.org/drawingml/2006/main">
            <a:off x="1409700" y="2752725"/>
            <a:ext cx="4400550" cy="19050"/>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3DADE2D-3470-49B1-A269-BCAEA1A1A795}"/>
              </a:ext>
            </a:extLst>
          </p:cNvPr>
          <p:cNvSpPr>
            <a:spLocks xmlns:a="http://schemas.openxmlformats.org/drawingml/2006/main" noGrp="1"/>
          </p:cNvSpPr>
          <p:nvPr/>
        </p:nvSpPr>
        <p:spPr>
          <a:xfrm xmlns:a="http://schemas.openxmlformats.org/drawingml/2006/main">
            <a:off x="6381750" y="21431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2F7D5C"/>
                </a:solidFill>
                <a:latin typeface="Aptos"/>
                <a:ea typeface="Aptos"/>
                <a:cs typeface="Aptos"/>
              </a:defRPr>
            </a:pPr>
            <a:r>
              <a:rPr sz="2250" b="1" i="0">
                <a:solidFill>
                  <a:srgbClr val="2F7D5C"/>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3C5808CF-0933-4CBE-A010-D4D7CFD4781D}"/>
              </a:ext>
            </a:extLst>
          </p:cNvPr>
          <p:cNvSpPr>
            <a:spLocks xmlns:a="http://schemas.openxmlformats.org/drawingml/2006/main" noGrp="1"/>
          </p:cNvSpPr>
          <p:nvPr/>
        </p:nvSpPr>
        <p:spPr>
          <a:xfrm xmlns:a="http://schemas.openxmlformats.org/drawingml/2006/main">
            <a:off x="6934200" y="214312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2F7D5C"/>
                </a:solidFill>
                <a:latin typeface="Aptos"/>
                <a:ea typeface="Aptos"/>
                <a:cs typeface="Aptos"/>
              </a:defRPr>
            </a:pPr>
            <a:r>
              <a:rPr sz="1650" b="1" i="0">
                <a:solidFill>
                  <a:srgbClr val="2F7D5C"/>
                </a:solidFill>
                <a:latin typeface="Aptos"/>
                <a:ea typeface="Aptos"/>
                <a:cs typeface="Aptos"/>
              </a:rPr>
              <a:t>Dữ liệu người Việt có hai người chấm và phân xử</a:t>
            </a:r>
          </a:p>
        </p:txBody>
      </p:sp>
      <p:sp>
        <p:nvSpPr>
          <p:cNvPr id="12" name="">
            <a:extLst xmlns:a="http://schemas.openxmlformats.org/drawingml/2006/main">
              <a:ext uri="{FF2B5EF4-FFF2-40B4-BE49-F238E27FC236}">
                <a16:creationId xmlns:a16="http://schemas.microsoft.com/office/drawing/2014/main" id="{F71D0E1B-2E34-46F5-BC02-E27B05B7B6AC}"/>
              </a:ext>
            </a:extLst>
          </p:cNvPr>
          <p:cNvSpPr>
            <a:spLocks xmlns:a="http://schemas.openxmlformats.org/drawingml/2006/main" noGrp="1"/>
          </p:cNvSpPr>
          <p:nvPr/>
        </p:nvSpPr>
        <p:spPr>
          <a:xfrm xmlns:a="http://schemas.openxmlformats.org/drawingml/2006/main">
            <a:off x="6934200" y="2752725"/>
            <a:ext cx="4400550" cy="1905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8740F90-C223-4E4E-8168-AF38AE3F8EC4}"/>
              </a:ext>
            </a:extLst>
          </p:cNvPr>
          <p:cNvSpPr>
            <a:spLocks xmlns:a="http://schemas.openxmlformats.org/drawingml/2006/main" noGrp="1"/>
          </p:cNvSpPr>
          <p:nvPr/>
        </p:nvSpPr>
        <p:spPr>
          <a:xfrm xmlns:a="http://schemas.openxmlformats.org/drawingml/2006/main">
            <a:off x="857250" y="34766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6C4FA3"/>
                </a:solidFill>
                <a:latin typeface="Aptos"/>
                <a:ea typeface="Aptos"/>
                <a:cs typeface="Aptos"/>
              </a:defRPr>
            </a:pPr>
            <a:r>
              <a:rPr sz="2250" b="1" i="0">
                <a:solidFill>
                  <a:srgbClr val="6C4FA3"/>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DDE294F3-6163-426E-9AD1-CD9EB60F9FAB}"/>
              </a:ext>
            </a:extLst>
          </p:cNvPr>
          <p:cNvSpPr>
            <a:spLocks xmlns:a="http://schemas.openxmlformats.org/drawingml/2006/main" noGrp="1"/>
          </p:cNvSpPr>
          <p:nvPr/>
        </p:nvSpPr>
        <p:spPr>
          <a:xfrm xmlns:a="http://schemas.openxmlformats.org/drawingml/2006/main">
            <a:off x="1409700" y="347662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6C4FA3"/>
                </a:solidFill>
                <a:latin typeface="Aptos"/>
                <a:ea typeface="Aptos"/>
                <a:cs typeface="Aptos"/>
              </a:defRPr>
            </a:pPr>
            <a:r>
              <a:rPr sz="1650" b="1" i="0">
                <a:solidFill>
                  <a:srgbClr val="6C4FA3"/>
                </a:solidFill>
                <a:latin typeface="Aptos"/>
                <a:ea typeface="Aptos"/>
                <a:cs typeface="Aptos"/>
              </a:rPr>
              <a:t>So sánh audio-only, transcript-only và multimodal</a:t>
            </a:r>
          </a:p>
        </p:txBody>
      </p:sp>
      <p:sp>
        <p:nvSpPr>
          <p:cNvPr id="15" name="">
            <a:extLst xmlns:a="http://schemas.openxmlformats.org/drawingml/2006/main">
              <a:ext uri="{FF2B5EF4-FFF2-40B4-BE49-F238E27FC236}">
                <a16:creationId xmlns:a16="http://schemas.microsoft.com/office/drawing/2014/main" id="{AF0A2B97-275E-4587-ADBC-12D3961D99EE}"/>
              </a:ext>
            </a:extLst>
          </p:cNvPr>
          <p:cNvSpPr>
            <a:spLocks xmlns:a="http://schemas.openxmlformats.org/drawingml/2006/main" noGrp="1"/>
          </p:cNvSpPr>
          <p:nvPr/>
        </p:nvSpPr>
        <p:spPr>
          <a:xfrm xmlns:a="http://schemas.openxmlformats.org/drawingml/2006/main">
            <a:off x="1409700" y="4086225"/>
            <a:ext cx="4400550" cy="19050"/>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00DE3F9-59E4-4CBC-BF01-3DD7F7913EB5}"/>
              </a:ext>
            </a:extLst>
          </p:cNvPr>
          <p:cNvSpPr>
            <a:spLocks xmlns:a="http://schemas.openxmlformats.org/drawingml/2006/main" noGrp="1"/>
          </p:cNvSpPr>
          <p:nvPr/>
        </p:nvSpPr>
        <p:spPr>
          <a:xfrm xmlns:a="http://schemas.openxmlformats.org/drawingml/2006/main">
            <a:off x="6381750" y="347662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B43D3D"/>
                </a:solidFill>
                <a:latin typeface="Aptos"/>
                <a:ea typeface="Aptos"/>
                <a:cs typeface="Aptos"/>
              </a:defRPr>
            </a:pPr>
            <a:r>
              <a:rPr sz="2250" b="1" i="0">
                <a:solidFill>
                  <a:srgbClr val="B43D3D"/>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0ECB1445-18CB-451B-9D89-6DAB1CFD23C2}"/>
              </a:ext>
            </a:extLst>
          </p:cNvPr>
          <p:cNvSpPr>
            <a:spLocks xmlns:a="http://schemas.openxmlformats.org/drawingml/2006/main" noGrp="1"/>
          </p:cNvSpPr>
          <p:nvPr/>
        </p:nvSpPr>
        <p:spPr>
          <a:xfrm xmlns:a="http://schemas.openxmlformats.org/drawingml/2006/main">
            <a:off x="6934200" y="347662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B43D3D"/>
                </a:solidFill>
                <a:latin typeface="Aptos"/>
                <a:ea typeface="Aptos"/>
                <a:cs typeface="Aptos"/>
              </a:defRPr>
            </a:pPr>
            <a:r>
              <a:rPr sz="1650" b="1" i="0">
                <a:solidFill>
                  <a:srgbClr val="B43D3D"/>
                </a:solidFill>
                <a:latin typeface="Aptos"/>
                <a:ea typeface="Aptos"/>
                <a:cs typeface="Aptos"/>
              </a:rPr>
              <a:t>Calibration, teacher queue và error audit theo accent/thiết bị</a:t>
            </a:r>
          </a:p>
        </p:txBody>
      </p:sp>
      <p:sp>
        <p:nvSpPr>
          <p:cNvPr id="18" name="">
            <a:extLst xmlns:a="http://schemas.openxmlformats.org/drawingml/2006/main">
              <a:ext uri="{FF2B5EF4-FFF2-40B4-BE49-F238E27FC236}">
                <a16:creationId xmlns:a16="http://schemas.microsoft.com/office/drawing/2014/main" id="{CDD09154-0793-46B7-972C-1B97DB4C1E83}"/>
              </a:ext>
            </a:extLst>
          </p:cNvPr>
          <p:cNvSpPr>
            <a:spLocks xmlns:a="http://schemas.openxmlformats.org/drawingml/2006/main" noGrp="1"/>
          </p:cNvSpPr>
          <p:nvPr/>
        </p:nvSpPr>
        <p:spPr>
          <a:xfrm xmlns:a="http://schemas.openxmlformats.org/drawingml/2006/main">
            <a:off x="6934200" y="4086225"/>
            <a:ext cx="4400550" cy="1905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5417F4E-4859-4AB6-A1F0-914585ED6951}"/>
              </a:ext>
            </a:extLst>
          </p:cNvPr>
          <p:cNvSpPr>
            <a:spLocks xmlns:a="http://schemas.openxmlformats.org/drawingml/2006/main" noGrp="1"/>
          </p:cNvSpPr>
          <p:nvPr/>
        </p:nvSpPr>
        <p:spPr>
          <a:xfrm xmlns:a="http://schemas.openxmlformats.org/drawingml/2006/main">
            <a:off x="1190625" y="5191125"/>
            <a:ext cx="9810750" cy="781050"/>
          </a:xfrm>
          <a:prstGeom xmlns:a="http://schemas.openxmlformats.org/drawingml/2006/main" prst="roundRect">
            <a:avLst>
              <a:gd name="adj" fmla="val 7317"/>
            </a:avLst>
          </a:prstGeom>
          <a:solidFill xmlns:a="http://schemas.openxmlformats.org/drawingml/2006/main">
            <a:srgbClr val="E8F2FB"/>
          </a:solidFill>
          <a:ln xmlns:a="http://schemas.openxmlformats.org/drawingml/2006/main" w="9525">
            <a:solidFill>
              <a:srgbClr val="1F5EAC"/>
            </a:solidFill>
            <a:prstDash val="solid"/>
          </a:ln>
        </p:spPr>
      </p:sp>
      <p:sp>
        <p:nvSpPr>
          <p:cNvPr id="20" name="">
            <a:extLst xmlns:a="http://schemas.openxmlformats.org/drawingml/2006/main">
              <a:ext uri="{FF2B5EF4-FFF2-40B4-BE49-F238E27FC236}">
                <a16:creationId xmlns:a16="http://schemas.microsoft.com/office/drawing/2014/main" id="{4E620B2E-6804-4521-9821-8EF576D5F9EF}"/>
              </a:ext>
            </a:extLst>
          </p:cNvPr>
          <p:cNvSpPr>
            <a:spLocks xmlns:a="http://schemas.openxmlformats.org/drawingml/2006/main" noGrp="1"/>
          </p:cNvSpPr>
          <p:nvPr/>
        </p:nvSpPr>
        <p:spPr>
          <a:xfrm xmlns:a="http://schemas.openxmlformats.org/drawingml/2006/main">
            <a:off x="1381125" y="5324475"/>
            <a:ext cx="942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1F5EAC"/>
                </a:solidFill>
                <a:latin typeface="Aptos"/>
                <a:ea typeface="Aptos"/>
                <a:cs typeface="Aptos"/>
              </a:defRPr>
            </a:pPr>
            <a:r>
              <a:rPr sz="1575" b="1" i="0">
                <a:solidFill>
                  <a:srgbClr val="1F5EAC"/>
                </a:solidFill>
                <a:latin typeface="Aptos"/>
                <a:ea typeface="Aptos"/>
                <a:cs typeface="Aptos"/>
              </a:rPr>
              <a:t>Tuyên bố khoa học phù hợp: PoC được kiểm định trong bối cảnh formative A2–B2; không tuyên bố tổng quát cho mọi kỳ thi và mọi accent.</a:t>
            </a:r>
          </a:p>
        </p:txBody>
      </p:sp>
    </p:spTree>
    <p:extLst>
      <p:ext uri="{BB962C8B-B14F-4D97-AF65-F5344CB8AC3E}">
        <p14:creationId xmlns:p14="http://schemas.microsoft.com/office/powerpoint/2010/main" val="1560947666"/>
      </p:ext>
    </p:extLst>
  </p:cSld>
</p:sld>
</file>

<file path=ppt/slides/slide2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0E1EBA0E-2D89-4742-841C-E0FE6FD4D2D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DỮ LIỆU CÔNG KHAI</a:t>
            </a:r>
          </a:p>
        </p:txBody>
      </p:sp>
      <p:sp>
        <p:nvSpPr>
          <p:cNvPr id="2" name="">
            <a:extLst xmlns:a="http://schemas.openxmlformats.org/drawingml/2006/main">
              <a:ext uri="{FF2B5EF4-FFF2-40B4-BE49-F238E27FC236}">
                <a16:creationId xmlns:a16="http://schemas.microsoft.com/office/drawing/2014/main" id="{E970F4A9-8933-48C9-9E48-0CEF1F528BB6}"/>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Dữ liệu có sẵn giúp dựng pipeline, nhưng không thay thế tập kiểm định người Việt</a:t>
            </a:r>
          </a:p>
        </p:txBody>
      </p:sp>
      <p:sp>
        <p:nvSpPr>
          <p:cNvPr id="3" name="">
            <a:extLst xmlns:a="http://schemas.openxmlformats.org/drawingml/2006/main">
              <a:ext uri="{FF2B5EF4-FFF2-40B4-BE49-F238E27FC236}">
                <a16:creationId xmlns:a16="http://schemas.microsoft.com/office/drawing/2014/main" id="{3F273716-2DDD-4B02-9CD3-AD5364D4AAB0}"/>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corpus chỉ nên dùng đúng vai trò mà nhãn và đối tượng của nó cho phép.</a:t>
            </a:r>
          </a:p>
        </p:txBody>
      </p:sp>
      <p:sp>
        <p:nvSpPr>
          <p:cNvPr id="4" name="">
            <a:extLst xmlns:a="http://schemas.openxmlformats.org/drawingml/2006/main">
              <a:ext uri="{FF2B5EF4-FFF2-40B4-BE49-F238E27FC236}">
                <a16:creationId xmlns:a16="http://schemas.microsoft.com/office/drawing/2014/main" id="{E6BF1A64-EC13-44C5-B694-8C71C041E73D}"/>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383B9CD-5130-4FD9-86C4-F1B063E50911}"/>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DỮ LIỆU</a:t>
            </a:r>
          </a:p>
        </p:txBody>
      </p:sp>
      <p:sp>
        <p:nvSpPr>
          <p:cNvPr id="6" name="">
            <a:extLst xmlns:a="http://schemas.openxmlformats.org/drawingml/2006/main">
              <a:ext uri="{FF2B5EF4-FFF2-40B4-BE49-F238E27FC236}">
                <a16:creationId xmlns:a16="http://schemas.microsoft.com/office/drawing/2014/main" id="{68AC1EF8-A34A-4DD2-AC11-77F7B966AAB9}"/>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27</a:t>
            </a:r>
          </a:p>
        </p:txBody>
      </p:sp>
      <p:sp>
        <p:nvSpPr>
          <p:cNvPr id="7" name="">
            <a:extLst xmlns:a="http://schemas.openxmlformats.org/drawingml/2006/main">
              <a:ext uri="{FF2B5EF4-FFF2-40B4-BE49-F238E27FC236}">
                <a16:creationId xmlns:a16="http://schemas.microsoft.com/office/drawing/2014/main" id="{25DA2D38-1157-4759-8607-3B854AA0B4B8}"/>
              </a:ext>
            </a:extLst>
          </p:cNvPr>
          <p:cNvSpPr>
            <a:spLocks xmlns:a="http://schemas.openxmlformats.org/drawingml/2006/main" noGrp="1"/>
          </p:cNvSpPr>
          <p:nvPr/>
        </p:nvSpPr>
        <p:spPr>
          <a:xfrm xmlns:a="http://schemas.openxmlformats.org/drawingml/2006/main">
            <a:off x="571500" y="2095500"/>
            <a:ext cx="18097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E43EC3BA-40E8-4B13-A36F-6A7C7D2408A4}"/>
              </a:ext>
            </a:extLst>
          </p:cNvPr>
          <p:cNvSpPr>
            <a:spLocks xmlns:a="http://schemas.openxmlformats.org/drawingml/2006/main" noGrp="1"/>
          </p:cNvSpPr>
          <p:nvPr/>
        </p:nvSpPr>
        <p:spPr>
          <a:xfrm xmlns:a="http://schemas.openxmlformats.org/drawingml/2006/main">
            <a:off x="666750" y="2190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Nguồn</a:t>
            </a:r>
          </a:p>
        </p:txBody>
      </p:sp>
      <p:sp>
        <p:nvSpPr>
          <p:cNvPr id="9" name="">
            <a:extLst xmlns:a="http://schemas.openxmlformats.org/drawingml/2006/main">
              <a:ext uri="{FF2B5EF4-FFF2-40B4-BE49-F238E27FC236}">
                <a16:creationId xmlns:a16="http://schemas.microsoft.com/office/drawing/2014/main" id="{05CAC879-84C0-4C1C-AE95-406CC6149D5A}"/>
              </a:ext>
            </a:extLst>
          </p:cNvPr>
          <p:cNvSpPr>
            <a:spLocks xmlns:a="http://schemas.openxmlformats.org/drawingml/2006/main" noGrp="1"/>
          </p:cNvSpPr>
          <p:nvPr/>
        </p:nvSpPr>
        <p:spPr>
          <a:xfrm xmlns:a="http://schemas.openxmlformats.org/drawingml/2006/main">
            <a:off x="2381250" y="2095500"/>
            <a:ext cx="2381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A5583531-D710-4B4D-B58D-4F38281276EB}"/>
              </a:ext>
            </a:extLst>
          </p:cNvPr>
          <p:cNvSpPr>
            <a:spLocks xmlns:a="http://schemas.openxmlformats.org/drawingml/2006/main" noGrp="1"/>
          </p:cNvSpPr>
          <p:nvPr/>
        </p:nvSpPr>
        <p:spPr>
          <a:xfrm xmlns:a="http://schemas.openxmlformats.org/drawingml/2006/main">
            <a:off x="2476500" y="21907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Có người Việt?</a:t>
            </a:r>
          </a:p>
        </p:txBody>
      </p:sp>
      <p:sp>
        <p:nvSpPr>
          <p:cNvPr id="11" name="">
            <a:extLst xmlns:a="http://schemas.openxmlformats.org/drawingml/2006/main">
              <a:ext uri="{FF2B5EF4-FFF2-40B4-BE49-F238E27FC236}">
                <a16:creationId xmlns:a16="http://schemas.microsoft.com/office/drawing/2014/main" id="{14B157FA-9295-4066-AEE7-2540B297EC8C}"/>
              </a:ext>
            </a:extLst>
          </p:cNvPr>
          <p:cNvSpPr>
            <a:spLocks xmlns:a="http://schemas.openxmlformats.org/drawingml/2006/main" noGrp="1"/>
          </p:cNvSpPr>
          <p:nvPr/>
        </p:nvSpPr>
        <p:spPr>
          <a:xfrm xmlns:a="http://schemas.openxmlformats.org/drawingml/2006/main">
            <a:off x="4762500" y="2095500"/>
            <a:ext cx="3524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1B98ECC1-D5F7-4ED4-ADF3-CAAF710DE7C3}"/>
              </a:ext>
            </a:extLst>
          </p:cNvPr>
          <p:cNvSpPr>
            <a:spLocks xmlns:a="http://schemas.openxmlformats.org/drawingml/2006/main" noGrp="1"/>
          </p:cNvSpPr>
          <p:nvPr/>
        </p:nvSpPr>
        <p:spPr>
          <a:xfrm xmlns:a="http://schemas.openxmlformats.org/drawingml/2006/main">
            <a:off x="4857750" y="21907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Nhãn chính</a:t>
            </a:r>
          </a:p>
        </p:txBody>
      </p:sp>
      <p:sp>
        <p:nvSpPr>
          <p:cNvPr id="13" name="">
            <a:extLst xmlns:a="http://schemas.openxmlformats.org/drawingml/2006/main">
              <a:ext uri="{FF2B5EF4-FFF2-40B4-BE49-F238E27FC236}">
                <a16:creationId xmlns:a16="http://schemas.microsoft.com/office/drawing/2014/main" id="{370ECA56-942A-4728-8264-87AF78457255}"/>
              </a:ext>
            </a:extLst>
          </p:cNvPr>
          <p:cNvSpPr>
            <a:spLocks xmlns:a="http://schemas.openxmlformats.org/drawingml/2006/main" noGrp="1"/>
          </p:cNvSpPr>
          <p:nvPr/>
        </p:nvSpPr>
        <p:spPr>
          <a:xfrm xmlns:a="http://schemas.openxmlformats.org/drawingml/2006/main">
            <a:off x="8286750" y="2095500"/>
            <a:ext cx="33337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1340C78D-8C46-406C-942E-C1E753A262E8}"/>
              </a:ext>
            </a:extLst>
          </p:cNvPr>
          <p:cNvSpPr>
            <a:spLocks xmlns:a="http://schemas.openxmlformats.org/drawingml/2006/main" noGrp="1"/>
          </p:cNvSpPr>
          <p:nvPr/>
        </p:nvSpPr>
        <p:spPr>
          <a:xfrm xmlns:a="http://schemas.openxmlformats.org/drawingml/2006/main">
            <a:off x="8382000" y="21907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Vai trò phù hợp</a:t>
            </a:r>
          </a:p>
        </p:txBody>
      </p:sp>
      <p:sp>
        <p:nvSpPr>
          <p:cNvPr id="15" name="">
            <a:extLst xmlns:a="http://schemas.openxmlformats.org/drawingml/2006/main">
              <a:ext uri="{FF2B5EF4-FFF2-40B4-BE49-F238E27FC236}">
                <a16:creationId xmlns:a16="http://schemas.microsoft.com/office/drawing/2014/main" id="{A089F429-16EF-4F4F-9466-14A4DD6E3C5D}"/>
              </a:ext>
            </a:extLst>
          </p:cNvPr>
          <p:cNvSpPr>
            <a:spLocks xmlns:a="http://schemas.openxmlformats.org/drawingml/2006/main" noGrp="1"/>
          </p:cNvSpPr>
          <p:nvPr/>
        </p:nvSpPr>
        <p:spPr>
          <a:xfrm xmlns:a="http://schemas.openxmlformats.org/drawingml/2006/main">
            <a:off x="571500" y="2552700"/>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263D4970-C762-4DB5-A065-6ADA9D6D7878}"/>
              </a:ext>
            </a:extLst>
          </p:cNvPr>
          <p:cNvSpPr>
            <a:spLocks xmlns:a="http://schemas.openxmlformats.org/drawingml/2006/main" noGrp="1"/>
          </p:cNvSpPr>
          <p:nvPr/>
        </p:nvSpPr>
        <p:spPr>
          <a:xfrm xmlns:a="http://schemas.openxmlformats.org/drawingml/2006/main">
            <a:off x="666750" y="26289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L2-ARCTIC</a:t>
            </a:r>
          </a:p>
        </p:txBody>
      </p:sp>
      <p:sp>
        <p:nvSpPr>
          <p:cNvPr id="17" name="">
            <a:extLst xmlns:a="http://schemas.openxmlformats.org/drawingml/2006/main">
              <a:ext uri="{FF2B5EF4-FFF2-40B4-BE49-F238E27FC236}">
                <a16:creationId xmlns:a16="http://schemas.microsoft.com/office/drawing/2014/main" id="{FAA474BE-9B1A-4385-AD6E-B3D7172837F1}"/>
              </a:ext>
            </a:extLst>
          </p:cNvPr>
          <p:cNvSpPr>
            <a:spLocks xmlns:a="http://schemas.openxmlformats.org/drawingml/2006/main" noGrp="1"/>
          </p:cNvSpPr>
          <p:nvPr/>
        </p:nvSpPr>
        <p:spPr>
          <a:xfrm xmlns:a="http://schemas.openxmlformats.org/drawingml/2006/main">
            <a:off x="2381250" y="255270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CF5C1B7A-63FD-49C6-A6F6-0FBDD712B12D}"/>
              </a:ext>
            </a:extLst>
          </p:cNvPr>
          <p:cNvSpPr>
            <a:spLocks xmlns:a="http://schemas.openxmlformats.org/drawingml/2006/main" noGrp="1"/>
          </p:cNvSpPr>
          <p:nvPr/>
        </p:nvSpPr>
        <p:spPr>
          <a:xfrm xmlns:a="http://schemas.openxmlformats.org/drawingml/2006/main">
            <a:off x="2476500" y="26289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4/24 người</a:t>
            </a:r>
          </a:p>
        </p:txBody>
      </p:sp>
      <p:sp>
        <p:nvSpPr>
          <p:cNvPr id="19" name="">
            <a:extLst xmlns:a="http://schemas.openxmlformats.org/drawingml/2006/main">
              <a:ext uri="{FF2B5EF4-FFF2-40B4-BE49-F238E27FC236}">
                <a16:creationId xmlns:a16="http://schemas.microsoft.com/office/drawing/2014/main" id="{EEBAB0B9-25BB-46B2-BBE1-07A47B37E24B}"/>
              </a:ext>
            </a:extLst>
          </p:cNvPr>
          <p:cNvSpPr>
            <a:spLocks xmlns:a="http://schemas.openxmlformats.org/drawingml/2006/main" noGrp="1"/>
          </p:cNvSpPr>
          <p:nvPr/>
        </p:nvSpPr>
        <p:spPr>
          <a:xfrm xmlns:a="http://schemas.openxmlformats.org/drawingml/2006/main">
            <a:off x="4762500" y="25527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8E3817C0-099C-47E5-AA23-2DAB43F60F6F}"/>
              </a:ext>
            </a:extLst>
          </p:cNvPr>
          <p:cNvSpPr>
            <a:spLocks xmlns:a="http://schemas.openxmlformats.org/drawingml/2006/main" noGrp="1"/>
          </p:cNvSpPr>
          <p:nvPr/>
        </p:nvSpPr>
        <p:spPr>
          <a:xfrm xmlns:a="http://schemas.openxmlformats.org/drawingml/2006/main">
            <a:off x="4857750" y="26289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Transcript + lỗi phát âm; không CEFR</a:t>
            </a:r>
          </a:p>
        </p:txBody>
      </p:sp>
      <p:sp>
        <p:nvSpPr>
          <p:cNvPr id="21" name="">
            <a:extLst xmlns:a="http://schemas.openxmlformats.org/drawingml/2006/main">
              <a:ext uri="{FF2B5EF4-FFF2-40B4-BE49-F238E27FC236}">
                <a16:creationId xmlns:a16="http://schemas.microsoft.com/office/drawing/2014/main" id="{55C4036B-3473-4914-AB9F-743C5A90E2B6}"/>
              </a:ext>
            </a:extLst>
          </p:cNvPr>
          <p:cNvSpPr>
            <a:spLocks xmlns:a="http://schemas.openxmlformats.org/drawingml/2006/main" noGrp="1"/>
          </p:cNvSpPr>
          <p:nvPr/>
        </p:nvSpPr>
        <p:spPr>
          <a:xfrm xmlns:a="http://schemas.openxmlformats.org/drawingml/2006/main">
            <a:off x="8286750" y="2552700"/>
            <a:ext cx="3333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E6E70198-613A-4790-8DDB-533118E5AE55}"/>
              </a:ext>
            </a:extLst>
          </p:cNvPr>
          <p:cNvSpPr>
            <a:spLocks xmlns:a="http://schemas.openxmlformats.org/drawingml/2006/main" noGrp="1"/>
          </p:cNvSpPr>
          <p:nvPr/>
        </p:nvSpPr>
        <p:spPr>
          <a:xfrm xmlns:a="http://schemas.openxmlformats.org/drawingml/2006/main">
            <a:off x="8382000" y="26289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ASR/accent/pronunciation sanity check</a:t>
            </a:r>
          </a:p>
        </p:txBody>
      </p:sp>
      <p:sp>
        <p:nvSpPr>
          <p:cNvPr id="23" name="">
            <a:extLst xmlns:a="http://schemas.openxmlformats.org/drawingml/2006/main">
              <a:ext uri="{FF2B5EF4-FFF2-40B4-BE49-F238E27FC236}">
                <a16:creationId xmlns:a16="http://schemas.microsoft.com/office/drawing/2014/main" id="{6C2A7E07-252B-455D-9D82-A12430C002B9}"/>
              </a:ext>
            </a:extLst>
          </p:cNvPr>
          <p:cNvSpPr>
            <a:spLocks xmlns:a="http://schemas.openxmlformats.org/drawingml/2006/main" noGrp="1"/>
          </p:cNvSpPr>
          <p:nvPr/>
        </p:nvSpPr>
        <p:spPr>
          <a:xfrm xmlns:a="http://schemas.openxmlformats.org/drawingml/2006/main">
            <a:off x="571500" y="3295650"/>
            <a:ext cx="18097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A1693E2E-85CD-4BD6-8308-175A21F1C653}"/>
              </a:ext>
            </a:extLst>
          </p:cNvPr>
          <p:cNvSpPr>
            <a:spLocks xmlns:a="http://schemas.openxmlformats.org/drawingml/2006/main" noGrp="1"/>
          </p:cNvSpPr>
          <p:nvPr/>
        </p:nvSpPr>
        <p:spPr>
          <a:xfrm xmlns:a="http://schemas.openxmlformats.org/drawingml/2006/main">
            <a:off x="666750" y="337185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Speak &amp; Improve</a:t>
            </a:r>
          </a:p>
        </p:txBody>
      </p:sp>
      <p:sp>
        <p:nvSpPr>
          <p:cNvPr id="25" name="">
            <a:extLst xmlns:a="http://schemas.openxmlformats.org/drawingml/2006/main">
              <a:ext uri="{FF2B5EF4-FFF2-40B4-BE49-F238E27FC236}">
                <a16:creationId xmlns:a16="http://schemas.microsoft.com/office/drawing/2014/main" id="{90FE7AA9-5517-4A14-A6B1-A9972C74C78D}"/>
              </a:ext>
            </a:extLst>
          </p:cNvPr>
          <p:cNvSpPr>
            <a:spLocks xmlns:a="http://schemas.openxmlformats.org/drawingml/2006/main" noGrp="1"/>
          </p:cNvSpPr>
          <p:nvPr/>
        </p:nvSpPr>
        <p:spPr>
          <a:xfrm xmlns:a="http://schemas.openxmlformats.org/drawingml/2006/main">
            <a:off x="2381250" y="3295650"/>
            <a:ext cx="23812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8C314BAB-D46D-4DAD-B7C8-8B9594F20CD6}"/>
              </a:ext>
            </a:extLst>
          </p:cNvPr>
          <p:cNvSpPr>
            <a:spLocks xmlns:a="http://schemas.openxmlformats.org/drawingml/2006/main" noGrp="1"/>
          </p:cNvSpPr>
          <p:nvPr/>
        </p:nvSpPr>
        <p:spPr>
          <a:xfrm xmlns:a="http://schemas.openxmlformats.org/drawingml/2006/main">
            <a:off x="2476500" y="33718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Nhiều L1; cần kiểm tra subset</a:t>
            </a:r>
          </a:p>
        </p:txBody>
      </p:sp>
      <p:sp>
        <p:nvSpPr>
          <p:cNvPr id="27" name="">
            <a:extLst xmlns:a="http://schemas.openxmlformats.org/drawingml/2006/main">
              <a:ext uri="{FF2B5EF4-FFF2-40B4-BE49-F238E27FC236}">
                <a16:creationId xmlns:a16="http://schemas.microsoft.com/office/drawing/2014/main" id="{34EB761F-82B7-40A7-A615-B8C0F715A302}"/>
              </a:ext>
            </a:extLst>
          </p:cNvPr>
          <p:cNvSpPr>
            <a:spLocks xmlns:a="http://schemas.openxmlformats.org/drawingml/2006/main" noGrp="1"/>
          </p:cNvSpPr>
          <p:nvPr/>
        </p:nvSpPr>
        <p:spPr>
          <a:xfrm xmlns:a="http://schemas.openxmlformats.org/drawingml/2006/main">
            <a:off x="4762500" y="3295650"/>
            <a:ext cx="35242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9841D265-D98D-41A5-B910-EAB4F8052D00}"/>
              </a:ext>
            </a:extLst>
          </p:cNvPr>
          <p:cNvSpPr>
            <a:spLocks xmlns:a="http://schemas.openxmlformats.org/drawingml/2006/main" noGrp="1"/>
          </p:cNvSpPr>
          <p:nvPr/>
        </p:nvSpPr>
        <p:spPr>
          <a:xfrm xmlns:a="http://schemas.openxmlformats.org/drawingml/2006/main">
            <a:off x="4857750" y="33718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Holistic score; transcript/error subset</a:t>
            </a:r>
          </a:p>
        </p:txBody>
      </p:sp>
      <p:sp>
        <p:nvSpPr>
          <p:cNvPr id="29" name="">
            <a:extLst xmlns:a="http://schemas.openxmlformats.org/drawingml/2006/main">
              <a:ext uri="{FF2B5EF4-FFF2-40B4-BE49-F238E27FC236}">
                <a16:creationId xmlns:a16="http://schemas.microsoft.com/office/drawing/2014/main" id="{CF2C320F-2452-4936-8F39-857C8D93EE2D}"/>
              </a:ext>
            </a:extLst>
          </p:cNvPr>
          <p:cNvSpPr>
            <a:spLocks xmlns:a="http://schemas.openxmlformats.org/drawingml/2006/main" noGrp="1"/>
          </p:cNvSpPr>
          <p:nvPr/>
        </p:nvSpPr>
        <p:spPr>
          <a:xfrm xmlns:a="http://schemas.openxmlformats.org/drawingml/2006/main">
            <a:off x="8286750" y="3295650"/>
            <a:ext cx="33337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21CA5E03-44FE-474F-9AAC-8004CF390F20}"/>
              </a:ext>
            </a:extLst>
          </p:cNvPr>
          <p:cNvSpPr>
            <a:spLocks xmlns:a="http://schemas.openxmlformats.org/drawingml/2006/main" noGrp="1"/>
          </p:cNvSpPr>
          <p:nvPr/>
        </p:nvSpPr>
        <p:spPr>
          <a:xfrm xmlns:a="http://schemas.openxmlformats.org/drawingml/2006/main">
            <a:off x="8382000" y="33718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Benchmark hoặc pretraining theo license</a:t>
            </a:r>
          </a:p>
        </p:txBody>
      </p:sp>
      <p:sp>
        <p:nvSpPr>
          <p:cNvPr id="31" name="">
            <a:extLst xmlns:a="http://schemas.openxmlformats.org/drawingml/2006/main">
              <a:ext uri="{FF2B5EF4-FFF2-40B4-BE49-F238E27FC236}">
                <a16:creationId xmlns:a16="http://schemas.microsoft.com/office/drawing/2014/main" id="{49865125-E45C-49CF-A5F3-777FF47469D4}"/>
              </a:ext>
            </a:extLst>
          </p:cNvPr>
          <p:cNvSpPr>
            <a:spLocks xmlns:a="http://schemas.openxmlformats.org/drawingml/2006/main" noGrp="1"/>
          </p:cNvSpPr>
          <p:nvPr/>
        </p:nvSpPr>
        <p:spPr>
          <a:xfrm xmlns:a="http://schemas.openxmlformats.org/drawingml/2006/main">
            <a:off x="571500" y="4038600"/>
            <a:ext cx="1809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2" name="">
            <a:extLst xmlns:a="http://schemas.openxmlformats.org/drawingml/2006/main">
              <a:ext uri="{FF2B5EF4-FFF2-40B4-BE49-F238E27FC236}">
                <a16:creationId xmlns:a16="http://schemas.microsoft.com/office/drawing/2014/main" id="{2F1D3672-D216-40D0-8874-EFC073F7E264}"/>
              </a:ext>
            </a:extLst>
          </p:cNvPr>
          <p:cNvSpPr>
            <a:spLocks xmlns:a="http://schemas.openxmlformats.org/drawingml/2006/main" noGrp="1"/>
          </p:cNvSpPr>
          <p:nvPr/>
        </p:nvSpPr>
        <p:spPr>
          <a:xfrm xmlns:a="http://schemas.openxmlformats.org/drawingml/2006/main">
            <a:off x="666750" y="411480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SpeechOcean762</a:t>
            </a:r>
          </a:p>
        </p:txBody>
      </p:sp>
      <p:sp>
        <p:nvSpPr>
          <p:cNvPr id="33" name="">
            <a:extLst xmlns:a="http://schemas.openxmlformats.org/drawingml/2006/main">
              <a:ext uri="{FF2B5EF4-FFF2-40B4-BE49-F238E27FC236}">
                <a16:creationId xmlns:a16="http://schemas.microsoft.com/office/drawing/2014/main" id="{2B3F2904-90AF-4281-BA2C-0869A679E7DD}"/>
              </a:ext>
            </a:extLst>
          </p:cNvPr>
          <p:cNvSpPr>
            <a:spLocks xmlns:a="http://schemas.openxmlformats.org/drawingml/2006/main" noGrp="1"/>
          </p:cNvSpPr>
          <p:nvPr/>
        </p:nvSpPr>
        <p:spPr>
          <a:xfrm xmlns:a="http://schemas.openxmlformats.org/drawingml/2006/main">
            <a:off x="2381250" y="4038600"/>
            <a:ext cx="2381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4" name="">
            <a:extLst xmlns:a="http://schemas.openxmlformats.org/drawingml/2006/main">
              <a:ext uri="{FF2B5EF4-FFF2-40B4-BE49-F238E27FC236}">
                <a16:creationId xmlns:a16="http://schemas.microsoft.com/office/drawing/2014/main" id="{396DD688-EFF5-45D4-9FF1-FD0752763260}"/>
              </a:ext>
            </a:extLst>
          </p:cNvPr>
          <p:cNvSpPr>
            <a:spLocks xmlns:a="http://schemas.openxmlformats.org/drawingml/2006/main" noGrp="1"/>
          </p:cNvSpPr>
          <p:nvPr/>
        </p:nvSpPr>
        <p:spPr>
          <a:xfrm xmlns:a="http://schemas.openxmlformats.org/drawingml/2006/main">
            <a:off x="2476500" y="41148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Chủ yếu Mandarin L1</a:t>
            </a:r>
          </a:p>
        </p:txBody>
      </p:sp>
      <p:sp>
        <p:nvSpPr>
          <p:cNvPr id="35" name="">
            <a:extLst xmlns:a="http://schemas.openxmlformats.org/drawingml/2006/main">
              <a:ext uri="{FF2B5EF4-FFF2-40B4-BE49-F238E27FC236}">
                <a16:creationId xmlns:a16="http://schemas.microsoft.com/office/drawing/2014/main" id="{67B4D087-1A2E-4C02-A44B-D20315F92635}"/>
              </a:ext>
            </a:extLst>
          </p:cNvPr>
          <p:cNvSpPr>
            <a:spLocks xmlns:a="http://schemas.openxmlformats.org/drawingml/2006/main" noGrp="1"/>
          </p:cNvSpPr>
          <p:nvPr/>
        </p:nvSpPr>
        <p:spPr>
          <a:xfrm xmlns:a="http://schemas.openxmlformats.org/drawingml/2006/main">
            <a:off x="4762500" y="40386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6" name="">
            <a:extLst xmlns:a="http://schemas.openxmlformats.org/drawingml/2006/main">
              <a:ext uri="{FF2B5EF4-FFF2-40B4-BE49-F238E27FC236}">
                <a16:creationId xmlns:a16="http://schemas.microsoft.com/office/drawing/2014/main" id="{E6003692-7FD1-432E-8389-7836D8EC2E5F}"/>
              </a:ext>
            </a:extLst>
          </p:cNvPr>
          <p:cNvSpPr>
            <a:spLocks xmlns:a="http://schemas.openxmlformats.org/drawingml/2006/main" noGrp="1"/>
          </p:cNvSpPr>
          <p:nvPr/>
        </p:nvSpPr>
        <p:spPr>
          <a:xfrm xmlns:a="http://schemas.openxmlformats.org/drawingml/2006/main">
            <a:off x="4857750" y="41148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Điểm phone/word/utterance</a:t>
            </a:r>
          </a:p>
        </p:txBody>
      </p:sp>
      <p:sp>
        <p:nvSpPr>
          <p:cNvPr id="37" name="">
            <a:extLst xmlns:a="http://schemas.openxmlformats.org/drawingml/2006/main">
              <a:ext uri="{FF2B5EF4-FFF2-40B4-BE49-F238E27FC236}">
                <a16:creationId xmlns:a16="http://schemas.microsoft.com/office/drawing/2014/main" id="{890200F8-3127-4C01-A6FA-D45EE723D304}"/>
              </a:ext>
            </a:extLst>
          </p:cNvPr>
          <p:cNvSpPr>
            <a:spLocks xmlns:a="http://schemas.openxmlformats.org/drawingml/2006/main" noGrp="1"/>
          </p:cNvSpPr>
          <p:nvPr/>
        </p:nvSpPr>
        <p:spPr>
          <a:xfrm xmlns:a="http://schemas.openxmlformats.org/drawingml/2006/main">
            <a:off x="8286750" y="4038600"/>
            <a:ext cx="33337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8" name="">
            <a:extLst xmlns:a="http://schemas.openxmlformats.org/drawingml/2006/main">
              <a:ext uri="{FF2B5EF4-FFF2-40B4-BE49-F238E27FC236}">
                <a16:creationId xmlns:a16="http://schemas.microsoft.com/office/drawing/2014/main" id="{95DAA0BA-EC5E-417B-8964-212268EDCC77}"/>
              </a:ext>
            </a:extLst>
          </p:cNvPr>
          <p:cNvSpPr>
            <a:spLocks xmlns:a="http://schemas.openxmlformats.org/drawingml/2006/main" noGrp="1"/>
          </p:cNvSpPr>
          <p:nvPr/>
        </p:nvSpPr>
        <p:spPr>
          <a:xfrm xmlns:a="http://schemas.openxmlformats.org/drawingml/2006/main">
            <a:off x="8382000" y="41148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Pronunciation baseline; không đại diện VN</a:t>
            </a:r>
          </a:p>
        </p:txBody>
      </p:sp>
      <p:sp>
        <p:nvSpPr>
          <p:cNvPr id="39" name="">
            <a:extLst xmlns:a="http://schemas.openxmlformats.org/drawingml/2006/main">
              <a:ext uri="{FF2B5EF4-FFF2-40B4-BE49-F238E27FC236}">
                <a16:creationId xmlns:a16="http://schemas.microsoft.com/office/drawing/2014/main" id="{C60EB518-73D8-4A2B-91DA-213BA3BBDA77}"/>
              </a:ext>
            </a:extLst>
          </p:cNvPr>
          <p:cNvSpPr>
            <a:spLocks xmlns:a="http://schemas.openxmlformats.org/drawingml/2006/main" noGrp="1"/>
          </p:cNvSpPr>
          <p:nvPr/>
        </p:nvSpPr>
        <p:spPr>
          <a:xfrm xmlns:a="http://schemas.openxmlformats.org/drawingml/2006/main">
            <a:off x="571500" y="4781550"/>
            <a:ext cx="18097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0" name="">
            <a:extLst xmlns:a="http://schemas.openxmlformats.org/drawingml/2006/main">
              <a:ext uri="{FF2B5EF4-FFF2-40B4-BE49-F238E27FC236}">
                <a16:creationId xmlns:a16="http://schemas.microsoft.com/office/drawing/2014/main" id="{55B576E7-9702-4ED9-AA25-173AAAFDABB9}"/>
              </a:ext>
            </a:extLst>
          </p:cNvPr>
          <p:cNvSpPr>
            <a:spLocks xmlns:a="http://schemas.openxmlformats.org/drawingml/2006/main" noGrp="1"/>
          </p:cNvSpPr>
          <p:nvPr/>
        </p:nvSpPr>
        <p:spPr>
          <a:xfrm xmlns:a="http://schemas.openxmlformats.org/drawingml/2006/main">
            <a:off x="666750" y="4857750"/>
            <a:ext cx="161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EvalYaks</a:t>
            </a:r>
          </a:p>
        </p:txBody>
      </p:sp>
      <p:sp>
        <p:nvSpPr>
          <p:cNvPr id="41" name="">
            <a:extLst xmlns:a="http://schemas.openxmlformats.org/drawingml/2006/main">
              <a:ext uri="{FF2B5EF4-FFF2-40B4-BE49-F238E27FC236}">
                <a16:creationId xmlns:a16="http://schemas.microsoft.com/office/drawing/2014/main" id="{48E8F3DB-C9FC-49D9-AFA6-866E6BB4CCAF}"/>
              </a:ext>
            </a:extLst>
          </p:cNvPr>
          <p:cNvSpPr>
            <a:spLocks xmlns:a="http://schemas.openxmlformats.org/drawingml/2006/main" noGrp="1"/>
          </p:cNvSpPr>
          <p:nvPr/>
        </p:nvSpPr>
        <p:spPr>
          <a:xfrm xmlns:a="http://schemas.openxmlformats.org/drawingml/2006/main">
            <a:off x="2381250" y="4781550"/>
            <a:ext cx="23812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2" name="">
            <a:extLst xmlns:a="http://schemas.openxmlformats.org/drawingml/2006/main">
              <a:ext uri="{FF2B5EF4-FFF2-40B4-BE49-F238E27FC236}">
                <a16:creationId xmlns:a16="http://schemas.microsoft.com/office/drawing/2014/main" id="{FEE27524-F313-4C49-9732-014101993700}"/>
              </a:ext>
            </a:extLst>
          </p:cNvPr>
          <p:cNvSpPr>
            <a:spLocks xmlns:a="http://schemas.openxmlformats.org/drawingml/2006/main" noGrp="1"/>
          </p:cNvSpPr>
          <p:nvPr/>
        </p:nvSpPr>
        <p:spPr>
          <a:xfrm xmlns:a="http://schemas.openxmlformats.org/drawingml/2006/main">
            <a:off x="2476500" y="48577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Dữ liệu synthetic</a:t>
            </a:r>
          </a:p>
        </p:txBody>
      </p:sp>
      <p:sp>
        <p:nvSpPr>
          <p:cNvPr id="43" name="">
            <a:extLst xmlns:a="http://schemas.openxmlformats.org/drawingml/2006/main">
              <a:ext uri="{FF2B5EF4-FFF2-40B4-BE49-F238E27FC236}">
                <a16:creationId xmlns:a16="http://schemas.microsoft.com/office/drawing/2014/main" id="{79042645-1669-45C6-9032-E44A4C9FF0C3}"/>
              </a:ext>
            </a:extLst>
          </p:cNvPr>
          <p:cNvSpPr>
            <a:spLocks xmlns:a="http://schemas.openxmlformats.org/drawingml/2006/main" noGrp="1"/>
          </p:cNvSpPr>
          <p:nvPr/>
        </p:nvSpPr>
        <p:spPr>
          <a:xfrm xmlns:a="http://schemas.openxmlformats.org/drawingml/2006/main">
            <a:off x="4762500" y="4781550"/>
            <a:ext cx="35242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4" name="">
            <a:extLst xmlns:a="http://schemas.openxmlformats.org/drawingml/2006/main">
              <a:ext uri="{FF2B5EF4-FFF2-40B4-BE49-F238E27FC236}">
                <a16:creationId xmlns:a16="http://schemas.microsoft.com/office/drawing/2014/main" id="{52D96B05-4D6D-43A1-9108-99B0FC95F418}"/>
              </a:ext>
            </a:extLst>
          </p:cNvPr>
          <p:cNvSpPr>
            <a:spLocks xmlns:a="http://schemas.openxmlformats.org/drawingml/2006/main" noGrp="1"/>
          </p:cNvSpPr>
          <p:nvPr/>
        </p:nvSpPr>
        <p:spPr>
          <a:xfrm xmlns:a="http://schemas.openxmlformats.org/drawingml/2006/main">
            <a:off x="4857750" y="485775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B2 transcript rubric</a:t>
            </a:r>
          </a:p>
        </p:txBody>
      </p:sp>
      <p:sp>
        <p:nvSpPr>
          <p:cNvPr id="45" name="">
            <a:extLst xmlns:a="http://schemas.openxmlformats.org/drawingml/2006/main">
              <a:ext uri="{FF2B5EF4-FFF2-40B4-BE49-F238E27FC236}">
                <a16:creationId xmlns:a16="http://schemas.microsoft.com/office/drawing/2014/main" id="{CCD57255-6A87-4A0E-B871-CF514200B5E9}"/>
              </a:ext>
            </a:extLst>
          </p:cNvPr>
          <p:cNvSpPr>
            <a:spLocks xmlns:a="http://schemas.openxmlformats.org/drawingml/2006/main" noGrp="1"/>
          </p:cNvSpPr>
          <p:nvPr/>
        </p:nvSpPr>
        <p:spPr>
          <a:xfrm xmlns:a="http://schemas.openxmlformats.org/drawingml/2006/main">
            <a:off x="8286750" y="4781550"/>
            <a:ext cx="3333750" cy="7429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6" name="">
            <a:extLst xmlns:a="http://schemas.openxmlformats.org/drawingml/2006/main">
              <a:ext uri="{FF2B5EF4-FFF2-40B4-BE49-F238E27FC236}">
                <a16:creationId xmlns:a16="http://schemas.microsoft.com/office/drawing/2014/main" id="{4B355DDB-0196-4245-9097-B4F573042B10}"/>
              </a:ext>
            </a:extLst>
          </p:cNvPr>
          <p:cNvSpPr>
            <a:spLocks xmlns:a="http://schemas.openxmlformats.org/drawingml/2006/main" noGrp="1"/>
          </p:cNvSpPr>
          <p:nvPr/>
        </p:nvSpPr>
        <p:spPr>
          <a:xfrm xmlns:a="http://schemas.openxmlformats.org/drawingml/2006/main">
            <a:off x="8382000" y="48577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Baseline LLM cho nhánh text</a:t>
            </a:r>
          </a:p>
        </p:txBody>
      </p:sp>
      <p:sp>
        <p:nvSpPr>
          <p:cNvPr id="47" name="">
            <a:extLst xmlns:a="http://schemas.openxmlformats.org/drawingml/2006/main">
              <a:ext uri="{FF2B5EF4-FFF2-40B4-BE49-F238E27FC236}">
                <a16:creationId xmlns:a16="http://schemas.microsoft.com/office/drawing/2014/main" id="{1C0D2B60-7771-4E3E-AF77-72A85FEA10F4}"/>
              </a:ext>
            </a:extLst>
          </p:cNvPr>
          <p:cNvSpPr>
            <a:spLocks xmlns:a="http://schemas.openxmlformats.org/drawingml/2006/main" noGrp="1"/>
          </p:cNvSpPr>
          <p:nvPr/>
        </p:nvSpPr>
        <p:spPr>
          <a:xfrm xmlns:a="http://schemas.openxmlformats.org/drawingml/2006/main">
            <a:off x="1381125" y="5772150"/>
            <a:ext cx="9429750" cy="438150"/>
          </a:xfrm>
          <a:prstGeom xmlns:a="http://schemas.openxmlformats.org/drawingml/2006/main" prst="roundRect">
            <a:avLst>
              <a:gd name="adj" fmla="val 13043"/>
            </a:avLst>
          </a:prstGeom>
          <a:solidFill xmlns:a="http://schemas.openxmlformats.org/drawingml/2006/main">
            <a:srgbClr val="FBEAEA"/>
          </a:solidFill>
          <a:ln xmlns:a="http://schemas.openxmlformats.org/drawingml/2006/main" w="9525">
            <a:solidFill>
              <a:srgbClr val="B43D3D"/>
            </a:solidFill>
            <a:prstDash val="solid"/>
          </a:ln>
        </p:spPr>
      </p:sp>
      <p:sp>
        <p:nvSpPr>
          <p:cNvPr id="48" name="">
            <a:extLst xmlns:a="http://schemas.openxmlformats.org/drawingml/2006/main">
              <a:ext uri="{FF2B5EF4-FFF2-40B4-BE49-F238E27FC236}">
                <a16:creationId xmlns:a16="http://schemas.microsoft.com/office/drawing/2014/main" id="{2584D1BC-F3B8-4E97-A97D-FF6AC1CB7E3E}"/>
              </a:ext>
            </a:extLst>
          </p:cNvPr>
          <p:cNvSpPr>
            <a:spLocks xmlns:a="http://schemas.openxmlformats.org/drawingml/2006/main" noGrp="1"/>
          </p:cNvSpPr>
          <p:nvPr/>
        </p:nvSpPr>
        <p:spPr>
          <a:xfrm xmlns:a="http://schemas.openxmlformats.org/drawingml/2006/main">
            <a:off x="1571625" y="590550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9365"/>
          </a:bodyPr>
          <a:lstStyle xmlns:a="http://schemas.openxmlformats.org/drawingml/2006/main"/>
          <a:p xmlns:a="http://schemas.openxmlformats.org/drawingml/2006/main">
            <a:pPr algn="l">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Không có corpus công khai nào ở đây đồng thời đáp ứng: audio tự nhiên + nhiều người Việt + 6 tiêu chí CEFR + nhiều rater.</a:t>
            </a:r>
          </a:p>
        </p:txBody>
      </p:sp>
    </p:spTree>
    <p:extLst>
      <p:ext uri="{BB962C8B-B14F-4D97-AF65-F5344CB8AC3E}">
        <p14:creationId xmlns:p14="http://schemas.microsoft.com/office/powerpoint/2010/main" val="1681173836"/>
      </p:ext>
    </p:extLst>
  </p:cSld>
</p:sld>
</file>

<file path=ppt/slides/slide2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37CA58-B708-472C-86A9-D341D30A9C8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DỮ LIỆU PHẢI TỰ THU</a:t>
            </a:r>
          </a:p>
        </p:txBody>
      </p:sp>
      <p:sp>
        <p:nvSpPr>
          <p:cNvPr id="2" name="">
            <a:extLst xmlns:a="http://schemas.openxmlformats.org/drawingml/2006/main">
              <a:ext uri="{FF2B5EF4-FFF2-40B4-BE49-F238E27FC236}">
                <a16:creationId xmlns:a16="http://schemas.microsoft.com/office/drawing/2014/main" id="{E40B52B5-D013-4B57-8FE1-6B8BB1C3891F}"/>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Tập người Việt nhỏ nhưng được thiết kế đúng còn giá trị hơn dữ liệu lớn nhưng sai nhãn</a:t>
            </a:r>
          </a:p>
        </p:txBody>
      </p:sp>
      <p:sp>
        <p:nvSpPr>
          <p:cNvPr id="3" name="">
            <a:extLst xmlns:a="http://schemas.openxmlformats.org/drawingml/2006/main">
              <a:ext uri="{FF2B5EF4-FFF2-40B4-BE49-F238E27FC236}">
                <a16:creationId xmlns:a16="http://schemas.microsoft.com/office/drawing/2014/main" id="{D1B4E4A2-474A-484C-ABA1-65F1F46C0522}"/>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Mục tiêu 70–90 speaker; sàn khả thi 60; mọi split phải theo người nói.</a:t>
            </a:r>
          </a:p>
        </p:txBody>
      </p:sp>
      <p:sp>
        <p:nvSpPr>
          <p:cNvPr id="4" name="">
            <a:extLst xmlns:a="http://schemas.openxmlformats.org/drawingml/2006/main">
              <a:ext uri="{FF2B5EF4-FFF2-40B4-BE49-F238E27FC236}">
                <a16:creationId xmlns:a16="http://schemas.microsoft.com/office/drawing/2014/main" id="{73BDD0DC-8253-4ED0-A3D1-6A9F127E3BF8}"/>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CE0E1C1-FB7F-49DE-A5D3-31CF22A77D5C}"/>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DỮ LIỆU</a:t>
            </a:r>
          </a:p>
        </p:txBody>
      </p:sp>
      <p:sp>
        <p:nvSpPr>
          <p:cNvPr id="6" name="">
            <a:extLst xmlns:a="http://schemas.openxmlformats.org/drawingml/2006/main">
              <a:ext uri="{FF2B5EF4-FFF2-40B4-BE49-F238E27FC236}">
                <a16:creationId xmlns:a16="http://schemas.microsoft.com/office/drawing/2014/main" id="{C2A8F442-728F-468F-B1A0-3608E33592D7}"/>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28</a:t>
            </a:r>
          </a:p>
        </p:txBody>
      </p:sp>
      <p:sp>
        <p:nvSpPr>
          <p:cNvPr id="7" name="">
            <a:extLst xmlns:a="http://schemas.openxmlformats.org/drawingml/2006/main">
              <a:ext uri="{FF2B5EF4-FFF2-40B4-BE49-F238E27FC236}">
                <a16:creationId xmlns:a16="http://schemas.microsoft.com/office/drawing/2014/main" id="{89C31FCC-2232-45A7-978B-4C3A62BD772C}"/>
              </a:ext>
            </a:extLst>
          </p:cNvPr>
          <p:cNvSpPr>
            <a:spLocks xmlns:a="http://schemas.openxmlformats.org/drawingml/2006/main" noGrp="1"/>
          </p:cNvSpPr>
          <p:nvPr/>
        </p:nvSpPr>
        <p:spPr>
          <a:xfrm xmlns:a="http://schemas.openxmlformats.org/drawingml/2006/main">
            <a:off x="666750" y="2143125"/>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78D1909-0526-4087-8979-08312FD07029}"/>
              </a:ext>
            </a:extLst>
          </p:cNvPr>
          <p:cNvSpPr>
            <a:spLocks xmlns:a="http://schemas.openxmlformats.org/drawingml/2006/main" noGrp="1"/>
          </p:cNvSpPr>
          <p:nvPr/>
        </p:nvSpPr>
        <p:spPr>
          <a:xfrm xmlns:a="http://schemas.openxmlformats.org/drawingml/2006/main">
            <a:off x="666750"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Quy mô</a:t>
            </a:r>
          </a:p>
        </p:txBody>
      </p:sp>
      <p:sp>
        <p:nvSpPr>
          <p:cNvPr id="9" name="">
            <a:extLst xmlns:a="http://schemas.openxmlformats.org/drawingml/2006/main">
              <a:ext uri="{FF2B5EF4-FFF2-40B4-BE49-F238E27FC236}">
                <a16:creationId xmlns:a16="http://schemas.microsoft.com/office/drawing/2014/main" id="{63A2BC4B-670C-4B01-9C87-E60557BF5179}"/>
              </a:ext>
            </a:extLst>
          </p:cNvPr>
          <p:cNvSpPr>
            <a:spLocks xmlns:a="http://schemas.openxmlformats.org/drawingml/2006/main" noGrp="1"/>
          </p:cNvSpPr>
          <p:nvPr/>
        </p:nvSpPr>
        <p:spPr>
          <a:xfrm xmlns:a="http://schemas.openxmlformats.org/drawingml/2006/main">
            <a:off x="666750" y="2886075"/>
            <a:ext cx="31432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70–90 sinh viên</a:t>
            </a:r>
          </a:p>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140–180 response Task A/B</a:t>
            </a:r>
          </a:p>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25–30 người làm thêm Task C</a:t>
            </a:r>
          </a:p>
          <a:p xmlns:a="http://schemas.openxmlformats.org/drawingml/2006/main">
            <a:pPr algn="l">
              <a:lnSpc>
                <a:spcPct val="108000"/>
              </a:lnSpc>
              <a:buNone/>
              <a:defRPr sz="1575" b="0" i="0">
                <a:solidFill>
                  <a:srgbClr val="28374A"/>
                </a:solidFill>
                <a:latin typeface="Aptos"/>
                <a:ea typeface="Aptos"/>
                <a:cs typeface="Aptos"/>
              </a:defRPr>
            </a:pPr>
            <a:r>
              <a:rPr sz="1575" b="0" i="0">
                <a:solidFill>
                  <a:srgbClr val="28374A"/>
                </a:solidFill>
                <a:latin typeface="Aptos"/>
                <a:ea typeface="Aptos"/>
                <a:cs typeface="Aptos"/>
              </a:rPr>
              <a:t>15–20 bài chép tay hoàn toàn</a:t>
            </a:r>
          </a:p>
        </p:txBody>
      </p:sp>
      <p:sp>
        <p:nvSpPr>
          <p:cNvPr id="10" name="">
            <a:extLst xmlns:a="http://schemas.openxmlformats.org/drawingml/2006/main">
              <a:ext uri="{FF2B5EF4-FFF2-40B4-BE49-F238E27FC236}">
                <a16:creationId xmlns:a16="http://schemas.microsoft.com/office/drawing/2014/main" id="{E2EB4A4D-84A7-40AE-9D1C-BD5E035DED25}"/>
              </a:ext>
            </a:extLst>
          </p:cNvPr>
          <p:cNvSpPr>
            <a:spLocks xmlns:a="http://schemas.openxmlformats.org/drawingml/2006/main" noGrp="1"/>
          </p:cNvSpPr>
          <p:nvPr/>
        </p:nvSpPr>
        <p:spPr>
          <a:xfrm xmlns:a="http://schemas.openxmlformats.org/drawingml/2006/main">
            <a:off x="4524375" y="2143125"/>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762D745-958E-4933-A746-C664B1A2FFA3}"/>
              </a:ext>
            </a:extLst>
          </p:cNvPr>
          <p:cNvSpPr>
            <a:spLocks xmlns:a="http://schemas.openxmlformats.org/drawingml/2006/main" noGrp="1"/>
          </p:cNvSpPr>
          <p:nvPr/>
        </p:nvSpPr>
        <p:spPr>
          <a:xfrm xmlns:a="http://schemas.openxmlformats.org/drawingml/2006/main">
            <a:off x="4524375"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Metadata tối thiểu</a:t>
            </a:r>
          </a:p>
        </p:txBody>
      </p:sp>
      <p:sp>
        <p:nvSpPr>
          <p:cNvPr id="12" name="">
            <a:extLst xmlns:a="http://schemas.openxmlformats.org/drawingml/2006/main">
              <a:ext uri="{FF2B5EF4-FFF2-40B4-BE49-F238E27FC236}">
                <a16:creationId xmlns:a16="http://schemas.microsoft.com/office/drawing/2014/main" id="{37137B0A-44CB-46A7-A2BB-60F1C7D2BF3D}"/>
              </a:ext>
            </a:extLst>
          </p:cNvPr>
          <p:cNvSpPr>
            <a:spLocks xmlns:a="http://schemas.openxmlformats.org/drawingml/2006/main" noGrp="1"/>
          </p:cNvSpPr>
          <p:nvPr/>
        </p:nvSpPr>
        <p:spPr>
          <a:xfrm xmlns:a="http://schemas.openxmlformats.org/drawingml/2006/main">
            <a:off x="4524375" y="2886075"/>
            <a:ext cx="31432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speaker_id giả</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trình độ sàng lọc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prompt/version</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thiết bị và môi trường</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thời lượng/noise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consent version</a:t>
            </a:r>
          </a:p>
        </p:txBody>
      </p:sp>
      <p:sp>
        <p:nvSpPr>
          <p:cNvPr id="13" name="">
            <a:extLst xmlns:a="http://schemas.openxmlformats.org/drawingml/2006/main">
              <a:ext uri="{FF2B5EF4-FFF2-40B4-BE49-F238E27FC236}">
                <a16:creationId xmlns:a16="http://schemas.microsoft.com/office/drawing/2014/main" id="{74CFFDD1-74C3-4A60-B876-65A144005F61}"/>
              </a:ext>
            </a:extLst>
          </p:cNvPr>
          <p:cNvSpPr>
            <a:spLocks xmlns:a="http://schemas.openxmlformats.org/drawingml/2006/main" noGrp="1"/>
          </p:cNvSpPr>
          <p:nvPr/>
        </p:nvSpPr>
        <p:spPr>
          <a:xfrm xmlns:a="http://schemas.openxmlformats.org/drawingml/2006/main">
            <a:off x="8382000" y="2143125"/>
            <a:ext cx="3143250" cy="4762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25B9DD4-66E0-4E68-982F-77D8C268A7A7}"/>
              </a:ext>
            </a:extLst>
          </p:cNvPr>
          <p:cNvSpPr>
            <a:spLocks xmlns:a="http://schemas.openxmlformats.org/drawingml/2006/main" noGrp="1"/>
          </p:cNvSpPr>
          <p:nvPr/>
        </p:nvSpPr>
        <p:spPr>
          <a:xfrm xmlns:a="http://schemas.openxmlformats.org/drawingml/2006/main">
            <a:off x="8382000" y="2314575"/>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A96500"/>
                </a:solidFill>
                <a:latin typeface="Aptos"/>
                <a:ea typeface="Aptos"/>
                <a:cs typeface="Aptos"/>
              </a:defRPr>
            </a:pPr>
            <a:r>
              <a:rPr sz="1875" b="1" i="0">
                <a:solidFill>
                  <a:srgbClr val="A96500"/>
                </a:solidFill>
                <a:latin typeface="Aptos"/>
                <a:ea typeface="Aptos"/>
                <a:cs typeface="Aptos"/>
              </a:rPr>
              <a:t>Kiểm soát phân bố</a:t>
            </a:r>
          </a:p>
        </p:txBody>
      </p:sp>
      <p:sp>
        <p:nvSpPr>
          <p:cNvPr id="15" name="">
            <a:extLst xmlns:a="http://schemas.openxmlformats.org/drawingml/2006/main">
              <a:ext uri="{FF2B5EF4-FFF2-40B4-BE49-F238E27FC236}">
                <a16:creationId xmlns:a16="http://schemas.microsoft.com/office/drawing/2014/main" id="{C9A358B4-9A4A-4FB3-B4B9-E479A50D4461}"/>
              </a:ext>
            </a:extLst>
          </p:cNvPr>
          <p:cNvSpPr>
            <a:spLocks xmlns:a="http://schemas.openxmlformats.org/drawingml/2006/main" noGrp="1"/>
          </p:cNvSpPr>
          <p:nvPr/>
        </p:nvSpPr>
        <p:spPr>
          <a:xfrm xmlns:a="http://schemas.openxmlformats.org/drawingml/2006/main">
            <a:off x="8382000" y="2886075"/>
            <a:ext cx="314325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Theo dõi band, giới tính tự khai nếu được consent, prompt, thiết bị và noise. Không ép thu thuộc tính nhạy cảm không cần thiết.</a:t>
            </a:r>
          </a:p>
        </p:txBody>
      </p:sp>
      <p:sp>
        <p:nvSpPr>
          <p:cNvPr id="16" name="">
            <a:extLst xmlns:a="http://schemas.openxmlformats.org/drawingml/2006/main">
              <a:ext uri="{FF2B5EF4-FFF2-40B4-BE49-F238E27FC236}">
                <a16:creationId xmlns:a16="http://schemas.microsoft.com/office/drawing/2014/main" id="{5097D6E7-E6F0-469F-832E-D43637EE83E9}"/>
              </a:ext>
            </a:extLst>
          </p:cNvPr>
          <p:cNvSpPr>
            <a:spLocks xmlns:a="http://schemas.openxmlformats.org/drawingml/2006/main" noGrp="1"/>
          </p:cNvSpPr>
          <p:nvPr/>
        </p:nvSpPr>
        <p:spPr>
          <a:xfrm xmlns:a="http://schemas.openxmlformats.org/drawingml/2006/main">
            <a:off x="1714500" y="5191125"/>
            <a:ext cx="8763000" cy="704850"/>
          </a:xfrm>
          <a:prstGeom xmlns:a="http://schemas.openxmlformats.org/drawingml/2006/main" prst="roundRect">
            <a:avLst>
              <a:gd name="adj" fmla="val 8108"/>
            </a:avLst>
          </a:prstGeom>
          <a:solidFill xmlns:a="http://schemas.openxmlformats.org/drawingml/2006/main">
            <a:srgbClr val="FBEAEA"/>
          </a:solidFill>
          <a:ln xmlns:a="http://schemas.openxmlformats.org/drawingml/2006/main" w="9525">
            <a:solidFill>
              <a:srgbClr val="B43D3D"/>
            </a:solidFill>
            <a:prstDash val="solid"/>
          </a:ln>
        </p:spPr>
      </p:sp>
      <p:sp>
        <p:nvSpPr>
          <p:cNvPr id="17" name="">
            <a:extLst xmlns:a="http://schemas.openxmlformats.org/drawingml/2006/main">
              <a:ext uri="{FF2B5EF4-FFF2-40B4-BE49-F238E27FC236}">
                <a16:creationId xmlns:a16="http://schemas.microsoft.com/office/drawing/2014/main" id="{FBF2B4DC-42B8-4BE6-86A0-4C5086565AB0}"/>
              </a:ext>
            </a:extLst>
          </p:cNvPr>
          <p:cNvSpPr>
            <a:spLocks xmlns:a="http://schemas.openxmlformats.org/drawingml/2006/main" noGrp="1"/>
          </p:cNvSpPr>
          <p:nvPr/>
        </p:nvSpPr>
        <p:spPr>
          <a:xfrm xmlns:a="http://schemas.openxmlformats.org/drawingml/2006/main">
            <a:off x="1905000" y="5324475"/>
            <a:ext cx="8382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434"/>
          </a:bodyPr>
          <a:lstStyle xmlns:a="http://schemas.openxmlformats.org/drawingml/2006/main"/>
          <a:p xmlns:a="http://schemas.openxmlformats.org/drawingml/2006/main">
            <a:pPr algn="l">
              <a:lnSpc>
                <a:spcPct val="105000"/>
              </a:lnSpc>
              <a:buNone/>
              <a:defRPr sz="1650" b="1" i="0">
                <a:solidFill>
                  <a:srgbClr val="B43D3D"/>
                </a:solidFill>
                <a:latin typeface="Aptos"/>
                <a:ea typeface="Aptos"/>
                <a:cs typeface="Aptos"/>
              </a:defRPr>
            </a:pPr>
            <a:r>
              <a:rPr sz="1650" b="1" i="0">
                <a:solidFill>
                  <a:srgbClr val="B43D3D"/>
                </a:solidFill>
                <a:latin typeface="Aptos"/>
                <a:ea typeface="Aptos"/>
                <a:cs typeface="Aptos"/>
              </a:rPr>
              <a:t>Speaker-level split: mọi bài của cùng một người chỉ nằm trong một nhóm dữ liệu, tránh học thuộc giọng.</a:t>
            </a:r>
          </a:p>
        </p:txBody>
      </p:sp>
    </p:spTree>
    <p:extLst>
      <p:ext uri="{BB962C8B-B14F-4D97-AF65-F5344CB8AC3E}">
        <p14:creationId xmlns:p14="http://schemas.microsoft.com/office/powerpoint/2010/main" val="447583302"/>
      </p:ext>
    </p:extLst>
  </p:cSld>
</p:sld>
</file>

<file path=ppt/slides/slide2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435EC9F7-EE61-4920-9A4A-EA70098EF29A}"/>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NHÃN VÀ GOLD STANDARD</a:t>
            </a:r>
          </a:p>
        </p:txBody>
      </p:sp>
      <p:sp>
        <p:nvSpPr>
          <p:cNvPr id="2" name="">
            <a:extLst xmlns:a="http://schemas.openxmlformats.org/drawingml/2006/main">
              <a:ext uri="{FF2B5EF4-FFF2-40B4-BE49-F238E27FC236}">
                <a16:creationId xmlns:a16="http://schemas.microsoft.com/office/drawing/2014/main" id="{B699D8F4-A821-4925-A4F3-0B77818FA915}"/>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Phải đo đồng thuận giữa người chấm trước khi đánh giá AI</a:t>
            </a:r>
          </a:p>
        </p:txBody>
      </p:sp>
      <p:sp>
        <p:nvSpPr>
          <p:cNvPr id="3" name="">
            <a:extLst xmlns:a="http://schemas.openxmlformats.org/drawingml/2006/main">
              <a:ext uri="{FF2B5EF4-FFF2-40B4-BE49-F238E27FC236}">
                <a16:creationId xmlns:a16="http://schemas.microsoft.com/office/drawing/2014/main" id="{846CD854-0224-47F9-8522-4ADE4B1575FE}"/>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Nếu hai giảng viên chưa thống nhất, không thể đòi AI khớp một nhãn tuyệt đối.</a:t>
            </a:r>
          </a:p>
        </p:txBody>
      </p:sp>
      <p:sp>
        <p:nvSpPr>
          <p:cNvPr id="4" name="">
            <a:extLst xmlns:a="http://schemas.openxmlformats.org/drawingml/2006/main">
              <a:ext uri="{FF2B5EF4-FFF2-40B4-BE49-F238E27FC236}">
                <a16:creationId xmlns:a16="http://schemas.microsoft.com/office/drawing/2014/main" id="{1A26E289-CEE3-48B4-9036-41C835691CD5}"/>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B27C280-6C4D-449B-B38D-B61E079945B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DỮ LIỆU</a:t>
            </a:r>
          </a:p>
        </p:txBody>
      </p:sp>
      <p:sp>
        <p:nvSpPr>
          <p:cNvPr id="6" name="">
            <a:extLst xmlns:a="http://schemas.openxmlformats.org/drawingml/2006/main">
              <a:ext uri="{FF2B5EF4-FFF2-40B4-BE49-F238E27FC236}">
                <a16:creationId xmlns:a16="http://schemas.microsoft.com/office/drawing/2014/main" id="{8F853B8A-4E24-4F6A-A900-8E94F5E7D01E}"/>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29</a:t>
            </a:r>
          </a:p>
        </p:txBody>
      </p:sp>
      <p:sp>
        <p:nvSpPr>
          <p:cNvPr id="7" name="">
            <a:extLst xmlns:a="http://schemas.openxmlformats.org/drawingml/2006/main">
              <a:ext uri="{FF2B5EF4-FFF2-40B4-BE49-F238E27FC236}">
                <a16:creationId xmlns:a16="http://schemas.microsoft.com/office/drawing/2014/main" id="{1A1C20BD-6E7A-40F0-869F-0936A1E75D5E}"/>
              </a:ext>
            </a:extLst>
          </p:cNvPr>
          <p:cNvSpPr>
            <a:spLocks xmlns:a="http://schemas.openxmlformats.org/drawingml/2006/main" noGrp="1"/>
          </p:cNvSpPr>
          <p:nvPr/>
        </p:nvSpPr>
        <p:spPr>
          <a:xfrm xmlns:a="http://schemas.openxmlformats.org/drawingml/2006/main">
            <a:off x="2682240" y="26955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21130DD-4042-45D4-857D-8FBACF864913}"/>
              </a:ext>
            </a:extLst>
          </p:cNvPr>
          <p:cNvSpPr>
            <a:spLocks xmlns:a="http://schemas.openxmlformats.org/drawingml/2006/main" noGrp="1"/>
          </p:cNvSpPr>
          <p:nvPr/>
        </p:nvSpPr>
        <p:spPr>
          <a:xfrm xmlns:a="http://schemas.openxmlformats.org/drawingml/2006/main">
            <a:off x="2777490" y="26479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DE7635-B1CD-4D3C-9EED-A2E1D731549E}"/>
              </a:ext>
            </a:extLst>
          </p:cNvPr>
          <p:cNvSpPr>
            <a:spLocks xmlns:a="http://schemas.openxmlformats.org/drawingml/2006/main" noGrp="1"/>
          </p:cNvSpPr>
          <p:nvPr/>
        </p:nvSpPr>
        <p:spPr>
          <a:xfrm xmlns:a="http://schemas.openxmlformats.org/drawingml/2006/main">
            <a:off x="4907280" y="26955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DE69C23-3C35-4B37-A452-210A81131411}"/>
              </a:ext>
            </a:extLst>
          </p:cNvPr>
          <p:cNvSpPr>
            <a:spLocks xmlns:a="http://schemas.openxmlformats.org/drawingml/2006/main" noGrp="1"/>
          </p:cNvSpPr>
          <p:nvPr/>
        </p:nvSpPr>
        <p:spPr>
          <a:xfrm xmlns:a="http://schemas.openxmlformats.org/drawingml/2006/main">
            <a:off x="5002530" y="26479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ED57D14-CEB1-4C96-9C73-86F866CB683F}"/>
              </a:ext>
            </a:extLst>
          </p:cNvPr>
          <p:cNvSpPr>
            <a:spLocks xmlns:a="http://schemas.openxmlformats.org/drawingml/2006/main" noGrp="1"/>
          </p:cNvSpPr>
          <p:nvPr/>
        </p:nvSpPr>
        <p:spPr>
          <a:xfrm xmlns:a="http://schemas.openxmlformats.org/drawingml/2006/main">
            <a:off x="7132320" y="26955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EF43788-C566-4328-A2C8-7EFF145102FA}"/>
              </a:ext>
            </a:extLst>
          </p:cNvPr>
          <p:cNvSpPr>
            <a:spLocks xmlns:a="http://schemas.openxmlformats.org/drawingml/2006/main" noGrp="1"/>
          </p:cNvSpPr>
          <p:nvPr/>
        </p:nvSpPr>
        <p:spPr>
          <a:xfrm xmlns:a="http://schemas.openxmlformats.org/drawingml/2006/main">
            <a:off x="7227570" y="26479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A8A665D-8C4C-49A1-96C4-022E7E91872B}"/>
              </a:ext>
            </a:extLst>
          </p:cNvPr>
          <p:cNvSpPr>
            <a:spLocks xmlns:a="http://schemas.openxmlformats.org/drawingml/2006/main" noGrp="1"/>
          </p:cNvSpPr>
          <p:nvPr/>
        </p:nvSpPr>
        <p:spPr>
          <a:xfrm xmlns:a="http://schemas.openxmlformats.org/drawingml/2006/main">
            <a:off x="9357360" y="2695575"/>
            <a:ext cx="152400" cy="57150"/>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F17AA06-1F8B-4B1B-812A-E46E6CD8FFA4}"/>
              </a:ext>
            </a:extLst>
          </p:cNvPr>
          <p:cNvSpPr>
            <a:spLocks xmlns:a="http://schemas.openxmlformats.org/drawingml/2006/main" noGrp="1"/>
          </p:cNvSpPr>
          <p:nvPr/>
        </p:nvSpPr>
        <p:spPr>
          <a:xfrm xmlns:a="http://schemas.openxmlformats.org/drawingml/2006/main">
            <a:off x="9452610" y="2647950"/>
            <a:ext cx="85725" cy="152400"/>
          </a:xfrm>
          <a:prstGeom xmlns:a="http://schemas.openxmlformats.org/drawingml/2006/main" prst="roundRect">
            <a:avLst>
              <a:gd name="adj" fmla="val 50000"/>
            </a:avLst>
          </a:prstGeom>
          <a:solidFill xmlns:a="http://schemas.openxmlformats.org/drawingml/2006/main">
            <a:srgbClr val="D5DCE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2B85B8A-8ED8-4CDD-9399-1C4CDB5DD7D9}"/>
              </a:ext>
            </a:extLst>
          </p:cNvPr>
          <p:cNvSpPr>
            <a:spLocks xmlns:a="http://schemas.openxmlformats.org/drawingml/2006/main" noGrp="1"/>
          </p:cNvSpPr>
          <p:nvPr/>
        </p:nvSpPr>
        <p:spPr>
          <a:xfrm xmlns:a="http://schemas.openxmlformats.org/drawingml/2006/main">
            <a:off x="619125" y="2238375"/>
            <a:ext cx="2053590" cy="971550"/>
          </a:xfrm>
          <a:prstGeom xmlns:a="http://schemas.openxmlformats.org/drawingml/2006/main" prst="roundRect">
            <a:avLst>
              <a:gd name="adj" fmla="val 5882"/>
            </a:avLst>
          </a:prstGeom>
          <a:solidFill xmlns:a="http://schemas.openxmlformats.org/drawingml/2006/main">
            <a:srgbClr val="E8F2FB"/>
          </a:solidFill>
          <a:ln xmlns:a="http://schemas.openxmlformats.org/drawingml/2006/main" w="9525">
            <a:solidFill>
              <a:srgbClr val="1F5EAC"/>
            </a:solidFill>
            <a:prstDash val="solid"/>
          </a:ln>
        </p:spPr>
      </p:sp>
      <p:sp>
        <p:nvSpPr>
          <p:cNvPr id="16" name="">
            <a:extLst xmlns:a="http://schemas.openxmlformats.org/drawingml/2006/main">
              <a:ext uri="{FF2B5EF4-FFF2-40B4-BE49-F238E27FC236}">
                <a16:creationId xmlns:a16="http://schemas.microsoft.com/office/drawing/2014/main" id="{42A91FD8-8A28-4D4A-AA7B-40E3ECA757F9}"/>
              </a:ext>
            </a:extLst>
          </p:cNvPr>
          <p:cNvSpPr>
            <a:spLocks xmlns:a="http://schemas.openxmlformats.org/drawingml/2006/main" noGrp="1"/>
          </p:cNvSpPr>
          <p:nvPr/>
        </p:nvSpPr>
        <p:spPr>
          <a:xfrm xmlns:a="http://schemas.openxmlformats.org/drawingml/2006/main">
            <a:off x="733425" y="237172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Rubric v1</a:t>
            </a:r>
          </a:p>
        </p:txBody>
      </p:sp>
      <p:sp>
        <p:nvSpPr>
          <p:cNvPr id="17" name="">
            <a:extLst xmlns:a="http://schemas.openxmlformats.org/drawingml/2006/main">
              <a:ext uri="{FF2B5EF4-FFF2-40B4-BE49-F238E27FC236}">
                <a16:creationId xmlns:a16="http://schemas.microsoft.com/office/drawing/2014/main" id="{819CCD4B-F847-4D7B-9616-3FB034641368}"/>
              </a:ext>
            </a:extLst>
          </p:cNvPr>
          <p:cNvSpPr>
            <a:spLocks xmlns:a="http://schemas.openxmlformats.org/drawingml/2006/main" noGrp="1"/>
          </p:cNvSpPr>
          <p:nvPr/>
        </p:nvSpPr>
        <p:spPr>
          <a:xfrm xmlns:a="http://schemas.openxmlformats.org/drawingml/2006/main">
            <a:off x="733425" y="265747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GV thiết lập mô tả A2/B1/B2</a:t>
            </a:r>
          </a:p>
        </p:txBody>
      </p:sp>
      <p:sp>
        <p:nvSpPr>
          <p:cNvPr id="18" name="">
            <a:extLst xmlns:a="http://schemas.openxmlformats.org/drawingml/2006/main">
              <a:ext uri="{FF2B5EF4-FFF2-40B4-BE49-F238E27FC236}">
                <a16:creationId xmlns:a16="http://schemas.microsoft.com/office/drawing/2014/main" id="{AB1C99DC-89AE-4F8F-BC5D-46E5B27E0741}"/>
              </a:ext>
            </a:extLst>
          </p:cNvPr>
          <p:cNvSpPr>
            <a:spLocks xmlns:a="http://schemas.openxmlformats.org/drawingml/2006/main" noGrp="1"/>
          </p:cNvSpPr>
          <p:nvPr/>
        </p:nvSpPr>
        <p:spPr>
          <a:xfrm xmlns:a="http://schemas.openxmlformats.org/drawingml/2006/main">
            <a:off x="2844165" y="2238375"/>
            <a:ext cx="2053590" cy="9715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9525">
            <a:solidFill>
              <a:srgbClr val="1F5EAC"/>
            </a:solidFill>
            <a:prstDash val="solid"/>
          </a:ln>
        </p:spPr>
      </p:sp>
      <p:sp>
        <p:nvSpPr>
          <p:cNvPr id="19" name="">
            <a:extLst xmlns:a="http://schemas.openxmlformats.org/drawingml/2006/main">
              <a:ext uri="{FF2B5EF4-FFF2-40B4-BE49-F238E27FC236}">
                <a16:creationId xmlns:a16="http://schemas.microsoft.com/office/drawing/2014/main" id="{FF7B4DED-BF34-4082-8AD2-A12C02AAA8F3}"/>
              </a:ext>
            </a:extLst>
          </p:cNvPr>
          <p:cNvSpPr>
            <a:spLocks xmlns:a="http://schemas.openxmlformats.org/drawingml/2006/main" noGrp="1"/>
          </p:cNvSpPr>
          <p:nvPr/>
        </p:nvSpPr>
        <p:spPr>
          <a:xfrm xmlns:a="http://schemas.openxmlformats.org/drawingml/2006/main">
            <a:off x="2958465" y="237172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1F5EAC"/>
                </a:solidFill>
                <a:latin typeface="Aptos"/>
                <a:ea typeface="Aptos"/>
                <a:cs typeface="Aptos"/>
              </a:defRPr>
            </a:pPr>
            <a:r>
              <a:rPr sz="1350" b="1" i="0">
                <a:solidFill>
                  <a:srgbClr val="1F5EAC"/>
                </a:solidFill>
                <a:latin typeface="Aptos"/>
                <a:ea typeface="Aptos"/>
                <a:cs typeface="Aptos"/>
              </a:rPr>
              <a:t>Anchor</a:t>
            </a:r>
          </a:p>
        </p:txBody>
      </p:sp>
      <p:sp>
        <p:nvSpPr>
          <p:cNvPr id="20" name="">
            <a:extLst xmlns:a="http://schemas.openxmlformats.org/drawingml/2006/main">
              <a:ext uri="{FF2B5EF4-FFF2-40B4-BE49-F238E27FC236}">
                <a16:creationId xmlns:a16="http://schemas.microsoft.com/office/drawing/2014/main" id="{D573E554-9491-402C-B73F-DACFFAF444A5}"/>
              </a:ext>
            </a:extLst>
          </p:cNvPr>
          <p:cNvSpPr>
            <a:spLocks xmlns:a="http://schemas.openxmlformats.org/drawingml/2006/main" noGrp="1"/>
          </p:cNvSpPr>
          <p:nvPr/>
        </p:nvSpPr>
        <p:spPr>
          <a:xfrm xmlns:a="http://schemas.openxmlformats.org/drawingml/2006/main">
            <a:off x="2958465" y="265747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Bài mẫu cho từng band/tiêu chí</a:t>
            </a:r>
          </a:p>
        </p:txBody>
      </p:sp>
      <p:sp>
        <p:nvSpPr>
          <p:cNvPr id="21" name="">
            <a:extLst xmlns:a="http://schemas.openxmlformats.org/drawingml/2006/main">
              <a:ext uri="{FF2B5EF4-FFF2-40B4-BE49-F238E27FC236}">
                <a16:creationId xmlns:a16="http://schemas.microsoft.com/office/drawing/2014/main" id="{CD660B43-D4FE-40C4-9644-14FBBDAA118A}"/>
              </a:ext>
            </a:extLst>
          </p:cNvPr>
          <p:cNvSpPr>
            <a:spLocks xmlns:a="http://schemas.openxmlformats.org/drawingml/2006/main" noGrp="1"/>
          </p:cNvSpPr>
          <p:nvPr/>
        </p:nvSpPr>
        <p:spPr>
          <a:xfrm xmlns:a="http://schemas.openxmlformats.org/drawingml/2006/main">
            <a:off x="5069205" y="2238375"/>
            <a:ext cx="2053590" cy="971550"/>
          </a:xfrm>
          <a:prstGeom xmlns:a="http://schemas.openxmlformats.org/drawingml/2006/main" prst="roundRect">
            <a:avLst>
              <a:gd name="adj" fmla="val 5882"/>
            </a:avLst>
          </a:prstGeom>
          <a:solidFill xmlns:a="http://schemas.openxmlformats.org/drawingml/2006/main">
            <a:srgbClr val="FFF2D5"/>
          </a:solidFill>
          <a:ln xmlns:a="http://schemas.openxmlformats.org/drawingml/2006/main" w="9525">
            <a:solidFill>
              <a:srgbClr val="A96500"/>
            </a:solidFill>
            <a:prstDash val="solid"/>
          </a:ln>
        </p:spPr>
      </p:sp>
      <p:sp>
        <p:nvSpPr>
          <p:cNvPr id="22" name="">
            <a:extLst xmlns:a="http://schemas.openxmlformats.org/drawingml/2006/main">
              <a:ext uri="{FF2B5EF4-FFF2-40B4-BE49-F238E27FC236}">
                <a16:creationId xmlns:a16="http://schemas.microsoft.com/office/drawing/2014/main" id="{A6A25353-BA39-4E62-B694-0CB7260EACF1}"/>
              </a:ext>
            </a:extLst>
          </p:cNvPr>
          <p:cNvSpPr>
            <a:spLocks xmlns:a="http://schemas.openxmlformats.org/drawingml/2006/main" noGrp="1"/>
          </p:cNvSpPr>
          <p:nvPr/>
        </p:nvSpPr>
        <p:spPr>
          <a:xfrm xmlns:a="http://schemas.openxmlformats.org/drawingml/2006/main">
            <a:off x="5183505" y="237172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A96500"/>
                </a:solidFill>
                <a:latin typeface="Aptos"/>
                <a:ea typeface="Aptos"/>
                <a:cs typeface="Aptos"/>
              </a:defRPr>
            </a:pPr>
            <a:r>
              <a:rPr sz="1350" b="1" i="0">
                <a:solidFill>
                  <a:srgbClr val="A96500"/>
                </a:solidFill>
                <a:latin typeface="Aptos"/>
                <a:ea typeface="Aptos"/>
                <a:cs typeface="Aptos"/>
              </a:rPr>
              <a:t>Calibration</a:t>
            </a:r>
          </a:p>
        </p:txBody>
      </p:sp>
      <p:sp>
        <p:nvSpPr>
          <p:cNvPr id="23" name="">
            <a:extLst xmlns:a="http://schemas.openxmlformats.org/drawingml/2006/main">
              <a:ext uri="{FF2B5EF4-FFF2-40B4-BE49-F238E27FC236}">
                <a16:creationId xmlns:a16="http://schemas.microsoft.com/office/drawing/2014/main" id="{8C047A07-24C4-4BB6-9F25-7A86F0DCBA33}"/>
              </a:ext>
            </a:extLst>
          </p:cNvPr>
          <p:cNvSpPr>
            <a:spLocks xmlns:a="http://schemas.openxmlformats.org/drawingml/2006/main" noGrp="1"/>
          </p:cNvSpPr>
          <p:nvPr/>
        </p:nvSpPr>
        <p:spPr>
          <a:xfrm xmlns:a="http://schemas.openxmlformats.org/drawingml/2006/main">
            <a:off x="5183505" y="265747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83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Chấm thử và thảo luận bất đồng</a:t>
            </a:r>
          </a:p>
        </p:txBody>
      </p:sp>
      <p:sp>
        <p:nvSpPr>
          <p:cNvPr id="24" name="">
            <a:extLst xmlns:a="http://schemas.openxmlformats.org/drawingml/2006/main">
              <a:ext uri="{FF2B5EF4-FFF2-40B4-BE49-F238E27FC236}">
                <a16:creationId xmlns:a16="http://schemas.microsoft.com/office/drawing/2014/main" id="{7B2E802C-2BFC-48EF-999B-996B183854F2}"/>
              </a:ext>
            </a:extLst>
          </p:cNvPr>
          <p:cNvSpPr>
            <a:spLocks xmlns:a="http://schemas.openxmlformats.org/drawingml/2006/main" noGrp="1"/>
          </p:cNvSpPr>
          <p:nvPr/>
        </p:nvSpPr>
        <p:spPr>
          <a:xfrm xmlns:a="http://schemas.openxmlformats.org/drawingml/2006/main">
            <a:off x="7294245" y="2238375"/>
            <a:ext cx="2053590" cy="971550"/>
          </a:xfrm>
          <a:prstGeom xmlns:a="http://schemas.openxmlformats.org/drawingml/2006/main" prst="roundRect">
            <a:avLst>
              <a:gd name="adj" fmla="val 5882"/>
            </a:avLst>
          </a:prstGeom>
          <a:solidFill xmlns:a="http://schemas.openxmlformats.org/drawingml/2006/main">
            <a:srgbClr val="E7F4ED"/>
          </a:solidFill>
          <a:ln xmlns:a="http://schemas.openxmlformats.org/drawingml/2006/main" w="9525">
            <a:solidFill>
              <a:srgbClr val="2F7D5C"/>
            </a:solidFill>
            <a:prstDash val="solid"/>
          </a:ln>
        </p:spPr>
      </p:sp>
      <p:sp>
        <p:nvSpPr>
          <p:cNvPr id="25" name="">
            <a:extLst xmlns:a="http://schemas.openxmlformats.org/drawingml/2006/main">
              <a:ext uri="{FF2B5EF4-FFF2-40B4-BE49-F238E27FC236}">
                <a16:creationId xmlns:a16="http://schemas.microsoft.com/office/drawing/2014/main" id="{D122CAFD-C57B-4672-84C7-35CA0F9127E3}"/>
              </a:ext>
            </a:extLst>
          </p:cNvPr>
          <p:cNvSpPr>
            <a:spLocks xmlns:a="http://schemas.openxmlformats.org/drawingml/2006/main" noGrp="1"/>
          </p:cNvSpPr>
          <p:nvPr/>
        </p:nvSpPr>
        <p:spPr>
          <a:xfrm xmlns:a="http://schemas.openxmlformats.org/drawingml/2006/main">
            <a:off x="7408545" y="237172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2F7D5C"/>
                </a:solidFill>
                <a:latin typeface="Aptos"/>
                <a:ea typeface="Aptos"/>
                <a:cs typeface="Aptos"/>
              </a:defRPr>
            </a:pPr>
            <a:r>
              <a:rPr sz="1350" b="1" i="0">
                <a:solidFill>
                  <a:srgbClr val="2F7D5C"/>
                </a:solidFill>
                <a:latin typeface="Aptos"/>
                <a:ea typeface="Aptos"/>
                <a:cs typeface="Aptos"/>
              </a:rPr>
              <a:t>Double rating</a:t>
            </a:r>
          </a:p>
        </p:txBody>
      </p:sp>
      <p:sp>
        <p:nvSpPr>
          <p:cNvPr id="26" name="">
            <a:extLst xmlns:a="http://schemas.openxmlformats.org/drawingml/2006/main">
              <a:ext uri="{FF2B5EF4-FFF2-40B4-BE49-F238E27FC236}">
                <a16:creationId xmlns:a16="http://schemas.microsoft.com/office/drawing/2014/main" id="{3C421F71-E94A-468F-9ACC-F29BA8541DCC}"/>
              </a:ext>
            </a:extLst>
          </p:cNvPr>
          <p:cNvSpPr>
            <a:spLocks xmlns:a="http://schemas.openxmlformats.org/drawingml/2006/main" noGrp="1"/>
          </p:cNvSpPr>
          <p:nvPr/>
        </p:nvSpPr>
        <p:spPr>
          <a:xfrm xmlns:a="http://schemas.openxmlformats.org/drawingml/2006/main">
            <a:off x="7408545" y="265747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Hai rater chấm độc lập</a:t>
            </a:r>
          </a:p>
        </p:txBody>
      </p:sp>
      <p:sp>
        <p:nvSpPr>
          <p:cNvPr id="27" name="">
            <a:extLst xmlns:a="http://schemas.openxmlformats.org/drawingml/2006/main">
              <a:ext uri="{FF2B5EF4-FFF2-40B4-BE49-F238E27FC236}">
                <a16:creationId xmlns:a16="http://schemas.microsoft.com/office/drawing/2014/main" id="{8D51B33D-9AF0-4B27-B284-C45065706313}"/>
              </a:ext>
            </a:extLst>
          </p:cNvPr>
          <p:cNvSpPr>
            <a:spLocks xmlns:a="http://schemas.openxmlformats.org/drawingml/2006/main" noGrp="1"/>
          </p:cNvSpPr>
          <p:nvPr/>
        </p:nvSpPr>
        <p:spPr>
          <a:xfrm xmlns:a="http://schemas.openxmlformats.org/drawingml/2006/main">
            <a:off x="9519285" y="2238375"/>
            <a:ext cx="2053590" cy="971550"/>
          </a:xfrm>
          <a:prstGeom xmlns:a="http://schemas.openxmlformats.org/drawingml/2006/main" prst="roundRect">
            <a:avLst>
              <a:gd name="adj" fmla="val 5882"/>
            </a:avLst>
          </a:prstGeom>
          <a:solidFill xmlns:a="http://schemas.openxmlformats.org/drawingml/2006/main">
            <a:srgbClr val="FBEAEA"/>
          </a:solidFill>
          <a:ln xmlns:a="http://schemas.openxmlformats.org/drawingml/2006/main" w="9525">
            <a:solidFill>
              <a:srgbClr val="B43D3D"/>
            </a:solidFill>
            <a:prstDash val="solid"/>
          </a:ln>
        </p:spPr>
      </p:sp>
      <p:sp>
        <p:nvSpPr>
          <p:cNvPr id="28" name="">
            <a:extLst xmlns:a="http://schemas.openxmlformats.org/drawingml/2006/main">
              <a:ext uri="{FF2B5EF4-FFF2-40B4-BE49-F238E27FC236}">
                <a16:creationId xmlns:a16="http://schemas.microsoft.com/office/drawing/2014/main" id="{8E9BE2D3-45A3-4567-BD15-693F03F9C25A}"/>
              </a:ext>
            </a:extLst>
          </p:cNvPr>
          <p:cNvSpPr>
            <a:spLocks xmlns:a="http://schemas.openxmlformats.org/drawingml/2006/main" noGrp="1"/>
          </p:cNvSpPr>
          <p:nvPr/>
        </p:nvSpPr>
        <p:spPr>
          <a:xfrm xmlns:a="http://schemas.openxmlformats.org/drawingml/2006/main">
            <a:off x="9633585" y="2371725"/>
            <a:ext cx="182499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Adjudication</a:t>
            </a:r>
          </a:p>
        </p:txBody>
      </p:sp>
      <p:sp>
        <p:nvSpPr>
          <p:cNvPr id="29" name="">
            <a:extLst xmlns:a="http://schemas.openxmlformats.org/drawingml/2006/main">
              <a:ext uri="{FF2B5EF4-FFF2-40B4-BE49-F238E27FC236}">
                <a16:creationId xmlns:a16="http://schemas.microsoft.com/office/drawing/2014/main" id="{03C1F569-EA46-4594-804F-957AB9F69307}"/>
              </a:ext>
            </a:extLst>
          </p:cNvPr>
          <p:cNvSpPr>
            <a:spLocks xmlns:a="http://schemas.openxmlformats.org/drawingml/2006/main" noGrp="1"/>
          </p:cNvSpPr>
          <p:nvPr/>
        </p:nvSpPr>
        <p:spPr>
          <a:xfrm xmlns:a="http://schemas.openxmlformats.org/drawingml/2006/main">
            <a:off x="9633585" y="2657475"/>
            <a:ext cx="182499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Người thứ ba phân xử</a:t>
            </a:r>
          </a:p>
        </p:txBody>
      </p:sp>
      <p:sp>
        <p:nvSpPr>
          <p:cNvPr id="30" name="">
            <a:extLst xmlns:a="http://schemas.openxmlformats.org/drawingml/2006/main">
              <a:ext uri="{FF2B5EF4-FFF2-40B4-BE49-F238E27FC236}">
                <a16:creationId xmlns:a16="http://schemas.microsoft.com/office/drawing/2014/main" id="{D13A4862-9AFC-4568-BDC3-633B13AEDF47}"/>
              </a:ext>
            </a:extLst>
          </p:cNvPr>
          <p:cNvSpPr>
            <a:spLocks xmlns:a="http://schemas.openxmlformats.org/drawingml/2006/main" noGrp="1"/>
          </p:cNvSpPr>
          <p:nvPr/>
        </p:nvSpPr>
        <p:spPr>
          <a:xfrm xmlns:a="http://schemas.openxmlformats.org/drawingml/2006/main">
            <a:off x="1047750" y="3905250"/>
            <a:ext cx="40957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218011E-4BB2-4B96-8713-1A45F51FA294}"/>
              </a:ext>
            </a:extLst>
          </p:cNvPr>
          <p:cNvSpPr>
            <a:spLocks xmlns:a="http://schemas.openxmlformats.org/drawingml/2006/main" noGrp="1"/>
          </p:cNvSpPr>
          <p:nvPr/>
        </p:nvSpPr>
        <p:spPr>
          <a:xfrm xmlns:a="http://schemas.openxmlformats.org/drawingml/2006/main">
            <a:off x="1047750" y="40767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Báo cáo human–human</a:t>
            </a:r>
          </a:p>
        </p:txBody>
      </p:sp>
      <p:sp>
        <p:nvSpPr>
          <p:cNvPr id="32" name="">
            <a:extLst xmlns:a="http://schemas.openxmlformats.org/drawingml/2006/main">
              <a:ext uri="{FF2B5EF4-FFF2-40B4-BE49-F238E27FC236}">
                <a16:creationId xmlns:a16="http://schemas.microsoft.com/office/drawing/2014/main" id="{E550C89F-C9E3-4146-A9C2-37F78613065F}"/>
              </a:ext>
            </a:extLst>
          </p:cNvPr>
          <p:cNvSpPr>
            <a:spLocks xmlns:a="http://schemas.openxmlformats.org/drawingml/2006/main" noGrp="1"/>
          </p:cNvSpPr>
          <p:nvPr/>
        </p:nvSpPr>
        <p:spPr>
          <a:xfrm xmlns:a="http://schemas.openxmlformats.org/drawingml/2006/main">
            <a:off x="1047750" y="4648200"/>
            <a:ext cx="4095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Agreement, QWK + CI, confusion matrix và loại bất đồng theo tiêu chí/task.</a:t>
            </a:r>
          </a:p>
        </p:txBody>
      </p:sp>
      <p:sp>
        <p:nvSpPr>
          <p:cNvPr id="33" name="">
            <a:extLst xmlns:a="http://schemas.openxmlformats.org/drawingml/2006/main">
              <a:ext uri="{FF2B5EF4-FFF2-40B4-BE49-F238E27FC236}">
                <a16:creationId xmlns:a16="http://schemas.microsoft.com/office/drawing/2014/main" id="{1735157E-9D43-4F7F-9CE3-96817AE3B3DB}"/>
              </a:ext>
            </a:extLst>
          </p:cNvPr>
          <p:cNvSpPr>
            <a:spLocks xmlns:a="http://schemas.openxmlformats.org/drawingml/2006/main" noGrp="1"/>
          </p:cNvSpPr>
          <p:nvPr/>
        </p:nvSpPr>
        <p:spPr>
          <a:xfrm xmlns:a="http://schemas.openxmlformats.org/drawingml/2006/main">
            <a:off x="7048500" y="3905250"/>
            <a:ext cx="40957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A8F4C037-0F4D-4ACA-B40C-46B607BC9B2F}"/>
              </a:ext>
            </a:extLst>
          </p:cNvPr>
          <p:cNvSpPr>
            <a:spLocks xmlns:a="http://schemas.openxmlformats.org/drawingml/2006/main" noGrp="1"/>
          </p:cNvSpPr>
          <p:nvPr/>
        </p:nvSpPr>
        <p:spPr>
          <a:xfrm xmlns:a="http://schemas.openxmlformats.org/drawingml/2006/main">
            <a:off x="7048500" y="40767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Nhãn gold</a:t>
            </a:r>
          </a:p>
        </p:txBody>
      </p:sp>
      <p:sp>
        <p:nvSpPr>
          <p:cNvPr id="35" name="">
            <a:extLst xmlns:a="http://schemas.openxmlformats.org/drawingml/2006/main">
              <a:ext uri="{FF2B5EF4-FFF2-40B4-BE49-F238E27FC236}">
                <a16:creationId xmlns:a16="http://schemas.microsoft.com/office/drawing/2014/main" id="{A3A3B935-749A-42F9-9E24-82AC35D16457}"/>
              </a:ext>
            </a:extLst>
          </p:cNvPr>
          <p:cNvSpPr>
            <a:spLocks xmlns:a="http://schemas.openxmlformats.org/drawingml/2006/main" noGrp="1"/>
          </p:cNvSpPr>
          <p:nvPr/>
        </p:nvSpPr>
        <p:spPr>
          <a:xfrm xmlns:a="http://schemas.openxmlformats.org/drawingml/2006/main">
            <a:off x="7048500" y="4648200"/>
            <a:ext cx="40957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8374A"/>
                </a:solidFill>
                <a:latin typeface="Aptos"/>
                <a:ea typeface="Aptos"/>
                <a:cs typeface="Aptos"/>
              </a:defRPr>
            </a:pPr>
            <a:r>
              <a:rPr sz="1500" b="0" i="0">
                <a:solidFill>
                  <a:srgbClr val="28374A"/>
                </a:solidFill>
                <a:latin typeface="Aptos"/>
                <a:ea typeface="Aptos"/>
                <a:cs typeface="Aptos"/>
              </a:rPr>
              <a:t>Không dùng chính một rater để vừa làm gold vừa đại diện agreement. Adjudicator tạo nhãn cuối cho ca bất đồng.</a:t>
            </a:r>
          </a:p>
        </p:txBody>
      </p:sp>
    </p:spTree>
    <p:extLst>
      <p:ext uri="{BB962C8B-B14F-4D97-AF65-F5344CB8AC3E}">
        <p14:creationId xmlns:p14="http://schemas.microsoft.com/office/powerpoint/2010/main" val="1510122824"/>
      </p:ext>
    </p:extLst>
  </p:cSld>
</p:sld>
</file>

<file path=ppt/slides/slide3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DD029BC-9535-4920-8C8A-ADF87E548EBF}"/>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THIẾT KẾ THÍ NGHIỆM</a:t>
            </a:r>
          </a:p>
        </p:txBody>
      </p:sp>
      <p:sp>
        <p:nvSpPr>
          <p:cNvPr id="2" name="">
            <a:extLst xmlns:a="http://schemas.openxmlformats.org/drawingml/2006/main">
              <a:ext uri="{FF2B5EF4-FFF2-40B4-BE49-F238E27FC236}">
                <a16:creationId xmlns:a16="http://schemas.microsoft.com/office/drawing/2014/main" id="{B85B7A1D-33C3-408A-8568-55CDA9287996}"/>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Đánh giá trên người nói chưa từng xuất hiện trong huấn luyện</a:t>
            </a:r>
          </a:p>
        </p:txBody>
      </p:sp>
      <p:sp>
        <p:nvSpPr>
          <p:cNvPr id="3" name="">
            <a:extLst xmlns:a="http://schemas.openxmlformats.org/drawingml/2006/main">
              <a:ext uri="{FF2B5EF4-FFF2-40B4-BE49-F238E27FC236}">
                <a16:creationId xmlns:a16="http://schemas.microsoft.com/office/drawing/2014/main" id="{CA9E74B6-3081-4BBB-B855-4190F5DFF465}"/>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Repeated GroupKFold là phân tích chính; confirmation set chỉ dùng một lần ở cuối.</a:t>
            </a:r>
          </a:p>
        </p:txBody>
      </p:sp>
      <p:sp>
        <p:nvSpPr>
          <p:cNvPr id="4" name="">
            <a:extLst xmlns:a="http://schemas.openxmlformats.org/drawingml/2006/main">
              <a:ext uri="{FF2B5EF4-FFF2-40B4-BE49-F238E27FC236}">
                <a16:creationId xmlns:a16="http://schemas.microsoft.com/office/drawing/2014/main" id="{67226183-02C7-496D-AC2E-34E4E695E9D7}"/>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915BC1-7C1E-4595-BD1E-0CC692CDBE03}"/>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KIỂM ĐỊNH</a:t>
            </a:r>
          </a:p>
        </p:txBody>
      </p:sp>
      <p:sp>
        <p:nvSpPr>
          <p:cNvPr id="6" name="">
            <a:extLst xmlns:a="http://schemas.openxmlformats.org/drawingml/2006/main">
              <a:ext uri="{FF2B5EF4-FFF2-40B4-BE49-F238E27FC236}">
                <a16:creationId xmlns:a16="http://schemas.microsoft.com/office/drawing/2014/main" id="{28F0EFE5-E52A-46B1-B9B8-A980120C8472}"/>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30</a:t>
            </a:r>
          </a:p>
        </p:txBody>
      </p:sp>
      <p:sp>
        <p:nvSpPr>
          <p:cNvPr id="7" name="">
            <a:extLst xmlns:a="http://schemas.openxmlformats.org/drawingml/2006/main">
              <a:ext uri="{FF2B5EF4-FFF2-40B4-BE49-F238E27FC236}">
                <a16:creationId xmlns:a16="http://schemas.microsoft.com/office/drawing/2014/main" id="{51035284-ADAC-4D85-89DB-469E1FCE6742}"/>
              </a:ext>
            </a:extLst>
          </p:cNvPr>
          <p:cNvSpPr>
            <a:spLocks xmlns:a="http://schemas.openxmlformats.org/drawingml/2006/main" noGrp="1"/>
          </p:cNvSpPr>
          <p:nvPr/>
        </p:nvSpPr>
        <p:spPr>
          <a:xfrm xmlns:a="http://schemas.openxmlformats.org/drawingml/2006/main">
            <a:off x="666750" y="2095500"/>
            <a:ext cx="3286125"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95FCEE-DE8F-45AA-A64A-9346CBED94B5}"/>
              </a:ext>
            </a:extLst>
          </p:cNvPr>
          <p:cNvSpPr>
            <a:spLocks xmlns:a="http://schemas.openxmlformats.org/drawingml/2006/main" noGrp="1"/>
          </p:cNvSpPr>
          <p:nvPr/>
        </p:nvSpPr>
        <p:spPr>
          <a:xfrm xmlns:a="http://schemas.openxmlformats.org/drawingml/2006/main">
            <a:off x="666750" y="226695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Split đúng</a:t>
            </a:r>
          </a:p>
        </p:txBody>
      </p:sp>
      <p:sp>
        <p:nvSpPr>
          <p:cNvPr id="9" name="">
            <a:extLst xmlns:a="http://schemas.openxmlformats.org/drawingml/2006/main">
              <a:ext uri="{FF2B5EF4-FFF2-40B4-BE49-F238E27FC236}">
                <a16:creationId xmlns:a16="http://schemas.microsoft.com/office/drawing/2014/main" id="{1D111A8F-3163-48D3-8150-5681F7E51FCE}"/>
              </a:ext>
            </a:extLst>
          </p:cNvPr>
          <p:cNvSpPr>
            <a:spLocks xmlns:a="http://schemas.openxmlformats.org/drawingml/2006/main" noGrp="1"/>
          </p:cNvSpPr>
          <p:nvPr/>
        </p:nvSpPr>
        <p:spPr>
          <a:xfrm xmlns:a="http://schemas.openxmlformats.org/drawingml/2006/main">
            <a:off x="666750" y="2838450"/>
            <a:ext cx="3286125"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Group theo speaker_id. Mọi response của một người đi cùng fold. Preprocessing, feature selection và calibration đều fit trong training fold.</a:t>
            </a:r>
          </a:p>
        </p:txBody>
      </p:sp>
      <p:sp>
        <p:nvSpPr>
          <p:cNvPr id="10" name="">
            <a:extLst xmlns:a="http://schemas.openxmlformats.org/drawingml/2006/main">
              <a:ext uri="{FF2B5EF4-FFF2-40B4-BE49-F238E27FC236}">
                <a16:creationId xmlns:a16="http://schemas.microsoft.com/office/drawing/2014/main" id="{55E01EAA-55BA-4785-B178-08876B242FEB}"/>
              </a:ext>
            </a:extLst>
          </p:cNvPr>
          <p:cNvSpPr>
            <a:spLocks xmlns:a="http://schemas.openxmlformats.org/drawingml/2006/main" noGrp="1"/>
          </p:cNvSpPr>
          <p:nvPr/>
        </p:nvSpPr>
        <p:spPr>
          <a:xfrm xmlns:a="http://schemas.openxmlformats.org/drawingml/2006/main">
            <a:off x="4457700" y="2095500"/>
            <a:ext cx="3286125"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A43D9C-9D5A-4B36-8A8A-8928B28E001F}"/>
              </a:ext>
            </a:extLst>
          </p:cNvPr>
          <p:cNvSpPr>
            <a:spLocks xmlns:a="http://schemas.openxmlformats.org/drawingml/2006/main" noGrp="1"/>
          </p:cNvSpPr>
          <p:nvPr/>
        </p:nvSpPr>
        <p:spPr>
          <a:xfrm xmlns:a="http://schemas.openxmlformats.org/drawingml/2006/main">
            <a:off x="4457700" y="226695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So sánh công bằng</a:t>
            </a:r>
          </a:p>
        </p:txBody>
      </p:sp>
      <p:sp>
        <p:nvSpPr>
          <p:cNvPr id="12" name="">
            <a:extLst xmlns:a="http://schemas.openxmlformats.org/drawingml/2006/main">
              <a:ext uri="{FF2B5EF4-FFF2-40B4-BE49-F238E27FC236}">
                <a16:creationId xmlns:a16="http://schemas.microsoft.com/office/drawing/2014/main" id="{E46BCC93-32FB-42A5-9FA3-738C6B2083F6}"/>
              </a:ext>
            </a:extLst>
          </p:cNvPr>
          <p:cNvSpPr>
            <a:spLocks xmlns:a="http://schemas.openxmlformats.org/drawingml/2006/main" noGrp="1"/>
          </p:cNvSpPr>
          <p:nvPr/>
        </p:nvSpPr>
        <p:spPr>
          <a:xfrm xmlns:a="http://schemas.openxmlformats.org/drawingml/2006/main">
            <a:off x="4457700" y="2838450"/>
            <a:ext cx="3286125"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B0 majority/ordinal baseline</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B1 audio-only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B2 transcript-only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B3 frozen-rubric LLM local</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M1 late fusion</a:t>
            </a:r>
          </a:p>
        </p:txBody>
      </p:sp>
      <p:sp>
        <p:nvSpPr>
          <p:cNvPr id="13" name="">
            <a:extLst xmlns:a="http://schemas.openxmlformats.org/drawingml/2006/main">
              <a:ext uri="{FF2B5EF4-FFF2-40B4-BE49-F238E27FC236}">
                <a16:creationId xmlns:a16="http://schemas.microsoft.com/office/drawing/2014/main" id="{6D04D2A5-F44E-4996-902A-290C5B76811E}"/>
              </a:ext>
            </a:extLst>
          </p:cNvPr>
          <p:cNvSpPr>
            <a:spLocks xmlns:a="http://schemas.openxmlformats.org/drawingml/2006/main" noGrp="1"/>
          </p:cNvSpPr>
          <p:nvPr/>
        </p:nvSpPr>
        <p:spPr>
          <a:xfrm xmlns:a="http://schemas.openxmlformats.org/drawingml/2006/main">
            <a:off x="8248650" y="2095500"/>
            <a:ext cx="3286125"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9752A11-71B7-43C5-8639-BBA4D883555A}"/>
              </a:ext>
            </a:extLst>
          </p:cNvPr>
          <p:cNvSpPr>
            <a:spLocks xmlns:a="http://schemas.openxmlformats.org/drawingml/2006/main" noGrp="1"/>
          </p:cNvSpPr>
          <p:nvPr/>
        </p:nvSpPr>
        <p:spPr>
          <a:xfrm xmlns:a="http://schemas.openxmlformats.org/drawingml/2006/main">
            <a:off x="8248650" y="2266950"/>
            <a:ext cx="32861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Phân tích sai</a:t>
            </a:r>
          </a:p>
        </p:txBody>
      </p:sp>
      <p:sp>
        <p:nvSpPr>
          <p:cNvPr id="15" name="">
            <a:extLst xmlns:a="http://schemas.openxmlformats.org/drawingml/2006/main">
              <a:ext uri="{FF2B5EF4-FFF2-40B4-BE49-F238E27FC236}">
                <a16:creationId xmlns:a16="http://schemas.microsoft.com/office/drawing/2014/main" id="{3B63B872-102E-45A2-8331-11FAC55FB1FF}"/>
              </a:ext>
            </a:extLst>
          </p:cNvPr>
          <p:cNvSpPr>
            <a:spLocks xmlns:a="http://schemas.openxmlformats.org/drawingml/2006/main" noGrp="1"/>
          </p:cNvSpPr>
          <p:nvPr/>
        </p:nvSpPr>
        <p:spPr>
          <a:xfrm xmlns:a="http://schemas.openxmlformats.org/drawingml/2006/main">
            <a:off x="8248650" y="2838450"/>
            <a:ext cx="3286125"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Theo band, task, prompt, noise, thiết bị, WER và accent proxy. Tách lỗi gross A2↔B2 khỏi lỗi liền kề.</a:t>
            </a:r>
          </a:p>
        </p:txBody>
      </p:sp>
      <p:sp>
        <p:nvSpPr>
          <p:cNvPr id="16" name="">
            <a:extLst xmlns:a="http://schemas.openxmlformats.org/drawingml/2006/main">
              <a:ext uri="{FF2B5EF4-FFF2-40B4-BE49-F238E27FC236}">
                <a16:creationId xmlns:a16="http://schemas.microsoft.com/office/drawing/2014/main" id="{9701DF0B-145A-42CB-A871-3618DDBF45D4}"/>
              </a:ext>
            </a:extLst>
          </p:cNvPr>
          <p:cNvSpPr>
            <a:spLocks xmlns:a="http://schemas.openxmlformats.org/drawingml/2006/main" noGrp="1"/>
          </p:cNvSpPr>
          <p:nvPr/>
        </p:nvSpPr>
        <p:spPr>
          <a:xfrm xmlns:a="http://schemas.openxmlformats.org/drawingml/2006/main">
            <a:off x="1428750" y="5191125"/>
            <a:ext cx="9334500" cy="704850"/>
          </a:xfrm>
          <a:prstGeom xmlns:a="http://schemas.openxmlformats.org/drawingml/2006/main" prst="roundRect">
            <a:avLst>
              <a:gd name="adj" fmla="val 8108"/>
            </a:avLst>
          </a:prstGeom>
          <a:solidFill xmlns:a="http://schemas.openxmlformats.org/drawingml/2006/main">
            <a:srgbClr val="F0ECF8"/>
          </a:solidFill>
          <a:ln xmlns:a="http://schemas.openxmlformats.org/drawingml/2006/main" w="9525">
            <a:solidFill>
              <a:srgbClr val="6C4FA3"/>
            </a:solidFill>
            <a:prstDash val="solid"/>
          </a:ln>
        </p:spPr>
      </p:sp>
      <p:sp>
        <p:nvSpPr>
          <p:cNvPr id="17" name="">
            <a:extLst xmlns:a="http://schemas.openxmlformats.org/drawingml/2006/main">
              <a:ext uri="{FF2B5EF4-FFF2-40B4-BE49-F238E27FC236}">
                <a16:creationId xmlns:a16="http://schemas.microsoft.com/office/drawing/2014/main" id="{F58662F5-1BDE-4704-A814-4BA8EC716B7B}"/>
              </a:ext>
            </a:extLst>
          </p:cNvPr>
          <p:cNvSpPr>
            <a:spLocks xmlns:a="http://schemas.openxmlformats.org/drawingml/2006/main" noGrp="1"/>
          </p:cNvSpPr>
          <p:nvPr/>
        </p:nvSpPr>
        <p:spPr>
          <a:xfrm xmlns:a="http://schemas.openxmlformats.org/drawingml/2006/main">
            <a:off x="1619250" y="5324475"/>
            <a:ext cx="895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i="0">
                <a:solidFill>
                  <a:srgbClr val="6C4FA3"/>
                </a:solidFill>
                <a:latin typeface="Aptos"/>
                <a:ea typeface="Aptos"/>
                <a:cs typeface="Aptos"/>
              </a:defRPr>
            </a:pPr>
            <a:r>
              <a:rPr sz="1575" b="1" i="0">
                <a:solidFill>
                  <a:srgbClr val="6C4FA3"/>
                </a:solidFill>
                <a:latin typeface="Aptos"/>
                <a:ea typeface="Aptos"/>
                <a:cs typeface="Aptos"/>
              </a:rPr>
              <a:t>So hai mô hình bằng paired cluster bootstrap theo speaker; không so hai khoảng tin cậy độc lập.</a:t>
            </a:r>
          </a:p>
        </p:txBody>
      </p:sp>
    </p:spTree>
    <p:extLst>
      <p:ext uri="{BB962C8B-B14F-4D97-AF65-F5344CB8AC3E}">
        <p14:creationId xmlns:p14="http://schemas.microsoft.com/office/powerpoint/2010/main" val="2079923061"/>
      </p:ext>
    </p:extLst>
  </p:cSld>
</p:sld>
</file>

<file path=ppt/slides/slide3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90D6CCB-4BD9-4117-A4D4-F4DD70782451}"/>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TIÊU CHÍ ĐÁNH GIÁ MÔ HÌNH</a:t>
            </a:r>
          </a:p>
        </p:txBody>
      </p:sp>
      <p:sp>
        <p:nvSpPr>
          <p:cNvPr id="2" name="">
            <a:extLst xmlns:a="http://schemas.openxmlformats.org/drawingml/2006/main">
              <a:ext uri="{FF2B5EF4-FFF2-40B4-BE49-F238E27FC236}">
                <a16:creationId xmlns:a16="http://schemas.microsoft.com/office/drawing/2014/main" id="{E7055D94-D65C-49FD-BFBC-C1B5C0BD87C7}"/>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Không có một metric duy nhất đủ trả lời hệ thống có dùng được hay không</a:t>
            </a:r>
          </a:p>
        </p:txBody>
      </p:sp>
      <p:sp>
        <p:nvSpPr>
          <p:cNvPr id="3" name="">
            <a:extLst xmlns:a="http://schemas.openxmlformats.org/drawingml/2006/main">
              <a:ext uri="{FF2B5EF4-FFF2-40B4-BE49-F238E27FC236}">
                <a16:creationId xmlns:a16="http://schemas.microsoft.com/office/drawing/2014/main" id="{98CB1601-7FFF-465C-A319-261BB8C0EB10}"/>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Cần nhìn agreement, lỗi nghiêm trọng, calibration, reliability và nguyên nhân sai.</a:t>
            </a:r>
          </a:p>
        </p:txBody>
      </p:sp>
      <p:sp>
        <p:nvSpPr>
          <p:cNvPr id="4" name="">
            <a:extLst xmlns:a="http://schemas.openxmlformats.org/drawingml/2006/main">
              <a:ext uri="{FF2B5EF4-FFF2-40B4-BE49-F238E27FC236}">
                <a16:creationId xmlns:a16="http://schemas.microsoft.com/office/drawing/2014/main" id="{5051C99B-C02F-4789-9AE5-4425339770DE}"/>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F8F8D2-BF6E-49A8-899A-C453FE26DDB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KIỂM ĐỊNH</a:t>
            </a:r>
          </a:p>
        </p:txBody>
      </p:sp>
      <p:sp>
        <p:nvSpPr>
          <p:cNvPr id="6" name="">
            <a:extLst xmlns:a="http://schemas.openxmlformats.org/drawingml/2006/main">
              <a:ext uri="{FF2B5EF4-FFF2-40B4-BE49-F238E27FC236}">
                <a16:creationId xmlns:a16="http://schemas.microsoft.com/office/drawing/2014/main" id="{7F48722B-97F9-41BC-BFCB-91FBEDBCAB55}"/>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31</a:t>
            </a:r>
          </a:p>
        </p:txBody>
      </p:sp>
      <p:sp>
        <p:nvSpPr>
          <p:cNvPr id="7" name="">
            <a:extLst xmlns:a="http://schemas.openxmlformats.org/drawingml/2006/main">
              <a:ext uri="{FF2B5EF4-FFF2-40B4-BE49-F238E27FC236}">
                <a16:creationId xmlns:a16="http://schemas.microsoft.com/office/drawing/2014/main" id="{44149ADE-2252-453D-860A-6E944AF3C76A}"/>
              </a:ext>
            </a:extLst>
          </p:cNvPr>
          <p:cNvSpPr>
            <a:spLocks xmlns:a="http://schemas.openxmlformats.org/drawingml/2006/main" noGrp="1"/>
          </p:cNvSpPr>
          <p:nvPr/>
        </p:nvSpPr>
        <p:spPr>
          <a:xfrm xmlns:a="http://schemas.openxmlformats.org/drawingml/2006/main">
            <a:off x="666750" y="2095500"/>
            <a:ext cx="3333750" cy="38100"/>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573D73-9F18-4F9D-AB3C-DD3C87AA7231}"/>
              </a:ext>
            </a:extLst>
          </p:cNvPr>
          <p:cNvSpPr>
            <a:spLocks xmlns:a="http://schemas.openxmlformats.org/drawingml/2006/main" noGrp="1"/>
          </p:cNvSpPr>
          <p:nvPr/>
        </p:nvSpPr>
        <p:spPr>
          <a:xfrm xmlns:a="http://schemas.openxmlformats.org/drawingml/2006/main">
            <a:off x="666750" y="2266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1F5EAC"/>
                </a:solidFill>
                <a:latin typeface="Aptos"/>
                <a:ea typeface="Aptos"/>
                <a:cs typeface="Aptos"/>
              </a:defRPr>
            </a:pPr>
            <a:r>
              <a:rPr sz="1725" b="1" i="0">
                <a:solidFill>
                  <a:srgbClr val="1F5EAC"/>
                </a:solidFill>
                <a:latin typeface="Aptos"/>
                <a:ea typeface="Aptos"/>
                <a:cs typeface="Aptos"/>
              </a:rPr>
              <a:t>QWK + CI</a:t>
            </a:r>
          </a:p>
        </p:txBody>
      </p:sp>
      <p:sp>
        <p:nvSpPr>
          <p:cNvPr id="9" name="">
            <a:extLst xmlns:a="http://schemas.openxmlformats.org/drawingml/2006/main">
              <a:ext uri="{FF2B5EF4-FFF2-40B4-BE49-F238E27FC236}">
                <a16:creationId xmlns:a16="http://schemas.microsoft.com/office/drawing/2014/main" id="{9A06AFD5-8224-4672-989F-18CCE262B448}"/>
              </a:ext>
            </a:extLst>
          </p:cNvPr>
          <p:cNvSpPr>
            <a:spLocks xmlns:a="http://schemas.openxmlformats.org/drawingml/2006/main" noGrp="1"/>
          </p:cNvSpPr>
          <p:nvPr/>
        </p:nvSpPr>
        <p:spPr>
          <a:xfrm xmlns:a="http://schemas.openxmlformats.org/drawingml/2006/main">
            <a:off x="666750" y="26479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Đồng thuận trên mức có thứ tự; A2→B2 bị phạt nặng hơn A2→B1.</a:t>
            </a:r>
          </a:p>
        </p:txBody>
      </p:sp>
      <p:sp>
        <p:nvSpPr>
          <p:cNvPr id="10" name="">
            <a:extLst xmlns:a="http://schemas.openxmlformats.org/drawingml/2006/main">
              <a:ext uri="{FF2B5EF4-FFF2-40B4-BE49-F238E27FC236}">
                <a16:creationId xmlns:a16="http://schemas.microsoft.com/office/drawing/2014/main" id="{CF10E069-1584-4883-9400-BEA9CDEB0CD2}"/>
              </a:ext>
            </a:extLst>
          </p:cNvPr>
          <p:cNvSpPr>
            <a:spLocks xmlns:a="http://schemas.openxmlformats.org/drawingml/2006/main" noGrp="1"/>
          </p:cNvSpPr>
          <p:nvPr/>
        </p:nvSpPr>
        <p:spPr>
          <a:xfrm xmlns:a="http://schemas.openxmlformats.org/drawingml/2006/main">
            <a:off x="4524375" y="2095500"/>
            <a:ext cx="3333750" cy="3810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C4CB524-A8CA-4D37-ADD0-0EA48001B449}"/>
              </a:ext>
            </a:extLst>
          </p:cNvPr>
          <p:cNvSpPr>
            <a:spLocks xmlns:a="http://schemas.openxmlformats.org/drawingml/2006/main" noGrp="1"/>
          </p:cNvSpPr>
          <p:nvPr/>
        </p:nvSpPr>
        <p:spPr>
          <a:xfrm xmlns:a="http://schemas.openxmlformats.org/drawingml/2006/main">
            <a:off x="4524375" y="2266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2F7D5C"/>
                </a:solidFill>
                <a:latin typeface="Aptos"/>
                <a:ea typeface="Aptos"/>
                <a:cs typeface="Aptos"/>
              </a:defRPr>
            </a:pPr>
            <a:r>
              <a:rPr sz="1725" b="1" i="0">
                <a:solidFill>
                  <a:srgbClr val="2F7D5C"/>
                </a:solidFill>
                <a:latin typeface="Aptos"/>
                <a:ea typeface="Aptos"/>
                <a:cs typeface="Aptos"/>
              </a:rPr>
              <a:t>Macro-F1</a:t>
            </a:r>
          </a:p>
        </p:txBody>
      </p:sp>
      <p:sp>
        <p:nvSpPr>
          <p:cNvPr id="12" name="">
            <a:extLst xmlns:a="http://schemas.openxmlformats.org/drawingml/2006/main">
              <a:ext uri="{FF2B5EF4-FFF2-40B4-BE49-F238E27FC236}">
                <a16:creationId xmlns:a16="http://schemas.microsoft.com/office/drawing/2014/main" id="{A3BF1A21-BF69-4455-91EF-5E90472CCA32}"/>
              </a:ext>
            </a:extLst>
          </p:cNvPr>
          <p:cNvSpPr>
            <a:spLocks xmlns:a="http://schemas.openxmlformats.org/drawingml/2006/main" noGrp="1"/>
          </p:cNvSpPr>
          <p:nvPr/>
        </p:nvSpPr>
        <p:spPr>
          <a:xfrm xmlns:a="http://schemas.openxmlformats.org/drawingml/2006/main">
            <a:off x="4524375" y="26479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Không để band đông che khuất band ít.</a:t>
            </a:r>
          </a:p>
        </p:txBody>
      </p:sp>
      <p:sp>
        <p:nvSpPr>
          <p:cNvPr id="13" name="">
            <a:extLst xmlns:a="http://schemas.openxmlformats.org/drawingml/2006/main">
              <a:ext uri="{FF2B5EF4-FFF2-40B4-BE49-F238E27FC236}">
                <a16:creationId xmlns:a16="http://schemas.microsoft.com/office/drawing/2014/main" id="{B5606C8E-4367-46D9-A4A3-8CEA729DAA01}"/>
              </a:ext>
            </a:extLst>
          </p:cNvPr>
          <p:cNvSpPr>
            <a:spLocks xmlns:a="http://schemas.openxmlformats.org/drawingml/2006/main" noGrp="1"/>
          </p:cNvSpPr>
          <p:nvPr/>
        </p:nvSpPr>
        <p:spPr>
          <a:xfrm xmlns:a="http://schemas.openxmlformats.org/drawingml/2006/main">
            <a:off x="8382000" y="2095500"/>
            <a:ext cx="3333750" cy="3810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BA783B0-1241-4A0D-8304-58CC876B0A56}"/>
              </a:ext>
            </a:extLst>
          </p:cNvPr>
          <p:cNvSpPr>
            <a:spLocks xmlns:a="http://schemas.openxmlformats.org/drawingml/2006/main" noGrp="1"/>
          </p:cNvSpPr>
          <p:nvPr/>
        </p:nvSpPr>
        <p:spPr>
          <a:xfrm xmlns:a="http://schemas.openxmlformats.org/drawingml/2006/main">
            <a:off x="8382000" y="2266950"/>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B43D3D"/>
                </a:solidFill>
                <a:latin typeface="Aptos"/>
                <a:ea typeface="Aptos"/>
                <a:cs typeface="Aptos"/>
              </a:defRPr>
            </a:pPr>
            <a:r>
              <a:rPr sz="1725" b="1" i="0">
                <a:solidFill>
                  <a:srgbClr val="B43D3D"/>
                </a:solidFill>
                <a:latin typeface="Aptos"/>
                <a:ea typeface="Aptos"/>
                <a:cs typeface="Aptos"/>
              </a:rPr>
              <a:t>Gross Error Rate</a:t>
            </a:r>
          </a:p>
        </p:txBody>
      </p:sp>
      <p:sp>
        <p:nvSpPr>
          <p:cNvPr id="15" name="">
            <a:extLst xmlns:a="http://schemas.openxmlformats.org/drawingml/2006/main">
              <a:ext uri="{FF2B5EF4-FFF2-40B4-BE49-F238E27FC236}">
                <a16:creationId xmlns:a16="http://schemas.microsoft.com/office/drawing/2014/main" id="{1BF43CBE-4648-4812-8F63-6B89B7F7C20E}"/>
              </a:ext>
            </a:extLst>
          </p:cNvPr>
          <p:cNvSpPr>
            <a:spLocks xmlns:a="http://schemas.openxmlformats.org/drawingml/2006/main" noGrp="1"/>
          </p:cNvSpPr>
          <p:nvPr/>
        </p:nvSpPr>
        <p:spPr>
          <a:xfrm xmlns:a="http://schemas.openxmlformats.org/drawingml/2006/main">
            <a:off x="8382000" y="2647950"/>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Tỷ lệ nhảy hai band, ví dụ A2↔B2.</a:t>
            </a:r>
          </a:p>
        </p:txBody>
      </p:sp>
      <p:sp>
        <p:nvSpPr>
          <p:cNvPr id="16" name="">
            <a:extLst xmlns:a="http://schemas.openxmlformats.org/drawingml/2006/main">
              <a:ext uri="{FF2B5EF4-FFF2-40B4-BE49-F238E27FC236}">
                <a16:creationId xmlns:a16="http://schemas.microsoft.com/office/drawing/2014/main" id="{FA04733E-4E41-4A86-94D9-8D3EFB02590B}"/>
              </a:ext>
            </a:extLst>
          </p:cNvPr>
          <p:cNvSpPr>
            <a:spLocks xmlns:a="http://schemas.openxmlformats.org/drawingml/2006/main" noGrp="1"/>
          </p:cNvSpPr>
          <p:nvPr/>
        </p:nvSpPr>
        <p:spPr>
          <a:xfrm xmlns:a="http://schemas.openxmlformats.org/drawingml/2006/main">
            <a:off x="666750" y="3762375"/>
            <a:ext cx="3333750" cy="38100"/>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734AC14-3C46-49F9-B7A0-AB86ED75F089}"/>
              </a:ext>
            </a:extLst>
          </p:cNvPr>
          <p:cNvSpPr>
            <a:spLocks xmlns:a="http://schemas.openxmlformats.org/drawingml/2006/main" noGrp="1"/>
          </p:cNvSpPr>
          <p:nvPr/>
        </p:nvSpPr>
        <p:spPr>
          <a:xfrm xmlns:a="http://schemas.openxmlformats.org/drawingml/2006/main">
            <a:off x="666750" y="39338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A96500"/>
                </a:solidFill>
                <a:latin typeface="Aptos"/>
                <a:ea typeface="Aptos"/>
                <a:cs typeface="Aptos"/>
              </a:defRPr>
            </a:pPr>
            <a:r>
              <a:rPr sz="1725" b="1" i="0">
                <a:solidFill>
                  <a:srgbClr val="A96500"/>
                </a:solidFill>
                <a:latin typeface="Aptos"/>
                <a:ea typeface="Aptos"/>
                <a:cs typeface="Aptos"/>
              </a:rPr>
              <a:t>Calibration</a:t>
            </a:r>
          </a:p>
        </p:txBody>
      </p:sp>
      <p:sp>
        <p:nvSpPr>
          <p:cNvPr id="18" name="">
            <a:extLst xmlns:a="http://schemas.openxmlformats.org/drawingml/2006/main">
              <a:ext uri="{FF2B5EF4-FFF2-40B4-BE49-F238E27FC236}">
                <a16:creationId xmlns:a16="http://schemas.microsoft.com/office/drawing/2014/main" id="{197EF175-6E23-4483-9DDC-DD202E9A2DBE}"/>
              </a:ext>
            </a:extLst>
          </p:cNvPr>
          <p:cNvSpPr>
            <a:spLocks xmlns:a="http://schemas.openxmlformats.org/drawingml/2006/main" noGrp="1"/>
          </p:cNvSpPr>
          <p:nvPr/>
        </p:nvSpPr>
        <p:spPr>
          <a:xfrm xmlns:a="http://schemas.openxmlformats.org/drawingml/2006/main">
            <a:off x="666750" y="4314825"/>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Confidence 70% có đúng khoảng 70% trường hợp không?</a:t>
            </a:r>
          </a:p>
        </p:txBody>
      </p:sp>
      <p:sp>
        <p:nvSpPr>
          <p:cNvPr id="19" name="">
            <a:extLst xmlns:a="http://schemas.openxmlformats.org/drawingml/2006/main">
              <a:ext uri="{FF2B5EF4-FFF2-40B4-BE49-F238E27FC236}">
                <a16:creationId xmlns:a16="http://schemas.microsoft.com/office/drawing/2014/main" id="{A6C689F6-9DB5-45CC-8FC5-FB99DB7738CE}"/>
              </a:ext>
            </a:extLst>
          </p:cNvPr>
          <p:cNvSpPr>
            <a:spLocks xmlns:a="http://schemas.openxmlformats.org/drawingml/2006/main" noGrp="1"/>
          </p:cNvSpPr>
          <p:nvPr/>
        </p:nvSpPr>
        <p:spPr>
          <a:xfrm xmlns:a="http://schemas.openxmlformats.org/drawingml/2006/main">
            <a:off x="4524375" y="3762375"/>
            <a:ext cx="3333750" cy="38100"/>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E5608CC-A84F-445B-A44C-11A1F0C6D89B}"/>
              </a:ext>
            </a:extLst>
          </p:cNvPr>
          <p:cNvSpPr>
            <a:spLocks xmlns:a="http://schemas.openxmlformats.org/drawingml/2006/main" noGrp="1"/>
          </p:cNvSpPr>
          <p:nvPr/>
        </p:nvSpPr>
        <p:spPr>
          <a:xfrm xmlns:a="http://schemas.openxmlformats.org/drawingml/2006/main">
            <a:off x="4524375" y="39338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6C4FA3"/>
                </a:solidFill>
                <a:latin typeface="Aptos"/>
                <a:ea typeface="Aptos"/>
                <a:cs typeface="Aptos"/>
              </a:defRPr>
            </a:pPr>
            <a:r>
              <a:rPr sz="1725" b="1" i="0">
                <a:solidFill>
                  <a:srgbClr val="6C4FA3"/>
                </a:solidFill>
                <a:latin typeface="Aptos"/>
                <a:ea typeface="Aptos"/>
                <a:cs typeface="Aptos"/>
              </a:rPr>
              <a:t>Reliability</a:t>
            </a:r>
          </a:p>
        </p:txBody>
      </p:sp>
      <p:sp>
        <p:nvSpPr>
          <p:cNvPr id="21" name="">
            <a:extLst xmlns:a="http://schemas.openxmlformats.org/drawingml/2006/main">
              <a:ext uri="{FF2B5EF4-FFF2-40B4-BE49-F238E27FC236}">
                <a16:creationId xmlns:a16="http://schemas.microsoft.com/office/drawing/2014/main" id="{3F4FFBF5-FAA9-4D47-B1F0-6299780E9CA4}"/>
              </a:ext>
            </a:extLst>
          </p:cNvPr>
          <p:cNvSpPr>
            <a:spLocks xmlns:a="http://schemas.openxmlformats.org/drawingml/2006/main" noGrp="1"/>
          </p:cNvSpPr>
          <p:nvPr/>
        </p:nvSpPr>
        <p:spPr>
          <a:xfrm xmlns:a="http://schemas.openxmlformats.org/drawingml/2006/main">
            <a:off x="4524375" y="4314825"/>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Cùng người, task tương đương hoặc chạy lại có ổn định không?</a:t>
            </a:r>
          </a:p>
        </p:txBody>
      </p:sp>
      <p:sp>
        <p:nvSpPr>
          <p:cNvPr id="22" name="">
            <a:extLst xmlns:a="http://schemas.openxmlformats.org/drawingml/2006/main">
              <a:ext uri="{FF2B5EF4-FFF2-40B4-BE49-F238E27FC236}">
                <a16:creationId xmlns:a16="http://schemas.microsoft.com/office/drawing/2014/main" id="{15D09E6E-57BE-4CCD-BCA4-968023CDF92E}"/>
              </a:ext>
            </a:extLst>
          </p:cNvPr>
          <p:cNvSpPr>
            <a:spLocks xmlns:a="http://schemas.openxmlformats.org/drawingml/2006/main" noGrp="1"/>
          </p:cNvSpPr>
          <p:nvPr/>
        </p:nvSpPr>
        <p:spPr>
          <a:xfrm xmlns:a="http://schemas.openxmlformats.org/drawingml/2006/main">
            <a:off x="8382000" y="3762375"/>
            <a:ext cx="3333750" cy="38100"/>
          </a:xfrm>
          <a:prstGeom xmlns:a="http://schemas.openxmlformats.org/drawingml/2006/main" prst="rect">
            <a:avLst/>
          </a:prstGeom>
          <a:solidFill xmlns:a="http://schemas.openxmlformats.org/drawingml/2006/main">
            <a:srgbClr val="28788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380B273-C137-4B3A-A359-963614730601}"/>
              </a:ext>
            </a:extLst>
          </p:cNvPr>
          <p:cNvSpPr>
            <a:spLocks xmlns:a="http://schemas.openxmlformats.org/drawingml/2006/main" noGrp="1"/>
          </p:cNvSpPr>
          <p:nvPr/>
        </p:nvSpPr>
        <p:spPr>
          <a:xfrm xmlns:a="http://schemas.openxmlformats.org/drawingml/2006/main">
            <a:off x="8382000" y="3933825"/>
            <a:ext cx="333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725" b="1" i="0">
                <a:solidFill>
                  <a:srgbClr val="28788C"/>
                </a:solidFill>
                <a:latin typeface="Aptos"/>
                <a:ea typeface="Aptos"/>
                <a:cs typeface="Aptos"/>
              </a:defRPr>
            </a:pPr>
            <a:r>
              <a:rPr sz="1725" b="1" i="0">
                <a:solidFill>
                  <a:srgbClr val="28788C"/>
                </a:solidFill>
                <a:latin typeface="Aptos"/>
                <a:ea typeface="Aptos"/>
                <a:cs typeface="Aptos"/>
              </a:rPr>
              <a:t>Error audit</a:t>
            </a:r>
          </a:p>
        </p:txBody>
      </p:sp>
      <p:sp>
        <p:nvSpPr>
          <p:cNvPr id="24" name="">
            <a:extLst xmlns:a="http://schemas.openxmlformats.org/drawingml/2006/main">
              <a:ext uri="{FF2B5EF4-FFF2-40B4-BE49-F238E27FC236}">
                <a16:creationId xmlns:a16="http://schemas.microsoft.com/office/drawing/2014/main" id="{CC2423A3-A5B7-4E78-BA1C-862EB90D6080}"/>
              </a:ext>
            </a:extLst>
          </p:cNvPr>
          <p:cNvSpPr>
            <a:spLocks xmlns:a="http://schemas.openxmlformats.org/drawingml/2006/main" noGrp="1"/>
          </p:cNvSpPr>
          <p:nvPr/>
        </p:nvSpPr>
        <p:spPr>
          <a:xfrm xmlns:a="http://schemas.openxmlformats.org/drawingml/2006/main">
            <a:off x="8382000" y="4314825"/>
            <a:ext cx="3333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350" b="0" i="0">
                <a:solidFill>
                  <a:srgbClr val="28374A"/>
                </a:solidFill>
                <a:latin typeface="Aptos"/>
                <a:ea typeface="Aptos"/>
                <a:cs typeface="Aptos"/>
              </a:defRPr>
            </a:pPr>
            <a:r>
              <a:rPr sz="1350" b="0" i="0">
                <a:solidFill>
                  <a:srgbClr val="28374A"/>
                </a:solidFill>
                <a:latin typeface="Aptos"/>
                <a:ea typeface="Aptos"/>
                <a:cs typeface="Aptos"/>
              </a:rPr>
              <a:t>Lỗi tập trung ở accent, WER, noise, prompt hay tiêu chí nào?</a:t>
            </a:r>
          </a:p>
        </p:txBody>
      </p:sp>
      <p:sp>
        <p:nvSpPr>
          <p:cNvPr id="25" name="">
            <a:extLst xmlns:a="http://schemas.openxmlformats.org/drawingml/2006/main">
              <a:ext uri="{FF2B5EF4-FFF2-40B4-BE49-F238E27FC236}">
                <a16:creationId xmlns:a16="http://schemas.microsoft.com/office/drawing/2014/main" id="{508E682A-54D1-4F3C-A590-D3B9BC517137}"/>
              </a:ext>
            </a:extLst>
          </p:cNvPr>
          <p:cNvSpPr>
            <a:spLocks xmlns:a="http://schemas.openxmlformats.org/drawingml/2006/main" noGrp="1"/>
          </p:cNvSpPr>
          <p:nvPr/>
        </p:nvSpPr>
        <p:spPr>
          <a:xfrm xmlns:a="http://schemas.openxmlformats.org/drawingml/2006/main">
            <a:off x="1524000" y="5391150"/>
            <a:ext cx="9144000" cy="609600"/>
          </a:xfrm>
          <a:prstGeom xmlns:a="http://schemas.openxmlformats.org/drawingml/2006/main" prst="roundRect">
            <a:avLst>
              <a:gd name="adj" fmla="val 9375"/>
            </a:avLst>
          </a:prstGeom>
          <a:solidFill xmlns:a="http://schemas.openxmlformats.org/drawingml/2006/main">
            <a:srgbClr val="E8F2FB"/>
          </a:solidFill>
          <a:ln xmlns:a="http://schemas.openxmlformats.org/drawingml/2006/main" w="9525">
            <a:solidFill>
              <a:srgbClr val="1F5EAC"/>
            </a:solidFill>
            <a:prstDash val="solid"/>
          </a:ln>
        </p:spPr>
      </p:sp>
      <p:sp>
        <p:nvSpPr>
          <p:cNvPr id="26" name="">
            <a:extLst xmlns:a="http://schemas.openxmlformats.org/drawingml/2006/main">
              <a:ext uri="{FF2B5EF4-FFF2-40B4-BE49-F238E27FC236}">
                <a16:creationId xmlns:a16="http://schemas.microsoft.com/office/drawing/2014/main" id="{465F7913-5217-424C-AAE0-24CEE4A3C11C}"/>
              </a:ext>
            </a:extLst>
          </p:cNvPr>
          <p:cNvSpPr>
            <a:spLocks xmlns:a="http://schemas.openxmlformats.org/drawingml/2006/main" noGrp="1"/>
          </p:cNvSpPr>
          <p:nvPr/>
        </p:nvSpPr>
        <p:spPr>
          <a:xfrm xmlns:a="http://schemas.openxmlformats.org/drawingml/2006/main">
            <a:off x="1714500" y="552450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9432"/>
          </a:bodyPr>
          <a:lstStyle xmlns:a="http://schemas.openxmlformats.org/drawingml/2006/main"/>
          <a:p xmlns:a="http://schemas.openxmlformats.org/drawingml/2006/main">
            <a:pPr algn="l">
              <a:lnSpc>
                <a:spcPct val="105000"/>
              </a:lnSpc>
              <a:buNone/>
              <a:defRPr sz="1500" b="1" i="0">
                <a:solidFill>
                  <a:srgbClr val="1F5EAC"/>
                </a:solidFill>
                <a:latin typeface="Aptos"/>
                <a:ea typeface="Aptos"/>
                <a:cs typeface="Aptos"/>
              </a:defRPr>
            </a:pPr>
            <a:r>
              <a:rPr sz="1500" b="1" i="0">
                <a:solidFill>
                  <a:srgbClr val="1F5EAC"/>
                </a:solidFill>
                <a:latin typeface="Aptos"/>
                <a:ea typeface="Aptos"/>
                <a:cs typeface="Aptos"/>
              </a:rPr>
              <a:t>Mục tiêu hợp lý: AI tiến gần trần human–human và biết từ chối ca không chắc; không hứa “chính xác tuyệt đối”.</a:t>
            </a:r>
          </a:p>
        </p:txBody>
      </p:sp>
    </p:spTree>
    <p:extLst>
      <p:ext uri="{BB962C8B-B14F-4D97-AF65-F5344CB8AC3E}">
        <p14:creationId xmlns:p14="http://schemas.microsoft.com/office/powerpoint/2010/main" val="1990382509"/>
      </p:ext>
    </p:extLst>
  </p:cSld>
</p:sld>
</file>

<file path=ppt/slides/slide3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5669582F-5388-4324-9DEC-AE40FC6431C5}"/>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TECH STACK</a:t>
            </a:r>
          </a:p>
        </p:txBody>
      </p:sp>
      <p:sp>
        <p:nvSpPr>
          <p:cNvPr id="2" name="">
            <a:extLst xmlns:a="http://schemas.openxmlformats.org/drawingml/2006/main">
              <a:ext uri="{FF2B5EF4-FFF2-40B4-BE49-F238E27FC236}">
                <a16:creationId xmlns:a16="http://schemas.microsoft.com/office/drawing/2014/main" id="{BBAE73BF-7960-4430-9935-C0499CC80810}"/>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Ưu tiên thành phần chạy local, mô hình tiền huấn luyện và công cụ dễ kiểm tra</a:t>
            </a:r>
          </a:p>
        </p:txBody>
      </p:sp>
      <p:sp>
        <p:nvSpPr>
          <p:cNvPr id="3" name="">
            <a:extLst xmlns:a="http://schemas.openxmlformats.org/drawingml/2006/main">
              <a:ext uri="{FF2B5EF4-FFF2-40B4-BE49-F238E27FC236}">
                <a16:creationId xmlns:a16="http://schemas.microsoft.com/office/drawing/2014/main" id="{19FC21A1-8FA2-4AE6-A415-F07F0466CD16}"/>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Mục tiêu 10 tuần là một pipeline đo lường hoàn chỉnh, không phải huấn luyện foundation model.</a:t>
            </a:r>
          </a:p>
        </p:txBody>
      </p:sp>
      <p:sp>
        <p:nvSpPr>
          <p:cNvPr id="4" name="">
            <a:extLst xmlns:a="http://schemas.openxmlformats.org/drawingml/2006/main">
              <a:ext uri="{FF2B5EF4-FFF2-40B4-BE49-F238E27FC236}">
                <a16:creationId xmlns:a16="http://schemas.microsoft.com/office/drawing/2014/main" id="{E73D7A9E-99DF-48B4-B692-BB59330A1395}"/>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B7A128C-0A6E-4CD9-B991-1C40A627E7D1}"/>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KỸ THUẬT</a:t>
            </a:r>
          </a:p>
        </p:txBody>
      </p:sp>
      <p:sp>
        <p:nvSpPr>
          <p:cNvPr id="6" name="">
            <a:extLst xmlns:a="http://schemas.openxmlformats.org/drawingml/2006/main">
              <a:ext uri="{FF2B5EF4-FFF2-40B4-BE49-F238E27FC236}">
                <a16:creationId xmlns:a16="http://schemas.microsoft.com/office/drawing/2014/main" id="{0DA54A7C-DC94-401F-A06C-E94B8B26CAF9}"/>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32</a:t>
            </a:r>
          </a:p>
        </p:txBody>
      </p:sp>
      <p:sp>
        <p:nvSpPr>
          <p:cNvPr id="7" name="">
            <a:extLst xmlns:a="http://schemas.openxmlformats.org/drawingml/2006/main">
              <a:ext uri="{FF2B5EF4-FFF2-40B4-BE49-F238E27FC236}">
                <a16:creationId xmlns:a16="http://schemas.microsoft.com/office/drawing/2014/main" id="{712A1FBA-863A-4DDF-AF2B-EAD8D18FB2EC}"/>
              </a:ext>
            </a:extLst>
          </p:cNvPr>
          <p:cNvSpPr>
            <a:spLocks xmlns:a="http://schemas.openxmlformats.org/drawingml/2006/main" noGrp="1"/>
          </p:cNvSpPr>
          <p:nvPr/>
        </p:nvSpPr>
        <p:spPr>
          <a:xfrm xmlns:a="http://schemas.openxmlformats.org/drawingml/2006/main">
            <a:off x="857250" y="2047875"/>
            <a:ext cx="1905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8DF6A84E-B868-47C1-A029-4D2A14E09303}"/>
              </a:ext>
            </a:extLst>
          </p:cNvPr>
          <p:cNvSpPr>
            <a:spLocks xmlns:a="http://schemas.openxmlformats.org/drawingml/2006/main" noGrp="1"/>
          </p:cNvSpPr>
          <p:nvPr/>
        </p:nvSpPr>
        <p:spPr>
          <a:xfrm xmlns:a="http://schemas.openxmlformats.org/drawingml/2006/main">
            <a:off x="952500" y="2143125"/>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Lớp</a:t>
            </a:r>
          </a:p>
        </p:txBody>
      </p:sp>
      <p:sp>
        <p:nvSpPr>
          <p:cNvPr id="9" name="">
            <a:extLst xmlns:a="http://schemas.openxmlformats.org/drawingml/2006/main">
              <a:ext uri="{FF2B5EF4-FFF2-40B4-BE49-F238E27FC236}">
                <a16:creationId xmlns:a16="http://schemas.microsoft.com/office/drawing/2014/main" id="{83C8A7AB-6341-4CC8-8DE6-C76B6DB35029}"/>
              </a:ext>
            </a:extLst>
          </p:cNvPr>
          <p:cNvSpPr>
            <a:spLocks xmlns:a="http://schemas.openxmlformats.org/drawingml/2006/main" noGrp="1"/>
          </p:cNvSpPr>
          <p:nvPr/>
        </p:nvSpPr>
        <p:spPr>
          <a:xfrm xmlns:a="http://schemas.openxmlformats.org/drawingml/2006/main">
            <a:off x="2762250" y="2047875"/>
            <a:ext cx="33337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C8F73731-EFD5-4572-9BDE-C5AAF814A0E1}"/>
              </a:ext>
            </a:extLst>
          </p:cNvPr>
          <p:cNvSpPr>
            <a:spLocks xmlns:a="http://schemas.openxmlformats.org/drawingml/2006/main" noGrp="1"/>
          </p:cNvSpPr>
          <p:nvPr/>
        </p:nvSpPr>
        <p:spPr>
          <a:xfrm xmlns:a="http://schemas.openxmlformats.org/drawingml/2006/main">
            <a:off x="2857500" y="21431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Lựa chọn</a:t>
            </a:r>
          </a:p>
        </p:txBody>
      </p:sp>
      <p:sp>
        <p:nvSpPr>
          <p:cNvPr id="11" name="">
            <a:extLst xmlns:a="http://schemas.openxmlformats.org/drawingml/2006/main">
              <a:ext uri="{FF2B5EF4-FFF2-40B4-BE49-F238E27FC236}">
                <a16:creationId xmlns:a16="http://schemas.microsoft.com/office/drawing/2014/main" id="{854CAC14-499D-4501-855A-29FD3A572733}"/>
              </a:ext>
            </a:extLst>
          </p:cNvPr>
          <p:cNvSpPr>
            <a:spLocks xmlns:a="http://schemas.openxmlformats.org/drawingml/2006/main" noGrp="1"/>
          </p:cNvSpPr>
          <p:nvPr/>
        </p:nvSpPr>
        <p:spPr>
          <a:xfrm xmlns:a="http://schemas.openxmlformats.org/drawingml/2006/main">
            <a:off x="6096000" y="2047875"/>
            <a:ext cx="52387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7B00A091-9EAD-476F-9DFE-89246EA04E61}"/>
              </a:ext>
            </a:extLst>
          </p:cNvPr>
          <p:cNvSpPr>
            <a:spLocks xmlns:a="http://schemas.openxmlformats.org/drawingml/2006/main" noGrp="1"/>
          </p:cNvSpPr>
          <p:nvPr/>
        </p:nvSpPr>
        <p:spPr>
          <a:xfrm xmlns:a="http://schemas.openxmlformats.org/drawingml/2006/main">
            <a:off x="6191250" y="2143125"/>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Lý do</a:t>
            </a:r>
          </a:p>
        </p:txBody>
      </p:sp>
      <p:sp>
        <p:nvSpPr>
          <p:cNvPr id="13" name="">
            <a:extLst xmlns:a="http://schemas.openxmlformats.org/drawingml/2006/main">
              <a:ext uri="{FF2B5EF4-FFF2-40B4-BE49-F238E27FC236}">
                <a16:creationId xmlns:a16="http://schemas.microsoft.com/office/drawing/2014/main" id="{4C59CBFE-A64B-4793-BBEA-C659AB1029BA}"/>
              </a:ext>
            </a:extLst>
          </p:cNvPr>
          <p:cNvSpPr>
            <a:spLocks xmlns:a="http://schemas.openxmlformats.org/drawingml/2006/main" noGrp="1"/>
          </p:cNvSpPr>
          <p:nvPr/>
        </p:nvSpPr>
        <p:spPr>
          <a:xfrm xmlns:a="http://schemas.openxmlformats.org/drawingml/2006/main">
            <a:off x="857250" y="2505075"/>
            <a:ext cx="190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4" name="">
            <a:extLst xmlns:a="http://schemas.openxmlformats.org/drawingml/2006/main">
              <a:ext uri="{FF2B5EF4-FFF2-40B4-BE49-F238E27FC236}">
                <a16:creationId xmlns:a16="http://schemas.microsoft.com/office/drawing/2014/main" id="{E4BE3892-C8EE-4AB8-AE23-5052D564208A}"/>
              </a:ext>
            </a:extLst>
          </p:cNvPr>
          <p:cNvSpPr>
            <a:spLocks xmlns:a="http://schemas.openxmlformats.org/drawingml/2006/main" noGrp="1"/>
          </p:cNvSpPr>
          <p:nvPr/>
        </p:nvSpPr>
        <p:spPr>
          <a:xfrm xmlns:a="http://schemas.openxmlformats.org/drawingml/2006/main">
            <a:off x="952500" y="25812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Web / API</a:t>
            </a:r>
          </a:p>
        </p:txBody>
      </p:sp>
      <p:sp>
        <p:nvSpPr>
          <p:cNvPr id="15" name="">
            <a:extLst xmlns:a="http://schemas.openxmlformats.org/drawingml/2006/main">
              <a:ext uri="{FF2B5EF4-FFF2-40B4-BE49-F238E27FC236}">
                <a16:creationId xmlns:a16="http://schemas.microsoft.com/office/drawing/2014/main" id="{F80BDE6A-098E-4D9E-ADA0-980CDA944F48}"/>
              </a:ext>
            </a:extLst>
          </p:cNvPr>
          <p:cNvSpPr>
            <a:spLocks xmlns:a="http://schemas.openxmlformats.org/drawingml/2006/main" noGrp="1"/>
          </p:cNvSpPr>
          <p:nvPr/>
        </p:nvSpPr>
        <p:spPr>
          <a:xfrm xmlns:a="http://schemas.openxmlformats.org/drawingml/2006/main">
            <a:off x="2762250" y="2505075"/>
            <a:ext cx="3333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CCEDA2D3-AC45-4F5F-873F-63C0D4FDE977}"/>
              </a:ext>
            </a:extLst>
          </p:cNvPr>
          <p:cNvSpPr>
            <a:spLocks xmlns:a="http://schemas.openxmlformats.org/drawingml/2006/main" noGrp="1"/>
          </p:cNvSpPr>
          <p:nvPr/>
        </p:nvSpPr>
        <p:spPr>
          <a:xfrm xmlns:a="http://schemas.openxmlformats.org/drawingml/2006/main">
            <a:off x="2857500" y="25812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React hoặc Next.js + FastAPI</a:t>
            </a:r>
          </a:p>
        </p:txBody>
      </p:sp>
      <p:sp>
        <p:nvSpPr>
          <p:cNvPr id="17" name="">
            <a:extLst xmlns:a="http://schemas.openxmlformats.org/drawingml/2006/main">
              <a:ext uri="{FF2B5EF4-FFF2-40B4-BE49-F238E27FC236}">
                <a16:creationId xmlns:a16="http://schemas.microsoft.com/office/drawing/2014/main" id="{609A6B1D-0510-4D26-9E04-0E4C20C389CF}"/>
              </a:ext>
            </a:extLst>
          </p:cNvPr>
          <p:cNvSpPr>
            <a:spLocks xmlns:a="http://schemas.openxmlformats.org/drawingml/2006/main" noGrp="1"/>
          </p:cNvSpPr>
          <p:nvPr/>
        </p:nvSpPr>
        <p:spPr>
          <a:xfrm xmlns:a="http://schemas.openxmlformats.org/drawingml/2006/main">
            <a:off x="6096000" y="2505075"/>
            <a:ext cx="5238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AB678DDA-E81B-495A-AC42-C5BE509D9717}"/>
              </a:ext>
            </a:extLst>
          </p:cNvPr>
          <p:cNvSpPr>
            <a:spLocks xmlns:a="http://schemas.openxmlformats.org/drawingml/2006/main" noGrp="1"/>
          </p:cNvSpPr>
          <p:nvPr/>
        </p:nvSpPr>
        <p:spPr>
          <a:xfrm xmlns:a="http://schemas.openxmlformats.org/drawingml/2006/main">
            <a:off x="6191250" y="25812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Tách UI thu âm và pipeline Python; dễ demo và test API</a:t>
            </a:r>
          </a:p>
        </p:txBody>
      </p:sp>
      <p:sp>
        <p:nvSpPr>
          <p:cNvPr id="19" name="">
            <a:extLst xmlns:a="http://schemas.openxmlformats.org/drawingml/2006/main">
              <a:ext uri="{FF2B5EF4-FFF2-40B4-BE49-F238E27FC236}">
                <a16:creationId xmlns:a16="http://schemas.microsoft.com/office/drawing/2014/main" id="{92458939-0556-44AE-BAC2-336507AE85F5}"/>
              </a:ext>
            </a:extLst>
          </p:cNvPr>
          <p:cNvSpPr>
            <a:spLocks xmlns:a="http://schemas.openxmlformats.org/drawingml/2006/main" noGrp="1"/>
          </p:cNvSpPr>
          <p:nvPr/>
        </p:nvSpPr>
        <p:spPr>
          <a:xfrm xmlns:a="http://schemas.openxmlformats.org/drawingml/2006/main">
            <a:off x="857250" y="3114675"/>
            <a:ext cx="190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850D24DE-5CCA-4002-BA0B-54C4A5BB697B}"/>
              </a:ext>
            </a:extLst>
          </p:cNvPr>
          <p:cNvSpPr>
            <a:spLocks xmlns:a="http://schemas.openxmlformats.org/drawingml/2006/main" noGrp="1"/>
          </p:cNvSpPr>
          <p:nvPr/>
        </p:nvSpPr>
        <p:spPr>
          <a:xfrm xmlns:a="http://schemas.openxmlformats.org/drawingml/2006/main">
            <a:off x="952500" y="31908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Lưu trữ</a:t>
            </a:r>
          </a:p>
        </p:txBody>
      </p:sp>
      <p:sp>
        <p:nvSpPr>
          <p:cNvPr id="21" name="">
            <a:extLst xmlns:a="http://schemas.openxmlformats.org/drawingml/2006/main">
              <a:ext uri="{FF2B5EF4-FFF2-40B4-BE49-F238E27FC236}">
                <a16:creationId xmlns:a16="http://schemas.microsoft.com/office/drawing/2014/main" id="{B75312C4-28ED-4954-8C3F-C67C9645F267}"/>
              </a:ext>
            </a:extLst>
          </p:cNvPr>
          <p:cNvSpPr>
            <a:spLocks xmlns:a="http://schemas.openxmlformats.org/drawingml/2006/main" noGrp="1"/>
          </p:cNvSpPr>
          <p:nvPr/>
        </p:nvSpPr>
        <p:spPr>
          <a:xfrm xmlns:a="http://schemas.openxmlformats.org/drawingml/2006/main">
            <a:off x="2762250" y="3114675"/>
            <a:ext cx="3333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14A7CC43-CEF3-46DE-A8FC-C5FD0285150C}"/>
              </a:ext>
            </a:extLst>
          </p:cNvPr>
          <p:cNvSpPr>
            <a:spLocks xmlns:a="http://schemas.openxmlformats.org/drawingml/2006/main" noGrp="1"/>
          </p:cNvSpPr>
          <p:nvPr/>
        </p:nvSpPr>
        <p:spPr>
          <a:xfrm xmlns:a="http://schemas.openxmlformats.org/drawingml/2006/main">
            <a:off x="2857500" y="31908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PostgreSQL + object storage local</a:t>
            </a:r>
          </a:p>
        </p:txBody>
      </p:sp>
      <p:sp>
        <p:nvSpPr>
          <p:cNvPr id="23" name="">
            <a:extLst xmlns:a="http://schemas.openxmlformats.org/drawingml/2006/main">
              <a:ext uri="{FF2B5EF4-FFF2-40B4-BE49-F238E27FC236}">
                <a16:creationId xmlns:a16="http://schemas.microsoft.com/office/drawing/2014/main" id="{75F01E99-3243-4B4E-B564-CC3CD6B2763C}"/>
              </a:ext>
            </a:extLst>
          </p:cNvPr>
          <p:cNvSpPr>
            <a:spLocks xmlns:a="http://schemas.openxmlformats.org/drawingml/2006/main" noGrp="1"/>
          </p:cNvSpPr>
          <p:nvPr/>
        </p:nvSpPr>
        <p:spPr>
          <a:xfrm xmlns:a="http://schemas.openxmlformats.org/drawingml/2006/main">
            <a:off x="6096000" y="3114675"/>
            <a:ext cx="5238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9C3856B4-2044-438B-B9BE-0B86F44341E7}"/>
              </a:ext>
            </a:extLst>
          </p:cNvPr>
          <p:cNvSpPr>
            <a:spLocks xmlns:a="http://schemas.openxmlformats.org/drawingml/2006/main" noGrp="1"/>
          </p:cNvSpPr>
          <p:nvPr/>
        </p:nvSpPr>
        <p:spPr>
          <a:xfrm xmlns:a="http://schemas.openxmlformats.org/drawingml/2006/main">
            <a:off x="6191250" y="31908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Metadata có schema; audio tách khỏi bảng điểm</a:t>
            </a:r>
          </a:p>
        </p:txBody>
      </p:sp>
      <p:sp>
        <p:nvSpPr>
          <p:cNvPr id="25" name="">
            <a:extLst xmlns:a="http://schemas.openxmlformats.org/drawingml/2006/main">
              <a:ext uri="{FF2B5EF4-FFF2-40B4-BE49-F238E27FC236}">
                <a16:creationId xmlns:a16="http://schemas.microsoft.com/office/drawing/2014/main" id="{DFDF191C-FADF-4F89-A13E-B34831662B57}"/>
              </a:ext>
            </a:extLst>
          </p:cNvPr>
          <p:cNvSpPr>
            <a:spLocks xmlns:a="http://schemas.openxmlformats.org/drawingml/2006/main" noGrp="1"/>
          </p:cNvSpPr>
          <p:nvPr/>
        </p:nvSpPr>
        <p:spPr>
          <a:xfrm xmlns:a="http://schemas.openxmlformats.org/drawingml/2006/main">
            <a:off x="857250" y="3724275"/>
            <a:ext cx="190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548F5B4D-E076-48E6-93CF-5129E7B665B7}"/>
              </a:ext>
            </a:extLst>
          </p:cNvPr>
          <p:cNvSpPr>
            <a:spLocks xmlns:a="http://schemas.openxmlformats.org/drawingml/2006/main" noGrp="1"/>
          </p:cNvSpPr>
          <p:nvPr/>
        </p:nvSpPr>
        <p:spPr>
          <a:xfrm xmlns:a="http://schemas.openxmlformats.org/drawingml/2006/main">
            <a:off x="952500" y="38004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ASR</a:t>
            </a:r>
          </a:p>
        </p:txBody>
      </p:sp>
      <p:sp>
        <p:nvSpPr>
          <p:cNvPr id="27" name="">
            <a:extLst xmlns:a="http://schemas.openxmlformats.org/drawingml/2006/main">
              <a:ext uri="{FF2B5EF4-FFF2-40B4-BE49-F238E27FC236}">
                <a16:creationId xmlns:a16="http://schemas.microsoft.com/office/drawing/2014/main" id="{FC97C028-02F7-44B2-AC6E-EA244DCB167D}"/>
              </a:ext>
            </a:extLst>
          </p:cNvPr>
          <p:cNvSpPr>
            <a:spLocks xmlns:a="http://schemas.openxmlformats.org/drawingml/2006/main" noGrp="1"/>
          </p:cNvSpPr>
          <p:nvPr/>
        </p:nvSpPr>
        <p:spPr>
          <a:xfrm xmlns:a="http://schemas.openxmlformats.org/drawingml/2006/main">
            <a:off x="2762250" y="3724275"/>
            <a:ext cx="3333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969D38A7-B6CB-4C09-817B-7E7D0C98552B}"/>
              </a:ext>
            </a:extLst>
          </p:cNvPr>
          <p:cNvSpPr>
            <a:spLocks xmlns:a="http://schemas.openxmlformats.org/drawingml/2006/main" noGrp="1"/>
          </p:cNvSpPr>
          <p:nvPr/>
        </p:nvSpPr>
        <p:spPr>
          <a:xfrm xmlns:a="http://schemas.openxmlformats.org/drawingml/2006/main">
            <a:off x="2857500" y="38004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faster-whisper local</a:t>
            </a:r>
          </a:p>
        </p:txBody>
      </p:sp>
      <p:sp>
        <p:nvSpPr>
          <p:cNvPr id="29" name="">
            <a:extLst xmlns:a="http://schemas.openxmlformats.org/drawingml/2006/main">
              <a:ext uri="{FF2B5EF4-FFF2-40B4-BE49-F238E27FC236}">
                <a16:creationId xmlns:a16="http://schemas.microsoft.com/office/drawing/2014/main" id="{5739863F-99B2-42AE-8B3F-7D2AA926F40A}"/>
              </a:ext>
            </a:extLst>
          </p:cNvPr>
          <p:cNvSpPr>
            <a:spLocks xmlns:a="http://schemas.openxmlformats.org/drawingml/2006/main" noGrp="1"/>
          </p:cNvSpPr>
          <p:nvPr/>
        </p:nvSpPr>
        <p:spPr>
          <a:xfrm xmlns:a="http://schemas.openxmlformats.org/drawingml/2006/main">
            <a:off x="6096000" y="3724275"/>
            <a:ext cx="5238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15442DB2-23CB-4C27-B01B-C4CBDEF8B5E1}"/>
              </a:ext>
            </a:extLst>
          </p:cNvPr>
          <p:cNvSpPr>
            <a:spLocks xmlns:a="http://schemas.openxmlformats.org/drawingml/2006/main" noGrp="1"/>
          </p:cNvSpPr>
          <p:nvPr/>
        </p:nvSpPr>
        <p:spPr>
          <a:xfrm xmlns:a="http://schemas.openxmlformats.org/drawingml/2006/main">
            <a:off x="6191250" y="38004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Baseline thực dụng, có timestamp; không gửi audio ra cloud</a:t>
            </a:r>
          </a:p>
        </p:txBody>
      </p:sp>
      <p:sp>
        <p:nvSpPr>
          <p:cNvPr id="31" name="">
            <a:extLst xmlns:a="http://schemas.openxmlformats.org/drawingml/2006/main">
              <a:ext uri="{FF2B5EF4-FFF2-40B4-BE49-F238E27FC236}">
                <a16:creationId xmlns:a16="http://schemas.microsoft.com/office/drawing/2014/main" id="{9AF05778-11AE-4CFA-AE15-CD3D73E156BA}"/>
              </a:ext>
            </a:extLst>
          </p:cNvPr>
          <p:cNvSpPr>
            <a:spLocks xmlns:a="http://schemas.openxmlformats.org/drawingml/2006/main" noGrp="1"/>
          </p:cNvSpPr>
          <p:nvPr/>
        </p:nvSpPr>
        <p:spPr>
          <a:xfrm xmlns:a="http://schemas.openxmlformats.org/drawingml/2006/main">
            <a:off x="857250" y="4333875"/>
            <a:ext cx="190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2" name="">
            <a:extLst xmlns:a="http://schemas.openxmlformats.org/drawingml/2006/main">
              <a:ext uri="{FF2B5EF4-FFF2-40B4-BE49-F238E27FC236}">
                <a16:creationId xmlns:a16="http://schemas.microsoft.com/office/drawing/2014/main" id="{7F1B006E-379E-4498-93B1-CEE61B68AC60}"/>
              </a:ext>
            </a:extLst>
          </p:cNvPr>
          <p:cNvSpPr>
            <a:spLocks xmlns:a="http://schemas.openxmlformats.org/drawingml/2006/main" noGrp="1"/>
          </p:cNvSpPr>
          <p:nvPr/>
        </p:nvSpPr>
        <p:spPr>
          <a:xfrm xmlns:a="http://schemas.openxmlformats.org/drawingml/2006/main">
            <a:off x="952500" y="44100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Audio</a:t>
            </a:r>
          </a:p>
        </p:txBody>
      </p:sp>
      <p:sp>
        <p:nvSpPr>
          <p:cNvPr id="33" name="">
            <a:extLst xmlns:a="http://schemas.openxmlformats.org/drawingml/2006/main">
              <a:ext uri="{FF2B5EF4-FFF2-40B4-BE49-F238E27FC236}">
                <a16:creationId xmlns:a16="http://schemas.microsoft.com/office/drawing/2014/main" id="{E7736D8E-8A85-4637-94A1-39EF89D732DF}"/>
              </a:ext>
            </a:extLst>
          </p:cNvPr>
          <p:cNvSpPr>
            <a:spLocks xmlns:a="http://schemas.openxmlformats.org/drawingml/2006/main" noGrp="1"/>
          </p:cNvSpPr>
          <p:nvPr/>
        </p:nvSpPr>
        <p:spPr>
          <a:xfrm xmlns:a="http://schemas.openxmlformats.org/drawingml/2006/main">
            <a:off x="2762250" y="4333875"/>
            <a:ext cx="3333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4" name="">
            <a:extLst xmlns:a="http://schemas.openxmlformats.org/drawingml/2006/main">
              <a:ext uri="{FF2B5EF4-FFF2-40B4-BE49-F238E27FC236}">
                <a16:creationId xmlns:a16="http://schemas.microsoft.com/office/drawing/2014/main" id="{A2F63EF3-CFF3-432C-B13F-D67BCDF7BA25}"/>
              </a:ext>
            </a:extLst>
          </p:cNvPr>
          <p:cNvSpPr>
            <a:spLocks xmlns:a="http://schemas.openxmlformats.org/drawingml/2006/main" noGrp="1"/>
          </p:cNvSpPr>
          <p:nvPr/>
        </p:nvSpPr>
        <p:spPr>
          <a:xfrm xmlns:a="http://schemas.openxmlformats.org/drawingml/2006/main">
            <a:off x="2857500" y="44100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librosa / Praat-Parselmouth</a:t>
            </a:r>
          </a:p>
        </p:txBody>
      </p:sp>
      <p:sp>
        <p:nvSpPr>
          <p:cNvPr id="35" name="">
            <a:extLst xmlns:a="http://schemas.openxmlformats.org/drawingml/2006/main">
              <a:ext uri="{FF2B5EF4-FFF2-40B4-BE49-F238E27FC236}">
                <a16:creationId xmlns:a16="http://schemas.microsoft.com/office/drawing/2014/main" id="{4A1BD01B-F0BE-4B0F-A1A4-1B243F02A0F1}"/>
              </a:ext>
            </a:extLst>
          </p:cNvPr>
          <p:cNvSpPr>
            <a:spLocks xmlns:a="http://schemas.openxmlformats.org/drawingml/2006/main" noGrp="1"/>
          </p:cNvSpPr>
          <p:nvPr/>
        </p:nvSpPr>
        <p:spPr>
          <a:xfrm xmlns:a="http://schemas.openxmlformats.org/drawingml/2006/main">
            <a:off x="6096000" y="4333875"/>
            <a:ext cx="5238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6" name="">
            <a:extLst xmlns:a="http://schemas.openxmlformats.org/drawingml/2006/main">
              <a:ext uri="{FF2B5EF4-FFF2-40B4-BE49-F238E27FC236}">
                <a16:creationId xmlns:a16="http://schemas.microsoft.com/office/drawing/2014/main" id="{B0417E68-2801-4BB2-909E-F25A7533D7BC}"/>
              </a:ext>
            </a:extLst>
          </p:cNvPr>
          <p:cNvSpPr>
            <a:spLocks xmlns:a="http://schemas.openxmlformats.org/drawingml/2006/main" noGrp="1"/>
          </p:cNvSpPr>
          <p:nvPr/>
        </p:nvSpPr>
        <p:spPr>
          <a:xfrm xmlns:a="http://schemas.openxmlformats.org/drawingml/2006/main">
            <a:off x="6191250" y="44100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Pause, rate, F0, rhythm và quality features</a:t>
            </a:r>
          </a:p>
        </p:txBody>
      </p:sp>
      <p:sp>
        <p:nvSpPr>
          <p:cNvPr id="37" name="">
            <a:extLst xmlns:a="http://schemas.openxmlformats.org/drawingml/2006/main">
              <a:ext uri="{FF2B5EF4-FFF2-40B4-BE49-F238E27FC236}">
                <a16:creationId xmlns:a16="http://schemas.microsoft.com/office/drawing/2014/main" id="{D80721B7-1FF8-4749-BCED-B1FF35DF8814}"/>
              </a:ext>
            </a:extLst>
          </p:cNvPr>
          <p:cNvSpPr>
            <a:spLocks xmlns:a="http://schemas.openxmlformats.org/drawingml/2006/main" noGrp="1"/>
          </p:cNvSpPr>
          <p:nvPr/>
        </p:nvSpPr>
        <p:spPr>
          <a:xfrm xmlns:a="http://schemas.openxmlformats.org/drawingml/2006/main">
            <a:off x="857250" y="4943475"/>
            <a:ext cx="190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8" name="">
            <a:extLst xmlns:a="http://schemas.openxmlformats.org/drawingml/2006/main">
              <a:ext uri="{FF2B5EF4-FFF2-40B4-BE49-F238E27FC236}">
                <a16:creationId xmlns:a16="http://schemas.microsoft.com/office/drawing/2014/main" id="{7085BEBB-C100-4F28-91C7-000EF30707C1}"/>
              </a:ext>
            </a:extLst>
          </p:cNvPr>
          <p:cNvSpPr>
            <a:spLocks xmlns:a="http://schemas.openxmlformats.org/drawingml/2006/main" noGrp="1"/>
          </p:cNvSpPr>
          <p:nvPr/>
        </p:nvSpPr>
        <p:spPr>
          <a:xfrm xmlns:a="http://schemas.openxmlformats.org/drawingml/2006/main">
            <a:off x="952500" y="50196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Text</a:t>
            </a:r>
          </a:p>
        </p:txBody>
      </p:sp>
      <p:sp>
        <p:nvSpPr>
          <p:cNvPr id="39" name="">
            <a:extLst xmlns:a="http://schemas.openxmlformats.org/drawingml/2006/main">
              <a:ext uri="{FF2B5EF4-FFF2-40B4-BE49-F238E27FC236}">
                <a16:creationId xmlns:a16="http://schemas.microsoft.com/office/drawing/2014/main" id="{DA727A62-5DEE-4F82-8409-CE1E752C3079}"/>
              </a:ext>
            </a:extLst>
          </p:cNvPr>
          <p:cNvSpPr>
            <a:spLocks xmlns:a="http://schemas.openxmlformats.org/drawingml/2006/main" noGrp="1"/>
          </p:cNvSpPr>
          <p:nvPr/>
        </p:nvSpPr>
        <p:spPr>
          <a:xfrm xmlns:a="http://schemas.openxmlformats.org/drawingml/2006/main">
            <a:off x="2762250" y="4943475"/>
            <a:ext cx="3333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0" name="">
            <a:extLst xmlns:a="http://schemas.openxmlformats.org/drawingml/2006/main">
              <a:ext uri="{FF2B5EF4-FFF2-40B4-BE49-F238E27FC236}">
                <a16:creationId xmlns:a16="http://schemas.microsoft.com/office/drawing/2014/main" id="{C5136B53-CCE8-421F-B5BD-A7342A045CB9}"/>
              </a:ext>
            </a:extLst>
          </p:cNvPr>
          <p:cNvSpPr>
            <a:spLocks xmlns:a="http://schemas.openxmlformats.org/drawingml/2006/main" noGrp="1"/>
          </p:cNvSpPr>
          <p:nvPr/>
        </p:nvSpPr>
        <p:spPr>
          <a:xfrm xmlns:a="http://schemas.openxmlformats.org/drawingml/2006/main">
            <a:off x="2857500" y="50196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spaCy/Stanza + sentence-transformers</a:t>
            </a:r>
          </a:p>
        </p:txBody>
      </p:sp>
      <p:sp>
        <p:nvSpPr>
          <p:cNvPr id="41" name="">
            <a:extLst xmlns:a="http://schemas.openxmlformats.org/drawingml/2006/main">
              <a:ext uri="{FF2B5EF4-FFF2-40B4-BE49-F238E27FC236}">
                <a16:creationId xmlns:a16="http://schemas.microsoft.com/office/drawing/2014/main" id="{E725991C-954D-4D8E-82D7-0FF43928C423}"/>
              </a:ext>
            </a:extLst>
          </p:cNvPr>
          <p:cNvSpPr>
            <a:spLocks xmlns:a="http://schemas.openxmlformats.org/drawingml/2006/main" noGrp="1"/>
          </p:cNvSpPr>
          <p:nvPr/>
        </p:nvSpPr>
        <p:spPr>
          <a:xfrm xmlns:a="http://schemas.openxmlformats.org/drawingml/2006/main">
            <a:off x="6096000" y="4943475"/>
            <a:ext cx="523875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2" name="">
            <a:extLst xmlns:a="http://schemas.openxmlformats.org/drawingml/2006/main">
              <a:ext uri="{FF2B5EF4-FFF2-40B4-BE49-F238E27FC236}">
                <a16:creationId xmlns:a16="http://schemas.microsoft.com/office/drawing/2014/main" id="{6F19B1EB-1C7B-46F2-8494-FBDCAB35EAC6}"/>
              </a:ext>
            </a:extLst>
          </p:cNvPr>
          <p:cNvSpPr>
            <a:spLocks xmlns:a="http://schemas.openxmlformats.org/drawingml/2006/main" noGrp="1"/>
          </p:cNvSpPr>
          <p:nvPr/>
        </p:nvSpPr>
        <p:spPr>
          <a:xfrm xmlns:a="http://schemas.openxmlformats.org/drawingml/2006/main">
            <a:off x="6191250" y="50196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Cấu trúc, lỗi, coherence và relevance</a:t>
            </a:r>
          </a:p>
        </p:txBody>
      </p:sp>
      <p:sp>
        <p:nvSpPr>
          <p:cNvPr id="43" name="">
            <a:extLst xmlns:a="http://schemas.openxmlformats.org/drawingml/2006/main">
              <a:ext uri="{FF2B5EF4-FFF2-40B4-BE49-F238E27FC236}">
                <a16:creationId xmlns:a16="http://schemas.microsoft.com/office/drawing/2014/main" id="{79ECF837-8167-4E41-A471-FB218334BD0B}"/>
              </a:ext>
            </a:extLst>
          </p:cNvPr>
          <p:cNvSpPr>
            <a:spLocks xmlns:a="http://schemas.openxmlformats.org/drawingml/2006/main" noGrp="1"/>
          </p:cNvSpPr>
          <p:nvPr/>
        </p:nvSpPr>
        <p:spPr>
          <a:xfrm xmlns:a="http://schemas.openxmlformats.org/drawingml/2006/main">
            <a:off x="857250" y="5553075"/>
            <a:ext cx="190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4" name="">
            <a:extLst xmlns:a="http://schemas.openxmlformats.org/drawingml/2006/main">
              <a:ext uri="{FF2B5EF4-FFF2-40B4-BE49-F238E27FC236}">
                <a16:creationId xmlns:a16="http://schemas.microsoft.com/office/drawing/2014/main" id="{B1CC5E33-A02E-4D8C-9007-493835C14100}"/>
              </a:ext>
            </a:extLst>
          </p:cNvPr>
          <p:cNvSpPr>
            <a:spLocks xmlns:a="http://schemas.openxmlformats.org/drawingml/2006/main" noGrp="1"/>
          </p:cNvSpPr>
          <p:nvPr/>
        </p:nvSpPr>
        <p:spPr>
          <a:xfrm xmlns:a="http://schemas.openxmlformats.org/drawingml/2006/main">
            <a:off x="952500" y="5629275"/>
            <a:ext cx="171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Model</a:t>
            </a:r>
          </a:p>
        </p:txBody>
      </p:sp>
      <p:sp>
        <p:nvSpPr>
          <p:cNvPr id="45" name="">
            <a:extLst xmlns:a="http://schemas.openxmlformats.org/drawingml/2006/main">
              <a:ext uri="{FF2B5EF4-FFF2-40B4-BE49-F238E27FC236}">
                <a16:creationId xmlns:a16="http://schemas.microsoft.com/office/drawing/2014/main" id="{62F478BD-3E96-427F-B773-BD1141ED4993}"/>
              </a:ext>
            </a:extLst>
          </p:cNvPr>
          <p:cNvSpPr>
            <a:spLocks xmlns:a="http://schemas.openxmlformats.org/drawingml/2006/main" noGrp="1"/>
          </p:cNvSpPr>
          <p:nvPr/>
        </p:nvSpPr>
        <p:spPr>
          <a:xfrm xmlns:a="http://schemas.openxmlformats.org/drawingml/2006/main">
            <a:off x="2762250" y="5553075"/>
            <a:ext cx="3333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6" name="">
            <a:extLst xmlns:a="http://schemas.openxmlformats.org/drawingml/2006/main">
              <a:ext uri="{FF2B5EF4-FFF2-40B4-BE49-F238E27FC236}">
                <a16:creationId xmlns:a16="http://schemas.microsoft.com/office/drawing/2014/main" id="{A7AC4779-80E8-4BB2-80F8-8E12E27DAB3B}"/>
              </a:ext>
            </a:extLst>
          </p:cNvPr>
          <p:cNvSpPr>
            <a:spLocks xmlns:a="http://schemas.openxmlformats.org/drawingml/2006/main" noGrp="1"/>
          </p:cNvSpPr>
          <p:nvPr/>
        </p:nvSpPr>
        <p:spPr>
          <a:xfrm xmlns:a="http://schemas.openxmlformats.org/drawingml/2006/main">
            <a:off x="2857500" y="5629275"/>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scikit-learn / PyTorch + calibration</a:t>
            </a:r>
          </a:p>
        </p:txBody>
      </p:sp>
      <p:sp>
        <p:nvSpPr>
          <p:cNvPr id="47" name="">
            <a:extLst xmlns:a="http://schemas.openxmlformats.org/drawingml/2006/main">
              <a:ext uri="{FF2B5EF4-FFF2-40B4-BE49-F238E27FC236}">
                <a16:creationId xmlns:a16="http://schemas.microsoft.com/office/drawing/2014/main" id="{9A6D4BD5-D2A2-4F8F-8A6B-3B9DB6F9AEB2}"/>
              </a:ext>
            </a:extLst>
          </p:cNvPr>
          <p:cNvSpPr>
            <a:spLocks xmlns:a="http://schemas.openxmlformats.org/drawingml/2006/main" noGrp="1"/>
          </p:cNvSpPr>
          <p:nvPr/>
        </p:nvSpPr>
        <p:spPr>
          <a:xfrm xmlns:a="http://schemas.openxmlformats.org/drawingml/2006/main">
            <a:off x="6096000" y="5553075"/>
            <a:ext cx="523875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8" name="">
            <a:extLst xmlns:a="http://schemas.openxmlformats.org/drawingml/2006/main">
              <a:ext uri="{FF2B5EF4-FFF2-40B4-BE49-F238E27FC236}">
                <a16:creationId xmlns:a16="http://schemas.microsoft.com/office/drawing/2014/main" id="{FB6D91EB-B603-4E7C-9AE9-B76396857744}"/>
              </a:ext>
            </a:extLst>
          </p:cNvPr>
          <p:cNvSpPr>
            <a:spLocks xmlns:a="http://schemas.openxmlformats.org/drawingml/2006/main" noGrp="1"/>
          </p:cNvSpPr>
          <p:nvPr/>
        </p:nvSpPr>
        <p:spPr>
          <a:xfrm xmlns:a="http://schemas.openxmlformats.org/drawingml/2006/main">
            <a:off x="6191250" y="5629275"/>
            <a:ext cx="504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Baseline rõ, late fusion và thí nghiệm lặp lại</a:t>
            </a:r>
          </a:p>
        </p:txBody>
      </p:sp>
    </p:spTree>
    <p:extLst>
      <p:ext uri="{BB962C8B-B14F-4D97-AF65-F5344CB8AC3E}">
        <p14:creationId xmlns:p14="http://schemas.microsoft.com/office/powerpoint/2010/main" val="745503042"/>
      </p:ext>
    </p:extLst>
  </p:cSld>
</p:sld>
</file>

<file path=ppt/slides/slide3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273DB8D-BAA1-4E01-9A55-DA935DD04129}"/>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PHÁP LÝ VÀ ĐẠO ĐỨC</a:t>
            </a:r>
          </a:p>
        </p:txBody>
      </p:sp>
      <p:sp>
        <p:nvSpPr>
          <p:cNvPr id="2" name="">
            <a:extLst xmlns:a="http://schemas.openxmlformats.org/drawingml/2006/main">
              <a:ext uri="{FF2B5EF4-FFF2-40B4-BE49-F238E27FC236}">
                <a16:creationId xmlns:a16="http://schemas.microsoft.com/office/drawing/2014/main" id="{73186894-6EBB-45E4-A597-62FE51DEC4E4}"/>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Giọng nói là dữ liệu cá nhân; thiết kế an toàn phải có ngay từ lúc thu</a:t>
            </a:r>
          </a:p>
        </p:txBody>
      </p:sp>
      <p:sp>
        <p:nvSpPr>
          <p:cNvPr id="3" name="">
            <a:extLst xmlns:a="http://schemas.openxmlformats.org/drawingml/2006/main">
              <a:ext uri="{FF2B5EF4-FFF2-40B4-BE49-F238E27FC236}">
                <a16:creationId xmlns:a16="http://schemas.microsoft.com/office/drawing/2014/main" id="{72A23493-8C60-41DF-B528-8F1639FF17DD}"/>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Mục tiêu là tối thiểu hóa dữ liệu, giới hạn mục đích và giữ người thật trong vòng quyết định.</a:t>
            </a:r>
          </a:p>
        </p:txBody>
      </p:sp>
      <p:sp>
        <p:nvSpPr>
          <p:cNvPr id="4" name="">
            <a:extLst xmlns:a="http://schemas.openxmlformats.org/drawingml/2006/main">
              <a:ext uri="{FF2B5EF4-FFF2-40B4-BE49-F238E27FC236}">
                <a16:creationId xmlns:a16="http://schemas.microsoft.com/office/drawing/2014/main" id="{53B82202-43EB-48B5-97B5-D0AFB100618C}"/>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E761291-1326-4D66-BF39-D96AEEB01F04}"/>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ĐẠO ĐỨC</a:t>
            </a:r>
          </a:p>
        </p:txBody>
      </p:sp>
      <p:sp>
        <p:nvSpPr>
          <p:cNvPr id="6" name="">
            <a:extLst xmlns:a="http://schemas.openxmlformats.org/drawingml/2006/main">
              <a:ext uri="{FF2B5EF4-FFF2-40B4-BE49-F238E27FC236}">
                <a16:creationId xmlns:a16="http://schemas.microsoft.com/office/drawing/2014/main" id="{0A127B4F-A315-47DB-8D8E-EB91BB8BFC80}"/>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33</a:t>
            </a:r>
          </a:p>
        </p:txBody>
      </p:sp>
      <p:sp>
        <p:nvSpPr>
          <p:cNvPr id="7" name="">
            <a:extLst xmlns:a="http://schemas.openxmlformats.org/drawingml/2006/main">
              <a:ext uri="{FF2B5EF4-FFF2-40B4-BE49-F238E27FC236}">
                <a16:creationId xmlns:a16="http://schemas.microsoft.com/office/drawing/2014/main" id="{32E4CD37-3BCC-4431-A82A-82EEEBCA45D4}"/>
              </a:ext>
            </a:extLst>
          </p:cNvPr>
          <p:cNvSpPr>
            <a:spLocks xmlns:a="http://schemas.openxmlformats.org/drawingml/2006/main" noGrp="1"/>
          </p:cNvSpPr>
          <p:nvPr/>
        </p:nvSpPr>
        <p:spPr>
          <a:xfrm xmlns:a="http://schemas.openxmlformats.org/drawingml/2006/main">
            <a:off x="666750" y="2095500"/>
            <a:ext cx="314325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0B872C7-EE4F-463C-87D0-D9A546478016}"/>
              </a:ext>
            </a:extLst>
          </p:cNvPr>
          <p:cNvSpPr>
            <a:spLocks xmlns:a="http://schemas.openxmlformats.org/drawingml/2006/main" noGrp="1"/>
          </p:cNvSpPr>
          <p:nvPr/>
        </p:nvSpPr>
        <p:spPr>
          <a:xfrm xmlns:a="http://schemas.openxmlformats.org/drawingml/2006/main">
            <a:off x="666750" y="2266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Trước khi thu</a:t>
            </a:r>
          </a:p>
        </p:txBody>
      </p:sp>
      <p:sp>
        <p:nvSpPr>
          <p:cNvPr id="9" name="">
            <a:extLst xmlns:a="http://schemas.openxmlformats.org/drawingml/2006/main">
              <a:ext uri="{FF2B5EF4-FFF2-40B4-BE49-F238E27FC236}">
                <a16:creationId xmlns:a16="http://schemas.microsoft.com/office/drawing/2014/main" id="{D8DC7C9A-60DF-445D-A5CC-51731CD18156}"/>
              </a:ext>
            </a:extLst>
          </p:cNvPr>
          <p:cNvSpPr>
            <a:spLocks xmlns:a="http://schemas.openxmlformats.org/drawingml/2006/main" noGrp="1"/>
          </p:cNvSpPr>
          <p:nvPr/>
        </p:nvSpPr>
        <p:spPr>
          <a:xfrm xmlns:a="http://schemas.openxmlformats.org/drawingml/2006/main">
            <a:off x="666750" y="283845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Consent rõ mục đích</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Người tham gia 18+</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Quyền từ chối/rút lui</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Mô tả thời gian lưu</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Không gắn tham gia với điểm học phần</a:t>
            </a:r>
          </a:p>
        </p:txBody>
      </p:sp>
      <p:sp>
        <p:nvSpPr>
          <p:cNvPr id="10" name="">
            <a:extLst xmlns:a="http://schemas.openxmlformats.org/drawingml/2006/main">
              <a:ext uri="{FF2B5EF4-FFF2-40B4-BE49-F238E27FC236}">
                <a16:creationId xmlns:a16="http://schemas.microsoft.com/office/drawing/2014/main" id="{E1C3F97F-7F12-4716-AEEE-BC4BB309A4ED}"/>
              </a:ext>
            </a:extLst>
          </p:cNvPr>
          <p:cNvSpPr>
            <a:spLocks xmlns:a="http://schemas.openxmlformats.org/drawingml/2006/main" noGrp="1"/>
          </p:cNvSpPr>
          <p:nvPr/>
        </p:nvSpPr>
        <p:spPr>
          <a:xfrm xmlns:a="http://schemas.openxmlformats.org/drawingml/2006/main">
            <a:off x="4524375" y="2095500"/>
            <a:ext cx="314325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87A74DD-89F6-4938-BD2B-ADFECFFCC781}"/>
              </a:ext>
            </a:extLst>
          </p:cNvPr>
          <p:cNvSpPr>
            <a:spLocks xmlns:a="http://schemas.openxmlformats.org/drawingml/2006/main" noGrp="1"/>
          </p:cNvSpPr>
          <p:nvPr/>
        </p:nvSpPr>
        <p:spPr>
          <a:xfrm xmlns:a="http://schemas.openxmlformats.org/drawingml/2006/main">
            <a:off x="4524375" y="2266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Trong khi xử lý</a:t>
            </a:r>
          </a:p>
        </p:txBody>
      </p:sp>
      <p:sp>
        <p:nvSpPr>
          <p:cNvPr id="12" name="">
            <a:extLst xmlns:a="http://schemas.openxmlformats.org/drawingml/2006/main">
              <a:ext uri="{FF2B5EF4-FFF2-40B4-BE49-F238E27FC236}">
                <a16:creationId xmlns:a16="http://schemas.microsoft.com/office/drawing/2014/main" id="{3A4BB7A6-FA36-4DF5-A64E-068C05002276}"/>
              </a:ext>
            </a:extLst>
          </p:cNvPr>
          <p:cNvSpPr>
            <a:spLocks xmlns:a="http://schemas.openxmlformats.org/drawingml/2006/main" noGrp="1"/>
          </p:cNvSpPr>
          <p:nvPr/>
        </p:nvSpPr>
        <p:spPr>
          <a:xfrm xmlns:a="http://schemas.openxmlformats.org/drawingml/2006/main">
            <a:off x="4524375" y="283845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Pseudonymization</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Mã hóa khi lưu/truyền</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Phân quyền truy cập</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Local-first</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Log truy cập và phiên bản</a:t>
            </a:r>
          </a:p>
        </p:txBody>
      </p:sp>
      <p:sp>
        <p:nvSpPr>
          <p:cNvPr id="13" name="">
            <a:extLst xmlns:a="http://schemas.openxmlformats.org/drawingml/2006/main">
              <a:ext uri="{FF2B5EF4-FFF2-40B4-BE49-F238E27FC236}">
                <a16:creationId xmlns:a16="http://schemas.microsoft.com/office/drawing/2014/main" id="{DBA5AC91-4E07-4E21-90A4-073806609CF3}"/>
              </a:ext>
            </a:extLst>
          </p:cNvPr>
          <p:cNvSpPr>
            <a:spLocks xmlns:a="http://schemas.openxmlformats.org/drawingml/2006/main" noGrp="1"/>
          </p:cNvSpPr>
          <p:nvPr/>
        </p:nvSpPr>
        <p:spPr>
          <a:xfrm xmlns:a="http://schemas.openxmlformats.org/drawingml/2006/main">
            <a:off x="8382000" y="2095500"/>
            <a:ext cx="3143250" cy="4762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0043C36-6896-4CAB-85C8-AD22EA3FE86C}"/>
              </a:ext>
            </a:extLst>
          </p:cNvPr>
          <p:cNvSpPr>
            <a:spLocks xmlns:a="http://schemas.openxmlformats.org/drawingml/2006/main" noGrp="1"/>
          </p:cNvSpPr>
          <p:nvPr/>
        </p:nvSpPr>
        <p:spPr>
          <a:xfrm xmlns:a="http://schemas.openxmlformats.org/drawingml/2006/main">
            <a:off x="8382000" y="22669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B43D3D"/>
                </a:solidFill>
                <a:latin typeface="Aptos"/>
                <a:ea typeface="Aptos"/>
                <a:cs typeface="Aptos"/>
              </a:defRPr>
            </a:pPr>
            <a:r>
              <a:rPr sz="1875" b="1" i="0">
                <a:solidFill>
                  <a:srgbClr val="B43D3D"/>
                </a:solidFill>
                <a:latin typeface="Aptos"/>
                <a:ea typeface="Aptos"/>
                <a:cs typeface="Aptos"/>
              </a:rPr>
              <a:t>Khi báo cáo</a:t>
            </a:r>
          </a:p>
        </p:txBody>
      </p:sp>
      <p:sp>
        <p:nvSpPr>
          <p:cNvPr id="15" name="">
            <a:extLst xmlns:a="http://schemas.openxmlformats.org/drawingml/2006/main">
              <a:ext uri="{FF2B5EF4-FFF2-40B4-BE49-F238E27FC236}">
                <a16:creationId xmlns:a16="http://schemas.microsoft.com/office/drawing/2014/main" id="{ACC4986E-A311-449E-94C4-25D9A3F618FB}"/>
              </a:ext>
            </a:extLst>
          </p:cNvPr>
          <p:cNvSpPr>
            <a:spLocks xmlns:a="http://schemas.openxmlformats.org/drawingml/2006/main" noGrp="1"/>
          </p:cNvSpPr>
          <p:nvPr/>
        </p:nvSpPr>
        <p:spPr>
          <a:xfrm xmlns:a="http://schemas.openxmlformats.org/drawingml/2006/main">
            <a:off x="8382000" y="2838450"/>
            <a:ext cx="3143250" cy="2114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Không suy luận cảm xúc/giới tính</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Không xếp hạng công khai</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Nêu uncertainty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Cho phép giảng viên sửa</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Xóa dữ liệu theo chính sách</a:t>
            </a:r>
          </a:p>
        </p:txBody>
      </p:sp>
      <p:sp>
        <p:nvSpPr>
          <p:cNvPr id="16" name="">
            <a:extLst xmlns:a="http://schemas.openxmlformats.org/drawingml/2006/main">
              <a:ext uri="{FF2B5EF4-FFF2-40B4-BE49-F238E27FC236}">
                <a16:creationId xmlns:a16="http://schemas.microsoft.com/office/drawing/2014/main" id="{B926485A-9BCF-4F4D-BB01-C80C16DA1F35}"/>
              </a:ext>
            </a:extLst>
          </p:cNvPr>
          <p:cNvSpPr>
            <a:spLocks xmlns:a="http://schemas.openxmlformats.org/drawingml/2006/main" noGrp="1"/>
          </p:cNvSpPr>
          <p:nvPr/>
        </p:nvSpPr>
        <p:spPr>
          <a:xfrm xmlns:a="http://schemas.openxmlformats.org/drawingml/2006/main">
            <a:off x="1476375" y="5286375"/>
            <a:ext cx="9239250" cy="666750"/>
          </a:xfrm>
          <a:prstGeom xmlns:a="http://schemas.openxmlformats.org/drawingml/2006/main" prst="roundRect">
            <a:avLst>
              <a:gd name="adj" fmla="val 8571"/>
            </a:avLst>
          </a:prstGeom>
          <a:solidFill xmlns:a="http://schemas.openxmlformats.org/drawingml/2006/main">
            <a:srgbClr val="FFF2D5"/>
          </a:solidFill>
          <a:ln xmlns:a="http://schemas.openxmlformats.org/drawingml/2006/main" w="9525">
            <a:solidFill>
              <a:srgbClr val="A96500"/>
            </a:solidFill>
            <a:prstDash val="solid"/>
          </a:ln>
        </p:spPr>
      </p:sp>
      <p:sp>
        <p:nvSpPr>
          <p:cNvPr id="17" name="">
            <a:extLst xmlns:a="http://schemas.openxmlformats.org/drawingml/2006/main">
              <a:ext uri="{FF2B5EF4-FFF2-40B4-BE49-F238E27FC236}">
                <a16:creationId xmlns:a16="http://schemas.microsoft.com/office/drawing/2014/main" id="{758F819C-95B9-43C9-B0FD-926850255791}"/>
              </a:ext>
            </a:extLst>
          </p:cNvPr>
          <p:cNvSpPr>
            <a:spLocks xmlns:a="http://schemas.openxmlformats.org/drawingml/2006/main" noGrp="1"/>
          </p:cNvSpPr>
          <p:nvPr/>
        </p:nvSpPr>
        <p:spPr>
          <a:xfrm xmlns:a="http://schemas.openxmlformats.org/drawingml/2006/main">
            <a:off x="1666875" y="5419725"/>
            <a:ext cx="885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i="0">
                <a:solidFill>
                  <a:srgbClr val="A96500"/>
                </a:solidFill>
                <a:latin typeface="Aptos"/>
                <a:ea typeface="Aptos"/>
                <a:cs typeface="Aptos"/>
              </a:defRPr>
            </a:pPr>
            <a:r>
              <a:rPr sz="1500" b="1" i="0">
                <a:solidFill>
                  <a:srgbClr val="A96500"/>
                </a:solidFill>
                <a:latin typeface="Aptos"/>
                <a:ea typeface="Aptos"/>
                <a:cs typeface="Aptos"/>
              </a:rPr>
              <a:t>Fairness không phải “mọi nhóm cùng điểm”, mà là lỗi mô hình không tăng vô lý do accent, noise hoặc thiết bị.</a:t>
            </a:r>
          </a:p>
        </p:txBody>
      </p:sp>
    </p:spTree>
    <p:extLst>
      <p:ext uri="{BB962C8B-B14F-4D97-AF65-F5344CB8AC3E}">
        <p14:creationId xmlns:p14="http://schemas.microsoft.com/office/powerpoint/2010/main" val="34063025"/>
      </p:ext>
    </p:extLst>
  </p:cSld>
</p:sld>
</file>

<file path=ppt/slides/slide3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AA322290-ABD4-4923-BA45-80674A5BB8F6}"/>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KẾ HOẠCH 10 TUẦN • PHẦN 1</a:t>
            </a:r>
          </a:p>
        </p:txBody>
      </p:sp>
      <p:sp>
        <p:nvSpPr>
          <p:cNvPr id="2" name="">
            <a:extLst xmlns:a="http://schemas.openxmlformats.org/drawingml/2006/main">
              <a:ext uri="{FF2B5EF4-FFF2-40B4-BE49-F238E27FC236}">
                <a16:creationId xmlns:a16="http://schemas.microsoft.com/office/drawing/2014/main" id="{109BD29B-B90B-432E-AD3B-618130A7BC35}"/>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Tuần 1–5: chốt construct trước, thu dữ liệu sau</a:t>
            </a:r>
          </a:p>
        </p:txBody>
      </p:sp>
      <p:sp>
        <p:nvSpPr>
          <p:cNvPr id="3" name="">
            <a:extLst xmlns:a="http://schemas.openxmlformats.org/drawingml/2006/main">
              <a:ext uri="{FF2B5EF4-FFF2-40B4-BE49-F238E27FC236}">
                <a16:creationId xmlns:a16="http://schemas.microsoft.com/office/drawing/2014/main" id="{85FA550F-8F65-421B-9264-A16D90C67683}"/>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tuần có một cổng nghiệm thu; nếu trễ, cắt tính năng chứ không bỏ kiểm định.</a:t>
            </a:r>
          </a:p>
        </p:txBody>
      </p:sp>
      <p:sp>
        <p:nvSpPr>
          <p:cNvPr id="4" name="">
            <a:extLst xmlns:a="http://schemas.openxmlformats.org/drawingml/2006/main">
              <a:ext uri="{FF2B5EF4-FFF2-40B4-BE49-F238E27FC236}">
                <a16:creationId xmlns:a16="http://schemas.microsoft.com/office/drawing/2014/main" id="{F844352B-EF92-4096-906C-A450DAD3BD35}"/>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B82A07A-7C61-4242-99B4-E86B389CC229}"/>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KẾ HOẠCH</a:t>
            </a:r>
          </a:p>
        </p:txBody>
      </p:sp>
      <p:sp>
        <p:nvSpPr>
          <p:cNvPr id="6" name="">
            <a:extLst xmlns:a="http://schemas.openxmlformats.org/drawingml/2006/main">
              <a:ext uri="{FF2B5EF4-FFF2-40B4-BE49-F238E27FC236}">
                <a16:creationId xmlns:a16="http://schemas.microsoft.com/office/drawing/2014/main" id="{E4E58D5B-DE5A-4100-B4C8-EF11F4FBD0D6}"/>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34</a:t>
            </a:r>
          </a:p>
        </p:txBody>
      </p:sp>
      <p:sp>
        <p:nvSpPr>
          <p:cNvPr id="7" name="">
            <a:extLst xmlns:a="http://schemas.openxmlformats.org/drawingml/2006/main">
              <a:ext uri="{FF2B5EF4-FFF2-40B4-BE49-F238E27FC236}">
                <a16:creationId xmlns:a16="http://schemas.microsoft.com/office/drawing/2014/main" id="{03BC2BB5-CA2F-4836-906A-ECCD7456BBB2}"/>
              </a:ext>
            </a:extLst>
          </p:cNvPr>
          <p:cNvSpPr>
            <a:spLocks xmlns:a="http://schemas.openxmlformats.org/drawingml/2006/main" noGrp="1"/>
          </p:cNvSpPr>
          <p:nvPr/>
        </p:nvSpPr>
        <p:spPr>
          <a:xfrm xmlns:a="http://schemas.openxmlformats.org/drawingml/2006/main">
            <a:off x="552450" y="2047875"/>
            <a:ext cx="9048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7BD7BAC8-444C-4B87-9656-8A79B5804099}"/>
              </a:ext>
            </a:extLst>
          </p:cNvPr>
          <p:cNvSpPr>
            <a:spLocks xmlns:a="http://schemas.openxmlformats.org/drawingml/2006/main" noGrp="1"/>
          </p:cNvSpPr>
          <p:nvPr/>
        </p:nvSpPr>
        <p:spPr>
          <a:xfrm xmlns:a="http://schemas.openxmlformats.org/drawingml/2006/main">
            <a:off x="647700" y="2143125"/>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Tuần</a:t>
            </a:r>
          </a:p>
        </p:txBody>
      </p:sp>
      <p:sp>
        <p:nvSpPr>
          <p:cNvPr id="9" name="">
            <a:extLst xmlns:a="http://schemas.openxmlformats.org/drawingml/2006/main">
              <a:ext uri="{FF2B5EF4-FFF2-40B4-BE49-F238E27FC236}">
                <a16:creationId xmlns:a16="http://schemas.microsoft.com/office/drawing/2014/main" id="{5E1FCB0A-9DC0-43F4-9E6B-29296F64955A}"/>
              </a:ext>
            </a:extLst>
          </p:cNvPr>
          <p:cNvSpPr>
            <a:spLocks xmlns:a="http://schemas.openxmlformats.org/drawingml/2006/main" noGrp="1"/>
          </p:cNvSpPr>
          <p:nvPr/>
        </p:nvSpPr>
        <p:spPr>
          <a:xfrm xmlns:a="http://schemas.openxmlformats.org/drawingml/2006/main">
            <a:off x="1457325" y="2047875"/>
            <a:ext cx="22383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EDDA9D49-6297-4304-9E13-08746239E23B}"/>
              </a:ext>
            </a:extLst>
          </p:cNvPr>
          <p:cNvSpPr>
            <a:spLocks xmlns:a="http://schemas.openxmlformats.org/drawingml/2006/main" noGrp="1"/>
          </p:cNvSpPr>
          <p:nvPr/>
        </p:nvSpPr>
        <p:spPr>
          <a:xfrm xmlns:a="http://schemas.openxmlformats.org/drawingml/2006/main">
            <a:off x="1552575" y="214312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Trọng tâm</a:t>
            </a:r>
          </a:p>
        </p:txBody>
      </p:sp>
      <p:sp>
        <p:nvSpPr>
          <p:cNvPr id="11" name="">
            <a:extLst xmlns:a="http://schemas.openxmlformats.org/drawingml/2006/main">
              <a:ext uri="{FF2B5EF4-FFF2-40B4-BE49-F238E27FC236}">
                <a16:creationId xmlns:a16="http://schemas.microsoft.com/office/drawing/2014/main" id="{833F47E2-2E1F-417C-8D58-84BF39B579E8}"/>
              </a:ext>
            </a:extLst>
          </p:cNvPr>
          <p:cNvSpPr>
            <a:spLocks xmlns:a="http://schemas.openxmlformats.org/drawingml/2006/main" noGrp="1"/>
          </p:cNvSpPr>
          <p:nvPr/>
        </p:nvSpPr>
        <p:spPr>
          <a:xfrm xmlns:a="http://schemas.openxmlformats.org/drawingml/2006/main">
            <a:off x="3695700" y="2047875"/>
            <a:ext cx="5715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739A8F35-DB01-4313-B40E-F00E7184D082}"/>
              </a:ext>
            </a:extLst>
          </p:cNvPr>
          <p:cNvSpPr>
            <a:spLocks xmlns:a="http://schemas.openxmlformats.org/drawingml/2006/main" noGrp="1"/>
          </p:cNvSpPr>
          <p:nvPr/>
        </p:nvSpPr>
        <p:spPr>
          <a:xfrm xmlns:a="http://schemas.openxmlformats.org/drawingml/2006/main">
            <a:off x="3790950" y="214312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Việc phải hoàn thành</a:t>
            </a:r>
          </a:p>
        </p:txBody>
      </p:sp>
      <p:sp>
        <p:nvSpPr>
          <p:cNvPr id="13" name="">
            <a:extLst xmlns:a="http://schemas.openxmlformats.org/drawingml/2006/main">
              <a:ext uri="{FF2B5EF4-FFF2-40B4-BE49-F238E27FC236}">
                <a16:creationId xmlns:a16="http://schemas.microsoft.com/office/drawing/2014/main" id="{FDB60627-EABB-47B7-A59D-664F995682F8}"/>
              </a:ext>
            </a:extLst>
          </p:cNvPr>
          <p:cNvSpPr>
            <a:spLocks xmlns:a="http://schemas.openxmlformats.org/drawingml/2006/main" noGrp="1"/>
          </p:cNvSpPr>
          <p:nvPr/>
        </p:nvSpPr>
        <p:spPr>
          <a:xfrm xmlns:a="http://schemas.openxmlformats.org/drawingml/2006/main">
            <a:off x="9410700" y="2047875"/>
            <a:ext cx="22383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347744E7-547A-4B1A-9403-E0EB18FA01D2}"/>
              </a:ext>
            </a:extLst>
          </p:cNvPr>
          <p:cNvSpPr>
            <a:spLocks xmlns:a="http://schemas.openxmlformats.org/drawingml/2006/main" noGrp="1"/>
          </p:cNvSpPr>
          <p:nvPr/>
        </p:nvSpPr>
        <p:spPr>
          <a:xfrm xmlns:a="http://schemas.openxmlformats.org/drawingml/2006/main">
            <a:off x="9505950" y="214312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Cổng</a:t>
            </a:r>
          </a:p>
        </p:txBody>
      </p:sp>
      <p:sp>
        <p:nvSpPr>
          <p:cNvPr id="15" name="">
            <a:extLst xmlns:a="http://schemas.openxmlformats.org/drawingml/2006/main">
              <a:ext uri="{FF2B5EF4-FFF2-40B4-BE49-F238E27FC236}">
                <a16:creationId xmlns:a16="http://schemas.microsoft.com/office/drawing/2014/main" id="{8E71163B-C144-4B7F-91A7-5A119576C01B}"/>
              </a:ext>
            </a:extLst>
          </p:cNvPr>
          <p:cNvSpPr>
            <a:spLocks xmlns:a="http://schemas.openxmlformats.org/drawingml/2006/main" noGrp="1"/>
          </p:cNvSpPr>
          <p:nvPr/>
        </p:nvSpPr>
        <p:spPr>
          <a:xfrm xmlns:a="http://schemas.openxmlformats.org/drawingml/2006/main">
            <a:off x="552450" y="25050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D196CEB6-FD47-47C7-9CD7-18EA61D4C481}"/>
              </a:ext>
            </a:extLst>
          </p:cNvPr>
          <p:cNvSpPr>
            <a:spLocks xmlns:a="http://schemas.openxmlformats.org/drawingml/2006/main" noGrp="1"/>
          </p:cNvSpPr>
          <p:nvPr/>
        </p:nvSpPr>
        <p:spPr>
          <a:xfrm xmlns:a="http://schemas.openxmlformats.org/drawingml/2006/main">
            <a:off x="647700" y="25812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W1</a:t>
            </a:r>
          </a:p>
        </p:txBody>
      </p:sp>
      <p:sp>
        <p:nvSpPr>
          <p:cNvPr id="17" name="">
            <a:extLst xmlns:a="http://schemas.openxmlformats.org/drawingml/2006/main">
              <a:ext uri="{FF2B5EF4-FFF2-40B4-BE49-F238E27FC236}">
                <a16:creationId xmlns:a16="http://schemas.microsoft.com/office/drawing/2014/main" id="{7AD31CC3-9044-43E8-A100-A7A1D2255ED6}"/>
              </a:ext>
            </a:extLst>
          </p:cNvPr>
          <p:cNvSpPr>
            <a:spLocks xmlns:a="http://schemas.openxmlformats.org/drawingml/2006/main" noGrp="1"/>
          </p:cNvSpPr>
          <p:nvPr/>
        </p:nvSpPr>
        <p:spPr>
          <a:xfrm xmlns:a="http://schemas.openxmlformats.org/drawingml/2006/main">
            <a:off x="1457325" y="25050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312017CB-F828-4EA8-8162-ADE59967EDD3}"/>
              </a:ext>
            </a:extLst>
          </p:cNvPr>
          <p:cNvSpPr>
            <a:spLocks xmlns:a="http://schemas.openxmlformats.org/drawingml/2006/main" noGrp="1"/>
          </p:cNvSpPr>
          <p:nvPr/>
        </p:nvSpPr>
        <p:spPr>
          <a:xfrm xmlns:a="http://schemas.openxmlformats.org/drawingml/2006/main">
            <a:off x="1552575" y="25812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Scope + CEFR + pháp lý</a:t>
            </a:r>
          </a:p>
        </p:txBody>
      </p:sp>
      <p:sp>
        <p:nvSpPr>
          <p:cNvPr id="19" name="">
            <a:extLst xmlns:a="http://schemas.openxmlformats.org/drawingml/2006/main">
              <a:ext uri="{FF2B5EF4-FFF2-40B4-BE49-F238E27FC236}">
                <a16:creationId xmlns:a16="http://schemas.microsoft.com/office/drawing/2014/main" id="{3D29C497-55DD-4DAE-9AE2-F2C4313017D8}"/>
              </a:ext>
            </a:extLst>
          </p:cNvPr>
          <p:cNvSpPr>
            <a:spLocks xmlns:a="http://schemas.openxmlformats.org/drawingml/2006/main" noGrp="1"/>
          </p:cNvSpPr>
          <p:nvPr/>
        </p:nvSpPr>
        <p:spPr>
          <a:xfrm xmlns:a="http://schemas.openxmlformats.org/drawingml/2006/main">
            <a:off x="3695700" y="25050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A8B2CCD3-5FD2-45DB-AA7F-1D588D773AD4}"/>
              </a:ext>
            </a:extLst>
          </p:cNvPr>
          <p:cNvSpPr>
            <a:spLocks xmlns:a="http://schemas.openxmlformats.org/drawingml/2006/main" noGrp="1"/>
          </p:cNvSpPr>
          <p:nvPr/>
        </p:nvSpPr>
        <p:spPr>
          <a:xfrm xmlns:a="http://schemas.openxmlformats.org/drawingml/2006/main">
            <a:off x="3790950" y="25812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Chốt tên/RQ/A2–B2; xác nhận rater; consent + data plan</a:t>
            </a:r>
          </a:p>
        </p:txBody>
      </p:sp>
      <p:sp>
        <p:nvSpPr>
          <p:cNvPr id="21" name="">
            <a:extLst xmlns:a="http://schemas.openxmlformats.org/drawingml/2006/main">
              <a:ext uri="{FF2B5EF4-FFF2-40B4-BE49-F238E27FC236}">
                <a16:creationId xmlns:a16="http://schemas.microsoft.com/office/drawing/2014/main" id="{766D01BA-784D-4252-8487-51681F8ED218}"/>
              </a:ext>
            </a:extLst>
          </p:cNvPr>
          <p:cNvSpPr>
            <a:spLocks xmlns:a="http://schemas.openxmlformats.org/drawingml/2006/main" noGrp="1"/>
          </p:cNvSpPr>
          <p:nvPr/>
        </p:nvSpPr>
        <p:spPr>
          <a:xfrm xmlns:a="http://schemas.openxmlformats.org/drawingml/2006/main">
            <a:off x="9410700" y="25050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C30789B0-AB72-459A-AF26-1AC60E7AF023}"/>
              </a:ext>
            </a:extLst>
          </p:cNvPr>
          <p:cNvSpPr>
            <a:spLocks xmlns:a="http://schemas.openxmlformats.org/drawingml/2006/main" noGrp="1"/>
          </p:cNvSpPr>
          <p:nvPr/>
        </p:nvSpPr>
        <p:spPr>
          <a:xfrm xmlns:a="http://schemas.openxmlformats.org/drawingml/2006/main">
            <a:off x="9505950" y="25812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G1: GVHD duyệt phạm vi</a:t>
            </a:r>
          </a:p>
        </p:txBody>
      </p:sp>
      <p:sp>
        <p:nvSpPr>
          <p:cNvPr id="23" name="">
            <a:extLst xmlns:a="http://schemas.openxmlformats.org/drawingml/2006/main">
              <a:ext uri="{FF2B5EF4-FFF2-40B4-BE49-F238E27FC236}">
                <a16:creationId xmlns:a16="http://schemas.microsoft.com/office/drawing/2014/main" id="{8718BE55-825C-4FEC-8AF1-2A88E3EF7CFE}"/>
              </a:ext>
            </a:extLst>
          </p:cNvPr>
          <p:cNvSpPr>
            <a:spLocks xmlns:a="http://schemas.openxmlformats.org/drawingml/2006/main" noGrp="1"/>
          </p:cNvSpPr>
          <p:nvPr/>
        </p:nvSpPr>
        <p:spPr>
          <a:xfrm xmlns:a="http://schemas.openxmlformats.org/drawingml/2006/main">
            <a:off x="552450" y="3114675"/>
            <a:ext cx="9048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BAE734CF-0E64-4196-B5F7-D01433298803}"/>
              </a:ext>
            </a:extLst>
          </p:cNvPr>
          <p:cNvSpPr>
            <a:spLocks xmlns:a="http://schemas.openxmlformats.org/drawingml/2006/main" noGrp="1"/>
          </p:cNvSpPr>
          <p:nvPr/>
        </p:nvSpPr>
        <p:spPr>
          <a:xfrm xmlns:a="http://schemas.openxmlformats.org/drawingml/2006/main">
            <a:off x="647700" y="31908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W2</a:t>
            </a:r>
          </a:p>
        </p:txBody>
      </p:sp>
      <p:sp>
        <p:nvSpPr>
          <p:cNvPr id="25" name="">
            <a:extLst xmlns:a="http://schemas.openxmlformats.org/drawingml/2006/main">
              <a:ext uri="{FF2B5EF4-FFF2-40B4-BE49-F238E27FC236}">
                <a16:creationId xmlns:a16="http://schemas.microsoft.com/office/drawing/2014/main" id="{31FC557A-FA8D-4867-A6C0-EB4254D502B5}"/>
              </a:ext>
            </a:extLst>
          </p:cNvPr>
          <p:cNvSpPr>
            <a:spLocks xmlns:a="http://schemas.openxmlformats.org/drawingml/2006/main" noGrp="1"/>
          </p:cNvSpPr>
          <p:nvPr/>
        </p:nvSpPr>
        <p:spPr>
          <a:xfrm xmlns:a="http://schemas.openxmlformats.org/drawingml/2006/main">
            <a:off x="1457325" y="31146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9489D3B3-2C6B-40D0-9E13-438F4B2736BE}"/>
              </a:ext>
            </a:extLst>
          </p:cNvPr>
          <p:cNvSpPr>
            <a:spLocks xmlns:a="http://schemas.openxmlformats.org/drawingml/2006/main" noGrp="1"/>
          </p:cNvSpPr>
          <p:nvPr/>
        </p:nvSpPr>
        <p:spPr>
          <a:xfrm xmlns:a="http://schemas.openxmlformats.org/drawingml/2006/main">
            <a:off x="1552575" y="31908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Rubric + task</a:t>
            </a:r>
          </a:p>
        </p:txBody>
      </p:sp>
      <p:sp>
        <p:nvSpPr>
          <p:cNvPr id="27" name="">
            <a:extLst xmlns:a="http://schemas.openxmlformats.org/drawingml/2006/main">
              <a:ext uri="{FF2B5EF4-FFF2-40B4-BE49-F238E27FC236}">
                <a16:creationId xmlns:a16="http://schemas.microsoft.com/office/drawing/2014/main" id="{A6D8D41F-C6BF-4BAE-964C-968E0425874F}"/>
              </a:ext>
            </a:extLst>
          </p:cNvPr>
          <p:cNvSpPr>
            <a:spLocks xmlns:a="http://schemas.openxmlformats.org/drawingml/2006/main" noGrp="1"/>
          </p:cNvSpPr>
          <p:nvPr/>
        </p:nvSpPr>
        <p:spPr>
          <a:xfrm xmlns:a="http://schemas.openxmlformats.org/drawingml/2006/main">
            <a:off x="3695700" y="3114675"/>
            <a:ext cx="571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BA8DE9AA-79AF-4A85-AECD-3D357D7F42C9}"/>
              </a:ext>
            </a:extLst>
          </p:cNvPr>
          <p:cNvSpPr>
            <a:spLocks xmlns:a="http://schemas.openxmlformats.org/drawingml/2006/main" noGrp="1"/>
          </p:cNvSpPr>
          <p:nvPr/>
        </p:nvSpPr>
        <p:spPr>
          <a:xfrm xmlns:a="http://schemas.openxmlformats.org/drawingml/2006/main">
            <a:off x="3790950" y="31908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Rubric 6 tiêu chí; Task A/B/C; prompt bank; anchor</a:t>
            </a:r>
          </a:p>
        </p:txBody>
      </p:sp>
      <p:sp>
        <p:nvSpPr>
          <p:cNvPr id="29" name="">
            <a:extLst xmlns:a="http://schemas.openxmlformats.org/drawingml/2006/main">
              <a:ext uri="{FF2B5EF4-FFF2-40B4-BE49-F238E27FC236}">
                <a16:creationId xmlns:a16="http://schemas.microsoft.com/office/drawing/2014/main" id="{1E1A4755-DD63-4F3D-BE38-2E629DBFCD4C}"/>
              </a:ext>
            </a:extLst>
          </p:cNvPr>
          <p:cNvSpPr>
            <a:spLocks xmlns:a="http://schemas.openxmlformats.org/drawingml/2006/main" noGrp="1"/>
          </p:cNvSpPr>
          <p:nvPr/>
        </p:nvSpPr>
        <p:spPr>
          <a:xfrm xmlns:a="http://schemas.openxmlformats.org/drawingml/2006/main">
            <a:off x="9410700" y="31146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DC5687DC-A8D8-45C9-BDD8-CB2598F73A12}"/>
              </a:ext>
            </a:extLst>
          </p:cNvPr>
          <p:cNvSpPr>
            <a:spLocks xmlns:a="http://schemas.openxmlformats.org/drawingml/2006/main" noGrp="1"/>
          </p:cNvSpPr>
          <p:nvPr/>
        </p:nvSpPr>
        <p:spPr>
          <a:xfrm xmlns:a="http://schemas.openxmlformats.org/drawingml/2006/main">
            <a:off x="9505950" y="31908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G2: rater giải thích được điểm</a:t>
            </a:r>
          </a:p>
        </p:txBody>
      </p:sp>
      <p:sp>
        <p:nvSpPr>
          <p:cNvPr id="31" name="">
            <a:extLst xmlns:a="http://schemas.openxmlformats.org/drawingml/2006/main">
              <a:ext uri="{FF2B5EF4-FFF2-40B4-BE49-F238E27FC236}">
                <a16:creationId xmlns:a16="http://schemas.microsoft.com/office/drawing/2014/main" id="{77687341-F0D8-4352-9583-6F64225C2C6B}"/>
              </a:ext>
            </a:extLst>
          </p:cNvPr>
          <p:cNvSpPr>
            <a:spLocks xmlns:a="http://schemas.openxmlformats.org/drawingml/2006/main" noGrp="1"/>
          </p:cNvSpPr>
          <p:nvPr/>
        </p:nvSpPr>
        <p:spPr>
          <a:xfrm xmlns:a="http://schemas.openxmlformats.org/drawingml/2006/main">
            <a:off x="552450" y="37242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2" name="">
            <a:extLst xmlns:a="http://schemas.openxmlformats.org/drawingml/2006/main">
              <a:ext uri="{FF2B5EF4-FFF2-40B4-BE49-F238E27FC236}">
                <a16:creationId xmlns:a16="http://schemas.microsoft.com/office/drawing/2014/main" id="{BC6D0DE3-C795-46E5-8AEB-A553892C08FD}"/>
              </a:ext>
            </a:extLst>
          </p:cNvPr>
          <p:cNvSpPr>
            <a:spLocks xmlns:a="http://schemas.openxmlformats.org/drawingml/2006/main" noGrp="1"/>
          </p:cNvSpPr>
          <p:nvPr/>
        </p:nvSpPr>
        <p:spPr>
          <a:xfrm xmlns:a="http://schemas.openxmlformats.org/drawingml/2006/main">
            <a:off x="647700" y="38004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W3</a:t>
            </a:r>
          </a:p>
        </p:txBody>
      </p:sp>
      <p:sp>
        <p:nvSpPr>
          <p:cNvPr id="33" name="">
            <a:extLst xmlns:a="http://schemas.openxmlformats.org/drawingml/2006/main">
              <a:ext uri="{FF2B5EF4-FFF2-40B4-BE49-F238E27FC236}">
                <a16:creationId xmlns:a16="http://schemas.microsoft.com/office/drawing/2014/main" id="{BD3FB20F-41C8-46B2-B085-CBA74B6890DA}"/>
              </a:ext>
            </a:extLst>
          </p:cNvPr>
          <p:cNvSpPr>
            <a:spLocks xmlns:a="http://schemas.openxmlformats.org/drawingml/2006/main" noGrp="1"/>
          </p:cNvSpPr>
          <p:nvPr/>
        </p:nvSpPr>
        <p:spPr>
          <a:xfrm xmlns:a="http://schemas.openxmlformats.org/drawingml/2006/main">
            <a:off x="1457325" y="37242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4" name="">
            <a:extLst xmlns:a="http://schemas.openxmlformats.org/drawingml/2006/main">
              <a:ext uri="{FF2B5EF4-FFF2-40B4-BE49-F238E27FC236}">
                <a16:creationId xmlns:a16="http://schemas.microsoft.com/office/drawing/2014/main" id="{3FC5C1F2-6E3A-44AA-BB5B-E610CE42DE8D}"/>
              </a:ext>
            </a:extLst>
          </p:cNvPr>
          <p:cNvSpPr>
            <a:spLocks xmlns:a="http://schemas.openxmlformats.org/drawingml/2006/main" noGrp="1"/>
          </p:cNvSpPr>
          <p:nvPr/>
        </p:nvSpPr>
        <p:spPr>
          <a:xfrm xmlns:a="http://schemas.openxmlformats.org/drawingml/2006/main">
            <a:off x="1552575" y="38004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Vertical slice</a:t>
            </a:r>
          </a:p>
        </p:txBody>
      </p:sp>
      <p:sp>
        <p:nvSpPr>
          <p:cNvPr id="35" name="">
            <a:extLst xmlns:a="http://schemas.openxmlformats.org/drawingml/2006/main">
              <a:ext uri="{FF2B5EF4-FFF2-40B4-BE49-F238E27FC236}">
                <a16:creationId xmlns:a16="http://schemas.microsoft.com/office/drawing/2014/main" id="{B9BB6CD5-84D1-49B6-8E45-1E144AAE55B0}"/>
              </a:ext>
            </a:extLst>
          </p:cNvPr>
          <p:cNvSpPr>
            <a:spLocks xmlns:a="http://schemas.openxmlformats.org/drawingml/2006/main" noGrp="1"/>
          </p:cNvSpPr>
          <p:nvPr/>
        </p:nvSpPr>
        <p:spPr>
          <a:xfrm xmlns:a="http://schemas.openxmlformats.org/drawingml/2006/main">
            <a:off x="3695700" y="37242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6" name="">
            <a:extLst xmlns:a="http://schemas.openxmlformats.org/drawingml/2006/main">
              <a:ext uri="{FF2B5EF4-FFF2-40B4-BE49-F238E27FC236}">
                <a16:creationId xmlns:a16="http://schemas.microsoft.com/office/drawing/2014/main" id="{841E563D-6ECC-4381-9D2B-B427CCD89AD7}"/>
              </a:ext>
            </a:extLst>
          </p:cNvPr>
          <p:cNvSpPr>
            <a:spLocks xmlns:a="http://schemas.openxmlformats.org/drawingml/2006/main" noGrp="1"/>
          </p:cNvSpPr>
          <p:nvPr/>
        </p:nvSpPr>
        <p:spPr>
          <a:xfrm xmlns:a="http://schemas.openxmlformats.org/drawingml/2006/main">
            <a:off x="3790950" y="38004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Recorder/upload; QC; ASR; feature cơ bản; report JSON</a:t>
            </a:r>
          </a:p>
        </p:txBody>
      </p:sp>
      <p:sp>
        <p:nvSpPr>
          <p:cNvPr id="37" name="">
            <a:extLst xmlns:a="http://schemas.openxmlformats.org/drawingml/2006/main">
              <a:ext uri="{FF2B5EF4-FFF2-40B4-BE49-F238E27FC236}">
                <a16:creationId xmlns:a16="http://schemas.microsoft.com/office/drawing/2014/main" id="{BC8A7F98-AF31-4061-94C2-643A3C22C6DF}"/>
              </a:ext>
            </a:extLst>
          </p:cNvPr>
          <p:cNvSpPr>
            <a:spLocks xmlns:a="http://schemas.openxmlformats.org/drawingml/2006/main" noGrp="1"/>
          </p:cNvSpPr>
          <p:nvPr/>
        </p:nvSpPr>
        <p:spPr>
          <a:xfrm xmlns:a="http://schemas.openxmlformats.org/drawingml/2006/main">
            <a:off x="9410700" y="37242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8" name="">
            <a:extLst xmlns:a="http://schemas.openxmlformats.org/drawingml/2006/main">
              <a:ext uri="{FF2B5EF4-FFF2-40B4-BE49-F238E27FC236}">
                <a16:creationId xmlns:a16="http://schemas.microsoft.com/office/drawing/2014/main" id="{90D0D561-0A6C-434A-B2BB-C2E464CCBC2C}"/>
              </a:ext>
            </a:extLst>
          </p:cNvPr>
          <p:cNvSpPr>
            <a:spLocks xmlns:a="http://schemas.openxmlformats.org/drawingml/2006/main" noGrp="1"/>
          </p:cNvSpPr>
          <p:nvPr/>
        </p:nvSpPr>
        <p:spPr>
          <a:xfrm xmlns:a="http://schemas.openxmlformats.org/drawingml/2006/main">
            <a:off x="9505950" y="38004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G3: chạy end-to-end 1 bài</a:t>
            </a:r>
          </a:p>
        </p:txBody>
      </p:sp>
      <p:sp>
        <p:nvSpPr>
          <p:cNvPr id="39" name="">
            <a:extLst xmlns:a="http://schemas.openxmlformats.org/drawingml/2006/main">
              <a:ext uri="{FF2B5EF4-FFF2-40B4-BE49-F238E27FC236}">
                <a16:creationId xmlns:a16="http://schemas.microsoft.com/office/drawing/2014/main" id="{2CAE8FC0-C20B-4659-91C6-4234D1DADFE3}"/>
              </a:ext>
            </a:extLst>
          </p:cNvPr>
          <p:cNvSpPr>
            <a:spLocks xmlns:a="http://schemas.openxmlformats.org/drawingml/2006/main" noGrp="1"/>
          </p:cNvSpPr>
          <p:nvPr/>
        </p:nvSpPr>
        <p:spPr>
          <a:xfrm xmlns:a="http://schemas.openxmlformats.org/drawingml/2006/main">
            <a:off x="552450" y="4333875"/>
            <a:ext cx="9048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0" name="">
            <a:extLst xmlns:a="http://schemas.openxmlformats.org/drawingml/2006/main">
              <a:ext uri="{FF2B5EF4-FFF2-40B4-BE49-F238E27FC236}">
                <a16:creationId xmlns:a16="http://schemas.microsoft.com/office/drawing/2014/main" id="{5391AB20-5E6D-4E4C-B361-CFFCE47F3969}"/>
              </a:ext>
            </a:extLst>
          </p:cNvPr>
          <p:cNvSpPr>
            <a:spLocks xmlns:a="http://schemas.openxmlformats.org/drawingml/2006/main" noGrp="1"/>
          </p:cNvSpPr>
          <p:nvPr/>
        </p:nvSpPr>
        <p:spPr>
          <a:xfrm xmlns:a="http://schemas.openxmlformats.org/drawingml/2006/main">
            <a:off x="647700" y="44100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W4</a:t>
            </a:r>
          </a:p>
        </p:txBody>
      </p:sp>
      <p:sp>
        <p:nvSpPr>
          <p:cNvPr id="41" name="">
            <a:extLst xmlns:a="http://schemas.openxmlformats.org/drawingml/2006/main">
              <a:ext uri="{FF2B5EF4-FFF2-40B4-BE49-F238E27FC236}">
                <a16:creationId xmlns:a16="http://schemas.microsoft.com/office/drawing/2014/main" id="{DEB5BCE9-BCC4-4F2B-B160-654620A74418}"/>
              </a:ext>
            </a:extLst>
          </p:cNvPr>
          <p:cNvSpPr>
            <a:spLocks xmlns:a="http://schemas.openxmlformats.org/drawingml/2006/main" noGrp="1"/>
          </p:cNvSpPr>
          <p:nvPr/>
        </p:nvSpPr>
        <p:spPr>
          <a:xfrm xmlns:a="http://schemas.openxmlformats.org/drawingml/2006/main">
            <a:off x="1457325" y="43338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2" name="">
            <a:extLst xmlns:a="http://schemas.openxmlformats.org/drawingml/2006/main">
              <a:ext uri="{FF2B5EF4-FFF2-40B4-BE49-F238E27FC236}">
                <a16:creationId xmlns:a16="http://schemas.microsoft.com/office/drawing/2014/main" id="{F43176C3-566F-4CD6-B5C3-616256E45A8E}"/>
              </a:ext>
            </a:extLst>
          </p:cNvPr>
          <p:cNvSpPr>
            <a:spLocks xmlns:a="http://schemas.openxmlformats.org/drawingml/2006/main" noGrp="1"/>
          </p:cNvSpPr>
          <p:nvPr/>
        </p:nvSpPr>
        <p:spPr>
          <a:xfrm xmlns:a="http://schemas.openxmlformats.org/drawingml/2006/main">
            <a:off x="1552575" y="44100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Pilot + calibration</a:t>
            </a:r>
          </a:p>
        </p:txBody>
      </p:sp>
      <p:sp>
        <p:nvSpPr>
          <p:cNvPr id="43" name="">
            <a:extLst xmlns:a="http://schemas.openxmlformats.org/drawingml/2006/main">
              <a:ext uri="{FF2B5EF4-FFF2-40B4-BE49-F238E27FC236}">
                <a16:creationId xmlns:a16="http://schemas.microsoft.com/office/drawing/2014/main" id="{61F3F7EB-E89E-4D19-A0A0-98D637F35C87}"/>
              </a:ext>
            </a:extLst>
          </p:cNvPr>
          <p:cNvSpPr>
            <a:spLocks xmlns:a="http://schemas.openxmlformats.org/drawingml/2006/main" noGrp="1"/>
          </p:cNvSpPr>
          <p:nvPr/>
        </p:nvSpPr>
        <p:spPr>
          <a:xfrm xmlns:a="http://schemas.openxmlformats.org/drawingml/2006/main">
            <a:off x="3695700" y="4333875"/>
            <a:ext cx="571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4" name="">
            <a:extLst xmlns:a="http://schemas.openxmlformats.org/drawingml/2006/main">
              <a:ext uri="{FF2B5EF4-FFF2-40B4-BE49-F238E27FC236}">
                <a16:creationId xmlns:a16="http://schemas.microsoft.com/office/drawing/2014/main" id="{BF3414D0-2362-4CE5-92CE-AA5954A318CA}"/>
              </a:ext>
            </a:extLst>
          </p:cNvPr>
          <p:cNvSpPr>
            <a:spLocks xmlns:a="http://schemas.openxmlformats.org/drawingml/2006/main" noGrp="1"/>
          </p:cNvSpPr>
          <p:nvPr/>
        </p:nvSpPr>
        <p:spPr>
          <a:xfrm xmlns:a="http://schemas.openxmlformats.org/drawingml/2006/main">
            <a:off x="3790950" y="44100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Thu 8–12 người; double-rate; sửa prompt/rubric; khóa v1</a:t>
            </a:r>
          </a:p>
        </p:txBody>
      </p:sp>
      <p:sp>
        <p:nvSpPr>
          <p:cNvPr id="45" name="">
            <a:extLst xmlns:a="http://schemas.openxmlformats.org/drawingml/2006/main">
              <a:ext uri="{FF2B5EF4-FFF2-40B4-BE49-F238E27FC236}">
                <a16:creationId xmlns:a16="http://schemas.microsoft.com/office/drawing/2014/main" id="{9300D6E7-5FE9-4486-83FA-84E4A6DC9960}"/>
              </a:ext>
            </a:extLst>
          </p:cNvPr>
          <p:cNvSpPr>
            <a:spLocks xmlns:a="http://schemas.openxmlformats.org/drawingml/2006/main" noGrp="1"/>
          </p:cNvSpPr>
          <p:nvPr/>
        </p:nvSpPr>
        <p:spPr>
          <a:xfrm xmlns:a="http://schemas.openxmlformats.org/drawingml/2006/main">
            <a:off x="9410700" y="43338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6" name="">
            <a:extLst xmlns:a="http://schemas.openxmlformats.org/drawingml/2006/main">
              <a:ext uri="{FF2B5EF4-FFF2-40B4-BE49-F238E27FC236}">
                <a16:creationId xmlns:a16="http://schemas.microsoft.com/office/drawing/2014/main" id="{6786913C-D0FA-4568-9ADD-F1B264453028}"/>
              </a:ext>
            </a:extLst>
          </p:cNvPr>
          <p:cNvSpPr>
            <a:spLocks xmlns:a="http://schemas.openxmlformats.org/drawingml/2006/main" noGrp="1"/>
          </p:cNvSpPr>
          <p:nvPr/>
        </p:nvSpPr>
        <p:spPr>
          <a:xfrm xmlns:a="http://schemas.openxmlformats.org/drawingml/2006/main">
            <a:off x="9505950" y="44100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G4: completion ≥85%; agreement dùng được</a:t>
            </a:r>
          </a:p>
        </p:txBody>
      </p:sp>
      <p:sp>
        <p:nvSpPr>
          <p:cNvPr id="47" name="">
            <a:extLst xmlns:a="http://schemas.openxmlformats.org/drawingml/2006/main">
              <a:ext uri="{FF2B5EF4-FFF2-40B4-BE49-F238E27FC236}">
                <a16:creationId xmlns:a16="http://schemas.microsoft.com/office/drawing/2014/main" id="{29EEF3C2-FAFC-4A40-8037-1C7830367326}"/>
              </a:ext>
            </a:extLst>
          </p:cNvPr>
          <p:cNvSpPr>
            <a:spLocks xmlns:a="http://schemas.openxmlformats.org/drawingml/2006/main" noGrp="1"/>
          </p:cNvSpPr>
          <p:nvPr/>
        </p:nvSpPr>
        <p:spPr>
          <a:xfrm xmlns:a="http://schemas.openxmlformats.org/drawingml/2006/main">
            <a:off x="552450" y="49434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8" name="">
            <a:extLst xmlns:a="http://schemas.openxmlformats.org/drawingml/2006/main">
              <a:ext uri="{FF2B5EF4-FFF2-40B4-BE49-F238E27FC236}">
                <a16:creationId xmlns:a16="http://schemas.microsoft.com/office/drawing/2014/main" id="{45CF6D37-B5C7-424B-ABA6-0810C3E11BF7}"/>
              </a:ext>
            </a:extLst>
          </p:cNvPr>
          <p:cNvSpPr>
            <a:spLocks xmlns:a="http://schemas.openxmlformats.org/drawingml/2006/main" noGrp="1"/>
          </p:cNvSpPr>
          <p:nvPr/>
        </p:nvSpPr>
        <p:spPr>
          <a:xfrm xmlns:a="http://schemas.openxmlformats.org/drawingml/2006/main">
            <a:off x="647700" y="50196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W5</a:t>
            </a:r>
          </a:p>
        </p:txBody>
      </p:sp>
      <p:sp>
        <p:nvSpPr>
          <p:cNvPr id="49" name="">
            <a:extLst xmlns:a="http://schemas.openxmlformats.org/drawingml/2006/main">
              <a:ext uri="{FF2B5EF4-FFF2-40B4-BE49-F238E27FC236}">
                <a16:creationId xmlns:a16="http://schemas.microsoft.com/office/drawing/2014/main" id="{6F370D00-936D-4E2B-981E-48CABA10E44E}"/>
              </a:ext>
            </a:extLst>
          </p:cNvPr>
          <p:cNvSpPr>
            <a:spLocks xmlns:a="http://schemas.openxmlformats.org/drawingml/2006/main" noGrp="1"/>
          </p:cNvSpPr>
          <p:nvPr/>
        </p:nvSpPr>
        <p:spPr>
          <a:xfrm xmlns:a="http://schemas.openxmlformats.org/drawingml/2006/main">
            <a:off x="1457325" y="49434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0" name="">
            <a:extLst xmlns:a="http://schemas.openxmlformats.org/drawingml/2006/main">
              <a:ext uri="{FF2B5EF4-FFF2-40B4-BE49-F238E27FC236}">
                <a16:creationId xmlns:a16="http://schemas.microsoft.com/office/drawing/2014/main" id="{F8767E2B-E4C5-46AF-9FC5-A095644F7882}"/>
              </a:ext>
            </a:extLst>
          </p:cNvPr>
          <p:cNvSpPr>
            <a:spLocks xmlns:a="http://schemas.openxmlformats.org/drawingml/2006/main" noGrp="1"/>
          </p:cNvSpPr>
          <p:nvPr/>
        </p:nvSpPr>
        <p:spPr>
          <a:xfrm xmlns:a="http://schemas.openxmlformats.org/drawingml/2006/main">
            <a:off x="1552575" y="50196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Main collection 1</a:t>
            </a:r>
          </a:p>
        </p:txBody>
      </p:sp>
      <p:sp>
        <p:nvSpPr>
          <p:cNvPr id="51" name="">
            <a:extLst xmlns:a="http://schemas.openxmlformats.org/drawingml/2006/main">
              <a:ext uri="{FF2B5EF4-FFF2-40B4-BE49-F238E27FC236}">
                <a16:creationId xmlns:a16="http://schemas.microsoft.com/office/drawing/2014/main" id="{C763B6DE-0850-45C2-9D42-0FB6F5D9850E}"/>
              </a:ext>
            </a:extLst>
          </p:cNvPr>
          <p:cNvSpPr>
            <a:spLocks xmlns:a="http://schemas.openxmlformats.org/drawingml/2006/main" noGrp="1"/>
          </p:cNvSpPr>
          <p:nvPr/>
        </p:nvSpPr>
        <p:spPr>
          <a:xfrm xmlns:a="http://schemas.openxmlformats.org/drawingml/2006/main">
            <a:off x="3695700" y="49434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2" name="">
            <a:extLst xmlns:a="http://schemas.openxmlformats.org/drawingml/2006/main">
              <a:ext uri="{FF2B5EF4-FFF2-40B4-BE49-F238E27FC236}">
                <a16:creationId xmlns:a16="http://schemas.microsoft.com/office/drawing/2014/main" id="{C3E28A97-672B-40D6-BB89-1EFA99CADD8E}"/>
              </a:ext>
            </a:extLst>
          </p:cNvPr>
          <p:cNvSpPr>
            <a:spLocks xmlns:a="http://schemas.openxmlformats.org/drawingml/2006/main" noGrp="1"/>
          </p:cNvSpPr>
          <p:nvPr/>
        </p:nvSpPr>
        <p:spPr>
          <a:xfrm xmlns:a="http://schemas.openxmlformats.org/drawingml/2006/main">
            <a:off x="3790950" y="50196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Thu 20–30 người; QC ngay; rater chấm cuốn chiếu</a:t>
            </a:r>
          </a:p>
        </p:txBody>
      </p:sp>
      <p:sp>
        <p:nvSpPr>
          <p:cNvPr id="53" name="">
            <a:extLst xmlns:a="http://schemas.openxmlformats.org/drawingml/2006/main">
              <a:ext uri="{FF2B5EF4-FFF2-40B4-BE49-F238E27FC236}">
                <a16:creationId xmlns:a16="http://schemas.microsoft.com/office/drawing/2014/main" id="{BC852253-5D03-45CF-AAFE-7BDFF750CD79}"/>
              </a:ext>
            </a:extLst>
          </p:cNvPr>
          <p:cNvSpPr>
            <a:spLocks xmlns:a="http://schemas.openxmlformats.org/drawingml/2006/main" noGrp="1"/>
          </p:cNvSpPr>
          <p:nvPr/>
        </p:nvSpPr>
        <p:spPr>
          <a:xfrm xmlns:a="http://schemas.openxmlformats.org/drawingml/2006/main">
            <a:off x="9410700" y="49434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4" name="">
            <a:extLst xmlns:a="http://schemas.openxmlformats.org/drawingml/2006/main">
              <a:ext uri="{FF2B5EF4-FFF2-40B4-BE49-F238E27FC236}">
                <a16:creationId xmlns:a16="http://schemas.microsoft.com/office/drawing/2014/main" id="{F5D563E8-949D-4D6C-9F09-5D36A3888406}"/>
              </a:ext>
            </a:extLst>
          </p:cNvPr>
          <p:cNvSpPr>
            <a:spLocks xmlns:a="http://schemas.openxmlformats.org/drawingml/2006/main" noGrp="1"/>
          </p:cNvSpPr>
          <p:nvPr/>
        </p:nvSpPr>
        <p:spPr>
          <a:xfrm xmlns:a="http://schemas.openxmlformats.org/drawingml/2006/main">
            <a:off x="9505950" y="50196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G5: metadata đầy đủ ≥90%</a:t>
            </a:r>
          </a:p>
        </p:txBody>
      </p:sp>
    </p:spTree>
    <p:extLst>
      <p:ext uri="{BB962C8B-B14F-4D97-AF65-F5344CB8AC3E}">
        <p14:creationId xmlns:p14="http://schemas.microsoft.com/office/powerpoint/2010/main" val="251508545"/>
      </p:ext>
    </p:extLst>
  </p:cSld>
</p:sld>
</file>

<file path=ppt/slides/slide3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5D8B492D-DB3C-4B54-9A4C-513DDEB8E398}"/>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KẾ HOẠCH 10 TUẦN • PHẦN 2</a:t>
            </a:r>
          </a:p>
        </p:txBody>
      </p:sp>
      <p:sp>
        <p:nvSpPr>
          <p:cNvPr id="2" name="">
            <a:extLst xmlns:a="http://schemas.openxmlformats.org/drawingml/2006/main">
              <a:ext uri="{FF2B5EF4-FFF2-40B4-BE49-F238E27FC236}">
                <a16:creationId xmlns:a16="http://schemas.microsoft.com/office/drawing/2014/main" id="{8690E55F-4E9F-4093-A803-8EAB8ECC6535}"/>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Tuần 6–10: khóa dữ liệu, kiểm định, hoàn thiện sản phẩm và luận văn</a:t>
            </a:r>
          </a:p>
        </p:txBody>
      </p:sp>
      <p:sp>
        <p:nvSpPr>
          <p:cNvPr id="3" name="">
            <a:extLst xmlns:a="http://schemas.openxmlformats.org/drawingml/2006/main">
              <a:ext uri="{FF2B5EF4-FFF2-40B4-BE49-F238E27FC236}">
                <a16:creationId xmlns:a16="http://schemas.microsoft.com/office/drawing/2014/main" id="{FCBCAE02-79F8-4AC2-9B78-6FDEBBF65D70}"/>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Không tinh chỉnh vô hạn trên confirmation set.</a:t>
            </a:r>
          </a:p>
        </p:txBody>
      </p:sp>
      <p:sp>
        <p:nvSpPr>
          <p:cNvPr id="4" name="">
            <a:extLst xmlns:a="http://schemas.openxmlformats.org/drawingml/2006/main">
              <a:ext uri="{FF2B5EF4-FFF2-40B4-BE49-F238E27FC236}">
                <a16:creationId xmlns:a16="http://schemas.microsoft.com/office/drawing/2014/main" id="{56B5308A-3B17-4723-B3B9-BC39AE28464E}"/>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D5A8E79-0C46-426B-A392-167830EFB1EB}"/>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KẾ HOẠCH</a:t>
            </a:r>
          </a:p>
        </p:txBody>
      </p:sp>
      <p:sp>
        <p:nvSpPr>
          <p:cNvPr id="6" name="">
            <a:extLst xmlns:a="http://schemas.openxmlformats.org/drawingml/2006/main">
              <a:ext uri="{FF2B5EF4-FFF2-40B4-BE49-F238E27FC236}">
                <a16:creationId xmlns:a16="http://schemas.microsoft.com/office/drawing/2014/main" id="{E212D1A8-0B09-4FEC-A153-0B74A02FAF48}"/>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35</a:t>
            </a:r>
          </a:p>
        </p:txBody>
      </p:sp>
      <p:sp>
        <p:nvSpPr>
          <p:cNvPr id="7" name="">
            <a:extLst xmlns:a="http://schemas.openxmlformats.org/drawingml/2006/main">
              <a:ext uri="{FF2B5EF4-FFF2-40B4-BE49-F238E27FC236}">
                <a16:creationId xmlns:a16="http://schemas.microsoft.com/office/drawing/2014/main" id="{BC42D481-A920-483B-959D-CB188D86FFAB}"/>
              </a:ext>
            </a:extLst>
          </p:cNvPr>
          <p:cNvSpPr>
            <a:spLocks xmlns:a="http://schemas.openxmlformats.org/drawingml/2006/main" noGrp="1"/>
          </p:cNvSpPr>
          <p:nvPr/>
        </p:nvSpPr>
        <p:spPr>
          <a:xfrm xmlns:a="http://schemas.openxmlformats.org/drawingml/2006/main">
            <a:off x="552450" y="2047875"/>
            <a:ext cx="9048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3543EC7E-7FDD-4B37-B3E5-95025C0EBDE0}"/>
              </a:ext>
            </a:extLst>
          </p:cNvPr>
          <p:cNvSpPr>
            <a:spLocks xmlns:a="http://schemas.openxmlformats.org/drawingml/2006/main" noGrp="1"/>
          </p:cNvSpPr>
          <p:nvPr/>
        </p:nvSpPr>
        <p:spPr>
          <a:xfrm xmlns:a="http://schemas.openxmlformats.org/drawingml/2006/main">
            <a:off x="647700" y="2143125"/>
            <a:ext cx="71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Tuần</a:t>
            </a:r>
          </a:p>
        </p:txBody>
      </p:sp>
      <p:sp>
        <p:nvSpPr>
          <p:cNvPr id="9" name="">
            <a:extLst xmlns:a="http://schemas.openxmlformats.org/drawingml/2006/main">
              <a:ext uri="{FF2B5EF4-FFF2-40B4-BE49-F238E27FC236}">
                <a16:creationId xmlns:a16="http://schemas.microsoft.com/office/drawing/2014/main" id="{9622F07C-E045-4A44-BE86-368F173E1C83}"/>
              </a:ext>
            </a:extLst>
          </p:cNvPr>
          <p:cNvSpPr>
            <a:spLocks xmlns:a="http://schemas.openxmlformats.org/drawingml/2006/main" noGrp="1"/>
          </p:cNvSpPr>
          <p:nvPr/>
        </p:nvSpPr>
        <p:spPr>
          <a:xfrm xmlns:a="http://schemas.openxmlformats.org/drawingml/2006/main">
            <a:off x="1457325" y="2047875"/>
            <a:ext cx="22383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31C8F26D-590D-490D-9D32-26BCB6D7C0C3}"/>
              </a:ext>
            </a:extLst>
          </p:cNvPr>
          <p:cNvSpPr>
            <a:spLocks xmlns:a="http://schemas.openxmlformats.org/drawingml/2006/main" noGrp="1"/>
          </p:cNvSpPr>
          <p:nvPr/>
        </p:nvSpPr>
        <p:spPr>
          <a:xfrm xmlns:a="http://schemas.openxmlformats.org/drawingml/2006/main">
            <a:off x="1552575" y="214312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Trọng tâm</a:t>
            </a:r>
          </a:p>
        </p:txBody>
      </p:sp>
      <p:sp>
        <p:nvSpPr>
          <p:cNvPr id="11" name="">
            <a:extLst xmlns:a="http://schemas.openxmlformats.org/drawingml/2006/main">
              <a:ext uri="{FF2B5EF4-FFF2-40B4-BE49-F238E27FC236}">
                <a16:creationId xmlns:a16="http://schemas.microsoft.com/office/drawing/2014/main" id="{40256F77-74AD-4B25-81D0-B38A168F0B0C}"/>
              </a:ext>
            </a:extLst>
          </p:cNvPr>
          <p:cNvSpPr>
            <a:spLocks xmlns:a="http://schemas.openxmlformats.org/drawingml/2006/main" noGrp="1"/>
          </p:cNvSpPr>
          <p:nvPr/>
        </p:nvSpPr>
        <p:spPr>
          <a:xfrm xmlns:a="http://schemas.openxmlformats.org/drawingml/2006/main">
            <a:off x="3695700" y="2047875"/>
            <a:ext cx="5715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DC810F8C-DBE7-46F1-8C26-1B864D5CD64C}"/>
              </a:ext>
            </a:extLst>
          </p:cNvPr>
          <p:cNvSpPr>
            <a:spLocks xmlns:a="http://schemas.openxmlformats.org/drawingml/2006/main" noGrp="1"/>
          </p:cNvSpPr>
          <p:nvPr/>
        </p:nvSpPr>
        <p:spPr>
          <a:xfrm xmlns:a="http://schemas.openxmlformats.org/drawingml/2006/main">
            <a:off x="3790950" y="2143125"/>
            <a:ext cx="552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Việc phải hoàn thành</a:t>
            </a:r>
          </a:p>
        </p:txBody>
      </p:sp>
      <p:sp>
        <p:nvSpPr>
          <p:cNvPr id="13" name="">
            <a:extLst xmlns:a="http://schemas.openxmlformats.org/drawingml/2006/main">
              <a:ext uri="{FF2B5EF4-FFF2-40B4-BE49-F238E27FC236}">
                <a16:creationId xmlns:a16="http://schemas.microsoft.com/office/drawing/2014/main" id="{5292B6C4-7FEB-494B-AFD7-A17686B31A8E}"/>
              </a:ext>
            </a:extLst>
          </p:cNvPr>
          <p:cNvSpPr>
            <a:spLocks xmlns:a="http://schemas.openxmlformats.org/drawingml/2006/main" noGrp="1"/>
          </p:cNvSpPr>
          <p:nvPr/>
        </p:nvSpPr>
        <p:spPr>
          <a:xfrm xmlns:a="http://schemas.openxmlformats.org/drawingml/2006/main">
            <a:off x="9410700" y="2047875"/>
            <a:ext cx="2238375"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4" name="">
            <a:extLst xmlns:a="http://schemas.openxmlformats.org/drawingml/2006/main">
              <a:ext uri="{FF2B5EF4-FFF2-40B4-BE49-F238E27FC236}">
                <a16:creationId xmlns:a16="http://schemas.microsoft.com/office/drawing/2014/main" id="{5C0DE406-9397-47FC-A36C-A92AA1199CD6}"/>
              </a:ext>
            </a:extLst>
          </p:cNvPr>
          <p:cNvSpPr>
            <a:spLocks xmlns:a="http://schemas.openxmlformats.org/drawingml/2006/main" noGrp="1"/>
          </p:cNvSpPr>
          <p:nvPr/>
        </p:nvSpPr>
        <p:spPr>
          <a:xfrm xmlns:a="http://schemas.openxmlformats.org/drawingml/2006/main">
            <a:off x="9505950" y="214312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125" b="1" i="0">
                <a:solidFill>
                  <a:srgbClr val="FFFFFF"/>
                </a:solidFill>
                <a:latin typeface="Aptos"/>
                <a:ea typeface="Aptos"/>
                <a:cs typeface="Aptos"/>
              </a:defRPr>
            </a:pPr>
            <a:r>
              <a:rPr sz="1125" b="1" i="0">
                <a:solidFill>
                  <a:srgbClr val="FFFFFF"/>
                </a:solidFill>
                <a:latin typeface="Aptos"/>
                <a:ea typeface="Aptos"/>
                <a:cs typeface="Aptos"/>
              </a:rPr>
              <a:t>Cổng</a:t>
            </a:r>
          </a:p>
        </p:txBody>
      </p:sp>
      <p:sp>
        <p:nvSpPr>
          <p:cNvPr id="15" name="">
            <a:extLst xmlns:a="http://schemas.openxmlformats.org/drawingml/2006/main">
              <a:ext uri="{FF2B5EF4-FFF2-40B4-BE49-F238E27FC236}">
                <a16:creationId xmlns:a16="http://schemas.microsoft.com/office/drawing/2014/main" id="{9BFD0904-E69D-4FAA-9BFA-71B9F0CD078A}"/>
              </a:ext>
            </a:extLst>
          </p:cNvPr>
          <p:cNvSpPr>
            <a:spLocks xmlns:a="http://schemas.openxmlformats.org/drawingml/2006/main" noGrp="1"/>
          </p:cNvSpPr>
          <p:nvPr/>
        </p:nvSpPr>
        <p:spPr>
          <a:xfrm xmlns:a="http://schemas.openxmlformats.org/drawingml/2006/main">
            <a:off x="552450" y="25050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B7874209-23F9-4C8B-8BFA-AE0C07DE2499}"/>
              </a:ext>
            </a:extLst>
          </p:cNvPr>
          <p:cNvSpPr>
            <a:spLocks xmlns:a="http://schemas.openxmlformats.org/drawingml/2006/main" noGrp="1"/>
          </p:cNvSpPr>
          <p:nvPr/>
        </p:nvSpPr>
        <p:spPr>
          <a:xfrm xmlns:a="http://schemas.openxmlformats.org/drawingml/2006/main">
            <a:off x="647700" y="25812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W6</a:t>
            </a:r>
          </a:p>
        </p:txBody>
      </p:sp>
      <p:sp>
        <p:nvSpPr>
          <p:cNvPr id="17" name="">
            <a:extLst xmlns:a="http://schemas.openxmlformats.org/drawingml/2006/main">
              <a:ext uri="{FF2B5EF4-FFF2-40B4-BE49-F238E27FC236}">
                <a16:creationId xmlns:a16="http://schemas.microsoft.com/office/drawing/2014/main" id="{4F05BB60-3410-44F7-8BAD-7D1DD8444079}"/>
              </a:ext>
            </a:extLst>
          </p:cNvPr>
          <p:cNvSpPr>
            <a:spLocks xmlns:a="http://schemas.openxmlformats.org/drawingml/2006/main" noGrp="1"/>
          </p:cNvSpPr>
          <p:nvPr/>
        </p:nvSpPr>
        <p:spPr>
          <a:xfrm xmlns:a="http://schemas.openxmlformats.org/drawingml/2006/main">
            <a:off x="1457325" y="25050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FE381C16-D198-4D94-8701-531FFD88F9B3}"/>
              </a:ext>
            </a:extLst>
          </p:cNvPr>
          <p:cNvSpPr>
            <a:spLocks xmlns:a="http://schemas.openxmlformats.org/drawingml/2006/main" noGrp="1"/>
          </p:cNvSpPr>
          <p:nvPr/>
        </p:nvSpPr>
        <p:spPr>
          <a:xfrm xmlns:a="http://schemas.openxmlformats.org/drawingml/2006/main">
            <a:off x="1552575" y="25812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Main collection 2</a:t>
            </a:r>
          </a:p>
        </p:txBody>
      </p:sp>
      <p:sp>
        <p:nvSpPr>
          <p:cNvPr id="19" name="">
            <a:extLst xmlns:a="http://schemas.openxmlformats.org/drawingml/2006/main">
              <a:ext uri="{FF2B5EF4-FFF2-40B4-BE49-F238E27FC236}">
                <a16:creationId xmlns:a16="http://schemas.microsoft.com/office/drawing/2014/main" id="{A6C2BB7C-1784-4194-8884-C3E00ADFF654}"/>
              </a:ext>
            </a:extLst>
          </p:cNvPr>
          <p:cNvSpPr>
            <a:spLocks xmlns:a="http://schemas.openxmlformats.org/drawingml/2006/main" noGrp="1"/>
          </p:cNvSpPr>
          <p:nvPr/>
        </p:nvSpPr>
        <p:spPr>
          <a:xfrm xmlns:a="http://schemas.openxmlformats.org/drawingml/2006/main">
            <a:off x="3695700" y="25050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8686E9DB-4FB4-4B05-9679-9AF954FE80A8}"/>
              </a:ext>
            </a:extLst>
          </p:cNvPr>
          <p:cNvSpPr>
            <a:spLocks xmlns:a="http://schemas.openxmlformats.org/drawingml/2006/main" noGrp="1"/>
          </p:cNvSpPr>
          <p:nvPr/>
        </p:nvSpPr>
        <p:spPr>
          <a:xfrm xmlns:a="http://schemas.openxmlformats.org/drawingml/2006/main">
            <a:off x="3790950" y="25812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Đạt sàn 60, mục tiêu 70–90; chốt Task C subset; adjudicate</a:t>
            </a:r>
          </a:p>
        </p:txBody>
      </p:sp>
      <p:sp>
        <p:nvSpPr>
          <p:cNvPr id="21" name="">
            <a:extLst xmlns:a="http://schemas.openxmlformats.org/drawingml/2006/main">
              <a:ext uri="{FF2B5EF4-FFF2-40B4-BE49-F238E27FC236}">
                <a16:creationId xmlns:a16="http://schemas.microsoft.com/office/drawing/2014/main" id="{87DC9D0D-484C-4826-B9C5-2AFBCC66E0E7}"/>
              </a:ext>
            </a:extLst>
          </p:cNvPr>
          <p:cNvSpPr>
            <a:spLocks xmlns:a="http://schemas.openxmlformats.org/drawingml/2006/main" noGrp="1"/>
          </p:cNvSpPr>
          <p:nvPr/>
        </p:nvSpPr>
        <p:spPr>
          <a:xfrm xmlns:a="http://schemas.openxmlformats.org/drawingml/2006/main">
            <a:off x="9410700" y="25050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E0475AC4-DD45-4EF6-B098-2BB1A06AFE05}"/>
              </a:ext>
            </a:extLst>
          </p:cNvPr>
          <p:cNvSpPr>
            <a:spLocks xmlns:a="http://schemas.openxmlformats.org/drawingml/2006/main" noGrp="1"/>
          </p:cNvSpPr>
          <p:nvPr/>
        </p:nvSpPr>
        <p:spPr>
          <a:xfrm xmlns:a="http://schemas.openxmlformats.org/drawingml/2006/main">
            <a:off x="9505950" y="25812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G6: đủ dữ liệu + nhãn</a:t>
            </a:r>
          </a:p>
        </p:txBody>
      </p:sp>
      <p:sp>
        <p:nvSpPr>
          <p:cNvPr id="23" name="">
            <a:extLst xmlns:a="http://schemas.openxmlformats.org/drawingml/2006/main">
              <a:ext uri="{FF2B5EF4-FFF2-40B4-BE49-F238E27FC236}">
                <a16:creationId xmlns:a16="http://schemas.microsoft.com/office/drawing/2014/main" id="{D679294F-7DC4-42DD-9952-D8F7CC18A5E4}"/>
              </a:ext>
            </a:extLst>
          </p:cNvPr>
          <p:cNvSpPr>
            <a:spLocks xmlns:a="http://schemas.openxmlformats.org/drawingml/2006/main" noGrp="1"/>
          </p:cNvSpPr>
          <p:nvPr/>
        </p:nvSpPr>
        <p:spPr>
          <a:xfrm xmlns:a="http://schemas.openxmlformats.org/drawingml/2006/main">
            <a:off x="552450" y="3114675"/>
            <a:ext cx="9048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CA2212BA-0DB8-4978-A7FD-DC85A8356F2F}"/>
              </a:ext>
            </a:extLst>
          </p:cNvPr>
          <p:cNvSpPr>
            <a:spLocks xmlns:a="http://schemas.openxmlformats.org/drawingml/2006/main" noGrp="1"/>
          </p:cNvSpPr>
          <p:nvPr/>
        </p:nvSpPr>
        <p:spPr>
          <a:xfrm xmlns:a="http://schemas.openxmlformats.org/drawingml/2006/main">
            <a:off x="647700" y="31908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W7</a:t>
            </a:r>
          </a:p>
        </p:txBody>
      </p:sp>
      <p:sp>
        <p:nvSpPr>
          <p:cNvPr id="25" name="">
            <a:extLst xmlns:a="http://schemas.openxmlformats.org/drawingml/2006/main">
              <a:ext uri="{FF2B5EF4-FFF2-40B4-BE49-F238E27FC236}">
                <a16:creationId xmlns:a16="http://schemas.microsoft.com/office/drawing/2014/main" id="{87D366F9-9908-4BA9-B6C9-CAFBCDF0B327}"/>
              </a:ext>
            </a:extLst>
          </p:cNvPr>
          <p:cNvSpPr>
            <a:spLocks xmlns:a="http://schemas.openxmlformats.org/drawingml/2006/main" noGrp="1"/>
          </p:cNvSpPr>
          <p:nvPr/>
        </p:nvSpPr>
        <p:spPr>
          <a:xfrm xmlns:a="http://schemas.openxmlformats.org/drawingml/2006/main">
            <a:off x="1457325" y="31146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A3088797-7674-4B7C-996C-C7832EECED2B}"/>
              </a:ext>
            </a:extLst>
          </p:cNvPr>
          <p:cNvSpPr>
            <a:spLocks xmlns:a="http://schemas.openxmlformats.org/drawingml/2006/main" noGrp="1"/>
          </p:cNvSpPr>
          <p:nvPr/>
        </p:nvSpPr>
        <p:spPr>
          <a:xfrm xmlns:a="http://schemas.openxmlformats.org/drawingml/2006/main">
            <a:off x="1552575" y="31908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Baseline</a:t>
            </a:r>
          </a:p>
        </p:txBody>
      </p:sp>
      <p:sp>
        <p:nvSpPr>
          <p:cNvPr id="27" name="">
            <a:extLst xmlns:a="http://schemas.openxmlformats.org/drawingml/2006/main">
              <a:ext uri="{FF2B5EF4-FFF2-40B4-BE49-F238E27FC236}">
                <a16:creationId xmlns:a16="http://schemas.microsoft.com/office/drawing/2014/main" id="{3F275DEC-DA49-4503-9ACB-095DCA2A0CE3}"/>
              </a:ext>
            </a:extLst>
          </p:cNvPr>
          <p:cNvSpPr>
            <a:spLocks xmlns:a="http://schemas.openxmlformats.org/drawingml/2006/main" noGrp="1"/>
          </p:cNvSpPr>
          <p:nvPr/>
        </p:nvSpPr>
        <p:spPr>
          <a:xfrm xmlns:a="http://schemas.openxmlformats.org/drawingml/2006/main">
            <a:off x="3695700" y="3114675"/>
            <a:ext cx="571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4AE5E785-21A6-4522-8661-3D7FFCED132F}"/>
              </a:ext>
            </a:extLst>
          </p:cNvPr>
          <p:cNvSpPr>
            <a:spLocks xmlns:a="http://schemas.openxmlformats.org/drawingml/2006/main" noGrp="1"/>
          </p:cNvSpPr>
          <p:nvPr/>
        </p:nvSpPr>
        <p:spPr>
          <a:xfrm xmlns:a="http://schemas.openxmlformats.org/drawingml/2006/main">
            <a:off x="3790950" y="31908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Audio-only, transcript-only, LLM local; GroupKFold</a:t>
            </a:r>
          </a:p>
        </p:txBody>
      </p:sp>
      <p:sp>
        <p:nvSpPr>
          <p:cNvPr id="29" name="">
            <a:extLst xmlns:a="http://schemas.openxmlformats.org/drawingml/2006/main">
              <a:ext uri="{FF2B5EF4-FFF2-40B4-BE49-F238E27FC236}">
                <a16:creationId xmlns:a16="http://schemas.microsoft.com/office/drawing/2014/main" id="{809AA1A4-A4C5-4EED-BCE7-348DF8014540}"/>
              </a:ext>
            </a:extLst>
          </p:cNvPr>
          <p:cNvSpPr>
            <a:spLocks xmlns:a="http://schemas.openxmlformats.org/drawingml/2006/main" noGrp="1"/>
          </p:cNvSpPr>
          <p:nvPr/>
        </p:nvSpPr>
        <p:spPr>
          <a:xfrm xmlns:a="http://schemas.openxmlformats.org/drawingml/2006/main">
            <a:off x="9410700" y="31146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91D44F68-BA97-4BF0-BB5B-BFB3DA9A1B05}"/>
              </a:ext>
            </a:extLst>
          </p:cNvPr>
          <p:cNvSpPr>
            <a:spLocks xmlns:a="http://schemas.openxmlformats.org/drawingml/2006/main" noGrp="1"/>
          </p:cNvSpPr>
          <p:nvPr/>
        </p:nvSpPr>
        <p:spPr>
          <a:xfrm xmlns:a="http://schemas.openxmlformats.org/drawingml/2006/main">
            <a:off x="9505950" y="31908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G7: bảng baseline có CI</a:t>
            </a:r>
          </a:p>
        </p:txBody>
      </p:sp>
      <p:sp>
        <p:nvSpPr>
          <p:cNvPr id="31" name="">
            <a:extLst xmlns:a="http://schemas.openxmlformats.org/drawingml/2006/main">
              <a:ext uri="{FF2B5EF4-FFF2-40B4-BE49-F238E27FC236}">
                <a16:creationId xmlns:a16="http://schemas.microsoft.com/office/drawing/2014/main" id="{0ADB1818-1527-4836-9BA0-1BE723408468}"/>
              </a:ext>
            </a:extLst>
          </p:cNvPr>
          <p:cNvSpPr>
            <a:spLocks xmlns:a="http://schemas.openxmlformats.org/drawingml/2006/main" noGrp="1"/>
          </p:cNvSpPr>
          <p:nvPr/>
        </p:nvSpPr>
        <p:spPr>
          <a:xfrm xmlns:a="http://schemas.openxmlformats.org/drawingml/2006/main">
            <a:off x="552450" y="37242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2" name="">
            <a:extLst xmlns:a="http://schemas.openxmlformats.org/drawingml/2006/main">
              <a:ext uri="{FF2B5EF4-FFF2-40B4-BE49-F238E27FC236}">
                <a16:creationId xmlns:a16="http://schemas.microsoft.com/office/drawing/2014/main" id="{1733C1BB-26AB-43B7-B77B-3696E0D4F021}"/>
              </a:ext>
            </a:extLst>
          </p:cNvPr>
          <p:cNvSpPr>
            <a:spLocks xmlns:a="http://schemas.openxmlformats.org/drawingml/2006/main" noGrp="1"/>
          </p:cNvSpPr>
          <p:nvPr/>
        </p:nvSpPr>
        <p:spPr>
          <a:xfrm xmlns:a="http://schemas.openxmlformats.org/drawingml/2006/main">
            <a:off x="647700" y="38004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W8</a:t>
            </a:r>
          </a:p>
        </p:txBody>
      </p:sp>
      <p:sp>
        <p:nvSpPr>
          <p:cNvPr id="33" name="">
            <a:extLst xmlns:a="http://schemas.openxmlformats.org/drawingml/2006/main">
              <a:ext uri="{FF2B5EF4-FFF2-40B4-BE49-F238E27FC236}">
                <a16:creationId xmlns:a16="http://schemas.microsoft.com/office/drawing/2014/main" id="{BE3BC2A4-2295-462C-B40E-066E1D14017F}"/>
              </a:ext>
            </a:extLst>
          </p:cNvPr>
          <p:cNvSpPr>
            <a:spLocks xmlns:a="http://schemas.openxmlformats.org/drawingml/2006/main" noGrp="1"/>
          </p:cNvSpPr>
          <p:nvPr/>
        </p:nvSpPr>
        <p:spPr>
          <a:xfrm xmlns:a="http://schemas.openxmlformats.org/drawingml/2006/main">
            <a:off x="1457325" y="37242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4" name="">
            <a:extLst xmlns:a="http://schemas.openxmlformats.org/drawingml/2006/main">
              <a:ext uri="{FF2B5EF4-FFF2-40B4-BE49-F238E27FC236}">
                <a16:creationId xmlns:a16="http://schemas.microsoft.com/office/drawing/2014/main" id="{5136E1CE-1FF0-41A8-8897-94B3708D0B62}"/>
              </a:ext>
            </a:extLst>
          </p:cNvPr>
          <p:cNvSpPr>
            <a:spLocks xmlns:a="http://schemas.openxmlformats.org/drawingml/2006/main" noGrp="1"/>
          </p:cNvSpPr>
          <p:nvPr/>
        </p:nvSpPr>
        <p:spPr>
          <a:xfrm xmlns:a="http://schemas.openxmlformats.org/drawingml/2006/main">
            <a:off x="1552575" y="38004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Fusion + calibration</a:t>
            </a:r>
          </a:p>
        </p:txBody>
      </p:sp>
      <p:sp>
        <p:nvSpPr>
          <p:cNvPr id="35" name="">
            <a:extLst xmlns:a="http://schemas.openxmlformats.org/drawingml/2006/main">
              <a:ext uri="{FF2B5EF4-FFF2-40B4-BE49-F238E27FC236}">
                <a16:creationId xmlns:a16="http://schemas.microsoft.com/office/drawing/2014/main" id="{FA69AE90-69B0-4F10-B9B0-FFB4D0F9B556}"/>
              </a:ext>
            </a:extLst>
          </p:cNvPr>
          <p:cNvSpPr>
            <a:spLocks xmlns:a="http://schemas.openxmlformats.org/drawingml/2006/main" noGrp="1"/>
          </p:cNvSpPr>
          <p:nvPr/>
        </p:nvSpPr>
        <p:spPr>
          <a:xfrm xmlns:a="http://schemas.openxmlformats.org/drawingml/2006/main">
            <a:off x="3695700" y="37242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6" name="">
            <a:extLst xmlns:a="http://schemas.openxmlformats.org/drawingml/2006/main">
              <a:ext uri="{FF2B5EF4-FFF2-40B4-BE49-F238E27FC236}">
                <a16:creationId xmlns:a16="http://schemas.microsoft.com/office/drawing/2014/main" id="{ACB78468-8B92-4AEF-8863-EE773E396A4A}"/>
              </a:ext>
            </a:extLst>
          </p:cNvPr>
          <p:cNvSpPr>
            <a:spLocks xmlns:a="http://schemas.openxmlformats.org/drawingml/2006/main" noGrp="1"/>
          </p:cNvSpPr>
          <p:nvPr/>
        </p:nvSpPr>
        <p:spPr>
          <a:xfrm xmlns:a="http://schemas.openxmlformats.org/drawingml/2006/main">
            <a:off x="3790950" y="38004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Late fusion; threshold teacher review; ablation</a:t>
            </a:r>
          </a:p>
        </p:txBody>
      </p:sp>
      <p:sp>
        <p:nvSpPr>
          <p:cNvPr id="37" name="">
            <a:extLst xmlns:a="http://schemas.openxmlformats.org/drawingml/2006/main">
              <a:ext uri="{FF2B5EF4-FFF2-40B4-BE49-F238E27FC236}">
                <a16:creationId xmlns:a16="http://schemas.microsoft.com/office/drawing/2014/main" id="{97940BB2-2D14-4DA7-9199-86E038F0EA20}"/>
              </a:ext>
            </a:extLst>
          </p:cNvPr>
          <p:cNvSpPr>
            <a:spLocks xmlns:a="http://schemas.openxmlformats.org/drawingml/2006/main" noGrp="1"/>
          </p:cNvSpPr>
          <p:nvPr/>
        </p:nvSpPr>
        <p:spPr>
          <a:xfrm xmlns:a="http://schemas.openxmlformats.org/drawingml/2006/main">
            <a:off x="9410700" y="37242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8" name="">
            <a:extLst xmlns:a="http://schemas.openxmlformats.org/drawingml/2006/main">
              <a:ext uri="{FF2B5EF4-FFF2-40B4-BE49-F238E27FC236}">
                <a16:creationId xmlns:a16="http://schemas.microsoft.com/office/drawing/2014/main" id="{D715E8D6-5DE8-4DA1-8A72-3D95C8A3D3B7}"/>
              </a:ext>
            </a:extLst>
          </p:cNvPr>
          <p:cNvSpPr>
            <a:spLocks xmlns:a="http://schemas.openxmlformats.org/drawingml/2006/main" noGrp="1"/>
          </p:cNvSpPr>
          <p:nvPr/>
        </p:nvSpPr>
        <p:spPr>
          <a:xfrm xmlns:a="http://schemas.openxmlformats.org/drawingml/2006/main">
            <a:off x="9505950" y="38004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G8: model freeze</a:t>
            </a:r>
          </a:p>
        </p:txBody>
      </p:sp>
      <p:sp>
        <p:nvSpPr>
          <p:cNvPr id="39" name="">
            <a:extLst xmlns:a="http://schemas.openxmlformats.org/drawingml/2006/main">
              <a:ext uri="{FF2B5EF4-FFF2-40B4-BE49-F238E27FC236}">
                <a16:creationId xmlns:a16="http://schemas.microsoft.com/office/drawing/2014/main" id="{A81769C9-CC35-4358-B842-E3B52A78C29A}"/>
              </a:ext>
            </a:extLst>
          </p:cNvPr>
          <p:cNvSpPr>
            <a:spLocks xmlns:a="http://schemas.openxmlformats.org/drawingml/2006/main" noGrp="1"/>
          </p:cNvSpPr>
          <p:nvPr/>
        </p:nvSpPr>
        <p:spPr>
          <a:xfrm xmlns:a="http://schemas.openxmlformats.org/drawingml/2006/main">
            <a:off x="552450" y="4333875"/>
            <a:ext cx="9048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0" name="">
            <a:extLst xmlns:a="http://schemas.openxmlformats.org/drawingml/2006/main">
              <a:ext uri="{FF2B5EF4-FFF2-40B4-BE49-F238E27FC236}">
                <a16:creationId xmlns:a16="http://schemas.microsoft.com/office/drawing/2014/main" id="{517E09C7-DB05-42B0-A06C-146225D0E789}"/>
              </a:ext>
            </a:extLst>
          </p:cNvPr>
          <p:cNvSpPr>
            <a:spLocks xmlns:a="http://schemas.openxmlformats.org/drawingml/2006/main" noGrp="1"/>
          </p:cNvSpPr>
          <p:nvPr/>
        </p:nvSpPr>
        <p:spPr>
          <a:xfrm xmlns:a="http://schemas.openxmlformats.org/drawingml/2006/main">
            <a:off x="647700" y="44100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W9</a:t>
            </a:r>
          </a:p>
        </p:txBody>
      </p:sp>
      <p:sp>
        <p:nvSpPr>
          <p:cNvPr id="41" name="">
            <a:extLst xmlns:a="http://schemas.openxmlformats.org/drawingml/2006/main">
              <a:ext uri="{FF2B5EF4-FFF2-40B4-BE49-F238E27FC236}">
                <a16:creationId xmlns:a16="http://schemas.microsoft.com/office/drawing/2014/main" id="{B4049B78-FDD9-4606-B24A-473E4D89EA79}"/>
              </a:ext>
            </a:extLst>
          </p:cNvPr>
          <p:cNvSpPr>
            <a:spLocks xmlns:a="http://schemas.openxmlformats.org/drawingml/2006/main" noGrp="1"/>
          </p:cNvSpPr>
          <p:nvPr/>
        </p:nvSpPr>
        <p:spPr>
          <a:xfrm xmlns:a="http://schemas.openxmlformats.org/drawingml/2006/main">
            <a:off x="1457325" y="43338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2" name="">
            <a:extLst xmlns:a="http://schemas.openxmlformats.org/drawingml/2006/main">
              <a:ext uri="{FF2B5EF4-FFF2-40B4-BE49-F238E27FC236}">
                <a16:creationId xmlns:a16="http://schemas.microsoft.com/office/drawing/2014/main" id="{2ED0D678-EC9C-45EB-8B14-6CC1C3708FC9}"/>
              </a:ext>
            </a:extLst>
          </p:cNvPr>
          <p:cNvSpPr>
            <a:spLocks xmlns:a="http://schemas.openxmlformats.org/drawingml/2006/main" noGrp="1"/>
          </p:cNvSpPr>
          <p:nvPr/>
        </p:nvSpPr>
        <p:spPr>
          <a:xfrm xmlns:a="http://schemas.openxmlformats.org/drawingml/2006/main">
            <a:off x="1552575" y="44100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Evaluation + UX</a:t>
            </a:r>
          </a:p>
        </p:txBody>
      </p:sp>
      <p:sp>
        <p:nvSpPr>
          <p:cNvPr id="43" name="">
            <a:extLst xmlns:a="http://schemas.openxmlformats.org/drawingml/2006/main">
              <a:ext uri="{FF2B5EF4-FFF2-40B4-BE49-F238E27FC236}">
                <a16:creationId xmlns:a16="http://schemas.microsoft.com/office/drawing/2014/main" id="{0BE48E27-2876-48D6-A13F-AEF5CDFF9416}"/>
              </a:ext>
            </a:extLst>
          </p:cNvPr>
          <p:cNvSpPr>
            <a:spLocks xmlns:a="http://schemas.openxmlformats.org/drawingml/2006/main" noGrp="1"/>
          </p:cNvSpPr>
          <p:nvPr/>
        </p:nvSpPr>
        <p:spPr>
          <a:xfrm xmlns:a="http://schemas.openxmlformats.org/drawingml/2006/main">
            <a:off x="3695700" y="4333875"/>
            <a:ext cx="5715000"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4" name="">
            <a:extLst xmlns:a="http://schemas.openxmlformats.org/drawingml/2006/main">
              <a:ext uri="{FF2B5EF4-FFF2-40B4-BE49-F238E27FC236}">
                <a16:creationId xmlns:a16="http://schemas.microsoft.com/office/drawing/2014/main" id="{4D77E15D-79C9-44F5-B85D-48CC6CB53DCA}"/>
              </a:ext>
            </a:extLst>
          </p:cNvPr>
          <p:cNvSpPr>
            <a:spLocks xmlns:a="http://schemas.openxmlformats.org/drawingml/2006/main" noGrp="1"/>
          </p:cNvSpPr>
          <p:nvPr/>
        </p:nvSpPr>
        <p:spPr>
          <a:xfrm xmlns:a="http://schemas.openxmlformats.org/drawingml/2006/main">
            <a:off x="3790950" y="44100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Error/fairness audit; teacher queue; usability test</a:t>
            </a:r>
          </a:p>
        </p:txBody>
      </p:sp>
      <p:sp>
        <p:nvSpPr>
          <p:cNvPr id="45" name="">
            <a:extLst xmlns:a="http://schemas.openxmlformats.org/drawingml/2006/main">
              <a:ext uri="{FF2B5EF4-FFF2-40B4-BE49-F238E27FC236}">
                <a16:creationId xmlns:a16="http://schemas.microsoft.com/office/drawing/2014/main" id="{1277636F-AEB6-45E8-8667-4F00B6EA3CB1}"/>
              </a:ext>
            </a:extLst>
          </p:cNvPr>
          <p:cNvSpPr>
            <a:spLocks xmlns:a="http://schemas.openxmlformats.org/drawingml/2006/main" noGrp="1"/>
          </p:cNvSpPr>
          <p:nvPr/>
        </p:nvSpPr>
        <p:spPr>
          <a:xfrm xmlns:a="http://schemas.openxmlformats.org/drawingml/2006/main">
            <a:off x="9410700" y="4333875"/>
            <a:ext cx="2238375" cy="6096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46" name="">
            <a:extLst xmlns:a="http://schemas.openxmlformats.org/drawingml/2006/main">
              <a:ext uri="{FF2B5EF4-FFF2-40B4-BE49-F238E27FC236}">
                <a16:creationId xmlns:a16="http://schemas.microsoft.com/office/drawing/2014/main" id="{A3D92D08-7AB0-43DD-9D28-7DC2D13EFFC1}"/>
              </a:ext>
            </a:extLst>
          </p:cNvPr>
          <p:cNvSpPr>
            <a:spLocks xmlns:a="http://schemas.openxmlformats.org/drawingml/2006/main" noGrp="1"/>
          </p:cNvSpPr>
          <p:nvPr/>
        </p:nvSpPr>
        <p:spPr>
          <a:xfrm xmlns:a="http://schemas.openxmlformats.org/drawingml/2006/main">
            <a:off x="9505950" y="44100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G9: acceptance test</a:t>
            </a:r>
          </a:p>
        </p:txBody>
      </p:sp>
      <p:sp>
        <p:nvSpPr>
          <p:cNvPr id="47" name="">
            <a:extLst xmlns:a="http://schemas.openxmlformats.org/drawingml/2006/main">
              <a:ext uri="{FF2B5EF4-FFF2-40B4-BE49-F238E27FC236}">
                <a16:creationId xmlns:a16="http://schemas.microsoft.com/office/drawing/2014/main" id="{AE05C818-7DA4-449F-AFE4-9A1A1E249A00}"/>
              </a:ext>
            </a:extLst>
          </p:cNvPr>
          <p:cNvSpPr>
            <a:spLocks xmlns:a="http://schemas.openxmlformats.org/drawingml/2006/main" noGrp="1"/>
          </p:cNvSpPr>
          <p:nvPr/>
        </p:nvSpPr>
        <p:spPr>
          <a:xfrm xmlns:a="http://schemas.openxmlformats.org/drawingml/2006/main">
            <a:off x="552450" y="4943475"/>
            <a:ext cx="9048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8" name="">
            <a:extLst xmlns:a="http://schemas.openxmlformats.org/drawingml/2006/main">
              <a:ext uri="{FF2B5EF4-FFF2-40B4-BE49-F238E27FC236}">
                <a16:creationId xmlns:a16="http://schemas.microsoft.com/office/drawing/2014/main" id="{13C917A1-2ED0-43E3-B8C2-9E06FD956038}"/>
              </a:ext>
            </a:extLst>
          </p:cNvPr>
          <p:cNvSpPr>
            <a:spLocks xmlns:a="http://schemas.openxmlformats.org/drawingml/2006/main" noGrp="1"/>
          </p:cNvSpPr>
          <p:nvPr/>
        </p:nvSpPr>
        <p:spPr>
          <a:xfrm xmlns:a="http://schemas.openxmlformats.org/drawingml/2006/main">
            <a:off x="647700" y="5019675"/>
            <a:ext cx="71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W10</a:t>
            </a:r>
          </a:p>
        </p:txBody>
      </p:sp>
      <p:sp>
        <p:nvSpPr>
          <p:cNvPr id="49" name="">
            <a:extLst xmlns:a="http://schemas.openxmlformats.org/drawingml/2006/main">
              <a:ext uri="{FF2B5EF4-FFF2-40B4-BE49-F238E27FC236}">
                <a16:creationId xmlns:a16="http://schemas.microsoft.com/office/drawing/2014/main" id="{DF3B7270-1659-486B-B018-B62688F9E077}"/>
              </a:ext>
            </a:extLst>
          </p:cNvPr>
          <p:cNvSpPr>
            <a:spLocks xmlns:a="http://schemas.openxmlformats.org/drawingml/2006/main" noGrp="1"/>
          </p:cNvSpPr>
          <p:nvPr/>
        </p:nvSpPr>
        <p:spPr>
          <a:xfrm xmlns:a="http://schemas.openxmlformats.org/drawingml/2006/main">
            <a:off x="1457325" y="49434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0" name="">
            <a:extLst xmlns:a="http://schemas.openxmlformats.org/drawingml/2006/main">
              <a:ext uri="{FF2B5EF4-FFF2-40B4-BE49-F238E27FC236}">
                <a16:creationId xmlns:a16="http://schemas.microsoft.com/office/drawing/2014/main" id="{58EC4A28-4244-4C4E-9E53-19F4DA42F2B3}"/>
              </a:ext>
            </a:extLst>
          </p:cNvPr>
          <p:cNvSpPr>
            <a:spLocks xmlns:a="http://schemas.openxmlformats.org/drawingml/2006/main" noGrp="1"/>
          </p:cNvSpPr>
          <p:nvPr/>
        </p:nvSpPr>
        <p:spPr>
          <a:xfrm xmlns:a="http://schemas.openxmlformats.org/drawingml/2006/main">
            <a:off x="1552575" y="50196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Đóng gói</a:t>
            </a:r>
          </a:p>
        </p:txBody>
      </p:sp>
      <p:sp>
        <p:nvSpPr>
          <p:cNvPr id="51" name="">
            <a:extLst xmlns:a="http://schemas.openxmlformats.org/drawingml/2006/main">
              <a:ext uri="{FF2B5EF4-FFF2-40B4-BE49-F238E27FC236}">
                <a16:creationId xmlns:a16="http://schemas.microsoft.com/office/drawing/2014/main" id="{BF1877A6-AF3C-4E36-A605-5E3B18816599}"/>
              </a:ext>
            </a:extLst>
          </p:cNvPr>
          <p:cNvSpPr>
            <a:spLocks xmlns:a="http://schemas.openxmlformats.org/drawingml/2006/main" noGrp="1"/>
          </p:cNvSpPr>
          <p:nvPr/>
        </p:nvSpPr>
        <p:spPr>
          <a:xfrm xmlns:a="http://schemas.openxmlformats.org/drawingml/2006/main">
            <a:off x="3695700" y="4943475"/>
            <a:ext cx="5715000"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2" name="">
            <a:extLst xmlns:a="http://schemas.openxmlformats.org/drawingml/2006/main">
              <a:ext uri="{FF2B5EF4-FFF2-40B4-BE49-F238E27FC236}">
                <a16:creationId xmlns:a16="http://schemas.microsoft.com/office/drawing/2014/main" id="{C54F72AD-427B-466F-B4A3-9C7DEFE60CEA}"/>
              </a:ext>
            </a:extLst>
          </p:cNvPr>
          <p:cNvSpPr>
            <a:spLocks xmlns:a="http://schemas.openxmlformats.org/drawingml/2006/main" noGrp="1"/>
          </p:cNvSpPr>
          <p:nvPr/>
        </p:nvSpPr>
        <p:spPr>
          <a:xfrm xmlns:a="http://schemas.openxmlformats.org/drawingml/2006/main">
            <a:off x="3790950" y="5019675"/>
            <a:ext cx="552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Confirmation run; viết kết quả; slide/demo; archive artifact</a:t>
            </a:r>
          </a:p>
        </p:txBody>
      </p:sp>
      <p:sp>
        <p:nvSpPr>
          <p:cNvPr id="53" name="">
            <a:extLst xmlns:a="http://schemas.openxmlformats.org/drawingml/2006/main">
              <a:ext uri="{FF2B5EF4-FFF2-40B4-BE49-F238E27FC236}">
                <a16:creationId xmlns:a16="http://schemas.microsoft.com/office/drawing/2014/main" id="{972D37FD-0FBE-4309-A7E5-EBE0E1ED616E}"/>
              </a:ext>
            </a:extLst>
          </p:cNvPr>
          <p:cNvSpPr>
            <a:spLocks xmlns:a="http://schemas.openxmlformats.org/drawingml/2006/main" noGrp="1"/>
          </p:cNvSpPr>
          <p:nvPr/>
        </p:nvSpPr>
        <p:spPr>
          <a:xfrm xmlns:a="http://schemas.openxmlformats.org/drawingml/2006/main">
            <a:off x="9410700" y="4943475"/>
            <a:ext cx="2238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54" name="">
            <a:extLst xmlns:a="http://schemas.openxmlformats.org/drawingml/2006/main">
              <a:ext uri="{FF2B5EF4-FFF2-40B4-BE49-F238E27FC236}">
                <a16:creationId xmlns:a16="http://schemas.microsoft.com/office/drawing/2014/main" id="{4E86955E-8C48-4389-B66D-871DA989E7B0}"/>
              </a:ext>
            </a:extLst>
          </p:cNvPr>
          <p:cNvSpPr>
            <a:spLocks xmlns:a="http://schemas.openxmlformats.org/drawingml/2006/main" noGrp="1"/>
          </p:cNvSpPr>
          <p:nvPr/>
        </p:nvSpPr>
        <p:spPr>
          <a:xfrm xmlns:a="http://schemas.openxmlformats.org/drawingml/2006/main">
            <a:off x="9505950" y="5019675"/>
            <a:ext cx="2047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125" b="0" i="0">
                <a:solidFill>
                  <a:srgbClr val="28374A"/>
                </a:solidFill>
                <a:latin typeface="Aptos"/>
                <a:ea typeface="Aptos"/>
                <a:cs typeface="Aptos"/>
              </a:defRPr>
            </a:pPr>
            <a:r>
              <a:rPr sz="1125" b="0" i="0">
                <a:solidFill>
                  <a:srgbClr val="28374A"/>
                </a:solidFill>
                <a:latin typeface="Aptos"/>
                <a:ea typeface="Aptos"/>
                <a:cs typeface="Aptos"/>
              </a:rPr>
              <a:t>G10: tái lập được</a:t>
            </a:r>
          </a:p>
        </p:txBody>
      </p:sp>
      <p:sp>
        <p:nvSpPr>
          <p:cNvPr id="55" name="">
            <a:extLst xmlns:a="http://schemas.openxmlformats.org/drawingml/2006/main">
              <a:ext uri="{FF2B5EF4-FFF2-40B4-BE49-F238E27FC236}">
                <a16:creationId xmlns:a16="http://schemas.microsoft.com/office/drawing/2014/main" id="{F8061892-2950-473C-B25D-695C2DD467B1}"/>
              </a:ext>
            </a:extLst>
          </p:cNvPr>
          <p:cNvSpPr>
            <a:spLocks xmlns:a="http://schemas.openxmlformats.org/drawingml/2006/main" noGrp="1"/>
          </p:cNvSpPr>
          <p:nvPr/>
        </p:nvSpPr>
        <p:spPr>
          <a:xfrm xmlns:a="http://schemas.openxmlformats.org/drawingml/2006/main">
            <a:off x="2286000" y="5810250"/>
            <a:ext cx="7620000" cy="400050"/>
          </a:xfrm>
          <a:prstGeom xmlns:a="http://schemas.openxmlformats.org/drawingml/2006/main" prst="roundRect">
            <a:avLst>
              <a:gd name="adj" fmla="val 14286"/>
            </a:avLst>
          </a:prstGeom>
          <a:solidFill xmlns:a="http://schemas.openxmlformats.org/drawingml/2006/main">
            <a:srgbClr val="FBEAEA"/>
          </a:solidFill>
          <a:ln xmlns:a="http://schemas.openxmlformats.org/drawingml/2006/main" w="9525">
            <a:solidFill>
              <a:srgbClr val="B43D3D"/>
            </a:solidFill>
            <a:prstDash val="solid"/>
          </a:ln>
        </p:spPr>
      </p:sp>
      <p:sp>
        <p:nvSpPr>
          <p:cNvPr id="56" name="">
            <a:extLst xmlns:a="http://schemas.openxmlformats.org/drawingml/2006/main">
              <a:ext uri="{FF2B5EF4-FFF2-40B4-BE49-F238E27FC236}">
                <a16:creationId xmlns:a16="http://schemas.microsoft.com/office/drawing/2014/main" id="{C3B13546-95AB-4246-9423-475AB8419C03}"/>
              </a:ext>
            </a:extLst>
          </p:cNvPr>
          <p:cNvSpPr>
            <a:spLocks xmlns:a="http://schemas.openxmlformats.org/drawingml/2006/main" noGrp="1"/>
          </p:cNvSpPr>
          <p:nvPr/>
        </p:nvSpPr>
        <p:spPr>
          <a:xfrm xmlns:a="http://schemas.openxmlformats.org/drawingml/2006/main">
            <a:off x="2476500" y="5943600"/>
            <a:ext cx="72390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1728"/>
          </a:bodyPr>
          <a:lstStyle xmlns:a="http://schemas.openxmlformats.org/drawingml/2006/main"/>
          <a:p xmlns:a="http://schemas.openxmlformats.org/drawingml/2006/main">
            <a:pPr algn="l">
              <a:lnSpc>
                <a:spcPct val="105000"/>
              </a:lnSpc>
              <a:buNone/>
              <a:defRPr sz="1350" b="1" i="0">
                <a:solidFill>
                  <a:srgbClr val="B43D3D"/>
                </a:solidFill>
                <a:latin typeface="Aptos"/>
                <a:ea typeface="Aptos"/>
                <a:cs typeface="Aptos"/>
              </a:defRPr>
            </a:pPr>
            <a:r>
              <a:rPr sz="1350" b="1" i="0">
                <a:solidFill>
                  <a:srgbClr val="B43D3D"/>
                </a:solidFill>
                <a:latin typeface="Aptos"/>
                <a:ea typeface="Aptos"/>
                <a:cs typeface="Aptos"/>
              </a:rPr>
              <a:t>W10 dùng để xác nhận và đóng gói, không dùng để bắt đầu viết luận văn.</a:t>
            </a:r>
          </a:p>
        </p:txBody>
      </p:sp>
    </p:spTree>
    <p:extLst>
      <p:ext uri="{BB962C8B-B14F-4D97-AF65-F5344CB8AC3E}">
        <p14:creationId xmlns:p14="http://schemas.microsoft.com/office/powerpoint/2010/main" val="599627870"/>
      </p:ext>
    </p:extLst>
  </p:cSld>
</p:sld>
</file>

<file path=ppt/slides/slide3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69D433D0-127E-4E55-9A4B-9AF8C7F062A8}"/>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TÍNH KHẢ THI VÀ DỰ PHÒNG</a:t>
            </a:r>
          </a:p>
        </p:txBody>
      </p:sp>
      <p:sp>
        <p:nvSpPr>
          <p:cNvPr id="2" name="">
            <a:extLst xmlns:a="http://schemas.openxmlformats.org/drawingml/2006/main">
              <a:ext uri="{FF2B5EF4-FFF2-40B4-BE49-F238E27FC236}">
                <a16:creationId xmlns:a16="http://schemas.microsoft.com/office/drawing/2014/main" id="{69706386-FCCE-474A-91B3-2D0BAB392B72}"/>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Đề tài khả thi có điều kiện; rater và dữ liệu là đường găng</a:t>
            </a:r>
          </a:p>
        </p:txBody>
      </p:sp>
      <p:sp>
        <p:nvSpPr>
          <p:cNvPr id="3" name="">
            <a:extLst xmlns:a="http://schemas.openxmlformats.org/drawingml/2006/main">
              <a:ext uri="{FF2B5EF4-FFF2-40B4-BE49-F238E27FC236}">
                <a16:creationId xmlns:a16="http://schemas.microsoft.com/office/drawing/2014/main" id="{BE62DDBB-AC8E-468B-9E19-9B7CDB90612B}"/>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Rủi ro được xử lý bằng cổng quyết định, không chờ đến cuối mới phát hiện.</a:t>
            </a:r>
          </a:p>
        </p:txBody>
      </p:sp>
      <p:sp>
        <p:nvSpPr>
          <p:cNvPr id="4" name="">
            <a:extLst xmlns:a="http://schemas.openxmlformats.org/drawingml/2006/main">
              <a:ext uri="{FF2B5EF4-FFF2-40B4-BE49-F238E27FC236}">
                <a16:creationId xmlns:a16="http://schemas.microsoft.com/office/drawing/2014/main" id="{9D280830-A9AC-4C81-83E1-A893C436A7D1}"/>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1E6F68C-92F7-4046-A480-5970222C8881}"/>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KHẢ THI</a:t>
            </a:r>
          </a:p>
        </p:txBody>
      </p:sp>
      <p:sp>
        <p:nvSpPr>
          <p:cNvPr id="6" name="">
            <a:extLst xmlns:a="http://schemas.openxmlformats.org/drawingml/2006/main">
              <a:ext uri="{FF2B5EF4-FFF2-40B4-BE49-F238E27FC236}">
                <a16:creationId xmlns:a16="http://schemas.microsoft.com/office/drawing/2014/main" id="{C020191E-F106-4B01-A5CD-DD09E1080F82}"/>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36</a:t>
            </a:r>
          </a:p>
        </p:txBody>
      </p:sp>
      <p:sp>
        <p:nvSpPr>
          <p:cNvPr id="7" name="">
            <a:extLst xmlns:a="http://schemas.openxmlformats.org/drawingml/2006/main">
              <a:ext uri="{FF2B5EF4-FFF2-40B4-BE49-F238E27FC236}">
                <a16:creationId xmlns:a16="http://schemas.microsoft.com/office/drawing/2014/main" id="{0603B4DC-297E-47BE-A9AE-AF0B7DC86912}"/>
              </a:ext>
            </a:extLst>
          </p:cNvPr>
          <p:cNvSpPr>
            <a:spLocks xmlns:a="http://schemas.openxmlformats.org/drawingml/2006/main" noGrp="1"/>
          </p:cNvSpPr>
          <p:nvPr/>
        </p:nvSpPr>
        <p:spPr>
          <a:xfrm xmlns:a="http://schemas.openxmlformats.org/drawingml/2006/main">
            <a:off x="809625" y="2047875"/>
            <a:ext cx="26670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162FA4EF-991A-4B10-848C-DFB098F6878C}"/>
              </a:ext>
            </a:extLst>
          </p:cNvPr>
          <p:cNvSpPr>
            <a:spLocks xmlns:a="http://schemas.openxmlformats.org/drawingml/2006/main" noGrp="1"/>
          </p:cNvSpPr>
          <p:nvPr/>
        </p:nvSpPr>
        <p:spPr>
          <a:xfrm xmlns:a="http://schemas.openxmlformats.org/drawingml/2006/main">
            <a:off x="904875" y="2143125"/>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Rủi ro</a:t>
            </a:r>
          </a:p>
        </p:txBody>
      </p:sp>
      <p:sp>
        <p:nvSpPr>
          <p:cNvPr id="9" name="">
            <a:extLst xmlns:a="http://schemas.openxmlformats.org/drawingml/2006/main">
              <a:ext uri="{FF2B5EF4-FFF2-40B4-BE49-F238E27FC236}">
                <a16:creationId xmlns:a16="http://schemas.microsoft.com/office/drawing/2014/main" id="{2FA8503E-3A7C-4765-94FA-D172C6E1D7B6}"/>
              </a:ext>
            </a:extLst>
          </p:cNvPr>
          <p:cNvSpPr>
            <a:spLocks xmlns:a="http://schemas.openxmlformats.org/drawingml/2006/main" noGrp="1"/>
          </p:cNvSpPr>
          <p:nvPr/>
        </p:nvSpPr>
        <p:spPr>
          <a:xfrm xmlns:a="http://schemas.openxmlformats.org/drawingml/2006/main">
            <a:off x="3476625" y="2047875"/>
            <a:ext cx="323850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A38AB40B-40F2-48A2-8ED6-1817472BB01C}"/>
              </a:ext>
            </a:extLst>
          </p:cNvPr>
          <p:cNvSpPr>
            <a:spLocks xmlns:a="http://schemas.openxmlformats.org/drawingml/2006/main" noGrp="1"/>
          </p:cNvSpPr>
          <p:nvPr/>
        </p:nvSpPr>
        <p:spPr>
          <a:xfrm xmlns:a="http://schemas.openxmlformats.org/drawingml/2006/main">
            <a:off x="3571875" y="214312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Dấu hiệu sớm</a:t>
            </a:r>
          </a:p>
        </p:txBody>
      </p:sp>
      <p:sp>
        <p:nvSpPr>
          <p:cNvPr id="11" name="">
            <a:extLst xmlns:a="http://schemas.openxmlformats.org/drawingml/2006/main">
              <a:ext uri="{FF2B5EF4-FFF2-40B4-BE49-F238E27FC236}">
                <a16:creationId xmlns:a16="http://schemas.microsoft.com/office/drawing/2014/main" id="{AB0F9C4F-0A38-4822-9472-EE0FEA261B73}"/>
              </a:ext>
            </a:extLst>
          </p:cNvPr>
          <p:cNvSpPr>
            <a:spLocks xmlns:a="http://schemas.openxmlformats.org/drawingml/2006/main" noGrp="1"/>
          </p:cNvSpPr>
          <p:nvPr/>
        </p:nvSpPr>
        <p:spPr>
          <a:xfrm xmlns:a="http://schemas.openxmlformats.org/drawingml/2006/main">
            <a:off x="6715125" y="2047875"/>
            <a:ext cx="4667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2" name="">
            <a:extLst xmlns:a="http://schemas.openxmlformats.org/drawingml/2006/main">
              <a:ext uri="{FF2B5EF4-FFF2-40B4-BE49-F238E27FC236}">
                <a16:creationId xmlns:a16="http://schemas.microsoft.com/office/drawing/2014/main" id="{3CCE5A4D-2BD7-469A-B277-8000B67DF3DE}"/>
              </a:ext>
            </a:extLst>
          </p:cNvPr>
          <p:cNvSpPr>
            <a:spLocks xmlns:a="http://schemas.openxmlformats.org/drawingml/2006/main" noGrp="1"/>
          </p:cNvSpPr>
          <p:nvPr/>
        </p:nvSpPr>
        <p:spPr>
          <a:xfrm xmlns:a="http://schemas.openxmlformats.org/drawingml/2006/main">
            <a:off x="6810375" y="2143125"/>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Phương án dự phòng</a:t>
            </a:r>
          </a:p>
        </p:txBody>
      </p:sp>
      <p:sp>
        <p:nvSpPr>
          <p:cNvPr id="13" name="">
            <a:extLst xmlns:a="http://schemas.openxmlformats.org/drawingml/2006/main">
              <a:ext uri="{FF2B5EF4-FFF2-40B4-BE49-F238E27FC236}">
                <a16:creationId xmlns:a16="http://schemas.microsoft.com/office/drawing/2014/main" id="{B12AB678-A050-4286-A13D-AB369DCFD4F6}"/>
              </a:ext>
            </a:extLst>
          </p:cNvPr>
          <p:cNvSpPr>
            <a:spLocks xmlns:a="http://schemas.openxmlformats.org/drawingml/2006/main" noGrp="1"/>
          </p:cNvSpPr>
          <p:nvPr/>
        </p:nvSpPr>
        <p:spPr>
          <a:xfrm xmlns:a="http://schemas.openxmlformats.org/drawingml/2006/main">
            <a:off x="809625" y="2505075"/>
            <a:ext cx="26670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4" name="">
            <a:extLst xmlns:a="http://schemas.openxmlformats.org/drawingml/2006/main">
              <a:ext uri="{FF2B5EF4-FFF2-40B4-BE49-F238E27FC236}">
                <a16:creationId xmlns:a16="http://schemas.microsoft.com/office/drawing/2014/main" id="{A7B4E58D-6767-4939-B92B-849E837919E7}"/>
              </a:ext>
            </a:extLst>
          </p:cNvPr>
          <p:cNvSpPr>
            <a:spLocks xmlns:a="http://schemas.openxmlformats.org/drawingml/2006/main" noGrp="1"/>
          </p:cNvSpPr>
          <p:nvPr/>
        </p:nvSpPr>
        <p:spPr>
          <a:xfrm xmlns:a="http://schemas.openxmlformats.org/drawingml/2006/main">
            <a:off x="904875" y="25812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Không đủ rater</a:t>
            </a:r>
          </a:p>
        </p:txBody>
      </p:sp>
      <p:sp>
        <p:nvSpPr>
          <p:cNvPr id="15" name="">
            <a:extLst xmlns:a="http://schemas.openxmlformats.org/drawingml/2006/main">
              <a:ext uri="{FF2B5EF4-FFF2-40B4-BE49-F238E27FC236}">
                <a16:creationId xmlns:a16="http://schemas.microsoft.com/office/drawing/2014/main" id="{44DA7AB4-1747-4452-84A0-7C788C57D78A}"/>
              </a:ext>
            </a:extLst>
          </p:cNvPr>
          <p:cNvSpPr>
            <a:spLocks xmlns:a="http://schemas.openxmlformats.org/drawingml/2006/main" noGrp="1"/>
          </p:cNvSpPr>
          <p:nvPr/>
        </p:nvSpPr>
        <p:spPr>
          <a:xfrm xmlns:a="http://schemas.openxmlformats.org/drawingml/2006/main">
            <a:off x="3476625" y="2505075"/>
            <a:ext cx="3238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C21269FA-D828-4DAF-ADC6-8AC23EC47E4E}"/>
              </a:ext>
            </a:extLst>
          </p:cNvPr>
          <p:cNvSpPr>
            <a:spLocks xmlns:a="http://schemas.openxmlformats.org/drawingml/2006/main" noGrp="1"/>
          </p:cNvSpPr>
          <p:nvPr/>
        </p:nvSpPr>
        <p:spPr>
          <a:xfrm xmlns:a="http://schemas.openxmlformats.org/drawingml/2006/main">
            <a:off x="3571875" y="25812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W1 chưa có cam kết thời gian</a:t>
            </a:r>
          </a:p>
        </p:txBody>
      </p:sp>
      <p:sp>
        <p:nvSpPr>
          <p:cNvPr id="17" name="">
            <a:extLst xmlns:a="http://schemas.openxmlformats.org/drawingml/2006/main">
              <a:ext uri="{FF2B5EF4-FFF2-40B4-BE49-F238E27FC236}">
                <a16:creationId xmlns:a16="http://schemas.microsoft.com/office/drawing/2014/main" id="{C6EA602A-FE1D-42CC-8DC4-0A2B4AA995C3}"/>
              </a:ext>
            </a:extLst>
          </p:cNvPr>
          <p:cNvSpPr>
            <a:spLocks xmlns:a="http://schemas.openxmlformats.org/drawingml/2006/main" noGrp="1"/>
          </p:cNvSpPr>
          <p:nvPr/>
        </p:nvSpPr>
        <p:spPr>
          <a:xfrm xmlns:a="http://schemas.openxmlformats.org/drawingml/2006/main">
            <a:off x="6715125" y="2505075"/>
            <a:ext cx="4667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2C821440-1282-402E-B3D2-5B3B5B505C83}"/>
              </a:ext>
            </a:extLst>
          </p:cNvPr>
          <p:cNvSpPr>
            <a:spLocks xmlns:a="http://schemas.openxmlformats.org/drawingml/2006/main" noGrp="1"/>
          </p:cNvSpPr>
          <p:nvPr/>
        </p:nvSpPr>
        <p:spPr>
          <a:xfrm xmlns:a="http://schemas.openxmlformats.org/drawingml/2006/main">
            <a:off x="6810375" y="25812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Giảm response/người; giữ double-rating; chuyển kết luận thành pilot</a:t>
            </a:r>
          </a:p>
        </p:txBody>
      </p:sp>
      <p:sp>
        <p:nvSpPr>
          <p:cNvPr id="19" name="">
            <a:extLst xmlns:a="http://schemas.openxmlformats.org/drawingml/2006/main">
              <a:ext uri="{FF2B5EF4-FFF2-40B4-BE49-F238E27FC236}">
                <a16:creationId xmlns:a16="http://schemas.microsoft.com/office/drawing/2014/main" id="{CAA878D5-2B66-4A1B-AA63-68C1A6ABD369}"/>
              </a:ext>
            </a:extLst>
          </p:cNvPr>
          <p:cNvSpPr>
            <a:spLocks xmlns:a="http://schemas.openxmlformats.org/drawingml/2006/main" noGrp="1"/>
          </p:cNvSpPr>
          <p:nvPr/>
        </p:nvSpPr>
        <p:spPr>
          <a:xfrm xmlns:a="http://schemas.openxmlformats.org/drawingml/2006/main">
            <a:off x="809625" y="3228975"/>
            <a:ext cx="266700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68527EEC-F063-4448-9B0D-B2E3D8E7DEC8}"/>
              </a:ext>
            </a:extLst>
          </p:cNvPr>
          <p:cNvSpPr>
            <a:spLocks xmlns:a="http://schemas.openxmlformats.org/drawingml/2006/main" noGrp="1"/>
          </p:cNvSpPr>
          <p:nvPr/>
        </p:nvSpPr>
        <p:spPr>
          <a:xfrm xmlns:a="http://schemas.openxmlformats.org/drawingml/2006/main">
            <a:off x="904875" y="33051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Không đủ 60 speaker</a:t>
            </a:r>
          </a:p>
        </p:txBody>
      </p:sp>
      <p:sp>
        <p:nvSpPr>
          <p:cNvPr id="21" name="">
            <a:extLst xmlns:a="http://schemas.openxmlformats.org/drawingml/2006/main">
              <a:ext uri="{FF2B5EF4-FFF2-40B4-BE49-F238E27FC236}">
                <a16:creationId xmlns:a16="http://schemas.microsoft.com/office/drawing/2014/main" id="{3D093E04-A966-4937-AE9E-200AD5FDEF9E}"/>
              </a:ext>
            </a:extLst>
          </p:cNvPr>
          <p:cNvSpPr>
            <a:spLocks xmlns:a="http://schemas.openxmlformats.org/drawingml/2006/main" noGrp="1"/>
          </p:cNvSpPr>
          <p:nvPr/>
        </p:nvSpPr>
        <p:spPr>
          <a:xfrm xmlns:a="http://schemas.openxmlformats.org/drawingml/2006/main">
            <a:off x="3476625" y="3228975"/>
            <a:ext cx="323850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D21FD2AF-5673-420A-A101-1D6F002AC2F4}"/>
              </a:ext>
            </a:extLst>
          </p:cNvPr>
          <p:cNvSpPr>
            <a:spLocks xmlns:a="http://schemas.openxmlformats.org/drawingml/2006/main" noGrp="1"/>
          </p:cNvSpPr>
          <p:nvPr/>
        </p:nvSpPr>
        <p:spPr>
          <a:xfrm xmlns:a="http://schemas.openxmlformats.org/drawingml/2006/main">
            <a:off x="3571875" y="33051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W5 dưới 25 người</a:t>
            </a:r>
          </a:p>
        </p:txBody>
      </p:sp>
      <p:sp>
        <p:nvSpPr>
          <p:cNvPr id="23" name="">
            <a:extLst xmlns:a="http://schemas.openxmlformats.org/drawingml/2006/main">
              <a:ext uri="{FF2B5EF4-FFF2-40B4-BE49-F238E27FC236}">
                <a16:creationId xmlns:a16="http://schemas.microsoft.com/office/drawing/2014/main" id="{C852A050-6D39-49D7-BC88-D99D118283B6}"/>
              </a:ext>
            </a:extLst>
          </p:cNvPr>
          <p:cNvSpPr>
            <a:spLocks xmlns:a="http://schemas.openxmlformats.org/drawingml/2006/main" noGrp="1"/>
          </p:cNvSpPr>
          <p:nvPr/>
        </p:nvSpPr>
        <p:spPr>
          <a:xfrm xmlns:a="http://schemas.openxmlformats.org/drawingml/2006/main">
            <a:off x="6715125" y="3228975"/>
            <a:ext cx="466725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8086D4F2-F900-4C4C-8532-17CEEEF3D633}"/>
              </a:ext>
            </a:extLst>
          </p:cNvPr>
          <p:cNvSpPr>
            <a:spLocks xmlns:a="http://schemas.openxmlformats.org/drawingml/2006/main" noGrp="1"/>
          </p:cNvSpPr>
          <p:nvPr/>
        </p:nvSpPr>
        <p:spPr>
          <a:xfrm xmlns:a="http://schemas.openxmlformats.org/drawingml/2006/main">
            <a:off x="6810375" y="33051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Tăng kênh tuyển; khóa A/B; giảm Task C; báo CI rộng</a:t>
            </a:r>
          </a:p>
        </p:txBody>
      </p:sp>
      <p:sp>
        <p:nvSpPr>
          <p:cNvPr id="25" name="">
            <a:extLst xmlns:a="http://schemas.openxmlformats.org/drawingml/2006/main">
              <a:ext uri="{FF2B5EF4-FFF2-40B4-BE49-F238E27FC236}">
                <a16:creationId xmlns:a16="http://schemas.microsoft.com/office/drawing/2014/main" id="{962F0577-9CC3-45F1-928C-DC0161B3C505}"/>
              </a:ext>
            </a:extLst>
          </p:cNvPr>
          <p:cNvSpPr>
            <a:spLocks xmlns:a="http://schemas.openxmlformats.org/drawingml/2006/main" noGrp="1"/>
          </p:cNvSpPr>
          <p:nvPr/>
        </p:nvSpPr>
        <p:spPr>
          <a:xfrm xmlns:a="http://schemas.openxmlformats.org/drawingml/2006/main">
            <a:off x="809625" y="3952875"/>
            <a:ext cx="26670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61EB7AD5-5157-4F65-B96A-65CCD428AE59}"/>
              </a:ext>
            </a:extLst>
          </p:cNvPr>
          <p:cNvSpPr>
            <a:spLocks xmlns:a="http://schemas.openxmlformats.org/drawingml/2006/main" noGrp="1"/>
          </p:cNvSpPr>
          <p:nvPr/>
        </p:nvSpPr>
        <p:spPr>
          <a:xfrm xmlns:a="http://schemas.openxmlformats.org/drawingml/2006/main">
            <a:off x="904875" y="40290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ASR sai giọng Việt</a:t>
            </a:r>
          </a:p>
        </p:txBody>
      </p:sp>
      <p:sp>
        <p:nvSpPr>
          <p:cNvPr id="27" name="">
            <a:extLst xmlns:a="http://schemas.openxmlformats.org/drawingml/2006/main">
              <a:ext uri="{FF2B5EF4-FFF2-40B4-BE49-F238E27FC236}">
                <a16:creationId xmlns:a16="http://schemas.microsoft.com/office/drawing/2014/main" id="{8A74A8BB-3777-4A91-B295-2BF4F61236F5}"/>
              </a:ext>
            </a:extLst>
          </p:cNvPr>
          <p:cNvSpPr>
            <a:spLocks xmlns:a="http://schemas.openxmlformats.org/drawingml/2006/main" noGrp="1"/>
          </p:cNvSpPr>
          <p:nvPr/>
        </p:nvSpPr>
        <p:spPr>
          <a:xfrm xmlns:a="http://schemas.openxmlformats.org/drawingml/2006/main">
            <a:off x="3476625" y="3952875"/>
            <a:ext cx="3238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1EF562C1-9696-4917-89DF-F1E1CF3F2EB5}"/>
              </a:ext>
            </a:extLst>
          </p:cNvPr>
          <p:cNvSpPr>
            <a:spLocks xmlns:a="http://schemas.openxmlformats.org/drawingml/2006/main" noGrp="1"/>
          </p:cNvSpPr>
          <p:nvPr/>
        </p:nvSpPr>
        <p:spPr>
          <a:xfrm xmlns:a="http://schemas.openxmlformats.org/drawingml/2006/main">
            <a:off x="3571875" y="40290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WER/manual subset cao</a:t>
            </a:r>
          </a:p>
        </p:txBody>
      </p:sp>
      <p:sp>
        <p:nvSpPr>
          <p:cNvPr id="29" name="">
            <a:extLst xmlns:a="http://schemas.openxmlformats.org/drawingml/2006/main">
              <a:ext uri="{FF2B5EF4-FFF2-40B4-BE49-F238E27FC236}">
                <a16:creationId xmlns:a16="http://schemas.microsoft.com/office/drawing/2014/main" id="{DB28F4D2-4ED3-4287-B1D8-F044992AD69D}"/>
              </a:ext>
            </a:extLst>
          </p:cNvPr>
          <p:cNvSpPr>
            <a:spLocks xmlns:a="http://schemas.openxmlformats.org/drawingml/2006/main" noGrp="1"/>
          </p:cNvSpPr>
          <p:nvPr/>
        </p:nvSpPr>
        <p:spPr>
          <a:xfrm xmlns:a="http://schemas.openxmlformats.org/drawingml/2006/main">
            <a:off x="6715125" y="3952875"/>
            <a:ext cx="4667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2B8EC5B9-0AC6-42B1-BD36-0E02F512304A}"/>
              </a:ext>
            </a:extLst>
          </p:cNvPr>
          <p:cNvSpPr>
            <a:spLocks xmlns:a="http://schemas.openxmlformats.org/drawingml/2006/main" noGrp="1"/>
          </p:cNvSpPr>
          <p:nvPr/>
        </p:nvSpPr>
        <p:spPr>
          <a:xfrm xmlns:a="http://schemas.openxmlformats.org/drawingml/2006/main">
            <a:off x="6810375" y="40290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Confidence masking; transcript audit; teacher review; phân tích riêng</a:t>
            </a:r>
          </a:p>
        </p:txBody>
      </p:sp>
      <p:sp>
        <p:nvSpPr>
          <p:cNvPr id="31" name="">
            <a:extLst xmlns:a="http://schemas.openxmlformats.org/drawingml/2006/main">
              <a:ext uri="{FF2B5EF4-FFF2-40B4-BE49-F238E27FC236}">
                <a16:creationId xmlns:a16="http://schemas.microsoft.com/office/drawing/2014/main" id="{3C766C71-E3AF-4332-9CBA-3F0FBFD46015}"/>
              </a:ext>
            </a:extLst>
          </p:cNvPr>
          <p:cNvSpPr>
            <a:spLocks xmlns:a="http://schemas.openxmlformats.org/drawingml/2006/main" noGrp="1"/>
          </p:cNvSpPr>
          <p:nvPr/>
        </p:nvSpPr>
        <p:spPr>
          <a:xfrm xmlns:a="http://schemas.openxmlformats.org/drawingml/2006/main">
            <a:off x="809625" y="4676775"/>
            <a:ext cx="266700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2" name="">
            <a:extLst xmlns:a="http://schemas.openxmlformats.org/drawingml/2006/main">
              <a:ext uri="{FF2B5EF4-FFF2-40B4-BE49-F238E27FC236}">
                <a16:creationId xmlns:a16="http://schemas.microsoft.com/office/drawing/2014/main" id="{F3BDC872-50CB-4CCE-99C7-AD3BB62CAFE4}"/>
              </a:ext>
            </a:extLst>
          </p:cNvPr>
          <p:cNvSpPr>
            <a:spLocks xmlns:a="http://schemas.openxmlformats.org/drawingml/2006/main" noGrp="1"/>
          </p:cNvSpPr>
          <p:nvPr/>
        </p:nvSpPr>
        <p:spPr>
          <a:xfrm xmlns:a="http://schemas.openxmlformats.org/drawingml/2006/main">
            <a:off x="904875" y="47529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Phonology không ổn</a:t>
            </a:r>
          </a:p>
        </p:txBody>
      </p:sp>
      <p:sp>
        <p:nvSpPr>
          <p:cNvPr id="33" name="">
            <a:extLst xmlns:a="http://schemas.openxmlformats.org/drawingml/2006/main">
              <a:ext uri="{FF2B5EF4-FFF2-40B4-BE49-F238E27FC236}">
                <a16:creationId xmlns:a16="http://schemas.microsoft.com/office/drawing/2014/main" id="{0D6C3A70-589A-46DC-A7AE-F01515099D58}"/>
              </a:ext>
            </a:extLst>
          </p:cNvPr>
          <p:cNvSpPr>
            <a:spLocks xmlns:a="http://schemas.openxmlformats.org/drawingml/2006/main" noGrp="1"/>
          </p:cNvSpPr>
          <p:nvPr/>
        </p:nvSpPr>
        <p:spPr>
          <a:xfrm xmlns:a="http://schemas.openxmlformats.org/drawingml/2006/main">
            <a:off x="3476625" y="4676775"/>
            <a:ext cx="323850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4" name="">
            <a:extLst xmlns:a="http://schemas.openxmlformats.org/drawingml/2006/main">
              <a:ext uri="{FF2B5EF4-FFF2-40B4-BE49-F238E27FC236}">
                <a16:creationId xmlns:a16="http://schemas.microsoft.com/office/drawing/2014/main" id="{8343A0ED-99E9-40EE-84CA-BE37554D7F47}"/>
              </a:ext>
            </a:extLst>
          </p:cNvPr>
          <p:cNvSpPr>
            <a:spLocks xmlns:a="http://schemas.openxmlformats.org/drawingml/2006/main" noGrp="1"/>
          </p:cNvSpPr>
          <p:nvPr/>
        </p:nvSpPr>
        <p:spPr>
          <a:xfrm xmlns:a="http://schemas.openxmlformats.org/drawingml/2006/main">
            <a:off x="3571875" y="47529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QWK thấp và bias accent</a:t>
            </a:r>
          </a:p>
        </p:txBody>
      </p:sp>
      <p:sp>
        <p:nvSpPr>
          <p:cNvPr id="35" name="">
            <a:extLst xmlns:a="http://schemas.openxmlformats.org/drawingml/2006/main">
              <a:ext uri="{FF2B5EF4-FFF2-40B4-BE49-F238E27FC236}">
                <a16:creationId xmlns:a16="http://schemas.microsoft.com/office/drawing/2014/main" id="{5C3E393F-96BD-41E4-A76F-8B2D7B667729}"/>
              </a:ext>
            </a:extLst>
          </p:cNvPr>
          <p:cNvSpPr>
            <a:spLocks xmlns:a="http://schemas.openxmlformats.org/drawingml/2006/main" noGrp="1"/>
          </p:cNvSpPr>
          <p:nvPr/>
        </p:nvSpPr>
        <p:spPr>
          <a:xfrm xmlns:a="http://schemas.openxmlformats.org/drawingml/2006/main">
            <a:off x="6715125" y="4676775"/>
            <a:ext cx="4667250" cy="72390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36" name="">
            <a:extLst xmlns:a="http://schemas.openxmlformats.org/drawingml/2006/main">
              <a:ext uri="{FF2B5EF4-FFF2-40B4-BE49-F238E27FC236}">
                <a16:creationId xmlns:a16="http://schemas.microsoft.com/office/drawing/2014/main" id="{81B17687-86D7-498F-9DF3-1FA157EA68FE}"/>
              </a:ext>
            </a:extLst>
          </p:cNvPr>
          <p:cNvSpPr>
            <a:spLocks xmlns:a="http://schemas.openxmlformats.org/drawingml/2006/main" noGrp="1"/>
          </p:cNvSpPr>
          <p:nvPr/>
        </p:nvSpPr>
        <p:spPr>
          <a:xfrm xmlns:a="http://schemas.openxmlformats.org/drawingml/2006/main">
            <a:off x="6810375" y="47529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Chỉ báo evidence; giảm trọng số; không dùng để quyết overall một mình</a:t>
            </a:r>
          </a:p>
        </p:txBody>
      </p:sp>
      <p:sp>
        <p:nvSpPr>
          <p:cNvPr id="37" name="">
            <a:extLst xmlns:a="http://schemas.openxmlformats.org/drawingml/2006/main">
              <a:ext uri="{FF2B5EF4-FFF2-40B4-BE49-F238E27FC236}">
                <a16:creationId xmlns:a16="http://schemas.microsoft.com/office/drawing/2014/main" id="{D6CABC5E-D86F-4059-BB0A-ABA210A27278}"/>
              </a:ext>
            </a:extLst>
          </p:cNvPr>
          <p:cNvSpPr>
            <a:spLocks xmlns:a="http://schemas.openxmlformats.org/drawingml/2006/main" noGrp="1"/>
          </p:cNvSpPr>
          <p:nvPr/>
        </p:nvSpPr>
        <p:spPr>
          <a:xfrm xmlns:a="http://schemas.openxmlformats.org/drawingml/2006/main">
            <a:off x="809625" y="5400675"/>
            <a:ext cx="26670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8" name="">
            <a:extLst xmlns:a="http://schemas.openxmlformats.org/drawingml/2006/main">
              <a:ext uri="{FF2B5EF4-FFF2-40B4-BE49-F238E27FC236}">
                <a16:creationId xmlns:a16="http://schemas.microsoft.com/office/drawing/2014/main" id="{1F14DC67-6187-463E-817F-E432D117C446}"/>
              </a:ext>
            </a:extLst>
          </p:cNvPr>
          <p:cNvSpPr>
            <a:spLocks xmlns:a="http://schemas.openxmlformats.org/drawingml/2006/main" noGrp="1"/>
          </p:cNvSpPr>
          <p:nvPr/>
        </p:nvSpPr>
        <p:spPr>
          <a:xfrm xmlns:a="http://schemas.openxmlformats.org/drawingml/2006/main">
            <a:off x="904875" y="5476875"/>
            <a:ext cx="2476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Trễ tiến độ</a:t>
            </a:r>
          </a:p>
        </p:txBody>
      </p:sp>
      <p:sp>
        <p:nvSpPr>
          <p:cNvPr id="39" name="">
            <a:extLst xmlns:a="http://schemas.openxmlformats.org/drawingml/2006/main">
              <a:ext uri="{FF2B5EF4-FFF2-40B4-BE49-F238E27FC236}">
                <a16:creationId xmlns:a16="http://schemas.microsoft.com/office/drawing/2014/main" id="{213AE65D-FE7F-43EC-9703-90FDF749E76F}"/>
              </a:ext>
            </a:extLst>
          </p:cNvPr>
          <p:cNvSpPr>
            <a:spLocks xmlns:a="http://schemas.openxmlformats.org/drawingml/2006/main" noGrp="1"/>
          </p:cNvSpPr>
          <p:nvPr/>
        </p:nvSpPr>
        <p:spPr>
          <a:xfrm xmlns:a="http://schemas.openxmlformats.org/drawingml/2006/main">
            <a:off x="3476625" y="5400675"/>
            <a:ext cx="323850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0" name="">
            <a:extLst xmlns:a="http://schemas.openxmlformats.org/drawingml/2006/main">
              <a:ext uri="{FF2B5EF4-FFF2-40B4-BE49-F238E27FC236}">
                <a16:creationId xmlns:a16="http://schemas.microsoft.com/office/drawing/2014/main" id="{E17870CD-9887-4C7D-A0B2-1FC94771946F}"/>
              </a:ext>
            </a:extLst>
          </p:cNvPr>
          <p:cNvSpPr>
            <a:spLocks xmlns:a="http://schemas.openxmlformats.org/drawingml/2006/main" noGrp="1"/>
          </p:cNvSpPr>
          <p:nvPr/>
        </p:nvSpPr>
        <p:spPr>
          <a:xfrm xmlns:a="http://schemas.openxmlformats.org/drawingml/2006/main">
            <a:off x="3571875" y="5476875"/>
            <a:ext cx="304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G3/G4 không đạt</a:t>
            </a:r>
          </a:p>
        </p:txBody>
      </p:sp>
      <p:sp>
        <p:nvSpPr>
          <p:cNvPr id="41" name="">
            <a:extLst xmlns:a="http://schemas.openxmlformats.org/drawingml/2006/main">
              <a:ext uri="{FF2B5EF4-FFF2-40B4-BE49-F238E27FC236}">
                <a16:creationId xmlns:a16="http://schemas.microsoft.com/office/drawing/2014/main" id="{18309F3B-E86E-4FEB-A440-88D3FE434635}"/>
              </a:ext>
            </a:extLst>
          </p:cNvPr>
          <p:cNvSpPr>
            <a:spLocks xmlns:a="http://schemas.openxmlformats.org/drawingml/2006/main" noGrp="1"/>
          </p:cNvSpPr>
          <p:nvPr/>
        </p:nvSpPr>
        <p:spPr>
          <a:xfrm xmlns:a="http://schemas.openxmlformats.org/drawingml/2006/main">
            <a:off x="6715125" y="5400675"/>
            <a:ext cx="4667250" cy="72390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42" name="">
            <a:extLst xmlns:a="http://schemas.openxmlformats.org/drawingml/2006/main">
              <a:ext uri="{FF2B5EF4-FFF2-40B4-BE49-F238E27FC236}">
                <a16:creationId xmlns:a16="http://schemas.microsoft.com/office/drawing/2014/main" id="{82B330C6-193E-4A73-A1CE-6ABF40A501C1}"/>
              </a:ext>
            </a:extLst>
          </p:cNvPr>
          <p:cNvSpPr>
            <a:spLocks xmlns:a="http://schemas.openxmlformats.org/drawingml/2006/main" noGrp="1"/>
          </p:cNvSpPr>
          <p:nvPr/>
        </p:nvSpPr>
        <p:spPr>
          <a:xfrm xmlns:a="http://schemas.openxmlformats.org/drawingml/2006/main">
            <a:off x="6810375" y="547687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Cắt chatbot, LMS, dashboard nâng cao; giữ data + validation</a:t>
            </a:r>
          </a:p>
        </p:txBody>
      </p:sp>
    </p:spTree>
    <p:extLst>
      <p:ext uri="{BB962C8B-B14F-4D97-AF65-F5344CB8AC3E}">
        <p14:creationId xmlns:p14="http://schemas.microsoft.com/office/powerpoint/2010/main" val="848533311"/>
      </p:ext>
    </p:extLst>
  </p:cSld>
</p:sld>
</file>

<file path=ppt/slides/slide3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98EC2C0-A14E-4A84-94BE-A1B1CB19EE67}"/>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TIÊU CHÍ NGHIỆM THU</a:t>
            </a:r>
          </a:p>
        </p:txBody>
      </p:sp>
      <p:sp>
        <p:nvSpPr>
          <p:cNvPr id="2" name="">
            <a:extLst xmlns:a="http://schemas.openxmlformats.org/drawingml/2006/main">
              <a:ext uri="{FF2B5EF4-FFF2-40B4-BE49-F238E27FC236}">
                <a16:creationId xmlns:a16="http://schemas.microsoft.com/office/drawing/2014/main" id="{4C178666-2AC1-4381-8416-0815E43907F8}"/>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Nghiệm thu theo năm lớp: chạy được, có dữ liệu, đo đúng, biết giới hạn và tái lập được</a:t>
            </a:r>
          </a:p>
        </p:txBody>
      </p:sp>
      <p:sp>
        <p:nvSpPr>
          <p:cNvPr id="3" name="">
            <a:extLst xmlns:a="http://schemas.openxmlformats.org/drawingml/2006/main">
              <a:ext uri="{FF2B5EF4-FFF2-40B4-BE49-F238E27FC236}">
                <a16:creationId xmlns:a16="http://schemas.microsoft.com/office/drawing/2014/main" id="{13BE3E68-0BE6-449F-BEDC-A1C8ECD525AE}"/>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Không dùng một ngưỡng accuracy duy nhất để quyết định thành công.</a:t>
            </a:r>
          </a:p>
        </p:txBody>
      </p:sp>
      <p:sp>
        <p:nvSpPr>
          <p:cNvPr id="4" name="">
            <a:extLst xmlns:a="http://schemas.openxmlformats.org/drawingml/2006/main">
              <a:ext uri="{FF2B5EF4-FFF2-40B4-BE49-F238E27FC236}">
                <a16:creationId xmlns:a16="http://schemas.microsoft.com/office/drawing/2014/main" id="{0A51E098-D6BB-4845-B68A-60671C737A86}"/>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0D89BB-DEB9-42F5-A5E9-B41C57C5A080}"/>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NGHIỆM THU</a:t>
            </a:r>
          </a:p>
        </p:txBody>
      </p:sp>
      <p:sp>
        <p:nvSpPr>
          <p:cNvPr id="6" name="">
            <a:extLst xmlns:a="http://schemas.openxmlformats.org/drawingml/2006/main">
              <a:ext uri="{FF2B5EF4-FFF2-40B4-BE49-F238E27FC236}">
                <a16:creationId xmlns:a16="http://schemas.microsoft.com/office/drawing/2014/main" id="{761DAD95-0E54-4C6F-B38C-033837DEE6BB}"/>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37</a:t>
            </a:r>
          </a:p>
        </p:txBody>
      </p:sp>
      <p:sp>
        <p:nvSpPr>
          <p:cNvPr id="7" name="">
            <a:extLst xmlns:a="http://schemas.openxmlformats.org/drawingml/2006/main">
              <a:ext uri="{FF2B5EF4-FFF2-40B4-BE49-F238E27FC236}">
                <a16:creationId xmlns:a16="http://schemas.microsoft.com/office/drawing/2014/main" id="{00720595-2193-4A51-B87D-861426C147CB}"/>
              </a:ext>
            </a:extLst>
          </p:cNvPr>
          <p:cNvSpPr>
            <a:spLocks xmlns:a="http://schemas.openxmlformats.org/drawingml/2006/main" noGrp="1"/>
          </p:cNvSpPr>
          <p:nvPr/>
        </p:nvSpPr>
        <p:spPr>
          <a:xfrm xmlns:a="http://schemas.openxmlformats.org/drawingml/2006/main">
            <a:off x="857250" y="20478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1F5EAC"/>
                </a:solidFill>
                <a:latin typeface="Aptos"/>
                <a:ea typeface="Aptos"/>
                <a:cs typeface="Aptos"/>
              </a:defRPr>
            </a:pPr>
            <a:r>
              <a:rPr sz="1575" b="1" i="0">
                <a:solidFill>
                  <a:srgbClr val="1F5EAC"/>
                </a:solidFill>
                <a:latin typeface="Aptos"/>
                <a:ea typeface="Aptos"/>
                <a:cs typeface="Aptos"/>
              </a:rPr>
              <a:t>1 • Chức năng</a:t>
            </a:r>
          </a:p>
        </p:txBody>
      </p:sp>
      <p:sp>
        <p:nvSpPr>
          <p:cNvPr id="8" name="">
            <a:extLst xmlns:a="http://schemas.openxmlformats.org/drawingml/2006/main">
              <a:ext uri="{FF2B5EF4-FFF2-40B4-BE49-F238E27FC236}">
                <a16:creationId xmlns:a16="http://schemas.microsoft.com/office/drawing/2014/main" id="{AFFC3540-3873-46D1-AC28-B32764C0EB5A}"/>
              </a:ext>
            </a:extLst>
          </p:cNvPr>
          <p:cNvSpPr>
            <a:spLocks xmlns:a="http://schemas.openxmlformats.org/drawingml/2006/main" noGrp="1"/>
          </p:cNvSpPr>
          <p:nvPr/>
        </p:nvSpPr>
        <p:spPr>
          <a:xfrm xmlns:a="http://schemas.openxmlformats.org/drawingml/2006/main">
            <a:off x="3238500" y="2181225"/>
            <a:ext cx="190500" cy="2857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E7B55E0-14AC-4CDC-981C-C773CB1A5406}"/>
              </a:ext>
            </a:extLst>
          </p:cNvPr>
          <p:cNvSpPr>
            <a:spLocks xmlns:a="http://schemas.openxmlformats.org/drawingml/2006/main" noGrp="1"/>
          </p:cNvSpPr>
          <p:nvPr/>
        </p:nvSpPr>
        <p:spPr>
          <a:xfrm xmlns:a="http://schemas.openxmlformats.org/drawingml/2006/main">
            <a:off x="3667125" y="204787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Thu âm → ASR → evidence → score → report → teacher review chạy end-to-end.</a:t>
            </a:r>
          </a:p>
        </p:txBody>
      </p:sp>
      <p:sp>
        <p:nvSpPr>
          <p:cNvPr id="10" name="">
            <a:extLst xmlns:a="http://schemas.openxmlformats.org/drawingml/2006/main">
              <a:ext uri="{FF2B5EF4-FFF2-40B4-BE49-F238E27FC236}">
                <a16:creationId xmlns:a16="http://schemas.microsoft.com/office/drawing/2014/main" id="{EE253641-E941-4AFB-8A96-EC23A09069EC}"/>
              </a:ext>
            </a:extLst>
          </p:cNvPr>
          <p:cNvSpPr>
            <a:spLocks xmlns:a="http://schemas.openxmlformats.org/drawingml/2006/main" noGrp="1"/>
          </p:cNvSpPr>
          <p:nvPr/>
        </p:nvSpPr>
        <p:spPr>
          <a:xfrm xmlns:a="http://schemas.openxmlformats.org/drawingml/2006/main">
            <a:off x="857250" y="28289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2F7D5C"/>
                </a:solidFill>
                <a:latin typeface="Aptos"/>
                <a:ea typeface="Aptos"/>
                <a:cs typeface="Aptos"/>
              </a:defRPr>
            </a:pPr>
            <a:r>
              <a:rPr sz="1575" b="1" i="0">
                <a:solidFill>
                  <a:srgbClr val="2F7D5C"/>
                </a:solidFill>
                <a:latin typeface="Aptos"/>
                <a:ea typeface="Aptos"/>
                <a:cs typeface="Aptos"/>
              </a:rPr>
              <a:t>2 • Dữ liệu</a:t>
            </a:r>
          </a:p>
        </p:txBody>
      </p:sp>
      <p:sp>
        <p:nvSpPr>
          <p:cNvPr id="11" name="">
            <a:extLst xmlns:a="http://schemas.openxmlformats.org/drawingml/2006/main">
              <a:ext uri="{FF2B5EF4-FFF2-40B4-BE49-F238E27FC236}">
                <a16:creationId xmlns:a16="http://schemas.microsoft.com/office/drawing/2014/main" id="{22777394-89E9-4FD0-83E6-A2FED41C34F6}"/>
              </a:ext>
            </a:extLst>
          </p:cNvPr>
          <p:cNvSpPr>
            <a:spLocks xmlns:a="http://schemas.openxmlformats.org/drawingml/2006/main" noGrp="1"/>
          </p:cNvSpPr>
          <p:nvPr/>
        </p:nvSpPr>
        <p:spPr>
          <a:xfrm xmlns:a="http://schemas.openxmlformats.org/drawingml/2006/main">
            <a:off x="3238500" y="2962275"/>
            <a:ext cx="190500" cy="2857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067DF8B-1142-4462-BFD7-834254115E4A}"/>
              </a:ext>
            </a:extLst>
          </p:cNvPr>
          <p:cNvSpPr>
            <a:spLocks xmlns:a="http://schemas.openxmlformats.org/drawingml/2006/main" noGrp="1"/>
          </p:cNvSpPr>
          <p:nvPr/>
        </p:nvSpPr>
        <p:spPr>
          <a:xfrm xmlns:a="http://schemas.openxmlformats.org/drawingml/2006/main">
            <a:off x="3667125" y="28289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Đạt sàn speaker, metadata đủ, consent hợp lệ, split theo người nói.</a:t>
            </a:r>
          </a:p>
        </p:txBody>
      </p:sp>
      <p:sp>
        <p:nvSpPr>
          <p:cNvPr id="13" name="">
            <a:extLst xmlns:a="http://schemas.openxmlformats.org/drawingml/2006/main">
              <a:ext uri="{FF2B5EF4-FFF2-40B4-BE49-F238E27FC236}">
                <a16:creationId xmlns:a16="http://schemas.microsoft.com/office/drawing/2014/main" id="{3A4451E6-D5E3-4C0C-A31E-131908D3FA34}"/>
              </a:ext>
            </a:extLst>
          </p:cNvPr>
          <p:cNvSpPr>
            <a:spLocks xmlns:a="http://schemas.openxmlformats.org/drawingml/2006/main" noGrp="1"/>
          </p:cNvSpPr>
          <p:nvPr/>
        </p:nvSpPr>
        <p:spPr>
          <a:xfrm xmlns:a="http://schemas.openxmlformats.org/drawingml/2006/main">
            <a:off x="857250" y="36099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6C4FA3"/>
                </a:solidFill>
                <a:latin typeface="Aptos"/>
                <a:ea typeface="Aptos"/>
                <a:cs typeface="Aptos"/>
              </a:defRPr>
            </a:pPr>
            <a:r>
              <a:rPr sz="1575" b="1" i="0">
                <a:solidFill>
                  <a:srgbClr val="6C4FA3"/>
                </a:solidFill>
                <a:latin typeface="Aptos"/>
                <a:ea typeface="Aptos"/>
                <a:cs typeface="Aptos"/>
              </a:rPr>
              <a:t>3 • Đo lường</a:t>
            </a:r>
          </a:p>
        </p:txBody>
      </p:sp>
      <p:sp>
        <p:nvSpPr>
          <p:cNvPr id="14" name="">
            <a:extLst xmlns:a="http://schemas.openxmlformats.org/drawingml/2006/main">
              <a:ext uri="{FF2B5EF4-FFF2-40B4-BE49-F238E27FC236}">
                <a16:creationId xmlns:a16="http://schemas.microsoft.com/office/drawing/2014/main" id="{EABECD3C-FE73-4490-A378-66B9C4EAEE10}"/>
              </a:ext>
            </a:extLst>
          </p:cNvPr>
          <p:cNvSpPr>
            <a:spLocks xmlns:a="http://schemas.openxmlformats.org/drawingml/2006/main" noGrp="1"/>
          </p:cNvSpPr>
          <p:nvPr/>
        </p:nvSpPr>
        <p:spPr>
          <a:xfrm xmlns:a="http://schemas.openxmlformats.org/drawingml/2006/main">
            <a:off x="3238500" y="3743325"/>
            <a:ext cx="190500" cy="28575"/>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7F90D0B-E401-4438-B5AE-AFC8C7541CA0}"/>
              </a:ext>
            </a:extLst>
          </p:cNvPr>
          <p:cNvSpPr>
            <a:spLocks xmlns:a="http://schemas.openxmlformats.org/drawingml/2006/main" noGrp="1"/>
          </p:cNvSpPr>
          <p:nvPr/>
        </p:nvSpPr>
        <p:spPr>
          <a:xfrm xmlns:a="http://schemas.openxmlformats.org/drawingml/2006/main">
            <a:off x="3667125" y="360997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Có human–human trước AI–human; QWK/CI, GER, macro-F1 và error analysis.</a:t>
            </a:r>
          </a:p>
        </p:txBody>
      </p:sp>
      <p:sp>
        <p:nvSpPr>
          <p:cNvPr id="16" name="">
            <a:extLst xmlns:a="http://schemas.openxmlformats.org/drawingml/2006/main">
              <a:ext uri="{FF2B5EF4-FFF2-40B4-BE49-F238E27FC236}">
                <a16:creationId xmlns:a16="http://schemas.microsoft.com/office/drawing/2014/main" id="{11053018-8280-4AE8-A94B-C0DD53021450}"/>
              </a:ext>
            </a:extLst>
          </p:cNvPr>
          <p:cNvSpPr>
            <a:spLocks xmlns:a="http://schemas.openxmlformats.org/drawingml/2006/main" noGrp="1"/>
          </p:cNvSpPr>
          <p:nvPr/>
        </p:nvSpPr>
        <p:spPr>
          <a:xfrm xmlns:a="http://schemas.openxmlformats.org/drawingml/2006/main">
            <a:off x="857250" y="439102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B43D3D"/>
                </a:solidFill>
                <a:latin typeface="Aptos"/>
                <a:ea typeface="Aptos"/>
                <a:cs typeface="Aptos"/>
              </a:defRPr>
            </a:pPr>
            <a:r>
              <a:rPr sz="1575" b="1" i="0">
                <a:solidFill>
                  <a:srgbClr val="B43D3D"/>
                </a:solidFill>
                <a:latin typeface="Aptos"/>
                <a:ea typeface="Aptos"/>
                <a:cs typeface="Aptos"/>
              </a:rPr>
              <a:t>4 • Tin cậy</a:t>
            </a:r>
          </a:p>
        </p:txBody>
      </p:sp>
      <p:sp>
        <p:nvSpPr>
          <p:cNvPr id="17" name="">
            <a:extLst xmlns:a="http://schemas.openxmlformats.org/drawingml/2006/main">
              <a:ext uri="{FF2B5EF4-FFF2-40B4-BE49-F238E27FC236}">
                <a16:creationId xmlns:a16="http://schemas.microsoft.com/office/drawing/2014/main" id="{8EE301FA-5509-4A62-BD62-5E370EA312E8}"/>
              </a:ext>
            </a:extLst>
          </p:cNvPr>
          <p:cNvSpPr>
            <a:spLocks xmlns:a="http://schemas.openxmlformats.org/drawingml/2006/main" noGrp="1"/>
          </p:cNvSpPr>
          <p:nvPr/>
        </p:nvSpPr>
        <p:spPr>
          <a:xfrm xmlns:a="http://schemas.openxmlformats.org/drawingml/2006/main">
            <a:off x="3238500" y="4524375"/>
            <a:ext cx="190500" cy="28575"/>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BE7D0C7-EDA9-4E16-8CB7-7F0F79F07049}"/>
              </a:ext>
            </a:extLst>
          </p:cNvPr>
          <p:cNvSpPr>
            <a:spLocks xmlns:a="http://schemas.openxmlformats.org/drawingml/2006/main" noGrp="1"/>
          </p:cNvSpPr>
          <p:nvPr/>
        </p:nvSpPr>
        <p:spPr>
          <a:xfrm xmlns:a="http://schemas.openxmlformats.org/drawingml/2006/main">
            <a:off x="3667125" y="439102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Có calibration, confidence threshold, invalid/ASR-risk flags và audit accent/thiết bị.</a:t>
            </a:r>
          </a:p>
        </p:txBody>
      </p:sp>
      <p:sp>
        <p:nvSpPr>
          <p:cNvPr id="19" name="">
            <a:extLst xmlns:a="http://schemas.openxmlformats.org/drawingml/2006/main">
              <a:ext uri="{FF2B5EF4-FFF2-40B4-BE49-F238E27FC236}">
                <a16:creationId xmlns:a16="http://schemas.microsoft.com/office/drawing/2014/main" id="{0B3C2D03-4CE9-4DA5-A870-28E4AA255363}"/>
              </a:ext>
            </a:extLst>
          </p:cNvPr>
          <p:cNvSpPr>
            <a:spLocks xmlns:a="http://schemas.openxmlformats.org/drawingml/2006/main" noGrp="1"/>
          </p:cNvSpPr>
          <p:nvPr/>
        </p:nvSpPr>
        <p:spPr>
          <a:xfrm xmlns:a="http://schemas.openxmlformats.org/drawingml/2006/main">
            <a:off x="857250" y="5172075"/>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1" i="0">
                <a:solidFill>
                  <a:srgbClr val="A96500"/>
                </a:solidFill>
                <a:latin typeface="Aptos"/>
                <a:ea typeface="Aptos"/>
                <a:cs typeface="Aptos"/>
              </a:defRPr>
            </a:pPr>
            <a:r>
              <a:rPr sz="1575" b="1" i="0">
                <a:solidFill>
                  <a:srgbClr val="A96500"/>
                </a:solidFill>
                <a:latin typeface="Aptos"/>
                <a:ea typeface="Aptos"/>
                <a:cs typeface="Aptos"/>
              </a:rPr>
              <a:t>5 • Tái lập</a:t>
            </a:r>
          </a:p>
        </p:txBody>
      </p:sp>
      <p:sp>
        <p:nvSpPr>
          <p:cNvPr id="20" name="">
            <a:extLst xmlns:a="http://schemas.openxmlformats.org/drawingml/2006/main">
              <a:ext uri="{FF2B5EF4-FFF2-40B4-BE49-F238E27FC236}">
                <a16:creationId xmlns:a16="http://schemas.microsoft.com/office/drawing/2014/main" id="{07458C46-6386-46BF-903A-A86F73E3CD04}"/>
              </a:ext>
            </a:extLst>
          </p:cNvPr>
          <p:cNvSpPr>
            <a:spLocks xmlns:a="http://schemas.openxmlformats.org/drawingml/2006/main" noGrp="1"/>
          </p:cNvSpPr>
          <p:nvPr/>
        </p:nvSpPr>
        <p:spPr>
          <a:xfrm xmlns:a="http://schemas.openxmlformats.org/drawingml/2006/main">
            <a:off x="3238500" y="5305425"/>
            <a:ext cx="190500" cy="28575"/>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24303BB-88B5-42D7-B7E4-1245A3E8D1DF}"/>
              </a:ext>
            </a:extLst>
          </p:cNvPr>
          <p:cNvSpPr>
            <a:spLocks xmlns:a="http://schemas.openxmlformats.org/drawingml/2006/main" noGrp="1"/>
          </p:cNvSpPr>
          <p:nvPr/>
        </p:nvSpPr>
        <p:spPr>
          <a:xfrm xmlns:a="http://schemas.openxmlformats.org/drawingml/2006/main">
            <a:off x="3667125" y="5172075"/>
            <a:ext cx="752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425" b="0" i="0">
                <a:solidFill>
                  <a:srgbClr val="28374A"/>
                </a:solidFill>
                <a:latin typeface="Aptos"/>
                <a:ea typeface="Aptos"/>
                <a:cs typeface="Aptos"/>
              </a:defRPr>
            </a:pPr>
            <a:r>
              <a:rPr sz="1425" b="0" i="0">
                <a:solidFill>
                  <a:srgbClr val="28374A"/>
                </a:solidFill>
                <a:latin typeface="Aptos"/>
                <a:ea typeface="Aptos"/>
                <a:cs typeface="Aptos"/>
              </a:rPr>
              <a:t>Có version, manifest, seed, environment, rubric và script chạy lại kết quả.</a:t>
            </a:r>
          </a:p>
        </p:txBody>
      </p:sp>
    </p:spTree>
    <p:extLst>
      <p:ext uri="{BB962C8B-B14F-4D97-AF65-F5344CB8AC3E}">
        <p14:creationId xmlns:p14="http://schemas.microsoft.com/office/powerpoint/2010/main" val="1648529126"/>
      </p:ext>
    </p:extLst>
  </p:cSld>
</p:sld>
</file>

<file path=ppt/slides/slide3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EC9DA5A-B877-438D-9E03-7AC10F32A441}"/>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ĐÓNG GÓP KHOA HỌC VÀ KỸ THUẬT</a:t>
            </a:r>
          </a:p>
        </p:txBody>
      </p:sp>
      <p:sp>
        <p:nvSpPr>
          <p:cNvPr id="2" name="">
            <a:extLst xmlns:a="http://schemas.openxmlformats.org/drawingml/2006/main">
              <a:ext uri="{FF2B5EF4-FFF2-40B4-BE49-F238E27FC236}">
                <a16:creationId xmlns:a16="http://schemas.microsoft.com/office/drawing/2014/main" id="{CD067B00-FEA8-48B1-865E-F774185BA60C}"/>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Đóng góp chính là một quy trình đánh giá có thể kiểm tra, không phải một mô hình “thần kỳ”</a:t>
            </a:r>
          </a:p>
        </p:txBody>
      </p:sp>
      <p:sp>
        <p:nvSpPr>
          <p:cNvPr id="3" name="">
            <a:extLst xmlns:a="http://schemas.openxmlformats.org/drawingml/2006/main">
              <a:ext uri="{FF2B5EF4-FFF2-40B4-BE49-F238E27FC236}">
                <a16:creationId xmlns:a16="http://schemas.microsoft.com/office/drawing/2014/main" id="{58C883A5-8BDB-4EA3-AEF4-1CA7528D4CE5}"/>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Mỗi đóng góp tạo ra một artifact có thể bàn giao.</a:t>
            </a:r>
          </a:p>
        </p:txBody>
      </p:sp>
      <p:sp>
        <p:nvSpPr>
          <p:cNvPr id="4" name="">
            <a:extLst xmlns:a="http://schemas.openxmlformats.org/drawingml/2006/main">
              <a:ext uri="{FF2B5EF4-FFF2-40B4-BE49-F238E27FC236}">
                <a16:creationId xmlns:a16="http://schemas.microsoft.com/office/drawing/2014/main" id="{B342318C-0121-4E25-BA36-A16CEF55D0E3}"/>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1EA4D02-7304-4FC6-A285-C131515167C9}"/>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ĐÓNG GÓP</a:t>
            </a:r>
          </a:p>
        </p:txBody>
      </p:sp>
      <p:sp>
        <p:nvSpPr>
          <p:cNvPr id="6" name="">
            <a:extLst xmlns:a="http://schemas.openxmlformats.org/drawingml/2006/main">
              <a:ext uri="{FF2B5EF4-FFF2-40B4-BE49-F238E27FC236}">
                <a16:creationId xmlns:a16="http://schemas.microsoft.com/office/drawing/2014/main" id="{016F067E-8F7C-44A9-BD6E-E1BC683C3AA4}"/>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38</a:t>
            </a:r>
          </a:p>
        </p:txBody>
      </p:sp>
      <p:sp>
        <p:nvSpPr>
          <p:cNvPr id="7" name="">
            <a:extLst xmlns:a="http://schemas.openxmlformats.org/drawingml/2006/main">
              <a:ext uri="{FF2B5EF4-FFF2-40B4-BE49-F238E27FC236}">
                <a16:creationId xmlns:a16="http://schemas.microsoft.com/office/drawing/2014/main" id="{120A99E1-CAC5-429F-9428-244D10662A66}"/>
              </a:ext>
            </a:extLst>
          </p:cNvPr>
          <p:cNvSpPr>
            <a:spLocks xmlns:a="http://schemas.openxmlformats.org/drawingml/2006/main" noGrp="1"/>
          </p:cNvSpPr>
          <p:nvPr/>
        </p:nvSpPr>
        <p:spPr>
          <a:xfrm xmlns:a="http://schemas.openxmlformats.org/drawingml/2006/main">
            <a:off x="809625" y="2047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1F5EAC"/>
                </a:solidFill>
                <a:latin typeface="Aptos"/>
                <a:ea typeface="Aptos"/>
                <a:cs typeface="Aptos"/>
              </a:defRPr>
            </a:pPr>
            <a:r>
              <a:rPr sz="2250" b="1" i="0">
                <a:solidFill>
                  <a:srgbClr val="1F5EAC"/>
                </a:solidFill>
                <a:latin typeface="Aptos"/>
                <a:ea typeface="Aptos"/>
                <a:cs typeface="Aptos"/>
              </a:rPr>
              <a:t>01</a:t>
            </a:r>
          </a:p>
        </p:txBody>
      </p:sp>
      <p:sp>
        <p:nvSpPr>
          <p:cNvPr id="8" name="">
            <a:extLst xmlns:a="http://schemas.openxmlformats.org/drawingml/2006/main">
              <a:ext uri="{FF2B5EF4-FFF2-40B4-BE49-F238E27FC236}">
                <a16:creationId xmlns:a16="http://schemas.microsoft.com/office/drawing/2014/main" id="{16BF4601-B503-458D-AC31-9BA8D719A1FD}"/>
              </a:ext>
            </a:extLst>
          </p:cNvPr>
          <p:cNvSpPr>
            <a:spLocks xmlns:a="http://schemas.openxmlformats.org/drawingml/2006/main" noGrp="1"/>
          </p:cNvSpPr>
          <p:nvPr/>
        </p:nvSpPr>
        <p:spPr>
          <a:xfrm xmlns:a="http://schemas.openxmlformats.org/drawingml/2006/main">
            <a:off x="1362075" y="20478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1F5EAC"/>
                </a:solidFill>
                <a:latin typeface="Aptos"/>
                <a:ea typeface="Aptos"/>
                <a:cs typeface="Aptos"/>
              </a:defRPr>
            </a:pPr>
            <a:r>
              <a:rPr sz="1650" b="1" i="0">
                <a:solidFill>
                  <a:srgbClr val="1F5EAC"/>
                </a:solidFill>
                <a:latin typeface="Aptos"/>
                <a:ea typeface="Aptos"/>
                <a:cs typeface="Aptos"/>
              </a:rPr>
              <a:t>Bản đồ rubric → task → evidence → feature cho 6 tiêu chí</a:t>
            </a:r>
          </a:p>
        </p:txBody>
      </p:sp>
      <p:sp>
        <p:nvSpPr>
          <p:cNvPr id="9" name="">
            <a:extLst xmlns:a="http://schemas.openxmlformats.org/drawingml/2006/main">
              <a:ext uri="{FF2B5EF4-FFF2-40B4-BE49-F238E27FC236}">
                <a16:creationId xmlns:a16="http://schemas.microsoft.com/office/drawing/2014/main" id="{8174115E-99EC-4295-961B-6D9FC9EB422A}"/>
              </a:ext>
            </a:extLst>
          </p:cNvPr>
          <p:cNvSpPr>
            <a:spLocks xmlns:a="http://schemas.openxmlformats.org/drawingml/2006/main" noGrp="1"/>
          </p:cNvSpPr>
          <p:nvPr/>
        </p:nvSpPr>
        <p:spPr>
          <a:xfrm xmlns:a="http://schemas.openxmlformats.org/drawingml/2006/main">
            <a:off x="1362075" y="2657475"/>
            <a:ext cx="4400550" cy="19050"/>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D0639E2-3D0E-42C3-BF63-12AF42D744E1}"/>
              </a:ext>
            </a:extLst>
          </p:cNvPr>
          <p:cNvSpPr>
            <a:spLocks xmlns:a="http://schemas.openxmlformats.org/drawingml/2006/main" noGrp="1"/>
          </p:cNvSpPr>
          <p:nvPr/>
        </p:nvSpPr>
        <p:spPr>
          <a:xfrm xmlns:a="http://schemas.openxmlformats.org/drawingml/2006/main">
            <a:off x="6429375" y="2047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2F7D5C"/>
                </a:solidFill>
                <a:latin typeface="Aptos"/>
                <a:ea typeface="Aptos"/>
                <a:cs typeface="Aptos"/>
              </a:defRPr>
            </a:pPr>
            <a:r>
              <a:rPr sz="2250" b="1" i="0">
                <a:solidFill>
                  <a:srgbClr val="2F7D5C"/>
                </a:solidFill>
                <a:latin typeface="Aptos"/>
                <a:ea typeface="Aptos"/>
                <a:cs typeface="Aptos"/>
              </a:rPr>
              <a:t>02</a:t>
            </a:r>
          </a:p>
        </p:txBody>
      </p:sp>
      <p:sp>
        <p:nvSpPr>
          <p:cNvPr id="11" name="">
            <a:extLst xmlns:a="http://schemas.openxmlformats.org/drawingml/2006/main">
              <a:ext uri="{FF2B5EF4-FFF2-40B4-BE49-F238E27FC236}">
                <a16:creationId xmlns:a16="http://schemas.microsoft.com/office/drawing/2014/main" id="{0F22B9DC-2289-49C9-8FAE-800AA821F9FC}"/>
              </a:ext>
            </a:extLst>
          </p:cNvPr>
          <p:cNvSpPr>
            <a:spLocks xmlns:a="http://schemas.openxmlformats.org/drawingml/2006/main" noGrp="1"/>
          </p:cNvSpPr>
          <p:nvPr/>
        </p:nvSpPr>
        <p:spPr>
          <a:xfrm xmlns:a="http://schemas.openxmlformats.org/drawingml/2006/main">
            <a:off x="6981825" y="20478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2F7D5C"/>
                </a:solidFill>
                <a:latin typeface="Aptos"/>
                <a:ea typeface="Aptos"/>
                <a:cs typeface="Aptos"/>
              </a:defRPr>
            </a:pPr>
            <a:r>
              <a:rPr sz="1650" b="1" i="0">
                <a:solidFill>
                  <a:srgbClr val="2F7D5C"/>
                </a:solidFill>
                <a:latin typeface="Aptos"/>
                <a:ea typeface="Aptos"/>
                <a:cs typeface="Aptos"/>
              </a:rPr>
              <a:t>Tập dữ liệu pilot người Việt có double-rating và adjudication</a:t>
            </a:r>
          </a:p>
        </p:txBody>
      </p:sp>
      <p:sp>
        <p:nvSpPr>
          <p:cNvPr id="12" name="">
            <a:extLst xmlns:a="http://schemas.openxmlformats.org/drawingml/2006/main">
              <a:ext uri="{FF2B5EF4-FFF2-40B4-BE49-F238E27FC236}">
                <a16:creationId xmlns:a16="http://schemas.microsoft.com/office/drawing/2014/main" id="{73FE3D09-E854-4060-A059-78C20DFEA7D5}"/>
              </a:ext>
            </a:extLst>
          </p:cNvPr>
          <p:cNvSpPr>
            <a:spLocks xmlns:a="http://schemas.openxmlformats.org/drawingml/2006/main" noGrp="1"/>
          </p:cNvSpPr>
          <p:nvPr/>
        </p:nvSpPr>
        <p:spPr>
          <a:xfrm xmlns:a="http://schemas.openxmlformats.org/drawingml/2006/main">
            <a:off x="6981825" y="2657475"/>
            <a:ext cx="4400550" cy="19050"/>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BE454A5-19B2-4E17-8F2B-358333B8F310}"/>
              </a:ext>
            </a:extLst>
          </p:cNvPr>
          <p:cNvSpPr>
            <a:spLocks xmlns:a="http://schemas.openxmlformats.org/drawingml/2006/main" noGrp="1"/>
          </p:cNvSpPr>
          <p:nvPr/>
        </p:nvSpPr>
        <p:spPr>
          <a:xfrm xmlns:a="http://schemas.openxmlformats.org/drawingml/2006/main">
            <a:off x="80962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6C4FA3"/>
                </a:solidFill>
                <a:latin typeface="Aptos"/>
                <a:ea typeface="Aptos"/>
                <a:cs typeface="Aptos"/>
              </a:defRPr>
            </a:pPr>
            <a:r>
              <a:rPr sz="2250" b="1" i="0">
                <a:solidFill>
                  <a:srgbClr val="6C4FA3"/>
                </a:solidFill>
                <a:latin typeface="Aptos"/>
                <a:ea typeface="Aptos"/>
                <a:cs typeface="Aptos"/>
              </a:rPr>
              <a:t>03</a:t>
            </a:r>
          </a:p>
        </p:txBody>
      </p:sp>
      <p:sp>
        <p:nvSpPr>
          <p:cNvPr id="14" name="">
            <a:extLst xmlns:a="http://schemas.openxmlformats.org/drawingml/2006/main">
              <a:ext uri="{FF2B5EF4-FFF2-40B4-BE49-F238E27FC236}">
                <a16:creationId xmlns:a16="http://schemas.microsoft.com/office/drawing/2014/main" id="{A8D0E613-5D40-42CD-BEC4-ADE342E22CD5}"/>
              </a:ext>
            </a:extLst>
          </p:cNvPr>
          <p:cNvSpPr>
            <a:spLocks xmlns:a="http://schemas.openxmlformats.org/drawingml/2006/main" noGrp="1"/>
          </p:cNvSpPr>
          <p:nvPr/>
        </p:nvSpPr>
        <p:spPr>
          <a:xfrm xmlns:a="http://schemas.openxmlformats.org/drawingml/2006/main">
            <a:off x="1362075" y="33813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6C4FA3"/>
                </a:solidFill>
                <a:latin typeface="Aptos"/>
                <a:ea typeface="Aptos"/>
                <a:cs typeface="Aptos"/>
              </a:defRPr>
            </a:pPr>
            <a:r>
              <a:rPr sz="1650" b="1" i="0">
                <a:solidFill>
                  <a:srgbClr val="6C4FA3"/>
                </a:solidFill>
                <a:latin typeface="Aptos"/>
                <a:ea typeface="Aptos"/>
                <a:cs typeface="Aptos"/>
              </a:rPr>
              <a:t>Baseline và late-fusion protocol có speaker-level evaluation</a:t>
            </a:r>
          </a:p>
        </p:txBody>
      </p:sp>
      <p:sp>
        <p:nvSpPr>
          <p:cNvPr id="15" name="">
            <a:extLst xmlns:a="http://schemas.openxmlformats.org/drawingml/2006/main">
              <a:ext uri="{FF2B5EF4-FFF2-40B4-BE49-F238E27FC236}">
                <a16:creationId xmlns:a16="http://schemas.microsoft.com/office/drawing/2014/main" id="{E849BC7C-5C9D-4870-B8E0-97BD77DDCA6F}"/>
              </a:ext>
            </a:extLst>
          </p:cNvPr>
          <p:cNvSpPr>
            <a:spLocks xmlns:a="http://schemas.openxmlformats.org/drawingml/2006/main" noGrp="1"/>
          </p:cNvSpPr>
          <p:nvPr/>
        </p:nvSpPr>
        <p:spPr>
          <a:xfrm xmlns:a="http://schemas.openxmlformats.org/drawingml/2006/main">
            <a:off x="1362075" y="3990975"/>
            <a:ext cx="4400550" cy="19050"/>
          </a:xfrm>
          <a:prstGeom xmlns:a="http://schemas.openxmlformats.org/drawingml/2006/main" prst="rect">
            <a:avLst/>
          </a:prstGeom>
          <a:solidFill xmlns:a="http://schemas.openxmlformats.org/drawingml/2006/main">
            <a:srgbClr val="6C4FA3"/>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10C52CD2-404B-42E2-80EC-68D6B07E8F70}"/>
              </a:ext>
            </a:extLst>
          </p:cNvPr>
          <p:cNvSpPr>
            <a:spLocks xmlns:a="http://schemas.openxmlformats.org/drawingml/2006/main" noGrp="1"/>
          </p:cNvSpPr>
          <p:nvPr/>
        </p:nvSpPr>
        <p:spPr>
          <a:xfrm xmlns:a="http://schemas.openxmlformats.org/drawingml/2006/main">
            <a:off x="6429375" y="33813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B43D3D"/>
                </a:solidFill>
                <a:latin typeface="Aptos"/>
                <a:ea typeface="Aptos"/>
                <a:cs typeface="Aptos"/>
              </a:defRPr>
            </a:pPr>
            <a:r>
              <a:rPr sz="2250" b="1" i="0">
                <a:solidFill>
                  <a:srgbClr val="B43D3D"/>
                </a:solidFill>
                <a:latin typeface="Aptos"/>
                <a:ea typeface="Aptos"/>
                <a:cs typeface="Aptos"/>
              </a:rPr>
              <a:t>04</a:t>
            </a:r>
          </a:p>
        </p:txBody>
      </p:sp>
      <p:sp>
        <p:nvSpPr>
          <p:cNvPr id="17" name="">
            <a:extLst xmlns:a="http://schemas.openxmlformats.org/drawingml/2006/main">
              <a:ext uri="{FF2B5EF4-FFF2-40B4-BE49-F238E27FC236}">
                <a16:creationId xmlns:a16="http://schemas.microsoft.com/office/drawing/2014/main" id="{396417AC-22F4-47DB-9FA9-FD3E5F8154D9}"/>
              </a:ext>
            </a:extLst>
          </p:cNvPr>
          <p:cNvSpPr>
            <a:spLocks xmlns:a="http://schemas.openxmlformats.org/drawingml/2006/main" noGrp="1"/>
          </p:cNvSpPr>
          <p:nvPr/>
        </p:nvSpPr>
        <p:spPr>
          <a:xfrm xmlns:a="http://schemas.openxmlformats.org/drawingml/2006/main">
            <a:off x="6981825" y="33813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B43D3D"/>
                </a:solidFill>
                <a:latin typeface="Aptos"/>
                <a:ea typeface="Aptos"/>
                <a:cs typeface="Aptos"/>
              </a:defRPr>
            </a:pPr>
            <a:r>
              <a:rPr sz="1650" b="1" i="0">
                <a:solidFill>
                  <a:srgbClr val="B43D3D"/>
                </a:solidFill>
                <a:latin typeface="Aptos"/>
                <a:ea typeface="Aptos"/>
                <a:cs typeface="Aptos"/>
              </a:rPr>
              <a:t>Calibration, teacher-review policy và error/fairness audit</a:t>
            </a:r>
          </a:p>
        </p:txBody>
      </p:sp>
      <p:sp>
        <p:nvSpPr>
          <p:cNvPr id="18" name="">
            <a:extLst xmlns:a="http://schemas.openxmlformats.org/drawingml/2006/main">
              <a:ext uri="{FF2B5EF4-FFF2-40B4-BE49-F238E27FC236}">
                <a16:creationId xmlns:a16="http://schemas.microsoft.com/office/drawing/2014/main" id="{D2192B7B-3939-4398-B2F0-460B84A65313}"/>
              </a:ext>
            </a:extLst>
          </p:cNvPr>
          <p:cNvSpPr>
            <a:spLocks xmlns:a="http://schemas.openxmlformats.org/drawingml/2006/main" noGrp="1"/>
          </p:cNvSpPr>
          <p:nvPr/>
        </p:nvSpPr>
        <p:spPr>
          <a:xfrm xmlns:a="http://schemas.openxmlformats.org/drawingml/2006/main">
            <a:off x="6981825" y="3990975"/>
            <a:ext cx="4400550" cy="19050"/>
          </a:xfrm>
          <a:prstGeom xmlns:a="http://schemas.openxmlformats.org/drawingml/2006/main" prst="rect">
            <a:avLst/>
          </a:prstGeom>
          <a:solidFill xmlns:a="http://schemas.openxmlformats.org/drawingml/2006/main">
            <a:srgbClr val="B43D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037AE08-63CB-4453-B00E-7FFD004A6D8F}"/>
              </a:ext>
            </a:extLst>
          </p:cNvPr>
          <p:cNvSpPr>
            <a:spLocks xmlns:a="http://schemas.openxmlformats.org/drawingml/2006/main" noGrp="1"/>
          </p:cNvSpPr>
          <p:nvPr/>
        </p:nvSpPr>
        <p:spPr>
          <a:xfrm xmlns:a="http://schemas.openxmlformats.org/drawingml/2006/main">
            <a:off x="809625" y="4714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A96500"/>
                </a:solidFill>
                <a:latin typeface="Aptos"/>
                <a:ea typeface="Aptos"/>
                <a:cs typeface="Aptos"/>
              </a:defRPr>
            </a:pPr>
            <a:r>
              <a:rPr sz="2250" b="1" i="0">
                <a:solidFill>
                  <a:srgbClr val="A96500"/>
                </a:solidFill>
                <a:latin typeface="Aptos"/>
                <a:ea typeface="Aptos"/>
                <a:cs typeface="Aptos"/>
              </a:rPr>
              <a:t>05</a:t>
            </a:r>
          </a:p>
        </p:txBody>
      </p:sp>
      <p:sp>
        <p:nvSpPr>
          <p:cNvPr id="20" name="">
            <a:extLst xmlns:a="http://schemas.openxmlformats.org/drawingml/2006/main">
              <a:ext uri="{FF2B5EF4-FFF2-40B4-BE49-F238E27FC236}">
                <a16:creationId xmlns:a16="http://schemas.microsoft.com/office/drawing/2014/main" id="{8695D740-33EB-4BBD-BC20-F9D2352D2BB8}"/>
              </a:ext>
            </a:extLst>
          </p:cNvPr>
          <p:cNvSpPr>
            <a:spLocks xmlns:a="http://schemas.openxmlformats.org/drawingml/2006/main" noGrp="1"/>
          </p:cNvSpPr>
          <p:nvPr/>
        </p:nvSpPr>
        <p:spPr>
          <a:xfrm xmlns:a="http://schemas.openxmlformats.org/drawingml/2006/main">
            <a:off x="1362075" y="47148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A96500"/>
                </a:solidFill>
                <a:latin typeface="Aptos"/>
                <a:ea typeface="Aptos"/>
                <a:cs typeface="Aptos"/>
              </a:defRPr>
            </a:pPr>
            <a:r>
              <a:rPr sz="1650" b="1" i="0">
                <a:solidFill>
                  <a:srgbClr val="A96500"/>
                </a:solidFill>
                <a:latin typeface="Aptos"/>
                <a:ea typeface="Aptos"/>
                <a:cs typeface="Aptos"/>
              </a:rPr>
              <a:t>speaking_profile schema nối đánh giá với luyện tập thích ứng</a:t>
            </a:r>
          </a:p>
        </p:txBody>
      </p:sp>
      <p:sp>
        <p:nvSpPr>
          <p:cNvPr id="21" name="">
            <a:extLst xmlns:a="http://schemas.openxmlformats.org/drawingml/2006/main">
              <a:ext uri="{FF2B5EF4-FFF2-40B4-BE49-F238E27FC236}">
                <a16:creationId xmlns:a16="http://schemas.microsoft.com/office/drawing/2014/main" id="{A73E5935-3CB2-4430-9EFF-2F66382D7D53}"/>
              </a:ext>
            </a:extLst>
          </p:cNvPr>
          <p:cNvSpPr>
            <a:spLocks xmlns:a="http://schemas.openxmlformats.org/drawingml/2006/main" noGrp="1"/>
          </p:cNvSpPr>
          <p:nvPr/>
        </p:nvSpPr>
        <p:spPr>
          <a:xfrm xmlns:a="http://schemas.openxmlformats.org/drawingml/2006/main">
            <a:off x="1362075" y="5324475"/>
            <a:ext cx="4400550" cy="19050"/>
          </a:xfrm>
          <a:prstGeom xmlns:a="http://schemas.openxmlformats.org/drawingml/2006/main" prst="rect">
            <a:avLst/>
          </a:prstGeom>
          <a:solidFill xmlns:a="http://schemas.openxmlformats.org/drawingml/2006/main">
            <a:srgbClr val="A965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8367B74-23D0-48FF-9634-0B51BF6FC510}"/>
              </a:ext>
            </a:extLst>
          </p:cNvPr>
          <p:cNvSpPr>
            <a:spLocks xmlns:a="http://schemas.openxmlformats.org/drawingml/2006/main" noGrp="1"/>
          </p:cNvSpPr>
          <p:nvPr/>
        </p:nvSpPr>
        <p:spPr>
          <a:xfrm xmlns:a="http://schemas.openxmlformats.org/drawingml/2006/main">
            <a:off x="6429375" y="4714875"/>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5000"/>
              </a:lnSpc>
              <a:buNone/>
              <a:defRPr sz="2250" b="1" i="0">
                <a:solidFill>
                  <a:srgbClr val="28788C"/>
                </a:solidFill>
                <a:latin typeface="Aptos"/>
                <a:ea typeface="Aptos"/>
                <a:cs typeface="Aptos"/>
              </a:defRPr>
            </a:pPr>
            <a:r>
              <a:rPr sz="2250" b="1" i="0">
                <a:solidFill>
                  <a:srgbClr val="28788C"/>
                </a:solidFill>
                <a:latin typeface="Aptos"/>
                <a:ea typeface="Aptos"/>
                <a:cs typeface="Aptos"/>
              </a:rPr>
              <a:t>06</a:t>
            </a:r>
          </a:p>
        </p:txBody>
      </p:sp>
      <p:sp>
        <p:nvSpPr>
          <p:cNvPr id="23" name="">
            <a:extLst xmlns:a="http://schemas.openxmlformats.org/drawingml/2006/main">
              <a:ext uri="{FF2B5EF4-FFF2-40B4-BE49-F238E27FC236}">
                <a16:creationId xmlns:a16="http://schemas.microsoft.com/office/drawing/2014/main" id="{CEB54AD0-C8C3-4F3F-A2CE-EEC1237F7BAF}"/>
              </a:ext>
            </a:extLst>
          </p:cNvPr>
          <p:cNvSpPr>
            <a:spLocks xmlns:a="http://schemas.openxmlformats.org/drawingml/2006/main" noGrp="1"/>
          </p:cNvSpPr>
          <p:nvPr/>
        </p:nvSpPr>
        <p:spPr>
          <a:xfrm xmlns:a="http://schemas.openxmlformats.org/drawingml/2006/main">
            <a:off x="6981825" y="4714875"/>
            <a:ext cx="4400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650" b="1" i="0">
                <a:solidFill>
                  <a:srgbClr val="28788C"/>
                </a:solidFill>
                <a:latin typeface="Aptos"/>
                <a:ea typeface="Aptos"/>
                <a:cs typeface="Aptos"/>
              </a:defRPr>
            </a:pPr>
            <a:r>
              <a:rPr sz="1650" b="1" i="0">
                <a:solidFill>
                  <a:srgbClr val="28788C"/>
                </a:solidFill>
                <a:latin typeface="Aptos"/>
                <a:ea typeface="Aptos"/>
                <a:cs typeface="Aptos"/>
              </a:rPr>
              <a:t>Bộ tài liệu tái lập: code, version, split manifest, rubric, model card</a:t>
            </a:r>
          </a:p>
        </p:txBody>
      </p:sp>
      <p:sp>
        <p:nvSpPr>
          <p:cNvPr id="24" name="">
            <a:extLst xmlns:a="http://schemas.openxmlformats.org/drawingml/2006/main">
              <a:ext uri="{FF2B5EF4-FFF2-40B4-BE49-F238E27FC236}">
                <a16:creationId xmlns:a16="http://schemas.microsoft.com/office/drawing/2014/main" id="{41A9F9CA-3458-4D62-AE99-2D2135F4204D}"/>
              </a:ext>
            </a:extLst>
          </p:cNvPr>
          <p:cNvSpPr>
            <a:spLocks xmlns:a="http://schemas.openxmlformats.org/drawingml/2006/main" noGrp="1"/>
          </p:cNvSpPr>
          <p:nvPr/>
        </p:nvSpPr>
        <p:spPr>
          <a:xfrm xmlns:a="http://schemas.openxmlformats.org/drawingml/2006/main">
            <a:off x="6981825" y="5324475"/>
            <a:ext cx="4400550" cy="19050"/>
          </a:xfrm>
          <a:prstGeom xmlns:a="http://schemas.openxmlformats.org/drawingml/2006/main" prst="rect">
            <a:avLst/>
          </a:prstGeom>
          <a:solidFill xmlns:a="http://schemas.openxmlformats.org/drawingml/2006/main">
            <a:srgbClr val="28788C"/>
          </a:solidFill>
          <a:ln xmlns:a="http://schemas.openxmlformats.org/drawingml/2006/main" w="0">
            <a:noFill/>
            <a:prstDash val="solid"/>
          </a:ln>
        </p:spPr>
      </p:sp>
    </p:spTree>
    <p:extLst>
      <p:ext uri="{BB962C8B-B14F-4D97-AF65-F5344CB8AC3E}">
        <p14:creationId xmlns:p14="http://schemas.microsoft.com/office/powerpoint/2010/main" val="244542908"/>
      </p:ext>
    </p:extLst>
  </p:cSld>
</p:sld>
</file>

<file path=ppt/slides/slide3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EFE03CE-F454-4996-903F-A749A7001F35}"/>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CÂU HỎI HỘI ĐỒNG THƯỜNG GẶP</a:t>
            </a:r>
          </a:p>
        </p:txBody>
      </p:sp>
      <p:sp>
        <p:nvSpPr>
          <p:cNvPr id="2" name="">
            <a:extLst xmlns:a="http://schemas.openxmlformats.org/drawingml/2006/main">
              <a:ext uri="{FF2B5EF4-FFF2-40B4-BE49-F238E27FC236}">
                <a16:creationId xmlns:a16="http://schemas.microsoft.com/office/drawing/2014/main" id="{DF9C0971-7B0A-4751-B036-BEE0BBE94A01}"/>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Trả lời bằng phạm vi, bằng chứng và giới hạn, không trả lời bằng khẩu hiệu AI</a:t>
            </a:r>
          </a:p>
        </p:txBody>
      </p:sp>
      <p:sp>
        <p:nvSpPr>
          <p:cNvPr id="3" name="">
            <a:extLst xmlns:a="http://schemas.openxmlformats.org/drawingml/2006/main">
              <a:ext uri="{FF2B5EF4-FFF2-40B4-BE49-F238E27FC236}">
                <a16:creationId xmlns:a16="http://schemas.microsoft.com/office/drawing/2014/main" id="{583C1773-35E3-43AB-90B4-1F93D9E840C4}"/>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Bốn câu dưới đây bao phủ phần dễ bị hỏi nhất.</a:t>
            </a:r>
          </a:p>
        </p:txBody>
      </p:sp>
      <p:sp>
        <p:nvSpPr>
          <p:cNvPr id="4" name="">
            <a:extLst xmlns:a="http://schemas.openxmlformats.org/drawingml/2006/main">
              <a:ext uri="{FF2B5EF4-FFF2-40B4-BE49-F238E27FC236}">
                <a16:creationId xmlns:a16="http://schemas.microsoft.com/office/drawing/2014/main" id="{A8B75F40-413C-43C3-BA26-67AAB22AF23F}"/>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C6C8FA1-A5C7-4310-8235-88BACC53745E}"/>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HỎI ĐÁP</a:t>
            </a:r>
          </a:p>
        </p:txBody>
      </p:sp>
      <p:sp>
        <p:nvSpPr>
          <p:cNvPr id="6" name="">
            <a:extLst xmlns:a="http://schemas.openxmlformats.org/drawingml/2006/main">
              <a:ext uri="{FF2B5EF4-FFF2-40B4-BE49-F238E27FC236}">
                <a16:creationId xmlns:a16="http://schemas.microsoft.com/office/drawing/2014/main" id="{20D07B92-8FA5-4704-A27C-543BD620DA15}"/>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39</a:t>
            </a:r>
          </a:p>
        </p:txBody>
      </p:sp>
      <p:sp>
        <p:nvSpPr>
          <p:cNvPr id="7" name="">
            <a:extLst xmlns:a="http://schemas.openxmlformats.org/drawingml/2006/main">
              <a:ext uri="{FF2B5EF4-FFF2-40B4-BE49-F238E27FC236}">
                <a16:creationId xmlns:a16="http://schemas.microsoft.com/office/drawing/2014/main" id="{BE27E57D-B1AF-4FD5-A5FC-6A89B158E3A0}"/>
              </a:ext>
            </a:extLst>
          </p:cNvPr>
          <p:cNvSpPr>
            <a:spLocks xmlns:a="http://schemas.openxmlformats.org/drawingml/2006/main" noGrp="1"/>
          </p:cNvSpPr>
          <p:nvPr/>
        </p:nvSpPr>
        <p:spPr>
          <a:xfrm xmlns:a="http://schemas.openxmlformats.org/drawingml/2006/main">
            <a:off x="666750" y="1952625"/>
            <a:ext cx="3524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8" name="">
            <a:extLst xmlns:a="http://schemas.openxmlformats.org/drawingml/2006/main">
              <a:ext uri="{FF2B5EF4-FFF2-40B4-BE49-F238E27FC236}">
                <a16:creationId xmlns:a16="http://schemas.microsoft.com/office/drawing/2014/main" id="{2C2D8B75-5AF0-4C32-A953-B83158D6236E}"/>
              </a:ext>
            </a:extLst>
          </p:cNvPr>
          <p:cNvSpPr>
            <a:spLocks xmlns:a="http://schemas.openxmlformats.org/drawingml/2006/main" noGrp="1"/>
          </p:cNvSpPr>
          <p:nvPr/>
        </p:nvSpPr>
        <p:spPr>
          <a:xfrm xmlns:a="http://schemas.openxmlformats.org/drawingml/2006/main">
            <a:off x="762000" y="204787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Câu hỏi</a:t>
            </a:r>
          </a:p>
        </p:txBody>
      </p:sp>
      <p:sp>
        <p:nvSpPr>
          <p:cNvPr id="9" name="">
            <a:extLst xmlns:a="http://schemas.openxmlformats.org/drawingml/2006/main">
              <a:ext uri="{FF2B5EF4-FFF2-40B4-BE49-F238E27FC236}">
                <a16:creationId xmlns:a16="http://schemas.microsoft.com/office/drawing/2014/main" id="{95043374-FA2D-420E-ABFA-6FC4424F8B08}"/>
              </a:ext>
            </a:extLst>
          </p:cNvPr>
          <p:cNvSpPr>
            <a:spLocks xmlns:a="http://schemas.openxmlformats.org/drawingml/2006/main" noGrp="1"/>
          </p:cNvSpPr>
          <p:nvPr/>
        </p:nvSpPr>
        <p:spPr>
          <a:xfrm xmlns:a="http://schemas.openxmlformats.org/drawingml/2006/main">
            <a:off x="4191000" y="1952625"/>
            <a:ext cx="7334250" cy="457200"/>
          </a:xfrm>
          <a:prstGeom xmlns:a="http://schemas.openxmlformats.org/drawingml/2006/main" prst="rect">
            <a:avLst/>
          </a:prstGeom>
          <a:solidFill xmlns:a="http://schemas.openxmlformats.org/drawingml/2006/main">
            <a:srgbClr val="1F5EAC"/>
          </a:solidFill>
          <a:ln xmlns:a="http://schemas.openxmlformats.org/drawingml/2006/main" w="9525">
            <a:solidFill>
              <a:srgbClr val="FFFFFF"/>
            </a:solidFill>
            <a:prstDash val="solid"/>
          </a:ln>
        </p:spPr>
      </p:sp>
      <p:sp>
        <p:nvSpPr>
          <p:cNvPr id="10" name="">
            <a:extLst xmlns:a="http://schemas.openxmlformats.org/drawingml/2006/main">
              <a:ext uri="{FF2B5EF4-FFF2-40B4-BE49-F238E27FC236}">
                <a16:creationId xmlns:a16="http://schemas.microsoft.com/office/drawing/2014/main" id="{6E728ABF-55C7-4E99-8CC7-EE6C9BA39441}"/>
              </a:ext>
            </a:extLst>
          </p:cNvPr>
          <p:cNvSpPr>
            <a:spLocks xmlns:a="http://schemas.openxmlformats.org/drawingml/2006/main" noGrp="1"/>
          </p:cNvSpPr>
          <p:nvPr/>
        </p:nvSpPr>
        <p:spPr>
          <a:xfrm xmlns:a="http://schemas.openxmlformats.org/drawingml/2006/main">
            <a:off x="4286250" y="2047875"/>
            <a:ext cx="714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05000"/>
              </a:lnSpc>
              <a:buNone/>
              <a:defRPr sz="1200" b="1" i="0">
                <a:solidFill>
                  <a:srgbClr val="FFFFFF"/>
                </a:solidFill>
                <a:latin typeface="Aptos"/>
                <a:ea typeface="Aptos"/>
                <a:cs typeface="Aptos"/>
              </a:defRPr>
            </a:pPr>
            <a:r>
              <a:rPr sz="1200" b="1" i="0">
                <a:solidFill>
                  <a:srgbClr val="FFFFFF"/>
                </a:solidFill>
                <a:latin typeface="Aptos"/>
                <a:ea typeface="Aptos"/>
                <a:cs typeface="Aptos"/>
              </a:rPr>
              <a:t>Cách trả lời ngắn</a:t>
            </a:r>
          </a:p>
        </p:txBody>
      </p:sp>
      <p:sp>
        <p:nvSpPr>
          <p:cNvPr id="11" name="">
            <a:extLst xmlns:a="http://schemas.openxmlformats.org/drawingml/2006/main">
              <a:ext uri="{FF2B5EF4-FFF2-40B4-BE49-F238E27FC236}">
                <a16:creationId xmlns:a16="http://schemas.microsoft.com/office/drawing/2014/main" id="{20556FEE-36AD-41FB-BD3B-4FB43E1DA730}"/>
              </a:ext>
            </a:extLst>
          </p:cNvPr>
          <p:cNvSpPr>
            <a:spLocks xmlns:a="http://schemas.openxmlformats.org/drawingml/2006/main" noGrp="1"/>
          </p:cNvSpPr>
          <p:nvPr/>
        </p:nvSpPr>
        <p:spPr>
          <a:xfrm xmlns:a="http://schemas.openxmlformats.org/drawingml/2006/main">
            <a:off x="666750" y="2409825"/>
            <a:ext cx="352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2" name="">
            <a:extLst xmlns:a="http://schemas.openxmlformats.org/drawingml/2006/main">
              <a:ext uri="{FF2B5EF4-FFF2-40B4-BE49-F238E27FC236}">
                <a16:creationId xmlns:a16="http://schemas.microsoft.com/office/drawing/2014/main" id="{9B4AA7EF-9EE3-4196-A26A-E651D242A71D}"/>
              </a:ext>
            </a:extLst>
          </p:cNvPr>
          <p:cNvSpPr>
            <a:spLocks xmlns:a="http://schemas.openxmlformats.org/drawingml/2006/main" noGrp="1"/>
          </p:cNvSpPr>
          <p:nvPr/>
        </p:nvSpPr>
        <p:spPr>
          <a:xfrm xmlns:a="http://schemas.openxmlformats.org/drawingml/2006/main">
            <a:off x="762000" y="2486025"/>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Tại sao gọi là theo CEFR?</a:t>
            </a:r>
          </a:p>
        </p:txBody>
      </p:sp>
      <p:sp>
        <p:nvSpPr>
          <p:cNvPr id="13" name="">
            <a:extLst xmlns:a="http://schemas.openxmlformats.org/drawingml/2006/main">
              <a:ext uri="{FF2B5EF4-FFF2-40B4-BE49-F238E27FC236}">
                <a16:creationId xmlns:a16="http://schemas.microsoft.com/office/drawing/2014/main" id="{F3FE333E-1D9F-4F61-BEC8-07166F2090E3}"/>
              </a:ext>
            </a:extLst>
          </p:cNvPr>
          <p:cNvSpPr>
            <a:spLocks xmlns:a="http://schemas.openxmlformats.org/drawingml/2006/main" noGrp="1"/>
          </p:cNvSpPr>
          <p:nvPr/>
        </p:nvSpPr>
        <p:spPr>
          <a:xfrm xmlns:a="http://schemas.openxmlformats.org/drawingml/2006/main">
            <a:off x="4191000" y="2409825"/>
            <a:ext cx="733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14" name="">
            <a:extLst xmlns:a="http://schemas.openxmlformats.org/drawingml/2006/main">
              <a:ext uri="{FF2B5EF4-FFF2-40B4-BE49-F238E27FC236}">
                <a16:creationId xmlns:a16="http://schemas.microsoft.com/office/drawing/2014/main" id="{EEC418B3-6FBA-42E4-9935-97F8D22CF43D}"/>
              </a:ext>
            </a:extLst>
          </p:cNvPr>
          <p:cNvSpPr>
            <a:spLocks xmlns:a="http://schemas.openxmlformats.org/drawingml/2006/main" noGrp="1"/>
          </p:cNvSpPr>
          <p:nvPr/>
        </p:nvSpPr>
        <p:spPr>
          <a:xfrm xmlns:a="http://schemas.openxmlformats.org/drawingml/2006/main">
            <a:off x="4286250" y="2486025"/>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Vì rubric/task/evidence bám 6 tiêu chí CEFR và điểm được kiểm định với rater; không phải vì LLM tự ghi nhãn CEFR.</a:t>
            </a:r>
          </a:p>
        </p:txBody>
      </p:sp>
      <p:sp>
        <p:nvSpPr>
          <p:cNvPr id="15" name="">
            <a:extLst xmlns:a="http://schemas.openxmlformats.org/drawingml/2006/main">
              <a:ext uri="{FF2B5EF4-FFF2-40B4-BE49-F238E27FC236}">
                <a16:creationId xmlns:a16="http://schemas.microsoft.com/office/drawing/2014/main" id="{D4C37038-40DD-4462-BAAB-E78644E8FB85}"/>
              </a:ext>
            </a:extLst>
          </p:cNvPr>
          <p:cNvSpPr>
            <a:spLocks xmlns:a="http://schemas.openxmlformats.org/drawingml/2006/main" noGrp="1"/>
          </p:cNvSpPr>
          <p:nvPr/>
        </p:nvSpPr>
        <p:spPr>
          <a:xfrm xmlns:a="http://schemas.openxmlformats.org/drawingml/2006/main">
            <a:off x="666750" y="3190875"/>
            <a:ext cx="3524250" cy="7810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16" name="">
            <a:extLst xmlns:a="http://schemas.openxmlformats.org/drawingml/2006/main">
              <a:ext uri="{FF2B5EF4-FFF2-40B4-BE49-F238E27FC236}">
                <a16:creationId xmlns:a16="http://schemas.microsoft.com/office/drawing/2014/main" id="{0B476898-DD3E-4B47-8248-70F6F9A58E19}"/>
              </a:ext>
            </a:extLst>
          </p:cNvPr>
          <p:cNvSpPr>
            <a:spLocks xmlns:a="http://schemas.openxmlformats.org/drawingml/2006/main" noGrp="1"/>
          </p:cNvSpPr>
          <p:nvPr/>
        </p:nvSpPr>
        <p:spPr>
          <a:xfrm xmlns:a="http://schemas.openxmlformats.org/drawingml/2006/main">
            <a:off x="762000" y="3267075"/>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AI có thay giảng viên không?</a:t>
            </a:r>
          </a:p>
        </p:txBody>
      </p:sp>
      <p:sp>
        <p:nvSpPr>
          <p:cNvPr id="17" name="">
            <a:extLst xmlns:a="http://schemas.openxmlformats.org/drawingml/2006/main">
              <a:ext uri="{FF2B5EF4-FFF2-40B4-BE49-F238E27FC236}">
                <a16:creationId xmlns:a16="http://schemas.microsoft.com/office/drawing/2014/main" id="{5FBF3CA7-17C8-4BFB-861C-4E6508604219}"/>
              </a:ext>
            </a:extLst>
          </p:cNvPr>
          <p:cNvSpPr>
            <a:spLocks xmlns:a="http://schemas.openxmlformats.org/drawingml/2006/main" noGrp="1"/>
          </p:cNvSpPr>
          <p:nvPr/>
        </p:nvSpPr>
        <p:spPr>
          <a:xfrm xmlns:a="http://schemas.openxmlformats.org/drawingml/2006/main">
            <a:off x="4191000" y="3190875"/>
            <a:ext cx="7334250" cy="7810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18" name="">
            <a:extLst xmlns:a="http://schemas.openxmlformats.org/drawingml/2006/main">
              <a:ext uri="{FF2B5EF4-FFF2-40B4-BE49-F238E27FC236}">
                <a16:creationId xmlns:a16="http://schemas.microsoft.com/office/drawing/2014/main" id="{2FB2D9A4-02A9-4F9B-912C-72A0589345FB}"/>
              </a:ext>
            </a:extLst>
          </p:cNvPr>
          <p:cNvSpPr>
            <a:spLocks xmlns:a="http://schemas.openxmlformats.org/drawingml/2006/main" noGrp="1"/>
          </p:cNvSpPr>
          <p:nvPr/>
        </p:nvSpPr>
        <p:spPr>
          <a:xfrm xmlns:a="http://schemas.openxmlformats.org/drawingml/2006/main">
            <a:off x="4286250" y="3267075"/>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Không. AI chấm sơ bộ; GV sở hữu rubric, duyệt ca bất định và quyết định cuối cùng.</a:t>
            </a:r>
          </a:p>
        </p:txBody>
      </p:sp>
      <p:sp>
        <p:nvSpPr>
          <p:cNvPr id="19" name="">
            <a:extLst xmlns:a="http://schemas.openxmlformats.org/drawingml/2006/main">
              <a:ext uri="{FF2B5EF4-FFF2-40B4-BE49-F238E27FC236}">
                <a16:creationId xmlns:a16="http://schemas.microsoft.com/office/drawing/2014/main" id="{6945AE3F-D116-44CD-9BFE-0D09F77CDEB0}"/>
              </a:ext>
            </a:extLst>
          </p:cNvPr>
          <p:cNvSpPr>
            <a:spLocks xmlns:a="http://schemas.openxmlformats.org/drawingml/2006/main" noGrp="1"/>
          </p:cNvSpPr>
          <p:nvPr/>
        </p:nvSpPr>
        <p:spPr>
          <a:xfrm xmlns:a="http://schemas.openxmlformats.org/drawingml/2006/main">
            <a:off x="666750" y="3971925"/>
            <a:ext cx="352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0" name="">
            <a:extLst xmlns:a="http://schemas.openxmlformats.org/drawingml/2006/main">
              <a:ext uri="{FF2B5EF4-FFF2-40B4-BE49-F238E27FC236}">
                <a16:creationId xmlns:a16="http://schemas.microsoft.com/office/drawing/2014/main" id="{490DD4BE-42A2-4F8D-BE9B-1206C62D52FF}"/>
              </a:ext>
            </a:extLst>
          </p:cNvPr>
          <p:cNvSpPr>
            <a:spLocks xmlns:a="http://schemas.openxmlformats.org/drawingml/2006/main" noGrp="1"/>
          </p:cNvSpPr>
          <p:nvPr/>
        </p:nvSpPr>
        <p:spPr>
          <a:xfrm xmlns:a="http://schemas.openxmlformats.org/drawingml/2006/main">
            <a:off x="762000" y="4048125"/>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Dữ liệu người Việt có đủ không?</a:t>
            </a:r>
          </a:p>
        </p:txBody>
      </p:sp>
      <p:sp>
        <p:nvSpPr>
          <p:cNvPr id="21" name="">
            <a:extLst xmlns:a="http://schemas.openxmlformats.org/drawingml/2006/main">
              <a:ext uri="{FF2B5EF4-FFF2-40B4-BE49-F238E27FC236}">
                <a16:creationId xmlns:a16="http://schemas.microsoft.com/office/drawing/2014/main" id="{E0895AA5-1F9B-428E-8D68-9D749BB7AA20}"/>
              </a:ext>
            </a:extLst>
          </p:cNvPr>
          <p:cNvSpPr>
            <a:spLocks xmlns:a="http://schemas.openxmlformats.org/drawingml/2006/main" noGrp="1"/>
          </p:cNvSpPr>
          <p:nvPr/>
        </p:nvSpPr>
        <p:spPr>
          <a:xfrm xmlns:a="http://schemas.openxmlformats.org/drawingml/2006/main">
            <a:off x="4191000" y="3971925"/>
            <a:ext cx="733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2" name="">
            <a:extLst xmlns:a="http://schemas.openxmlformats.org/drawingml/2006/main">
              <a:ext uri="{FF2B5EF4-FFF2-40B4-BE49-F238E27FC236}">
                <a16:creationId xmlns:a16="http://schemas.microsoft.com/office/drawing/2014/main" id="{F23CA954-6493-47CC-B525-F723C44E0338}"/>
              </a:ext>
            </a:extLst>
          </p:cNvPr>
          <p:cNvSpPr>
            <a:spLocks xmlns:a="http://schemas.openxmlformats.org/drawingml/2006/main" noGrp="1"/>
          </p:cNvSpPr>
          <p:nvPr/>
        </p:nvSpPr>
        <p:spPr>
          <a:xfrm xmlns:a="http://schemas.openxmlformats.org/drawingml/2006/main">
            <a:off x="4286250" y="4048125"/>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Đủ cho PoC có CI và error analysis nếu đạt sàn; không đủ để tuyên bố tổng quát cho mọi người Việt.</a:t>
            </a:r>
          </a:p>
        </p:txBody>
      </p:sp>
      <p:sp>
        <p:nvSpPr>
          <p:cNvPr id="23" name="">
            <a:extLst xmlns:a="http://schemas.openxmlformats.org/drawingml/2006/main">
              <a:ext uri="{FF2B5EF4-FFF2-40B4-BE49-F238E27FC236}">
                <a16:creationId xmlns:a16="http://schemas.microsoft.com/office/drawing/2014/main" id="{41ECFAF5-7457-4A53-BE6D-8C33CA507A3A}"/>
              </a:ext>
            </a:extLst>
          </p:cNvPr>
          <p:cNvSpPr>
            <a:spLocks xmlns:a="http://schemas.openxmlformats.org/drawingml/2006/main" noGrp="1"/>
          </p:cNvSpPr>
          <p:nvPr/>
        </p:nvSpPr>
        <p:spPr>
          <a:xfrm xmlns:a="http://schemas.openxmlformats.org/drawingml/2006/main">
            <a:off x="666750" y="4752975"/>
            <a:ext cx="3524250" cy="7810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4" name="">
            <a:extLst xmlns:a="http://schemas.openxmlformats.org/drawingml/2006/main">
              <a:ext uri="{FF2B5EF4-FFF2-40B4-BE49-F238E27FC236}">
                <a16:creationId xmlns:a16="http://schemas.microsoft.com/office/drawing/2014/main" id="{C5C22A09-A2E8-4347-955D-054AB24A9A13}"/>
              </a:ext>
            </a:extLst>
          </p:cNvPr>
          <p:cNvSpPr>
            <a:spLocks xmlns:a="http://schemas.openxmlformats.org/drawingml/2006/main" noGrp="1"/>
          </p:cNvSpPr>
          <p:nvPr/>
        </p:nvSpPr>
        <p:spPr>
          <a:xfrm xmlns:a="http://schemas.openxmlformats.org/drawingml/2006/main">
            <a:off x="762000" y="4829175"/>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Phát âm chấm thế nào?</a:t>
            </a:r>
          </a:p>
        </p:txBody>
      </p:sp>
      <p:sp>
        <p:nvSpPr>
          <p:cNvPr id="25" name="">
            <a:extLst xmlns:a="http://schemas.openxmlformats.org/drawingml/2006/main">
              <a:ext uri="{FF2B5EF4-FFF2-40B4-BE49-F238E27FC236}">
                <a16:creationId xmlns:a16="http://schemas.microsoft.com/office/drawing/2014/main" id="{5D278F80-DA1A-4D33-937A-720D40855C9B}"/>
              </a:ext>
            </a:extLst>
          </p:cNvPr>
          <p:cNvSpPr>
            <a:spLocks xmlns:a="http://schemas.openxmlformats.org/drawingml/2006/main" noGrp="1"/>
          </p:cNvSpPr>
          <p:nvPr/>
        </p:nvSpPr>
        <p:spPr>
          <a:xfrm xmlns:a="http://schemas.openxmlformats.org/drawingml/2006/main">
            <a:off x="4191000" y="4752975"/>
            <a:ext cx="7334250" cy="781050"/>
          </a:xfrm>
          <a:prstGeom xmlns:a="http://schemas.openxmlformats.org/drawingml/2006/main" prst="rect">
            <a:avLst/>
          </a:prstGeom>
          <a:solidFill xmlns:a="http://schemas.openxmlformats.org/drawingml/2006/main">
            <a:srgbClr val="F3F6F9"/>
          </a:solidFill>
          <a:ln xmlns:a="http://schemas.openxmlformats.org/drawingml/2006/main" w="9525">
            <a:solidFill>
              <a:srgbClr val="D5DCE5"/>
            </a:solidFill>
            <a:prstDash val="solid"/>
          </a:ln>
        </p:spPr>
      </p:sp>
      <p:sp>
        <p:nvSpPr>
          <p:cNvPr id="26" name="">
            <a:extLst xmlns:a="http://schemas.openxmlformats.org/drawingml/2006/main">
              <a:ext uri="{FF2B5EF4-FFF2-40B4-BE49-F238E27FC236}">
                <a16:creationId xmlns:a16="http://schemas.microsoft.com/office/drawing/2014/main" id="{D1F71FC2-C16E-45C7-B1F6-CF36284790EF}"/>
              </a:ext>
            </a:extLst>
          </p:cNvPr>
          <p:cNvSpPr>
            <a:spLocks xmlns:a="http://schemas.openxmlformats.org/drawingml/2006/main" noGrp="1"/>
          </p:cNvSpPr>
          <p:nvPr/>
        </p:nvSpPr>
        <p:spPr>
          <a:xfrm xmlns:a="http://schemas.openxmlformats.org/drawingml/2006/main">
            <a:off x="4286250" y="4829175"/>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Kết hợp GOP, prosody và intelligibility; không phạt accent; Phonology được công bố là tiêu chí rủi ro nhất.</a:t>
            </a:r>
          </a:p>
        </p:txBody>
      </p:sp>
      <p:sp>
        <p:nvSpPr>
          <p:cNvPr id="27" name="">
            <a:extLst xmlns:a="http://schemas.openxmlformats.org/drawingml/2006/main">
              <a:ext uri="{FF2B5EF4-FFF2-40B4-BE49-F238E27FC236}">
                <a16:creationId xmlns:a16="http://schemas.microsoft.com/office/drawing/2014/main" id="{DE656CEC-9A9B-44DD-A281-94CA4CCB900C}"/>
              </a:ext>
            </a:extLst>
          </p:cNvPr>
          <p:cNvSpPr>
            <a:spLocks xmlns:a="http://schemas.openxmlformats.org/drawingml/2006/main" noGrp="1"/>
          </p:cNvSpPr>
          <p:nvPr/>
        </p:nvSpPr>
        <p:spPr>
          <a:xfrm xmlns:a="http://schemas.openxmlformats.org/drawingml/2006/main">
            <a:off x="666750" y="5534025"/>
            <a:ext cx="352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28" name="">
            <a:extLst xmlns:a="http://schemas.openxmlformats.org/drawingml/2006/main">
              <a:ext uri="{FF2B5EF4-FFF2-40B4-BE49-F238E27FC236}">
                <a16:creationId xmlns:a16="http://schemas.microsoft.com/office/drawing/2014/main" id="{7D98204F-EDAF-474A-9161-A8EDA19D079C}"/>
              </a:ext>
            </a:extLst>
          </p:cNvPr>
          <p:cNvSpPr>
            <a:spLocks xmlns:a="http://schemas.openxmlformats.org/drawingml/2006/main" noGrp="1"/>
          </p:cNvSpPr>
          <p:nvPr/>
        </p:nvSpPr>
        <p:spPr>
          <a:xfrm xmlns:a="http://schemas.openxmlformats.org/drawingml/2006/main">
            <a:off x="762000" y="5610225"/>
            <a:ext cx="333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Vì sao không chỉ dùng LLM?</a:t>
            </a:r>
          </a:p>
        </p:txBody>
      </p:sp>
      <p:sp>
        <p:nvSpPr>
          <p:cNvPr id="29" name="">
            <a:extLst xmlns:a="http://schemas.openxmlformats.org/drawingml/2006/main">
              <a:ext uri="{FF2B5EF4-FFF2-40B4-BE49-F238E27FC236}">
                <a16:creationId xmlns:a16="http://schemas.microsoft.com/office/drawing/2014/main" id="{2D454716-D79D-45EC-A30B-D95EE0631F4C}"/>
              </a:ext>
            </a:extLst>
          </p:cNvPr>
          <p:cNvSpPr>
            <a:spLocks xmlns:a="http://schemas.openxmlformats.org/drawingml/2006/main" noGrp="1"/>
          </p:cNvSpPr>
          <p:nvPr/>
        </p:nvSpPr>
        <p:spPr>
          <a:xfrm xmlns:a="http://schemas.openxmlformats.org/drawingml/2006/main">
            <a:off x="4191000" y="5534025"/>
            <a:ext cx="7334250" cy="781050"/>
          </a:xfrm>
          <a:prstGeom xmlns:a="http://schemas.openxmlformats.org/drawingml/2006/main" prst="rect">
            <a:avLst/>
          </a:prstGeom>
          <a:solidFill xmlns:a="http://schemas.openxmlformats.org/drawingml/2006/main">
            <a:srgbClr val="FFFFFF"/>
          </a:solidFill>
          <a:ln xmlns:a="http://schemas.openxmlformats.org/drawingml/2006/main" w="9525">
            <a:solidFill>
              <a:srgbClr val="D5DCE5"/>
            </a:solidFill>
            <a:prstDash val="solid"/>
          </a:ln>
        </p:spPr>
      </p:sp>
      <p:sp>
        <p:nvSpPr>
          <p:cNvPr id="30" name="">
            <a:extLst xmlns:a="http://schemas.openxmlformats.org/drawingml/2006/main">
              <a:ext uri="{FF2B5EF4-FFF2-40B4-BE49-F238E27FC236}">
                <a16:creationId xmlns:a16="http://schemas.microsoft.com/office/drawing/2014/main" id="{570D18AF-F5BD-42C0-A5E8-4E4745811526}"/>
              </a:ext>
            </a:extLst>
          </p:cNvPr>
          <p:cNvSpPr>
            <a:spLocks xmlns:a="http://schemas.openxmlformats.org/drawingml/2006/main" noGrp="1"/>
          </p:cNvSpPr>
          <p:nvPr/>
        </p:nvSpPr>
        <p:spPr>
          <a:xfrm xmlns:a="http://schemas.openxmlformats.org/drawingml/2006/main">
            <a:off x="4286250" y="5610225"/>
            <a:ext cx="714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00" b="0" i="0">
                <a:solidFill>
                  <a:srgbClr val="28374A"/>
                </a:solidFill>
                <a:latin typeface="Aptos"/>
                <a:ea typeface="Aptos"/>
                <a:cs typeface="Aptos"/>
              </a:defRPr>
            </a:pPr>
            <a:r>
              <a:rPr sz="1200" b="0" i="0">
                <a:solidFill>
                  <a:srgbClr val="28374A"/>
                </a:solidFill>
                <a:latin typeface="Aptos"/>
                <a:ea typeface="Aptos"/>
                <a:cs typeface="Aptos"/>
              </a:rPr>
              <a:t>Transcript không chứa đầy đủ pause, rhythm, intelligibility và interaction; ASR error còn có thể tạo lỗi ngữ pháp giả.</a:t>
            </a:r>
          </a:p>
        </p:txBody>
      </p:sp>
    </p:spTree>
    <p:extLst>
      <p:ext uri="{BB962C8B-B14F-4D97-AF65-F5344CB8AC3E}">
        <p14:creationId xmlns:p14="http://schemas.microsoft.com/office/powerpoint/2010/main" val="155140555"/>
      </p:ext>
    </p:extLst>
  </p:cSld>
</p:sld>
</file>

<file path=ppt/slides/slide40.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9DD1B21-7CB8-40E2-AEB6-ADB59695DF21}"/>
              </a:ext>
            </a:extLst>
          </p:cNvPr>
          <p:cNvSpPr>
            <a:spLocks xmlns:a="http://schemas.openxmlformats.org/drawingml/2006/main" noGrp="1"/>
          </p:cNvSpPr>
          <p:nvPr/>
        </p:nvSpPr>
        <p:spPr>
          <a:xfrm xmlns:a="http://schemas.openxmlformats.org/drawingml/2006/main">
            <a:off x="552450" y="304800"/>
            <a:ext cx="685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1F5EAC"/>
                </a:solidFill>
                <a:latin typeface="Aptos"/>
                <a:ea typeface="Aptos"/>
                <a:cs typeface="Aptos"/>
              </a:defRPr>
            </a:pPr>
            <a:r>
              <a:rPr sz="1200" b="1" i="0">
                <a:solidFill>
                  <a:srgbClr val="1F5EAC"/>
                </a:solidFill>
                <a:latin typeface="Aptos"/>
                <a:ea typeface="Aptos"/>
                <a:cs typeface="Aptos"/>
              </a:rPr>
              <a:t>NGUỒN NỀN TẢNG</a:t>
            </a:r>
          </a:p>
        </p:txBody>
      </p:sp>
      <p:sp>
        <p:nvSpPr>
          <p:cNvPr id="2" name="">
            <a:extLst xmlns:a="http://schemas.openxmlformats.org/drawingml/2006/main">
              <a:ext uri="{FF2B5EF4-FFF2-40B4-BE49-F238E27FC236}">
                <a16:creationId xmlns:a16="http://schemas.microsoft.com/office/drawing/2014/main" id="{7B84D4CF-24A6-43A3-8EC3-FF9A0398FB2D}"/>
              </a:ext>
            </a:extLst>
          </p:cNvPr>
          <p:cNvSpPr>
            <a:spLocks xmlns:a="http://schemas.openxmlformats.org/drawingml/2006/main" noGrp="1"/>
          </p:cNvSpPr>
          <p:nvPr/>
        </p:nvSpPr>
        <p:spPr>
          <a:xfrm xmlns:a="http://schemas.openxmlformats.org/drawingml/2006/main">
            <a:off x="552450" y="647700"/>
            <a:ext cx="110871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3150" b="1" i="0">
                <a:solidFill>
                  <a:srgbClr val="142033"/>
                </a:solidFill>
                <a:latin typeface="Aptos"/>
                <a:ea typeface="Aptos"/>
                <a:cs typeface="Aptos"/>
              </a:defRPr>
            </a:pPr>
            <a:r>
              <a:rPr sz="3150" b="1" i="0">
                <a:solidFill>
                  <a:srgbClr val="142033"/>
                </a:solidFill>
                <a:latin typeface="Aptos"/>
                <a:ea typeface="Aptos"/>
                <a:cs typeface="Aptos"/>
              </a:rPr>
              <a:t>Ưu tiên tài liệu chính thức, bài báo gốc, kho dữ liệu và mã nguồn của tác giả</a:t>
            </a:r>
          </a:p>
        </p:txBody>
      </p:sp>
      <p:sp>
        <p:nvSpPr>
          <p:cNvPr id="3" name="">
            <a:extLst xmlns:a="http://schemas.openxmlformats.org/drawingml/2006/main">
              <a:ext uri="{FF2B5EF4-FFF2-40B4-BE49-F238E27FC236}">
                <a16:creationId xmlns:a16="http://schemas.microsoft.com/office/drawing/2014/main" id="{4803F212-FF6A-4338-97D0-76E43A93BBED}"/>
              </a:ext>
            </a:extLst>
          </p:cNvPr>
          <p:cNvSpPr>
            <a:spLocks xmlns:a="http://schemas.openxmlformats.org/drawingml/2006/main" noGrp="1"/>
          </p:cNvSpPr>
          <p:nvPr/>
        </p:nvSpPr>
        <p:spPr>
          <a:xfrm xmlns:a="http://schemas.openxmlformats.org/drawingml/2006/main">
            <a:off x="552450" y="1695450"/>
            <a:ext cx="11087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667487"/>
                </a:solidFill>
                <a:latin typeface="Aptos"/>
                <a:ea typeface="Aptos"/>
                <a:cs typeface="Aptos"/>
              </a:defRPr>
            </a:pPr>
            <a:r>
              <a:rPr sz="1575" b="0" i="0">
                <a:solidFill>
                  <a:srgbClr val="667487"/>
                </a:solidFill>
                <a:latin typeface="Aptos"/>
                <a:ea typeface="Aptos"/>
                <a:cs typeface="Aptos"/>
              </a:rPr>
              <a:t>Các URL đầy đủ được đặt trong speaker notes của từng slide.</a:t>
            </a:r>
          </a:p>
        </p:txBody>
      </p:sp>
      <p:sp>
        <p:nvSpPr>
          <p:cNvPr id="4" name="">
            <a:extLst xmlns:a="http://schemas.openxmlformats.org/drawingml/2006/main">
              <a:ext uri="{FF2B5EF4-FFF2-40B4-BE49-F238E27FC236}">
                <a16:creationId xmlns:a16="http://schemas.microsoft.com/office/drawing/2014/main" id="{6374C96B-9EE5-4A4C-B7CE-3AAE17C1F89D}"/>
              </a:ext>
            </a:extLst>
          </p:cNvPr>
          <p:cNvSpPr>
            <a:spLocks xmlns:a="http://schemas.openxmlformats.org/drawingml/2006/main" noGrp="1"/>
          </p:cNvSpPr>
          <p:nvPr/>
        </p:nvSpPr>
        <p:spPr>
          <a:xfrm xmlns:a="http://schemas.openxmlformats.org/drawingml/2006/main">
            <a:off x="552450" y="6438900"/>
            <a:ext cx="11087100" cy="9525"/>
          </a:xfrm>
          <a:prstGeom xmlns:a="http://schemas.openxmlformats.org/drawingml/2006/main" prst="rect">
            <a:avLst/>
          </a:prstGeom>
          <a:solidFill xmlns:a="http://schemas.openxmlformats.org/drawingml/2006/main">
            <a:srgbClr val="D5DCE5"/>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046BCA-0266-4F2C-B703-7E82E077B21C}"/>
              </a:ext>
            </a:extLst>
          </p:cNvPr>
          <p:cNvSpPr>
            <a:spLocks xmlns:a="http://schemas.openxmlformats.org/drawingml/2006/main" noGrp="1"/>
          </p:cNvSpPr>
          <p:nvPr/>
        </p:nvSpPr>
        <p:spPr>
          <a:xfrm xmlns:a="http://schemas.openxmlformats.org/drawingml/2006/main">
            <a:off x="552450" y="6534150"/>
            <a:ext cx="476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975" b="1" i="0">
                <a:solidFill>
                  <a:srgbClr val="667487"/>
                </a:solidFill>
                <a:latin typeface="Aptos"/>
                <a:ea typeface="Aptos"/>
                <a:cs typeface="Aptos"/>
              </a:defRPr>
            </a:pPr>
            <a:r>
              <a:rPr sz="975" b="1" i="0">
                <a:solidFill>
                  <a:srgbClr val="667487"/>
                </a:solidFill>
                <a:latin typeface="Aptos"/>
                <a:ea typeface="Aptos"/>
                <a:cs typeface="Aptos"/>
              </a:rPr>
              <a:t>NGUỒN</a:t>
            </a:r>
          </a:p>
        </p:txBody>
      </p:sp>
      <p:sp>
        <p:nvSpPr>
          <p:cNvPr id="6" name="">
            <a:extLst xmlns:a="http://schemas.openxmlformats.org/drawingml/2006/main">
              <a:ext uri="{FF2B5EF4-FFF2-40B4-BE49-F238E27FC236}">
                <a16:creationId xmlns:a16="http://schemas.microsoft.com/office/drawing/2014/main" id="{0F14AE8F-DB87-4AD8-8299-506DFE0CF63B}"/>
              </a:ext>
            </a:extLst>
          </p:cNvPr>
          <p:cNvSpPr>
            <a:spLocks xmlns:a="http://schemas.openxmlformats.org/drawingml/2006/main" noGrp="1"/>
          </p:cNvSpPr>
          <p:nvPr/>
        </p:nvSpPr>
        <p:spPr>
          <a:xfrm xmlns:a="http://schemas.openxmlformats.org/drawingml/2006/main">
            <a:off x="11239500" y="6515100"/>
            <a:ext cx="4000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1050" b="0" i="0">
                <a:solidFill>
                  <a:srgbClr val="667487"/>
                </a:solidFill>
                <a:latin typeface="Aptos"/>
                <a:ea typeface="Aptos"/>
                <a:cs typeface="Aptos"/>
              </a:defRPr>
            </a:pPr>
            <a:r>
              <a:rPr sz="1050" b="0" i="0">
                <a:solidFill>
                  <a:srgbClr val="667487"/>
                </a:solidFill>
                <a:latin typeface="Aptos"/>
                <a:ea typeface="Aptos"/>
                <a:cs typeface="Aptos"/>
              </a:rPr>
              <a:t>40</a:t>
            </a:r>
          </a:p>
        </p:txBody>
      </p:sp>
      <p:sp>
        <p:nvSpPr>
          <p:cNvPr id="7" name="">
            <a:extLst xmlns:a="http://schemas.openxmlformats.org/drawingml/2006/main">
              <a:ext uri="{FF2B5EF4-FFF2-40B4-BE49-F238E27FC236}">
                <a16:creationId xmlns:a16="http://schemas.microsoft.com/office/drawing/2014/main" id="{CC0752F5-AE82-497F-A2D0-D981F9E71E21}"/>
              </a:ext>
            </a:extLst>
          </p:cNvPr>
          <p:cNvSpPr>
            <a:spLocks xmlns:a="http://schemas.openxmlformats.org/drawingml/2006/main" noGrp="1"/>
          </p:cNvSpPr>
          <p:nvPr/>
        </p:nvSpPr>
        <p:spPr>
          <a:xfrm xmlns:a="http://schemas.openxmlformats.org/drawingml/2006/main">
            <a:off x="666750" y="2047875"/>
            <a:ext cx="4953000" cy="47625"/>
          </a:xfrm>
          <a:prstGeom xmlns:a="http://schemas.openxmlformats.org/drawingml/2006/main" prst="rect">
            <a:avLst/>
          </a:prstGeom>
          <a:solidFill xmlns:a="http://schemas.openxmlformats.org/drawingml/2006/main">
            <a:srgbClr val="1F5EA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5A1EF5-E7F1-437F-B4EC-EA0146A730BD}"/>
              </a:ext>
            </a:extLst>
          </p:cNvPr>
          <p:cNvSpPr>
            <a:spLocks xmlns:a="http://schemas.openxmlformats.org/drawingml/2006/main" noGrp="1"/>
          </p:cNvSpPr>
          <p:nvPr/>
        </p:nvSpPr>
        <p:spPr>
          <a:xfrm xmlns:a="http://schemas.openxmlformats.org/drawingml/2006/main">
            <a:off x="666750" y="2219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1F5EAC"/>
                </a:solidFill>
                <a:latin typeface="Aptos"/>
                <a:ea typeface="Aptos"/>
                <a:cs typeface="Aptos"/>
              </a:defRPr>
            </a:pPr>
            <a:r>
              <a:rPr sz="1875" b="1" i="0">
                <a:solidFill>
                  <a:srgbClr val="1F5EAC"/>
                </a:solidFill>
                <a:latin typeface="Aptos"/>
                <a:ea typeface="Aptos"/>
                <a:cs typeface="Aptos"/>
              </a:rPr>
              <a:t>Chuẩn và kiểm định</a:t>
            </a:r>
          </a:p>
        </p:txBody>
      </p:sp>
      <p:sp>
        <p:nvSpPr>
          <p:cNvPr id="9" name="">
            <a:extLst xmlns:a="http://schemas.openxmlformats.org/drawingml/2006/main">
              <a:ext uri="{FF2B5EF4-FFF2-40B4-BE49-F238E27FC236}">
                <a16:creationId xmlns:a16="http://schemas.microsoft.com/office/drawing/2014/main" id="{4458342E-32D2-4982-988F-7E321455D4F1}"/>
              </a:ext>
            </a:extLst>
          </p:cNvPr>
          <p:cNvSpPr>
            <a:spLocks xmlns:a="http://schemas.openxmlformats.org/drawingml/2006/main" noGrp="1"/>
          </p:cNvSpPr>
          <p:nvPr/>
        </p:nvSpPr>
        <p:spPr>
          <a:xfrm xmlns:a="http://schemas.openxmlformats.org/drawingml/2006/main">
            <a:off x="666750" y="2790825"/>
            <a:ext cx="49530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CEFR Companion Volume 2020</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Council of Europe: Relating Examinations to CEFR</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Manual for Language Test Development, 2026</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Cambridge Speaking Assessment Criteria</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ETS SpeechRater</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ETS Evidence-Centered Design</a:t>
            </a:r>
          </a:p>
        </p:txBody>
      </p:sp>
      <p:sp>
        <p:nvSpPr>
          <p:cNvPr id="10" name="">
            <a:extLst xmlns:a="http://schemas.openxmlformats.org/drawingml/2006/main">
              <a:ext uri="{FF2B5EF4-FFF2-40B4-BE49-F238E27FC236}">
                <a16:creationId xmlns:a16="http://schemas.microsoft.com/office/drawing/2014/main" id="{E88DC5B6-85FB-4EDD-98BA-DCBCBC81F747}"/>
              </a:ext>
            </a:extLst>
          </p:cNvPr>
          <p:cNvSpPr>
            <a:spLocks xmlns:a="http://schemas.openxmlformats.org/drawingml/2006/main" noGrp="1"/>
          </p:cNvSpPr>
          <p:nvPr/>
        </p:nvSpPr>
        <p:spPr>
          <a:xfrm xmlns:a="http://schemas.openxmlformats.org/drawingml/2006/main">
            <a:off x="6572250" y="2047875"/>
            <a:ext cx="4953000" cy="47625"/>
          </a:xfrm>
          <a:prstGeom xmlns:a="http://schemas.openxmlformats.org/drawingml/2006/main" prst="rect">
            <a:avLst/>
          </a:prstGeom>
          <a:solidFill xmlns:a="http://schemas.openxmlformats.org/drawingml/2006/main">
            <a:srgbClr val="2F7D5C"/>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C9FB686-4441-4E4E-AF15-8FFF1E258E75}"/>
              </a:ext>
            </a:extLst>
          </p:cNvPr>
          <p:cNvSpPr>
            <a:spLocks xmlns:a="http://schemas.openxmlformats.org/drawingml/2006/main" noGrp="1"/>
          </p:cNvSpPr>
          <p:nvPr/>
        </p:nvSpPr>
        <p:spPr>
          <a:xfrm xmlns:a="http://schemas.openxmlformats.org/drawingml/2006/main">
            <a:off x="6572250" y="2219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1" i="0">
                <a:solidFill>
                  <a:srgbClr val="2F7D5C"/>
                </a:solidFill>
                <a:latin typeface="Aptos"/>
                <a:ea typeface="Aptos"/>
                <a:cs typeface="Aptos"/>
              </a:defRPr>
            </a:pPr>
            <a:r>
              <a:rPr sz="1875" b="1" i="0">
                <a:solidFill>
                  <a:srgbClr val="2F7D5C"/>
                </a:solidFill>
                <a:latin typeface="Aptos"/>
                <a:ea typeface="Aptos"/>
                <a:cs typeface="Aptos"/>
              </a:rPr>
              <a:t>Mô hình, mã nguồn và dữ liệu</a:t>
            </a:r>
          </a:p>
        </p:txBody>
      </p:sp>
      <p:sp>
        <p:nvSpPr>
          <p:cNvPr id="12" name="">
            <a:extLst xmlns:a="http://schemas.openxmlformats.org/drawingml/2006/main">
              <a:ext uri="{FF2B5EF4-FFF2-40B4-BE49-F238E27FC236}">
                <a16:creationId xmlns:a16="http://schemas.microsoft.com/office/drawing/2014/main" id="{3B6CC33F-9847-46E8-B171-AF6512AF3AEB}"/>
              </a:ext>
            </a:extLst>
          </p:cNvPr>
          <p:cNvSpPr>
            <a:spLocks xmlns:a="http://schemas.openxmlformats.org/drawingml/2006/main" noGrp="1"/>
          </p:cNvSpPr>
          <p:nvPr/>
        </p:nvSpPr>
        <p:spPr>
          <a:xfrm xmlns:a="http://schemas.openxmlformats.org/drawingml/2006/main">
            <a:off x="6572250" y="2790825"/>
            <a:ext cx="495300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Multimodal Speaking Assessment, RANLP 2023</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Transcript-based grading, ACL 2020</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GOPT official repository</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L2-ARCTIC</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Speak &amp; Improve Corpus 2025</a:t>
            </a:r>
          </a:p>
          <a:p xmlns:a="http://schemas.openxmlformats.org/drawingml/2006/main">
            <a:pPr algn="l">
              <a:lnSpc>
                <a:spcPct val="108000"/>
              </a:lnSpc>
              <a:buNone/>
              <a:defRPr sz="1425" b="0" i="0">
                <a:solidFill>
                  <a:srgbClr val="28374A"/>
                </a:solidFill>
                <a:latin typeface="Aptos"/>
                <a:ea typeface="Aptos"/>
                <a:cs typeface="Aptos"/>
              </a:defRPr>
            </a:pPr>
            <a:r>
              <a:rPr sz="1425" b="0" i="0">
                <a:solidFill>
                  <a:srgbClr val="28374A"/>
                </a:solidFill>
                <a:latin typeface="Aptos"/>
                <a:ea typeface="Aptos"/>
                <a:cs typeface="Aptos"/>
              </a:rPr>
              <a:t>• SpeechOcean762 và EvalYaks</a:t>
            </a:r>
          </a:p>
        </p:txBody>
      </p:sp>
      <p:sp>
        <p:nvSpPr>
          <p:cNvPr id="13" name="">
            <a:extLst xmlns:a="http://schemas.openxmlformats.org/drawingml/2006/main">
              <a:ext uri="{FF2B5EF4-FFF2-40B4-BE49-F238E27FC236}">
                <a16:creationId xmlns:a16="http://schemas.microsoft.com/office/drawing/2014/main" id="{BEEB4747-1F81-4663-8AE4-062C639D6E08}"/>
              </a:ext>
            </a:extLst>
          </p:cNvPr>
          <p:cNvSpPr>
            <a:spLocks xmlns:a="http://schemas.openxmlformats.org/drawingml/2006/main" noGrp="1"/>
          </p:cNvSpPr>
          <p:nvPr/>
        </p:nvSpPr>
        <p:spPr>
          <a:xfrm xmlns:a="http://schemas.openxmlformats.org/drawingml/2006/main">
            <a:off x="1524000" y="5476875"/>
            <a:ext cx="9144000" cy="590550"/>
          </a:xfrm>
          <a:prstGeom xmlns:a="http://schemas.openxmlformats.org/drawingml/2006/main" prst="roundRect">
            <a:avLst>
              <a:gd name="adj" fmla="val 9677"/>
            </a:avLst>
          </a:prstGeom>
          <a:solidFill xmlns:a="http://schemas.openxmlformats.org/drawingml/2006/main">
            <a:srgbClr val="FFF2D5"/>
          </a:solidFill>
          <a:ln xmlns:a="http://schemas.openxmlformats.org/drawingml/2006/main" w="9525">
            <a:solidFill>
              <a:srgbClr val="A96500"/>
            </a:solidFill>
            <a:prstDash val="solid"/>
          </a:ln>
        </p:spPr>
      </p:sp>
      <p:sp>
        <p:nvSpPr>
          <p:cNvPr id="14" name="">
            <a:extLst xmlns:a="http://schemas.openxmlformats.org/drawingml/2006/main">
              <a:ext uri="{FF2B5EF4-FFF2-40B4-BE49-F238E27FC236}">
                <a16:creationId xmlns:a16="http://schemas.microsoft.com/office/drawing/2014/main" id="{B2E42DB1-5631-4AE9-BF24-2B53A3EBA9D8}"/>
              </a:ext>
            </a:extLst>
          </p:cNvPr>
          <p:cNvSpPr>
            <a:spLocks xmlns:a="http://schemas.openxmlformats.org/drawingml/2006/main" noGrp="1"/>
          </p:cNvSpPr>
          <p:nvPr/>
        </p:nvSpPr>
        <p:spPr>
          <a:xfrm xmlns:a="http://schemas.openxmlformats.org/drawingml/2006/main">
            <a:off x="1714500" y="5610225"/>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817"/>
          </a:bodyPr>
          <a:lstStyle xmlns:a="http://schemas.openxmlformats.org/drawingml/2006/main"/>
          <a:p xmlns:a="http://schemas.openxmlformats.org/drawingml/2006/main">
            <a:pPr algn="l">
              <a:lnSpc>
                <a:spcPct val="105000"/>
              </a:lnSpc>
              <a:buNone/>
              <a:defRPr sz="1500" b="1" i="0">
                <a:solidFill>
                  <a:srgbClr val="A96500"/>
                </a:solidFill>
                <a:latin typeface="Aptos"/>
                <a:ea typeface="Aptos"/>
                <a:cs typeface="Aptos"/>
              </a:defRPr>
            </a:pPr>
            <a:r>
              <a:rPr sz="1500" b="1" i="0">
                <a:solidFill>
                  <a:srgbClr val="A96500"/>
                </a:solidFill>
                <a:latin typeface="Aptos"/>
                <a:ea typeface="Aptos"/>
                <a:cs typeface="Aptos"/>
              </a:rPr>
              <a:t>Nguyên tắc sử dụng nguồn: corpus khác miền chỉ dùng làm baseline; dữ liệu người Việt tự thu mới dùng cho kết luận chính.</a:t>
            </a:r>
          </a:p>
        </p:txBody>
      </p:sp>
    </p:spTree>
    <p:extLst>
      <p:ext uri="{BB962C8B-B14F-4D97-AF65-F5344CB8AC3E}">
        <p14:creationId xmlns:p14="http://schemas.microsoft.com/office/powerpoint/2010/main" val="1564280756"/>
      </p:ext>
    </p:extLst>
  </p:cSld>
</p:sld>
</file>

<file path=ppt/slides/slide41.xml><?xml version="1.0" encoding="utf-8"?>
<p:sld xmlns:p="http://schemas.openxmlformats.org/presentationml/2006/main">
  <p:cSld>
    <p:bg>
      <p:bgPr>
        <a:solidFill xmlns:a="http://schemas.openxmlformats.org/drawingml/2006/main">
          <a:srgbClr val="14203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C08134-706B-4B6E-A480-F5FF8ECEA55C}"/>
              </a:ext>
            </a:extLst>
          </p:cNvPr>
          <p:cNvSpPr>
            <a:spLocks xmlns:a="http://schemas.openxmlformats.org/drawingml/2006/main" noGrp="1"/>
          </p:cNvSpPr>
          <p:nvPr/>
        </p:nvSpPr>
        <p:spPr>
          <a:xfrm xmlns:a="http://schemas.openxmlformats.org/drawingml/2006/main">
            <a:off x="666750" y="59055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200" b="1" i="0">
                <a:solidFill>
                  <a:srgbClr val="87B8EA"/>
                </a:solidFill>
                <a:latin typeface="Aptos"/>
                <a:ea typeface="Aptos"/>
                <a:cs typeface="Aptos"/>
              </a:defRPr>
            </a:pPr>
            <a:r>
              <a:rPr sz="1200" b="1" i="0">
                <a:solidFill>
                  <a:srgbClr val="87B8EA"/>
                </a:solidFill>
                <a:latin typeface="Aptos"/>
                <a:ea typeface="Aptos"/>
                <a:cs typeface="Aptos"/>
              </a:rPr>
              <a:t>KẾT LUẬN CHỐT</a:t>
            </a:r>
          </a:p>
        </p:txBody>
      </p:sp>
      <p:sp>
        <p:nvSpPr>
          <p:cNvPr id="2" name="">
            <a:extLst xmlns:a="http://schemas.openxmlformats.org/drawingml/2006/main">
              <a:ext uri="{FF2B5EF4-FFF2-40B4-BE49-F238E27FC236}">
                <a16:creationId xmlns:a16="http://schemas.microsoft.com/office/drawing/2014/main" id="{31C9880B-9292-482F-9013-FB0BE980F85C}"/>
              </a:ext>
            </a:extLst>
          </p:cNvPr>
          <p:cNvSpPr>
            <a:spLocks xmlns:a="http://schemas.openxmlformats.org/drawingml/2006/main" noGrp="1"/>
          </p:cNvSpPr>
          <p:nvPr/>
        </p:nvSpPr>
        <p:spPr>
          <a:xfrm xmlns:a="http://schemas.openxmlformats.org/drawingml/2006/main">
            <a:off x="666750" y="1190625"/>
            <a:ext cx="10572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600" b="1" i="0">
                <a:solidFill>
                  <a:srgbClr val="FFFFFF"/>
                </a:solidFill>
                <a:latin typeface="Aptos"/>
                <a:ea typeface="Aptos"/>
                <a:cs typeface="Aptos"/>
              </a:defRPr>
            </a:pPr>
            <a:r>
              <a:rPr sz="3600" b="1" i="0">
                <a:solidFill>
                  <a:srgbClr val="FFFFFF"/>
                </a:solidFill>
                <a:latin typeface="Aptos"/>
                <a:ea typeface="Aptos"/>
                <a:cs typeface="Aptos"/>
              </a:rPr>
              <a:t>Đề tài khả thi khi xem AI là một công cụ đo lường có kiểm soát</a:t>
            </a:r>
          </a:p>
        </p:txBody>
      </p:sp>
      <p:sp>
        <p:nvSpPr>
          <p:cNvPr id="3" name="">
            <a:extLst xmlns:a="http://schemas.openxmlformats.org/drawingml/2006/main">
              <a:ext uri="{FF2B5EF4-FFF2-40B4-BE49-F238E27FC236}">
                <a16:creationId xmlns:a16="http://schemas.microsoft.com/office/drawing/2014/main" id="{95BFEB84-EEB2-4634-8E1A-2F0DB952DD64}"/>
              </a:ext>
            </a:extLst>
          </p:cNvPr>
          <p:cNvSpPr>
            <a:spLocks xmlns:a="http://schemas.openxmlformats.org/drawingml/2006/main" noGrp="1"/>
          </p:cNvSpPr>
          <p:nvPr/>
        </p:nvSpPr>
        <p:spPr>
          <a:xfrm xmlns:a="http://schemas.openxmlformats.org/drawingml/2006/main">
            <a:off x="666750" y="2714625"/>
            <a:ext cx="1019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75" b="0" i="0">
                <a:solidFill>
                  <a:srgbClr val="D7E0EC"/>
                </a:solidFill>
                <a:latin typeface="Aptos"/>
                <a:ea typeface="Aptos"/>
                <a:cs typeface="Aptos"/>
              </a:defRPr>
            </a:pPr>
            <a:r>
              <a:rPr sz="1875" b="0" i="0">
                <a:solidFill>
                  <a:srgbClr val="D7E0EC"/>
                </a:solidFill>
                <a:latin typeface="Aptos"/>
                <a:ea typeface="Aptos"/>
                <a:cs typeface="Aptos"/>
              </a:rPr>
              <a:t>Thành công không được định nghĩa bởi việc AI luôn đưa ra điểm. Thành công là AI đưa ra điểm có bằng chứng khi đủ tin cậy, và biết chuyển người thật xem lại khi không đủ bằng chứng.</a:t>
            </a:r>
          </a:p>
        </p:txBody>
      </p:sp>
      <p:sp>
        <p:nvSpPr>
          <p:cNvPr id="4" name="">
            <a:extLst xmlns:a="http://schemas.openxmlformats.org/drawingml/2006/main">
              <a:ext uri="{FF2B5EF4-FFF2-40B4-BE49-F238E27FC236}">
                <a16:creationId xmlns:a16="http://schemas.microsoft.com/office/drawing/2014/main" id="{14400E3B-A36D-4F35-88B8-141212422303}"/>
              </a:ext>
            </a:extLst>
          </p:cNvPr>
          <p:cNvSpPr>
            <a:spLocks xmlns:a="http://schemas.openxmlformats.org/drawingml/2006/main" noGrp="1"/>
          </p:cNvSpPr>
          <p:nvPr/>
        </p:nvSpPr>
        <p:spPr>
          <a:xfrm xmlns:a="http://schemas.openxmlformats.org/drawingml/2006/main">
            <a:off x="666750" y="4143375"/>
            <a:ext cx="10668000" cy="19050"/>
          </a:xfrm>
          <a:prstGeom xmlns:a="http://schemas.openxmlformats.org/drawingml/2006/main" prst="rect">
            <a:avLst/>
          </a:prstGeom>
          <a:solidFill xmlns:a="http://schemas.openxmlformats.org/drawingml/2006/main">
            <a:srgbClr val="415269"/>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476148-AAA1-4BF5-9E40-6B0FD1BC8E20}"/>
              </a:ext>
            </a:extLst>
          </p:cNvPr>
          <p:cNvSpPr>
            <a:spLocks xmlns:a="http://schemas.openxmlformats.org/drawingml/2006/main" noGrp="1"/>
          </p:cNvSpPr>
          <p:nvPr/>
        </p:nvSpPr>
        <p:spPr>
          <a:xfrm xmlns:a="http://schemas.openxmlformats.org/drawingml/2006/main">
            <a:off x="666750" y="452437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650" b="1" i="0">
                <a:solidFill>
                  <a:srgbClr val="87B8EA"/>
                </a:solidFill>
                <a:latin typeface="Aptos"/>
                <a:ea typeface="Aptos"/>
                <a:cs typeface="Aptos"/>
              </a:defRPr>
            </a:pPr>
            <a:r>
              <a:rPr sz="1650" b="1" i="0">
                <a:solidFill>
                  <a:srgbClr val="87B8EA"/>
                </a:solidFill>
                <a:latin typeface="Aptos"/>
                <a:ea typeface="Aptos"/>
                <a:cs typeface="Aptos"/>
              </a:rPr>
              <a:t>Chốt triển khai</a:t>
            </a:r>
          </a:p>
        </p:txBody>
      </p:sp>
      <p:sp>
        <p:nvSpPr>
          <p:cNvPr id="6" name="">
            <a:extLst xmlns:a="http://schemas.openxmlformats.org/drawingml/2006/main">
              <a:ext uri="{FF2B5EF4-FFF2-40B4-BE49-F238E27FC236}">
                <a16:creationId xmlns:a16="http://schemas.microsoft.com/office/drawing/2014/main" id="{882E4FFA-0478-40CC-8BC8-AF647C4FA6CE}"/>
              </a:ext>
            </a:extLst>
          </p:cNvPr>
          <p:cNvSpPr>
            <a:spLocks xmlns:a="http://schemas.openxmlformats.org/drawingml/2006/main" noGrp="1"/>
          </p:cNvSpPr>
          <p:nvPr/>
        </p:nvSpPr>
        <p:spPr>
          <a:xfrm xmlns:a="http://schemas.openxmlformats.org/drawingml/2006/main">
            <a:off x="666750" y="5000625"/>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800" b="1" i="0">
                <a:solidFill>
                  <a:srgbClr val="FFFFFF"/>
                </a:solidFill>
                <a:latin typeface="Aptos"/>
                <a:ea typeface="Aptos"/>
                <a:cs typeface="Aptos"/>
              </a:defRPr>
            </a:pPr>
            <a:r>
              <a:rPr sz="1800" b="1" i="0">
                <a:solidFill>
                  <a:srgbClr val="FFFFFF"/>
                </a:solidFill>
                <a:latin typeface="Aptos"/>
                <a:ea typeface="Aptos"/>
                <a:cs typeface="Aptos"/>
              </a:rPr>
              <a:t>A2–B2 • low-stakes • 6 tiêu chí • 2 rater + 1 adjudicator • speaker-level validation • human-in-the-loop</a:t>
            </a:r>
          </a:p>
        </p:txBody>
      </p:sp>
      <p:sp>
        <p:nvSpPr>
          <p:cNvPr id="7" name="">
            <a:extLst xmlns:a="http://schemas.openxmlformats.org/drawingml/2006/main">
              <a:ext uri="{FF2B5EF4-FFF2-40B4-BE49-F238E27FC236}">
                <a16:creationId xmlns:a16="http://schemas.microsoft.com/office/drawing/2014/main" id="{E2318093-91F7-45EF-9C9D-6C3D1FBA6702}"/>
              </a:ext>
            </a:extLst>
          </p:cNvPr>
          <p:cNvSpPr>
            <a:spLocks xmlns:a="http://schemas.openxmlformats.org/drawingml/2006/main" noGrp="1"/>
          </p:cNvSpPr>
          <p:nvPr/>
        </p:nvSpPr>
        <p:spPr>
          <a:xfrm xmlns:a="http://schemas.openxmlformats.org/drawingml/2006/main">
            <a:off x="666750" y="6000750"/>
            <a:ext cx="904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A9D4BD"/>
                </a:solidFill>
                <a:latin typeface="Aptos"/>
                <a:ea typeface="Aptos"/>
                <a:cs typeface="Aptos"/>
              </a:defRPr>
            </a:pPr>
            <a:r>
              <a:rPr sz="1500" b="0" i="0">
                <a:solidFill>
                  <a:srgbClr val="A9D4BD"/>
                </a:solidFill>
                <a:latin typeface="Aptos"/>
                <a:ea typeface="Aptos"/>
                <a:cs typeface="Aptos"/>
              </a:rPr>
              <a:t>AI chấm sơ bộ. Giảng viên giữ chuẩn và quyết định cuối cùng.</a:t>
            </a:r>
          </a:p>
        </p:txBody>
      </p:sp>
      <p:sp>
        <p:nvSpPr>
          <p:cNvPr id="8" name="">
            <a:extLst xmlns:a="http://schemas.openxmlformats.org/drawingml/2006/main">
              <a:ext uri="{FF2B5EF4-FFF2-40B4-BE49-F238E27FC236}">
                <a16:creationId xmlns:a16="http://schemas.microsoft.com/office/drawing/2014/main" id="{FB4C0522-CCB3-44A3-988C-E388D2B2B05C}"/>
              </a:ext>
            </a:extLst>
          </p:cNvPr>
          <p:cNvSpPr>
            <a:spLocks xmlns:a="http://schemas.openxmlformats.org/drawingml/2006/main" noGrp="1"/>
          </p:cNvSpPr>
          <p:nvPr/>
        </p:nvSpPr>
        <p:spPr>
          <a:xfrm xmlns:a="http://schemas.openxmlformats.org/drawingml/2006/main">
            <a:off x="11334750" y="6438900"/>
            <a:ext cx="304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5000"/>
              </a:lnSpc>
              <a:buNone/>
              <a:defRPr sz="975" b="0" i="0">
                <a:solidFill>
                  <a:srgbClr val="9AA8B9"/>
                </a:solidFill>
                <a:latin typeface="Aptos"/>
                <a:ea typeface="Aptos"/>
                <a:cs typeface="Aptos"/>
              </a:defRPr>
            </a:pPr>
            <a:r>
              <a:rPr sz="975" b="0" i="0">
                <a:solidFill>
                  <a:srgbClr val="9AA8B9"/>
                </a:solidFill>
                <a:latin typeface="Aptos"/>
                <a:ea typeface="Aptos"/>
                <a:cs typeface="Aptos"/>
              </a:rPr>
              <a:t>41</a:t>
            </a:r>
          </a:p>
        </p:txBody>
      </p:sp>
    </p:spTree>
    <p:extLst>
      <p:ext uri="{BB962C8B-B14F-4D97-AF65-F5344CB8AC3E}">
        <p14:creationId xmlns:p14="http://schemas.microsoft.com/office/powerpoint/2010/main" val="21079189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2026-08-22T11:40:30.8660000Z</dcterms:created>
  <dcterms:modified xsi:type="dcterms:W3CDTF">2026-08-22T11:40:30.8660000Z</dcterms:modified>
</coreProperties>
</file>